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3" r:id="rId4"/>
  </p:sldMasterIdLst>
  <p:notesMasterIdLst>
    <p:notesMasterId r:id="rId68"/>
  </p:notesMasterIdLst>
  <p:handoutMasterIdLst>
    <p:handoutMasterId r:id="rId69"/>
  </p:handoutMasterIdLst>
  <p:sldIdLst>
    <p:sldId id="362" r:id="rId5"/>
    <p:sldId id="371" r:id="rId6"/>
    <p:sldId id="372" r:id="rId7"/>
    <p:sldId id="373" r:id="rId8"/>
    <p:sldId id="374" r:id="rId9"/>
    <p:sldId id="375" r:id="rId10"/>
    <p:sldId id="376" r:id="rId11"/>
    <p:sldId id="378" r:id="rId12"/>
    <p:sldId id="377" r:id="rId13"/>
    <p:sldId id="379" r:id="rId14"/>
    <p:sldId id="380" r:id="rId15"/>
    <p:sldId id="382" r:id="rId16"/>
    <p:sldId id="381" r:id="rId17"/>
    <p:sldId id="409" r:id="rId18"/>
    <p:sldId id="383" r:id="rId19"/>
    <p:sldId id="384" r:id="rId20"/>
    <p:sldId id="385" r:id="rId21"/>
    <p:sldId id="386" r:id="rId22"/>
    <p:sldId id="387" r:id="rId23"/>
    <p:sldId id="388" r:id="rId24"/>
    <p:sldId id="390" r:id="rId25"/>
    <p:sldId id="392" r:id="rId26"/>
    <p:sldId id="393" r:id="rId27"/>
    <p:sldId id="394" r:id="rId28"/>
    <p:sldId id="395" r:id="rId29"/>
    <p:sldId id="396" r:id="rId30"/>
    <p:sldId id="397" r:id="rId31"/>
    <p:sldId id="408" r:id="rId32"/>
    <p:sldId id="398" r:id="rId33"/>
    <p:sldId id="399" r:id="rId34"/>
    <p:sldId id="400" r:id="rId35"/>
    <p:sldId id="401" r:id="rId36"/>
    <p:sldId id="402" r:id="rId37"/>
    <p:sldId id="403" r:id="rId38"/>
    <p:sldId id="404" r:id="rId39"/>
    <p:sldId id="405" r:id="rId40"/>
    <p:sldId id="410" r:id="rId41"/>
    <p:sldId id="411" r:id="rId42"/>
    <p:sldId id="413" r:id="rId43"/>
    <p:sldId id="412" r:id="rId44"/>
    <p:sldId id="414" r:id="rId45"/>
    <p:sldId id="415" r:id="rId46"/>
    <p:sldId id="416" r:id="rId47"/>
    <p:sldId id="417" r:id="rId48"/>
    <p:sldId id="418" r:id="rId49"/>
    <p:sldId id="419" r:id="rId50"/>
    <p:sldId id="420" r:id="rId51"/>
    <p:sldId id="421" r:id="rId52"/>
    <p:sldId id="422" r:id="rId53"/>
    <p:sldId id="423" r:id="rId54"/>
    <p:sldId id="424" r:id="rId55"/>
    <p:sldId id="425" r:id="rId56"/>
    <p:sldId id="426" r:id="rId57"/>
    <p:sldId id="427" r:id="rId58"/>
    <p:sldId id="428" r:id="rId59"/>
    <p:sldId id="429" r:id="rId60"/>
    <p:sldId id="430" r:id="rId61"/>
    <p:sldId id="431" r:id="rId62"/>
    <p:sldId id="436" r:id="rId63"/>
    <p:sldId id="432" r:id="rId64"/>
    <p:sldId id="433" r:id="rId65"/>
    <p:sldId id="435" r:id="rId66"/>
    <p:sldId id="434" r:id="rId6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ly,Murtaza (HHSC)" initials="A(" lastIdx="1" clrIdx="0">
    <p:extLst>
      <p:ext uri="{19B8F6BF-5375-455C-9EA6-DF929625EA0E}">
        <p15:presenceInfo xmlns:p15="http://schemas.microsoft.com/office/powerpoint/2012/main" userId="S::Murtaza.Ally@hhs.texas.gov::3053b341-1a97-470e-bbea-aefd65255fe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8E42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50" autoAdjust="0"/>
    <p:restoredTop sz="94280" autoAdjust="0"/>
  </p:normalViewPr>
  <p:slideViewPr>
    <p:cSldViewPr showGuides="1">
      <p:cViewPr varScale="1">
        <p:scale>
          <a:sx n="67" d="100"/>
          <a:sy n="67" d="100"/>
        </p:scale>
        <p:origin x="884" y="52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0181D8-E8CF-4A26-971C-2F7DE60FFE05}">
      <dgm:prSet/>
      <dgm:spPr/>
      <dgm:t>
        <a:bodyPr/>
        <a:lstStyle/>
        <a:p>
          <a:r>
            <a:rPr lang="en-US" u="none" dirty="0"/>
            <a:t>Parameter variable</a:t>
          </a:r>
        </a:p>
      </dgm:t>
    </dgm:pt>
    <dgm:pt modelId="{DDE5D2C5-3FD5-4452-80B1-EF797A3B2B9C}" type="parTrans" cxnId="{564EBFFE-75A8-40AC-B4F4-4957E3CF7864}">
      <dgm:prSet/>
      <dgm:spPr/>
      <dgm:t>
        <a:bodyPr/>
        <a:lstStyle/>
        <a:p>
          <a:endParaRPr lang="en-US"/>
        </a:p>
      </dgm:t>
    </dgm:pt>
    <dgm:pt modelId="{6B49D688-C2E5-410E-B1EE-48FA532589F8}" type="sibTrans" cxnId="{564EBFFE-75A8-40AC-B4F4-4957E3CF7864}">
      <dgm:prSet/>
      <dgm:spPr/>
      <dgm:t>
        <a:bodyPr/>
        <a:lstStyle/>
        <a:p>
          <a:endParaRPr lang="en-US"/>
        </a:p>
      </dgm:t>
    </dgm:pt>
    <dgm:pt modelId="{E91044A7-0394-482A-8684-6EEAD7C89CE7}">
      <dgm:prSet/>
      <dgm:spPr/>
      <dgm:t>
        <a:bodyPr/>
        <a:lstStyle/>
        <a:p>
          <a:r>
            <a:rPr lang="en-US" dirty="0">
              <a:latin typeface="+mn-lt"/>
            </a:rPr>
            <a:t>The parameter and the argument reference the </a:t>
          </a:r>
          <a:r>
            <a:rPr lang="en-US" dirty="0">
              <a:solidFill>
                <a:srgbClr val="FF0000"/>
              </a:solidFill>
              <a:latin typeface="+mn-lt"/>
            </a:rPr>
            <a:t>same value</a:t>
          </a:r>
        </a:p>
      </dgm:t>
    </dgm:pt>
    <dgm:pt modelId="{50BEAE48-1C73-461E-8E76-0A2EE475EA0A}" type="parTrans" cxnId="{85E3501C-B779-494B-8A91-8B4B36055E64}">
      <dgm:prSet/>
      <dgm:spPr/>
      <dgm:t>
        <a:bodyPr/>
        <a:lstStyle/>
        <a:p>
          <a:endParaRPr lang="en-US"/>
        </a:p>
      </dgm:t>
    </dgm:pt>
    <dgm:pt modelId="{18112AE2-3AEB-4945-8874-C9EE4E20A690}" type="sibTrans" cxnId="{85E3501C-B779-494B-8A91-8B4B36055E64}">
      <dgm:prSet/>
      <dgm:spPr/>
      <dgm:t>
        <a:bodyPr/>
        <a:lstStyle/>
        <a:p>
          <a:endParaRPr lang="en-US"/>
        </a:p>
      </dgm:t>
    </dgm:pt>
    <dgm:pt modelId="{7AA860D9-3074-4CDE-B490-43C7190395E7}">
      <dgm:prSet/>
      <dgm:spPr/>
      <dgm:t>
        <a:bodyPr/>
        <a:lstStyle/>
        <a:p>
          <a:r>
            <a:rPr lang="en-US" dirty="0">
              <a:latin typeface="+mn-lt"/>
            </a:rPr>
            <a:t>General format: </a:t>
          </a:r>
          <a:r>
            <a:rPr lang="en-US" dirty="0">
              <a:solidFill>
                <a:srgbClr val="FF0000"/>
              </a:solidFill>
              <a:latin typeface="+mn-lt"/>
              <a:cs typeface="Courier New" pitchFamily="49" charset="0"/>
            </a:rPr>
            <a:t>def </a:t>
          </a:r>
          <a:r>
            <a:rPr lang="en-US" i="1" dirty="0">
              <a:solidFill>
                <a:srgbClr val="FF0000"/>
              </a:solidFill>
              <a:latin typeface="+mn-lt"/>
              <a:cs typeface="Courier New" pitchFamily="49" charset="0"/>
            </a:rPr>
            <a:t>function</a:t>
          </a:r>
          <a:r>
            <a:rPr lang="en-US" dirty="0">
              <a:solidFill>
                <a:srgbClr val="FF0000"/>
              </a:solidFill>
              <a:latin typeface="+mn-lt"/>
              <a:cs typeface="Courier New" pitchFamily="49" charset="0"/>
            </a:rPr>
            <a:t>_</a:t>
          </a:r>
          <a:r>
            <a:rPr lang="en-US" i="1" dirty="0">
              <a:solidFill>
                <a:srgbClr val="FF0000"/>
              </a:solidFill>
              <a:latin typeface="+mn-lt"/>
              <a:cs typeface="Courier New" pitchFamily="49" charset="0"/>
            </a:rPr>
            <a:t>name</a:t>
          </a:r>
          <a:r>
            <a:rPr lang="en-US" dirty="0">
              <a:solidFill>
                <a:srgbClr val="FF0000"/>
              </a:solidFill>
              <a:latin typeface="+mn-lt"/>
              <a:cs typeface="Courier New" pitchFamily="49" charset="0"/>
            </a:rPr>
            <a:t>(</a:t>
          </a:r>
          <a:r>
            <a:rPr lang="en-US" i="1" dirty="0">
              <a:solidFill>
                <a:srgbClr val="FF0000"/>
              </a:solidFill>
              <a:latin typeface="+mn-lt"/>
              <a:cs typeface="Courier New" pitchFamily="49" charset="0"/>
            </a:rPr>
            <a:t>parameter</a:t>
          </a:r>
          <a:r>
            <a:rPr lang="en-US" dirty="0">
              <a:solidFill>
                <a:srgbClr val="FF0000"/>
              </a:solidFill>
              <a:latin typeface="+mn-lt"/>
              <a:cs typeface="Courier New" pitchFamily="49" charset="0"/>
            </a:rPr>
            <a:t>):</a:t>
          </a:r>
          <a:endParaRPr lang="en-US" dirty="0">
            <a:solidFill>
              <a:srgbClr val="FF0000"/>
            </a:solidFill>
            <a:latin typeface="+mn-lt"/>
          </a:endParaRPr>
        </a:p>
      </dgm:t>
    </dgm:pt>
    <dgm:pt modelId="{973B5DF8-D322-40CA-A1B5-9F905ED581D8}" type="parTrans" cxnId="{AD1CA8BE-C425-4302-B44B-AA9D7FAADD18}">
      <dgm:prSet/>
      <dgm:spPr/>
      <dgm:t>
        <a:bodyPr/>
        <a:lstStyle/>
        <a:p>
          <a:endParaRPr lang="en-US"/>
        </a:p>
      </dgm:t>
    </dgm:pt>
    <dgm:pt modelId="{548CD5BF-6202-426A-A345-90DBC9C29D25}" type="sibTrans" cxnId="{AD1CA8BE-C425-4302-B44B-AA9D7FAADD18}">
      <dgm:prSet/>
      <dgm:spPr/>
      <dgm:t>
        <a:bodyPr/>
        <a:lstStyle/>
        <a:p>
          <a:endParaRPr lang="en-US"/>
        </a:p>
      </dgm:t>
    </dgm:pt>
    <dgm:pt modelId="{2E03CE2E-3F51-424F-93B1-922092CFF7B8}">
      <dgm:prSet/>
      <dgm:spPr/>
      <dgm:t>
        <a:bodyPr/>
        <a:lstStyle/>
        <a:p>
          <a:r>
            <a:rPr lang="en-US" u="none" dirty="0">
              <a:solidFill>
                <a:srgbClr val="FF0000"/>
              </a:solidFill>
              <a:latin typeface="+mn-lt"/>
              <a:cs typeface="Courier New" pitchFamily="49" charset="0"/>
            </a:rPr>
            <a:t>Scope</a:t>
          </a:r>
          <a:r>
            <a:rPr lang="en-US" u="none" dirty="0">
              <a:latin typeface="+mn-lt"/>
              <a:cs typeface="Courier New" pitchFamily="49" charset="0"/>
            </a:rPr>
            <a:t> of a parameter exists inside </a:t>
          </a:r>
          <a:r>
            <a:rPr lang="en-US" dirty="0">
              <a:latin typeface="+mn-lt"/>
              <a:cs typeface="Courier New" pitchFamily="49" charset="0"/>
            </a:rPr>
            <a:t>the function</a:t>
          </a:r>
        </a:p>
      </dgm:t>
    </dgm:pt>
    <dgm:pt modelId="{F24F24FE-EAAF-4E3F-A7E8-D64E413F6C94}" type="parTrans" cxnId="{FC87A255-38C6-46DC-BAF4-B1F9774B99F9}">
      <dgm:prSet/>
      <dgm:spPr/>
      <dgm:t>
        <a:bodyPr/>
        <a:lstStyle/>
        <a:p>
          <a:endParaRPr lang="en-US"/>
        </a:p>
      </dgm:t>
    </dgm:pt>
    <dgm:pt modelId="{EA0F3712-1BF4-4CB3-A330-71222AE1A54D}" type="sibTrans" cxnId="{FC87A255-38C6-46DC-BAF4-B1F9774B99F9}">
      <dgm:prSet/>
      <dgm:spPr/>
      <dgm:t>
        <a:bodyPr/>
        <a:lstStyle/>
        <a:p>
          <a:endParaRPr lang="en-US"/>
        </a:p>
      </dgm:t>
    </dgm:pt>
    <dgm:pt modelId="{A8970F9C-982D-4525-8669-661418C427CE}">
      <dgm:prSet/>
      <dgm:spPr/>
      <dgm:t>
        <a:bodyPr/>
        <a:lstStyle/>
        <a:p>
          <a:r>
            <a:rPr lang="en-US" altLang="en-US" u="none" dirty="0"/>
            <a:t>Argument</a:t>
          </a:r>
          <a:endParaRPr lang="en-US" u="none" dirty="0"/>
        </a:p>
      </dgm:t>
    </dgm:pt>
    <dgm:pt modelId="{C156A8F4-3152-4B5E-8AAD-DA07E010EE97}" type="parTrans" cxnId="{E6170F7B-3A4E-4E5F-85EE-69358F5F565F}">
      <dgm:prSet/>
      <dgm:spPr/>
      <dgm:t>
        <a:bodyPr/>
        <a:lstStyle/>
        <a:p>
          <a:endParaRPr lang="en-US"/>
        </a:p>
      </dgm:t>
    </dgm:pt>
    <dgm:pt modelId="{0D5261FE-9808-43E8-985D-616395BE426F}" type="sibTrans" cxnId="{E6170F7B-3A4E-4E5F-85EE-69358F5F565F}">
      <dgm:prSet/>
      <dgm:spPr/>
      <dgm:t>
        <a:bodyPr/>
        <a:lstStyle/>
        <a:p>
          <a:endParaRPr lang="en-US"/>
        </a:p>
      </dgm:t>
    </dgm:pt>
    <dgm:pt modelId="{42EF2747-BCC9-4F41-BCA3-89352DB0313B}">
      <dgm:prSet/>
      <dgm:spPr/>
      <dgm:t>
        <a:bodyPr/>
        <a:lstStyle/>
        <a:p>
          <a:r>
            <a:rPr lang="en-US" dirty="0">
              <a:latin typeface="+mn-lt"/>
            </a:rPr>
            <a:t>Assigned the value of an argument when the function is </a:t>
          </a:r>
          <a:r>
            <a:rPr lang="en-US" dirty="0">
              <a:solidFill>
                <a:srgbClr val="FF0000"/>
              </a:solidFill>
              <a:latin typeface="+mn-lt"/>
            </a:rPr>
            <a:t>called</a:t>
          </a:r>
          <a:endParaRPr lang="en-US" u="none" dirty="0">
            <a:solidFill>
              <a:srgbClr val="FF0000"/>
            </a:solidFill>
            <a:latin typeface="+mn-lt"/>
          </a:endParaRPr>
        </a:p>
      </dgm:t>
    </dgm:pt>
    <dgm:pt modelId="{F47B1E3A-7345-4CF4-8C28-282412FEC21E}" type="parTrans" cxnId="{4B502B40-B8B0-40EB-BD42-D4FCB8B4F5E4}">
      <dgm:prSet/>
      <dgm:spPr/>
      <dgm:t>
        <a:bodyPr/>
        <a:lstStyle/>
        <a:p>
          <a:endParaRPr lang="en-US"/>
        </a:p>
      </dgm:t>
    </dgm:pt>
    <dgm:pt modelId="{7E369CE6-F7D4-4FD1-8C13-5C3168EF006B}" type="sibTrans" cxnId="{4B502B40-B8B0-40EB-BD42-D4FCB8B4F5E4}">
      <dgm:prSet/>
      <dgm:spPr/>
      <dgm:t>
        <a:bodyPr/>
        <a:lstStyle/>
        <a:p>
          <a:endParaRPr lang="en-US"/>
        </a:p>
      </dgm:t>
    </dgm:pt>
    <dgm:pt modelId="{87523C74-0493-4608-AF44-60B2381D46C7}">
      <dgm:prSet/>
      <dgm:spPr/>
      <dgm:t>
        <a:bodyPr/>
        <a:lstStyle/>
        <a:p>
          <a:r>
            <a:rPr lang="en-US" altLang="en-US" dirty="0">
              <a:latin typeface="+mn-lt"/>
            </a:rPr>
            <a:t>Function can use arguments for calculations</a:t>
          </a:r>
        </a:p>
      </dgm:t>
    </dgm:pt>
    <dgm:pt modelId="{C16AD3A1-F584-4909-B295-2A844A3C9ACE}" type="parTrans" cxnId="{E5B7A171-2DCF-4CB2-9DDF-A14D45D4061F}">
      <dgm:prSet/>
      <dgm:spPr/>
      <dgm:t>
        <a:bodyPr/>
        <a:lstStyle/>
        <a:p>
          <a:endParaRPr lang="en-US"/>
        </a:p>
      </dgm:t>
    </dgm:pt>
    <dgm:pt modelId="{1BA3922B-B731-452D-9FEA-425480B78522}" type="sibTrans" cxnId="{E5B7A171-2DCF-4CB2-9DDF-A14D45D4061F}">
      <dgm:prSet/>
      <dgm:spPr/>
      <dgm:t>
        <a:bodyPr/>
        <a:lstStyle/>
        <a:p>
          <a:endParaRPr lang="en-US"/>
        </a:p>
      </dgm:t>
    </dgm:pt>
    <dgm:pt modelId="{62E86B1B-29AA-42F5-BC10-8B3018D7D4DD}">
      <dgm:prSet/>
      <dgm:spPr/>
      <dgm:t>
        <a:bodyPr/>
        <a:lstStyle/>
        <a:p>
          <a:r>
            <a:rPr lang="en-US" altLang="en-US" dirty="0">
              <a:latin typeface="+mn-lt"/>
            </a:rPr>
            <a:t>When calling the function, the argument is placed in </a:t>
          </a:r>
          <a:r>
            <a:rPr lang="en-US" altLang="en-US" dirty="0">
              <a:solidFill>
                <a:srgbClr val="FF0000"/>
              </a:solidFill>
              <a:latin typeface="+mn-lt"/>
            </a:rPr>
            <a:t>parentheses</a:t>
          </a:r>
          <a:r>
            <a:rPr lang="en-US" altLang="en-US" dirty="0">
              <a:latin typeface="+mn-lt"/>
            </a:rPr>
            <a:t> following the function name</a:t>
          </a:r>
        </a:p>
      </dgm:t>
    </dgm:pt>
    <dgm:pt modelId="{507E234C-7B89-47DB-A655-9D16E4A3CF0C}" type="parTrans" cxnId="{1D8C0170-959F-4AB5-A483-3400136ECDCB}">
      <dgm:prSet/>
      <dgm:spPr/>
      <dgm:t>
        <a:bodyPr/>
        <a:lstStyle/>
        <a:p>
          <a:endParaRPr lang="en-US"/>
        </a:p>
      </dgm:t>
    </dgm:pt>
    <dgm:pt modelId="{9B4CE133-2820-4703-BB94-F19C53D1F09F}" type="sibTrans" cxnId="{1D8C0170-959F-4AB5-A483-3400136ECDCB}">
      <dgm:prSet/>
      <dgm:spPr/>
      <dgm:t>
        <a:bodyPr/>
        <a:lstStyle/>
        <a:p>
          <a:endParaRPr lang="en-US"/>
        </a:p>
      </dgm:t>
    </dgm:pt>
    <dgm:pt modelId="{D86990F7-D80B-4C13-BCEB-4690E5A8CB53}">
      <dgm:prSet/>
      <dgm:spPr/>
      <dgm:t>
        <a:bodyPr/>
        <a:lstStyle/>
        <a:p>
          <a:r>
            <a:rPr lang="en-US" altLang="en-US" dirty="0">
              <a:solidFill>
                <a:srgbClr val="FF0000"/>
              </a:solidFill>
              <a:latin typeface="+mn-lt"/>
            </a:rPr>
            <a:t>Piece of data </a:t>
          </a:r>
          <a:r>
            <a:rPr lang="en-US" altLang="en-US" dirty="0">
              <a:latin typeface="+mn-lt"/>
            </a:rPr>
            <a:t>that is sent into a function</a:t>
          </a:r>
          <a:endParaRPr lang="en-US" dirty="0">
            <a:latin typeface="+mn-lt"/>
          </a:endParaRPr>
        </a:p>
      </dgm:t>
    </dgm:pt>
    <dgm:pt modelId="{946BBFAC-BFE2-4C75-94C1-A27048CF80A5}" type="parTrans" cxnId="{5F999745-8F01-4D14-A18D-427E102C918F}">
      <dgm:prSet/>
      <dgm:spPr/>
      <dgm:t>
        <a:bodyPr/>
        <a:lstStyle/>
        <a:p>
          <a:endParaRPr lang="en-US"/>
        </a:p>
      </dgm:t>
    </dgm:pt>
    <dgm:pt modelId="{F5F4261B-093E-4651-85EA-5880E29018EC}" type="sibTrans" cxnId="{5F999745-8F01-4D14-A18D-427E102C918F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B9058970-B9FC-44DC-9A14-BF5EF6D65515}" type="pres">
      <dgm:prSet presAssocID="{6F0181D8-E8CF-4A26-971C-2F7DE60FFE0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A68E320-2120-4867-81DD-6C492966CAEF}" type="pres">
      <dgm:prSet presAssocID="{6F0181D8-E8CF-4A26-971C-2F7DE60FFE05}" presName="childText" presStyleLbl="revTx" presStyleIdx="0" presStyleCnt="2">
        <dgm:presLayoutVars>
          <dgm:bulletEnabled val="1"/>
        </dgm:presLayoutVars>
      </dgm:prSet>
      <dgm:spPr/>
    </dgm:pt>
    <dgm:pt modelId="{B4025433-A258-4531-AC2E-75F7918900B7}" type="pres">
      <dgm:prSet presAssocID="{A8970F9C-982D-4525-8669-661418C427C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DC6BD66-3418-47FF-8F15-989B5E18B3DC}" type="pres">
      <dgm:prSet presAssocID="{A8970F9C-982D-4525-8669-661418C427C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3859809-0693-44BB-B9B0-9AA2DAF49E0E}" type="presOf" srcId="{D86990F7-D80B-4C13-BCEB-4690E5A8CB53}" destId="{8DC6BD66-3418-47FF-8F15-989B5E18B3DC}" srcOrd="0" destOrd="0" presId="urn:microsoft.com/office/officeart/2005/8/layout/vList2"/>
    <dgm:cxn modelId="{BDA59E17-F7C6-404C-8235-67454F9FEB38}" type="presOf" srcId="{90119837-5B71-4D44-BB01-DB0B084933C8}" destId="{ED5DCCC5-BCA8-4491-AA37-BAF153ECA184}" srcOrd="0" destOrd="0" presId="urn:microsoft.com/office/officeart/2005/8/layout/vList2"/>
    <dgm:cxn modelId="{85E3501C-B779-494B-8A91-8B4B36055E64}" srcId="{6F0181D8-E8CF-4A26-971C-2F7DE60FFE05}" destId="{E91044A7-0394-482A-8684-6EEAD7C89CE7}" srcOrd="1" destOrd="0" parTransId="{50BEAE48-1C73-461E-8E76-0A2EE475EA0A}" sibTransId="{18112AE2-3AEB-4945-8874-C9EE4E20A690}"/>
    <dgm:cxn modelId="{DDF36F37-6A9D-4EA8-9201-28543ABBCBDC}" type="presOf" srcId="{6F0181D8-E8CF-4A26-971C-2F7DE60FFE05}" destId="{B9058970-B9FC-44DC-9A14-BF5EF6D65515}" srcOrd="0" destOrd="0" presId="urn:microsoft.com/office/officeart/2005/8/layout/vList2"/>
    <dgm:cxn modelId="{4B502B40-B8B0-40EB-BD42-D4FCB8B4F5E4}" srcId="{6F0181D8-E8CF-4A26-971C-2F7DE60FFE05}" destId="{42EF2747-BCC9-4F41-BCA3-89352DB0313B}" srcOrd="0" destOrd="0" parTransId="{F47B1E3A-7345-4CF4-8C28-282412FEC21E}" sibTransId="{7E369CE6-F7D4-4FD1-8C13-5C3168EF006B}"/>
    <dgm:cxn modelId="{2E2F965B-CEDF-489D-814A-D79752697B86}" type="presOf" srcId="{A8970F9C-982D-4525-8669-661418C427CE}" destId="{B4025433-A258-4531-AC2E-75F7918900B7}" srcOrd="0" destOrd="0" presId="urn:microsoft.com/office/officeart/2005/8/layout/vList2"/>
    <dgm:cxn modelId="{FCE3FC61-4D06-4C87-8D30-B044DED94873}" type="presOf" srcId="{42EF2747-BCC9-4F41-BCA3-89352DB0313B}" destId="{7A68E320-2120-4867-81DD-6C492966CAEF}" srcOrd="0" destOrd="0" presId="urn:microsoft.com/office/officeart/2005/8/layout/vList2"/>
    <dgm:cxn modelId="{5F999745-8F01-4D14-A18D-427E102C918F}" srcId="{A8970F9C-982D-4525-8669-661418C427CE}" destId="{D86990F7-D80B-4C13-BCEB-4690E5A8CB53}" srcOrd="0" destOrd="0" parTransId="{946BBFAC-BFE2-4C75-94C1-A27048CF80A5}" sibTransId="{F5F4261B-093E-4651-85EA-5880E29018EC}"/>
    <dgm:cxn modelId="{1D8C0170-959F-4AB5-A483-3400136ECDCB}" srcId="{A8970F9C-982D-4525-8669-661418C427CE}" destId="{62E86B1B-29AA-42F5-BC10-8B3018D7D4DD}" srcOrd="2" destOrd="0" parTransId="{507E234C-7B89-47DB-A655-9D16E4A3CF0C}" sibTransId="{9B4CE133-2820-4703-BB94-F19C53D1F09F}"/>
    <dgm:cxn modelId="{E5B7A171-2DCF-4CB2-9DDF-A14D45D4061F}" srcId="{A8970F9C-982D-4525-8669-661418C427CE}" destId="{87523C74-0493-4608-AF44-60B2381D46C7}" srcOrd="1" destOrd="0" parTransId="{C16AD3A1-F584-4909-B295-2A844A3C9ACE}" sibTransId="{1BA3922B-B731-452D-9FEA-425480B78522}"/>
    <dgm:cxn modelId="{FC87A255-38C6-46DC-BAF4-B1F9774B99F9}" srcId="{6F0181D8-E8CF-4A26-971C-2F7DE60FFE05}" destId="{2E03CE2E-3F51-424F-93B1-922092CFF7B8}" srcOrd="3" destOrd="0" parTransId="{F24F24FE-EAAF-4E3F-A7E8-D64E413F6C94}" sibTransId="{EA0F3712-1BF4-4CB3-A330-71222AE1A54D}"/>
    <dgm:cxn modelId="{E6170F7B-3A4E-4E5F-85EE-69358F5F565F}" srcId="{90119837-5B71-4D44-BB01-DB0B084933C8}" destId="{A8970F9C-982D-4525-8669-661418C427CE}" srcOrd="1" destOrd="0" parTransId="{C156A8F4-3152-4B5E-8AAD-DA07E010EE97}" sibTransId="{0D5261FE-9808-43E8-985D-616395BE426F}"/>
    <dgm:cxn modelId="{0EE4DC97-49F7-4958-8139-CF83C2F7BC45}" type="presOf" srcId="{E91044A7-0394-482A-8684-6EEAD7C89CE7}" destId="{7A68E320-2120-4867-81DD-6C492966CAEF}" srcOrd="0" destOrd="1" presId="urn:microsoft.com/office/officeart/2005/8/layout/vList2"/>
    <dgm:cxn modelId="{AF6FA09F-7A64-4247-9465-6DB359C652E4}" type="presOf" srcId="{7AA860D9-3074-4CDE-B490-43C7190395E7}" destId="{7A68E320-2120-4867-81DD-6C492966CAEF}" srcOrd="0" destOrd="2" presId="urn:microsoft.com/office/officeart/2005/8/layout/vList2"/>
    <dgm:cxn modelId="{AD1CA8BE-C425-4302-B44B-AA9D7FAADD18}" srcId="{6F0181D8-E8CF-4A26-971C-2F7DE60FFE05}" destId="{7AA860D9-3074-4CDE-B490-43C7190395E7}" srcOrd="2" destOrd="0" parTransId="{973B5DF8-D322-40CA-A1B5-9F905ED581D8}" sibTransId="{548CD5BF-6202-426A-A345-90DBC9C29D25}"/>
    <dgm:cxn modelId="{60B025CD-C771-4281-9B29-9F3652313A66}" type="presOf" srcId="{62E86B1B-29AA-42F5-BC10-8B3018D7D4DD}" destId="{8DC6BD66-3418-47FF-8F15-989B5E18B3DC}" srcOrd="0" destOrd="2" presId="urn:microsoft.com/office/officeart/2005/8/layout/vList2"/>
    <dgm:cxn modelId="{A98882EB-0D51-446D-8C2C-7EF5957275EE}" type="presOf" srcId="{2E03CE2E-3F51-424F-93B1-922092CFF7B8}" destId="{7A68E320-2120-4867-81DD-6C492966CAEF}" srcOrd="0" destOrd="3" presId="urn:microsoft.com/office/officeart/2005/8/layout/vList2"/>
    <dgm:cxn modelId="{9CAE9DED-5968-43A1-B406-2F4C6379BE77}" type="presOf" srcId="{87523C74-0493-4608-AF44-60B2381D46C7}" destId="{8DC6BD66-3418-47FF-8F15-989B5E18B3DC}" srcOrd="0" destOrd="1" presId="urn:microsoft.com/office/officeart/2005/8/layout/vList2"/>
    <dgm:cxn modelId="{564EBFFE-75A8-40AC-B4F4-4957E3CF7864}" srcId="{90119837-5B71-4D44-BB01-DB0B084933C8}" destId="{6F0181D8-E8CF-4A26-971C-2F7DE60FFE05}" srcOrd="0" destOrd="0" parTransId="{DDE5D2C5-3FD5-4452-80B1-EF797A3B2B9C}" sibTransId="{6B49D688-C2E5-410E-B1EE-48FA532589F8}"/>
    <dgm:cxn modelId="{06F81FB4-38B2-4CB8-BF0C-1EDAD102B6DC}" type="presParOf" srcId="{ED5DCCC5-BCA8-4491-AA37-BAF153ECA184}" destId="{B9058970-B9FC-44DC-9A14-BF5EF6D65515}" srcOrd="0" destOrd="0" presId="urn:microsoft.com/office/officeart/2005/8/layout/vList2"/>
    <dgm:cxn modelId="{4B21958C-6604-494F-93F9-DD7C4166B8AC}" type="presParOf" srcId="{ED5DCCC5-BCA8-4491-AA37-BAF153ECA184}" destId="{7A68E320-2120-4867-81DD-6C492966CAEF}" srcOrd="1" destOrd="0" presId="urn:microsoft.com/office/officeart/2005/8/layout/vList2"/>
    <dgm:cxn modelId="{4FF32B11-790C-460F-AF51-9352B48DE229}" type="presParOf" srcId="{ED5DCCC5-BCA8-4491-AA37-BAF153ECA184}" destId="{B4025433-A258-4531-AC2E-75F7918900B7}" srcOrd="2" destOrd="0" presId="urn:microsoft.com/office/officeart/2005/8/layout/vList2"/>
    <dgm:cxn modelId="{F6CCC8DF-F4B3-448C-9477-49DCE38B2B7B}" type="presParOf" srcId="{ED5DCCC5-BCA8-4491-AA37-BAF153ECA184}" destId="{8DC6BD66-3418-47FF-8F15-989B5E18B3D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0181D8-E8CF-4A26-971C-2F7DE60FFE05}">
      <dgm:prSet/>
      <dgm:spPr/>
      <dgm:t>
        <a:bodyPr/>
        <a:lstStyle/>
        <a:p>
          <a:r>
            <a:rPr lang="en-US" b="0" i="0" dirty="0"/>
            <a:t>Required arguments</a:t>
          </a:r>
          <a:endParaRPr lang="en-US" u="none" dirty="0"/>
        </a:p>
      </dgm:t>
    </dgm:pt>
    <dgm:pt modelId="{DDE5D2C5-3FD5-4452-80B1-EF797A3B2B9C}" type="parTrans" cxnId="{564EBFFE-75A8-40AC-B4F4-4957E3CF7864}">
      <dgm:prSet/>
      <dgm:spPr/>
      <dgm:t>
        <a:bodyPr/>
        <a:lstStyle/>
        <a:p>
          <a:endParaRPr lang="en-US"/>
        </a:p>
      </dgm:t>
    </dgm:pt>
    <dgm:pt modelId="{6B49D688-C2E5-410E-B1EE-48FA532589F8}" type="sibTrans" cxnId="{564EBFFE-75A8-40AC-B4F4-4957E3CF7864}">
      <dgm:prSet/>
      <dgm:spPr/>
      <dgm:t>
        <a:bodyPr/>
        <a:lstStyle/>
        <a:p>
          <a:endParaRPr lang="en-US"/>
        </a:p>
      </dgm:t>
    </dgm:pt>
    <dgm:pt modelId="{DB0623C1-6EE5-439D-A3BC-21B451FB5E6C}">
      <dgm:prSet/>
      <dgm:spPr/>
      <dgm:t>
        <a:bodyPr/>
        <a:lstStyle/>
        <a:p>
          <a:r>
            <a:rPr lang="en-US" b="0" i="0" dirty="0"/>
            <a:t>To call the function </a:t>
          </a:r>
          <a:r>
            <a:rPr lang="en-US" b="0" i="1" dirty="0">
              <a:solidFill>
                <a:srgbClr val="FF0000"/>
              </a:solidFill>
            </a:rPr>
            <a:t>printMe()</a:t>
          </a:r>
          <a:r>
            <a:rPr lang="en-US" b="0" i="0" dirty="0">
              <a:solidFill>
                <a:srgbClr val="FF0000"/>
              </a:solidFill>
            </a:rPr>
            <a:t>, </a:t>
          </a:r>
          <a:r>
            <a:rPr lang="en-US" b="0" i="0" dirty="0"/>
            <a:t>you definitely need to pass one argument, otherwise it gives a syntax error</a:t>
          </a:r>
        </a:p>
      </dgm:t>
    </dgm:pt>
    <dgm:pt modelId="{8FB380CE-6C02-4FD5-B3A7-F5C0F1696DEF}" type="parTrans" cxnId="{F08D5A0A-4A02-4D44-961F-40F18A0E8E46}">
      <dgm:prSet/>
      <dgm:spPr/>
      <dgm:t>
        <a:bodyPr/>
        <a:lstStyle/>
        <a:p>
          <a:endParaRPr lang="en-US"/>
        </a:p>
      </dgm:t>
    </dgm:pt>
    <dgm:pt modelId="{3473C3B5-29D4-4FF9-8C9B-091513BC4F05}" type="sibTrans" cxnId="{F08D5A0A-4A02-4D44-961F-40F18A0E8E46}">
      <dgm:prSet/>
      <dgm:spPr/>
      <dgm:t>
        <a:bodyPr/>
        <a:lstStyle/>
        <a:p>
          <a:endParaRPr lang="en-US"/>
        </a:p>
      </dgm:t>
    </dgm:pt>
    <dgm:pt modelId="{5A77AE01-56A1-470A-B25E-48BB6BB5D9C7}">
      <dgm:prSet/>
      <dgm:spPr/>
      <dgm:t>
        <a:bodyPr/>
        <a:lstStyle/>
        <a:p>
          <a:r>
            <a:rPr lang="en-US" b="0" i="0" dirty="0"/>
            <a:t>Arguments passed to a function are in correct positional </a:t>
          </a:r>
          <a:r>
            <a:rPr lang="en-US" b="0" i="0" dirty="0">
              <a:solidFill>
                <a:srgbClr val="FF0000"/>
              </a:solidFill>
            </a:rPr>
            <a:t>order</a:t>
          </a:r>
          <a:endParaRPr lang="en-US" u="none" dirty="0"/>
        </a:p>
      </dgm:t>
    </dgm:pt>
    <dgm:pt modelId="{E9DFCFA4-E61A-4041-9749-F897573813D7}" type="parTrans" cxnId="{36A45715-B2E8-418E-98F1-5923A99631D2}">
      <dgm:prSet/>
      <dgm:spPr/>
      <dgm:t>
        <a:bodyPr/>
        <a:lstStyle/>
        <a:p>
          <a:endParaRPr lang="en-US"/>
        </a:p>
      </dgm:t>
    </dgm:pt>
    <dgm:pt modelId="{99BEFFEE-7617-4B9A-ACFF-F3946A275116}" type="sibTrans" cxnId="{36A45715-B2E8-418E-98F1-5923A99631D2}">
      <dgm:prSet/>
      <dgm:spPr/>
      <dgm:t>
        <a:bodyPr/>
        <a:lstStyle/>
        <a:p>
          <a:endParaRPr lang="en-US"/>
        </a:p>
      </dgm:t>
    </dgm:pt>
    <dgm:pt modelId="{41A4E483-9293-4C03-86D1-27B01621833C}">
      <dgm:prSet/>
      <dgm:spPr/>
      <dgm:t>
        <a:bodyPr/>
        <a:lstStyle/>
        <a:p>
          <a:r>
            <a:rPr lang="en-US" b="0" i="0" dirty="0"/>
            <a:t>The number of arguments in the function call </a:t>
          </a:r>
          <a:r>
            <a:rPr lang="en-US" b="0" i="0" dirty="0">
              <a:solidFill>
                <a:srgbClr val="FF0000"/>
              </a:solidFill>
            </a:rPr>
            <a:t>should match exactly </a:t>
          </a:r>
          <a:r>
            <a:rPr lang="en-US" b="0" i="0" dirty="0"/>
            <a:t>with the function definition</a:t>
          </a:r>
          <a:endParaRPr lang="en-US" u="none" dirty="0"/>
        </a:p>
      </dgm:t>
    </dgm:pt>
    <dgm:pt modelId="{0DA15FC9-CF1C-49C5-924D-0B2B2D8F7A70}" type="parTrans" cxnId="{BDD7AEFD-EA8F-48F4-975A-0573A62D092F}">
      <dgm:prSet/>
      <dgm:spPr/>
      <dgm:t>
        <a:bodyPr/>
        <a:lstStyle/>
        <a:p>
          <a:endParaRPr lang="en-US"/>
        </a:p>
      </dgm:t>
    </dgm:pt>
    <dgm:pt modelId="{C06A5CB4-CA08-4F5B-A3CC-E1D202F174AD}" type="sibTrans" cxnId="{BDD7AEFD-EA8F-48F4-975A-0573A62D092F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B9058970-B9FC-44DC-9A14-BF5EF6D65515}" type="pres">
      <dgm:prSet presAssocID="{6F0181D8-E8CF-4A26-971C-2F7DE60FFE0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7A68E320-2120-4867-81DD-6C492966CAEF}" type="pres">
      <dgm:prSet presAssocID="{6F0181D8-E8CF-4A26-971C-2F7DE60FFE0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3803707-130C-4D5E-86CE-ED8DB9FEACE3}" type="presOf" srcId="{90119837-5B71-4D44-BB01-DB0B084933C8}" destId="{ED5DCCC5-BCA8-4491-AA37-BAF153ECA184}" srcOrd="0" destOrd="0" presId="urn:microsoft.com/office/officeart/2005/8/layout/vList2"/>
    <dgm:cxn modelId="{F08D5A0A-4A02-4D44-961F-40F18A0E8E46}" srcId="{6F0181D8-E8CF-4A26-971C-2F7DE60FFE05}" destId="{DB0623C1-6EE5-439D-A3BC-21B451FB5E6C}" srcOrd="2" destOrd="0" parTransId="{8FB380CE-6C02-4FD5-B3A7-F5C0F1696DEF}" sibTransId="{3473C3B5-29D4-4FF9-8C9B-091513BC4F05}"/>
    <dgm:cxn modelId="{36A45715-B2E8-418E-98F1-5923A99631D2}" srcId="{6F0181D8-E8CF-4A26-971C-2F7DE60FFE05}" destId="{5A77AE01-56A1-470A-B25E-48BB6BB5D9C7}" srcOrd="0" destOrd="0" parTransId="{E9DFCFA4-E61A-4041-9749-F897573813D7}" sibTransId="{99BEFFEE-7617-4B9A-ACFF-F3946A275116}"/>
    <dgm:cxn modelId="{BFB0591B-9814-4DEE-A0F7-97B86D38A038}" type="presOf" srcId="{6F0181D8-E8CF-4A26-971C-2F7DE60FFE05}" destId="{B9058970-B9FC-44DC-9A14-BF5EF6D65515}" srcOrd="0" destOrd="0" presId="urn:microsoft.com/office/officeart/2005/8/layout/vList2"/>
    <dgm:cxn modelId="{D5113C34-BEB9-449A-8D8A-9AA68E619FA8}" type="presOf" srcId="{DB0623C1-6EE5-439D-A3BC-21B451FB5E6C}" destId="{7A68E320-2120-4867-81DD-6C492966CAEF}" srcOrd="0" destOrd="2" presId="urn:microsoft.com/office/officeart/2005/8/layout/vList2"/>
    <dgm:cxn modelId="{5ED1059B-3A6C-409A-B697-DD34AA51EF61}" type="presOf" srcId="{5A77AE01-56A1-470A-B25E-48BB6BB5D9C7}" destId="{7A68E320-2120-4867-81DD-6C492966CAEF}" srcOrd="0" destOrd="0" presId="urn:microsoft.com/office/officeart/2005/8/layout/vList2"/>
    <dgm:cxn modelId="{728D9EAF-EE86-4A57-897B-36B6CEBF857D}" type="presOf" srcId="{41A4E483-9293-4C03-86D1-27B01621833C}" destId="{7A68E320-2120-4867-81DD-6C492966CAEF}" srcOrd="0" destOrd="1" presId="urn:microsoft.com/office/officeart/2005/8/layout/vList2"/>
    <dgm:cxn modelId="{BDD7AEFD-EA8F-48F4-975A-0573A62D092F}" srcId="{6F0181D8-E8CF-4A26-971C-2F7DE60FFE05}" destId="{41A4E483-9293-4C03-86D1-27B01621833C}" srcOrd="1" destOrd="0" parTransId="{0DA15FC9-CF1C-49C5-924D-0B2B2D8F7A70}" sibTransId="{C06A5CB4-CA08-4F5B-A3CC-E1D202F174AD}"/>
    <dgm:cxn modelId="{564EBFFE-75A8-40AC-B4F4-4957E3CF7864}" srcId="{90119837-5B71-4D44-BB01-DB0B084933C8}" destId="{6F0181D8-E8CF-4A26-971C-2F7DE60FFE05}" srcOrd="0" destOrd="0" parTransId="{DDE5D2C5-3FD5-4452-80B1-EF797A3B2B9C}" sibTransId="{6B49D688-C2E5-410E-B1EE-48FA532589F8}"/>
    <dgm:cxn modelId="{AF48CF2C-9584-4D40-8C4C-2EB1F8EE0705}" type="presParOf" srcId="{ED5DCCC5-BCA8-4491-AA37-BAF153ECA184}" destId="{B9058970-B9FC-44DC-9A14-BF5EF6D65515}" srcOrd="0" destOrd="0" presId="urn:microsoft.com/office/officeart/2005/8/layout/vList2"/>
    <dgm:cxn modelId="{AE33D7CE-1EE7-43B9-9853-D401266B8CEA}" type="presParOf" srcId="{ED5DCCC5-BCA8-4491-AA37-BAF153ECA184}" destId="{7A68E320-2120-4867-81DD-6C492966CAE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665BE1-93E5-4096-9782-DEFB6093FA7D}">
      <dgm:prSet/>
      <dgm:spPr/>
      <dgm:t>
        <a:bodyPr/>
        <a:lstStyle/>
        <a:p>
          <a:r>
            <a:rPr lang="en-US" b="0" i="0" dirty="0"/>
            <a:t>Keyword arguments</a:t>
          </a:r>
        </a:p>
      </dgm:t>
    </dgm:pt>
    <dgm:pt modelId="{277AC35E-504F-4983-9CE4-B2529D655CB6}" type="parTrans" cxnId="{8E87F236-12F5-406F-B4B3-533CBAFBB6B1}">
      <dgm:prSet/>
      <dgm:spPr/>
      <dgm:t>
        <a:bodyPr/>
        <a:lstStyle/>
        <a:p>
          <a:endParaRPr lang="en-US"/>
        </a:p>
      </dgm:t>
    </dgm:pt>
    <dgm:pt modelId="{F4A4D3BF-38D5-47DA-B683-4EE71EDC008E}" type="sibTrans" cxnId="{8E87F236-12F5-406F-B4B3-533CBAFBB6B1}">
      <dgm:prSet/>
      <dgm:spPr/>
      <dgm:t>
        <a:bodyPr/>
        <a:lstStyle/>
        <a:p>
          <a:endParaRPr lang="en-US"/>
        </a:p>
      </dgm:t>
    </dgm:pt>
    <dgm:pt modelId="{D01C2FAC-E6AD-4317-B733-D812345ADDBD}">
      <dgm:prSet/>
      <dgm:spPr/>
      <dgm:t>
        <a:bodyPr/>
        <a:lstStyle/>
        <a:p>
          <a:r>
            <a:rPr lang="en-US" b="0" i="0" dirty="0"/>
            <a:t>This allows you to skip arguments or place them out of order because the Python interpreter is able to use the </a:t>
          </a:r>
          <a:r>
            <a:rPr lang="en-US" b="0" i="0" dirty="0">
              <a:solidFill>
                <a:srgbClr val="FF0000"/>
              </a:solidFill>
            </a:rPr>
            <a:t>parameter names</a:t>
          </a:r>
          <a:r>
            <a:rPr lang="en-US" b="0" i="0" dirty="0"/>
            <a:t> provided to match the values with parameters</a:t>
          </a:r>
        </a:p>
      </dgm:t>
    </dgm:pt>
    <dgm:pt modelId="{92120E3C-FEA6-4EE3-9BE1-58BA2C4D8D69}" type="parTrans" cxnId="{BE251B37-62E8-4C0C-B809-C3FAD837BC38}">
      <dgm:prSet/>
      <dgm:spPr/>
      <dgm:t>
        <a:bodyPr/>
        <a:lstStyle/>
        <a:p>
          <a:endParaRPr lang="en-US"/>
        </a:p>
      </dgm:t>
    </dgm:pt>
    <dgm:pt modelId="{E57BD3D3-C8CA-4CB8-9FC6-3D6DBF6481EE}" type="sibTrans" cxnId="{BE251B37-62E8-4C0C-B809-C3FAD837BC38}">
      <dgm:prSet/>
      <dgm:spPr/>
      <dgm:t>
        <a:bodyPr/>
        <a:lstStyle/>
        <a:p>
          <a:endParaRPr lang="en-US"/>
        </a:p>
      </dgm:t>
    </dgm:pt>
    <dgm:pt modelId="{E1F4947F-CF8F-43C5-AEB3-2CE56A8A6744}">
      <dgm:prSet/>
      <dgm:spPr/>
      <dgm:t>
        <a:bodyPr/>
        <a:lstStyle/>
        <a:p>
          <a:r>
            <a:rPr lang="en-US" b="0" i="0" dirty="0"/>
            <a:t>When you use arguments in a function call, the caller identifies the arguments by the </a:t>
          </a:r>
          <a:r>
            <a:rPr lang="en-US" b="0" i="0" dirty="0">
              <a:solidFill>
                <a:srgbClr val="FF0000"/>
              </a:solidFill>
            </a:rPr>
            <a:t>parameter name</a:t>
          </a:r>
        </a:p>
      </dgm:t>
    </dgm:pt>
    <dgm:pt modelId="{B022E197-3FF2-437B-B26D-7AA2366FBA5F}" type="parTrans" cxnId="{A03DB450-5958-4E3F-AF0C-F7BB6C462691}">
      <dgm:prSet/>
      <dgm:spPr/>
      <dgm:t>
        <a:bodyPr/>
        <a:lstStyle/>
        <a:p>
          <a:endParaRPr lang="en-US"/>
        </a:p>
      </dgm:t>
    </dgm:pt>
    <dgm:pt modelId="{6C014382-908E-4D98-BAFF-BFB71AC7A02F}" type="sibTrans" cxnId="{A03DB450-5958-4E3F-AF0C-F7BB6C462691}">
      <dgm:prSet/>
      <dgm:spPr/>
      <dgm:t>
        <a:bodyPr/>
        <a:lstStyle/>
        <a:p>
          <a:endParaRPr lang="en-US"/>
        </a:p>
      </dgm:t>
    </dgm:pt>
    <dgm:pt modelId="{CBEB31E5-F25C-4F79-BE3E-9E8F6BD3C887}">
      <dgm:prSet/>
      <dgm:spPr/>
      <dgm:t>
        <a:bodyPr/>
        <a:lstStyle/>
        <a:p>
          <a:r>
            <a:rPr lang="en-US" b="0" i="0" dirty="0"/>
            <a:t>You can also make keyword calls to the </a:t>
          </a:r>
          <a:r>
            <a:rPr lang="en-US" b="0" i="1" dirty="0">
              <a:solidFill>
                <a:srgbClr val="FF0000"/>
              </a:solidFill>
            </a:rPr>
            <a:t>printInfo()</a:t>
          </a:r>
          <a:r>
            <a:rPr lang="en-US" b="0" i="0" dirty="0"/>
            <a:t> function</a:t>
          </a:r>
        </a:p>
      </dgm:t>
    </dgm:pt>
    <dgm:pt modelId="{B7DA0331-D819-4C05-8EF3-9B705311017D}" type="parTrans" cxnId="{761AB864-A105-4CB4-A99A-0D5592208F37}">
      <dgm:prSet/>
      <dgm:spPr/>
      <dgm:t>
        <a:bodyPr/>
        <a:lstStyle/>
        <a:p>
          <a:endParaRPr lang="en-US"/>
        </a:p>
      </dgm:t>
    </dgm:pt>
    <dgm:pt modelId="{4305EE7B-3319-4506-B64A-F37870D0EEC6}" type="sibTrans" cxnId="{761AB864-A105-4CB4-A99A-0D5592208F37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39A7FEF5-35A8-47C7-A004-A42ED8D82123}" type="pres">
      <dgm:prSet presAssocID="{C4665BE1-93E5-4096-9782-DEFB6093FA7D}" presName="parentText" presStyleLbl="node1" presStyleIdx="0" presStyleCnt="1" custLinFactNeighborX="694" custLinFactNeighborY="1931">
        <dgm:presLayoutVars>
          <dgm:chMax val="0"/>
          <dgm:bulletEnabled val="1"/>
        </dgm:presLayoutVars>
      </dgm:prSet>
      <dgm:spPr/>
    </dgm:pt>
    <dgm:pt modelId="{18C01CC1-5CA2-4E3A-8D6F-C27F5F8BD8D5}" type="pres">
      <dgm:prSet presAssocID="{C4665BE1-93E5-4096-9782-DEFB6093FA7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B94CB0B-13C9-4A4B-8B9A-7F2DFA3084BF}" type="presOf" srcId="{E1F4947F-CF8F-43C5-AEB3-2CE56A8A6744}" destId="{18C01CC1-5CA2-4E3A-8D6F-C27F5F8BD8D5}" srcOrd="0" destOrd="0" presId="urn:microsoft.com/office/officeart/2005/8/layout/vList2"/>
    <dgm:cxn modelId="{8E87F236-12F5-406F-B4B3-533CBAFBB6B1}" srcId="{90119837-5B71-4D44-BB01-DB0B084933C8}" destId="{C4665BE1-93E5-4096-9782-DEFB6093FA7D}" srcOrd="0" destOrd="0" parTransId="{277AC35E-504F-4983-9CE4-B2529D655CB6}" sibTransId="{F4A4D3BF-38D5-47DA-B683-4EE71EDC008E}"/>
    <dgm:cxn modelId="{BE251B37-62E8-4C0C-B809-C3FAD837BC38}" srcId="{C4665BE1-93E5-4096-9782-DEFB6093FA7D}" destId="{D01C2FAC-E6AD-4317-B733-D812345ADDBD}" srcOrd="1" destOrd="0" parTransId="{92120E3C-FEA6-4EE3-9BE1-58BA2C4D8D69}" sibTransId="{E57BD3D3-C8CA-4CB8-9FC6-3D6DBF6481EE}"/>
    <dgm:cxn modelId="{69CA5444-7C32-4604-85DA-374126579772}" type="presOf" srcId="{C4665BE1-93E5-4096-9782-DEFB6093FA7D}" destId="{39A7FEF5-35A8-47C7-A004-A42ED8D82123}" srcOrd="0" destOrd="0" presId="urn:microsoft.com/office/officeart/2005/8/layout/vList2"/>
    <dgm:cxn modelId="{761AB864-A105-4CB4-A99A-0D5592208F37}" srcId="{C4665BE1-93E5-4096-9782-DEFB6093FA7D}" destId="{CBEB31E5-F25C-4F79-BE3E-9E8F6BD3C887}" srcOrd="2" destOrd="0" parTransId="{B7DA0331-D819-4C05-8EF3-9B705311017D}" sibTransId="{4305EE7B-3319-4506-B64A-F37870D0EEC6}"/>
    <dgm:cxn modelId="{4D45A64A-EE75-4C3E-863C-2F7FCC950FBB}" type="presOf" srcId="{90119837-5B71-4D44-BB01-DB0B084933C8}" destId="{ED5DCCC5-BCA8-4491-AA37-BAF153ECA184}" srcOrd="0" destOrd="0" presId="urn:microsoft.com/office/officeart/2005/8/layout/vList2"/>
    <dgm:cxn modelId="{A03DB450-5958-4E3F-AF0C-F7BB6C462691}" srcId="{C4665BE1-93E5-4096-9782-DEFB6093FA7D}" destId="{E1F4947F-CF8F-43C5-AEB3-2CE56A8A6744}" srcOrd="0" destOrd="0" parTransId="{B022E197-3FF2-437B-B26D-7AA2366FBA5F}" sibTransId="{6C014382-908E-4D98-BAFF-BFB71AC7A02F}"/>
    <dgm:cxn modelId="{578EDC82-0FB7-4885-A58F-C775C210B597}" type="presOf" srcId="{D01C2FAC-E6AD-4317-B733-D812345ADDBD}" destId="{18C01CC1-5CA2-4E3A-8D6F-C27F5F8BD8D5}" srcOrd="0" destOrd="1" presId="urn:microsoft.com/office/officeart/2005/8/layout/vList2"/>
    <dgm:cxn modelId="{F28FDB9F-925A-42DD-BFA9-82DF42709543}" type="presOf" srcId="{CBEB31E5-F25C-4F79-BE3E-9E8F6BD3C887}" destId="{18C01CC1-5CA2-4E3A-8D6F-C27F5F8BD8D5}" srcOrd="0" destOrd="2" presId="urn:microsoft.com/office/officeart/2005/8/layout/vList2"/>
    <dgm:cxn modelId="{B48B9972-FD2F-4C22-B9EA-6D4CD0D23E0A}" type="presParOf" srcId="{ED5DCCC5-BCA8-4491-AA37-BAF153ECA184}" destId="{39A7FEF5-35A8-47C7-A004-A42ED8D82123}" srcOrd="0" destOrd="0" presId="urn:microsoft.com/office/officeart/2005/8/layout/vList2"/>
    <dgm:cxn modelId="{0966545E-E2B4-486A-8860-C5FFFA46F7A0}" type="presParOf" srcId="{ED5DCCC5-BCA8-4491-AA37-BAF153ECA184}" destId="{18C01CC1-5CA2-4E3A-8D6F-C27F5F8BD8D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665BE1-93E5-4096-9782-DEFB6093FA7D}">
      <dgm:prSet/>
      <dgm:spPr/>
      <dgm:t>
        <a:bodyPr/>
        <a:lstStyle/>
        <a:p>
          <a:r>
            <a:rPr lang="en-US" b="0" i="0" dirty="0"/>
            <a:t>A default argument</a:t>
          </a:r>
        </a:p>
      </dgm:t>
    </dgm:pt>
    <dgm:pt modelId="{277AC35E-504F-4983-9CE4-B2529D655CB6}" type="parTrans" cxnId="{8E87F236-12F5-406F-B4B3-533CBAFBB6B1}">
      <dgm:prSet/>
      <dgm:spPr/>
      <dgm:t>
        <a:bodyPr/>
        <a:lstStyle/>
        <a:p>
          <a:endParaRPr lang="en-US"/>
        </a:p>
      </dgm:t>
    </dgm:pt>
    <dgm:pt modelId="{F4A4D3BF-38D5-47DA-B683-4EE71EDC008E}" type="sibTrans" cxnId="{8E87F236-12F5-406F-B4B3-533CBAFBB6B1}">
      <dgm:prSet/>
      <dgm:spPr/>
      <dgm:t>
        <a:bodyPr/>
        <a:lstStyle/>
        <a:p>
          <a:endParaRPr lang="en-US"/>
        </a:p>
      </dgm:t>
    </dgm:pt>
    <dgm:pt modelId="{09F397DF-509A-418C-ACAD-30683BA818F2}">
      <dgm:prSet/>
      <dgm:spPr/>
      <dgm:t>
        <a:bodyPr/>
        <a:lstStyle/>
        <a:p>
          <a:r>
            <a:rPr lang="en-US" b="0" i="0" dirty="0"/>
            <a:t>Argument that assumes a </a:t>
          </a:r>
          <a:r>
            <a:rPr lang="en-US" b="0" i="0" dirty="0">
              <a:solidFill>
                <a:srgbClr val="FF0000"/>
              </a:solidFill>
            </a:rPr>
            <a:t>default value </a:t>
          </a:r>
          <a:r>
            <a:rPr lang="en-US" b="0" i="0" dirty="0"/>
            <a:t>if a value is not provided in the function call for that argument </a:t>
          </a:r>
        </a:p>
      </dgm:t>
    </dgm:pt>
    <dgm:pt modelId="{87F6D9D7-C93D-4E6F-9DC5-32F5AA8605D3}" type="parTrans" cxnId="{5B2C9858-6ED4-40C7-89C3-FD8D4E090947}">
      <dgm:prSet/>
      <dgm:spPr/>
      <dgm:t>
        <a:bodyPr/>
        <a:lstStyle/>
        <a:p>
          <a:endParaRPr lang="en-US"/>
        </a:p>
      </dgm:t>
    </dgm:pt>
    <dgm:pt modelId="{2742D268-26F8-4062-A4B1-0D8F347A974F}" type="sibTrans" cxnId="{5B2C9858-6ED4-40C7-89C3-FD8D4E090947}">
      <dgm:prSet/>
      <dgm:spPr/>
      <dgm:t>
        <a:bodyPr/>
        <a:lstStyle/>
        <a:p>
          <a:endParaRPr lang="en-US"/>
        </a:p>
      </dgm:t>
    </dgm:pt>
    <dgm:pt modelId="{0959133A-6304-41CA-A8B0-F2C0F1278709}">
      <dgm:prSet/>
      <dgm:spPr/>
      <dgm:t>
        <a:bodyPr/>
        <a:lstStyle/>
        <a:p>
          <a:r>
            <a:rPr lang="en-US" b="0" i="0" dirty="0"/>
            <a:t>The following example gives an idea on default arguments, it </a:t>
          </a:r>
          <a:r>
            <a:rPr lang="en-US" b="0" i="0" dirty="0">
              <a:solidFill>
                <a:srgbClr val="FF0000"/>
              </a:solidFill>
            </a:rPr>
            <a:t>prints default age </a:t>
          </a:r>
          <a:r>
            <a:rPr lang="en-US" b="0" i="0" dirty="0"/>
            <a:t>if it is not passed</a:t>
          </a:r>
        </a:p>
      </dgm:t>
    </dgm:pt>
    <dgm:pt modelId="{F1B18259-5B0F-4CC1-81D8-3C9BF1935DC2}" type="parTrans" cxnId="{40D6FF9F-8D19-4178-B87F-1443A9687F13}">
      <dgm:prSet/>
      <dgm:spPr/>
      <dgm:t>
        <a:bodyPr/>
        <a:lstStyle/>
        <a:p>
          <a:endParaRPr lang="en-US"/>
        </a:p>
      </dgm:t>
    </dgm:pt>
    <dgm:pt modelId="{467EA055-99F4-43BF-8061-615D473050C3}" type="sibTrans" cxnId="{40D6FF9F-8D19-4178-B87F-1443A9687F13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39A7FEF5-35A8-47C7-A004-A42ED8D82123}" type="pres">
      <dgm:prSet presAssocID="{C4665BE1-93E5-4096-9782-DEFB6093FA7D}" presName="parentText" presStyleLbl="node1" presStyleIdx="0" presStyleCnt="1" custScaleX="100000" custScaleY="128827">
        <dgm:presLayoutVars>
          <dgm:chMax val="0"/>
          <dgm:bulletEnabled val="1"/>
        </dgm:presLayoutVars>
      </dgm:prSet>
      <dgm:spPr/>
    </dgm:pt>
    <dgm:pt modelId="{18C01CC1-5CA2-4E3A-8D6F-C27F5F8BD8D5}" type="pres">
      <dgm:prSet presAssocID="{C4665BE1-93E5-4096-9782-DEFB6093FA7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E87F236-12F5-406F-B4B3-533CBAFBB6B1}" srcId="{90119837-5B71-4D44-BB01-DB0B084933C8}" destId="{C4665BE1-93E5-4096-9782-DEFB6093FA7D}" srcOrd="0" destOrd="0" parTransId="{277AC35E-504F-4983-9CE4-B2529D655CB6}" sibTransId="{F4A4D3BF-38D5-47DA-B683-4EE71EDC008E}"/>
    <dgm:cxn modelId="{5B2C9858-6ED4-40C7-89C3-FD8D4E090947}" srcId="{C4665BE1-93E5-4096-9782-DEFB6093FA7D}" destId="{09F397DF-509A-418C-ACAD-30683BA818F2}" srcOrd="0" destOrd="0" parTransId="{87F6D9D7-C93D-4E6F-9DC5-32F5AA8605D3}" sibTransId="{2742D268-26F8-4062-A4B1-0D8F347A974F}"/>
    <dgm:cxn modelId="{40D6FF9F-8D19-4178-B87F-1443A9687F13}" srcId="{C4665BE1-93E5-4096-9782-DEFB6093FA7D}" destId="{0959133A-6304-41CA-A8B0-F2C0F1278709}" srcOrd="1" destOrd="0" parTransId="{F1B18259-5B0F-4CC1-81D8-3C9BF1935DC2}" sibTransId="{467EA055-99F4-43BF-8061-615D473050C3}"/>
    <dgm:cxn modelId="{57D654D8-B45D-41AD-8DD6-7B48F8E52BF1}" type="presOf" srcId="{90119837-5B71-4D44-BB01-DB0B084933C8}" destId="{ED5DCCC5-BCA8-4491-AA37-BAF153ECA184}" srcOrd="0" destOrd="0" presId="urn:microsoft.com/office/officeart/2005/8/layout/vList2"/>
    <dgm:cxn modelId="{8F56EFDE-F8DD-42F4-AC6F-658DD05A5B8F}" type="presOf" srcId="{0959133A-6304-41CA-A8B0-F2C0F1278709}" destId="{18C01CC1-5CA2-4E3A-8D6F-C27F5F8BD8D5}" srcOrd="0" destOrd="1" presId="urn:microsoft.com/office/officeart/2005/8/layout/vList2"/>
    <dgm:cxn modelId="{20F793F6-4053-4336-BB74-35D735C9DA00}" type="presOf" srcId="{09F397DF-509A-418C-ACAD-30683BA818F2}" destId="{18C01CC1-5CA2-4E3A-8D6F-C27F5F8BD8D5}" srcOrd="0" destOrd="0" presId="urn:microsoft.com/office/officeart/2005/8/layout/vList2"/>
    <dgm:cxn modelId="{AA577AFC-BE15-4CDD-B891-5A40790E963B}" type="presOf" srcId="{C4665BE1-93E5-4096-9782-DEFB6093FA7D}" destId="{39A7FEF5-35A8-47C7-A004-A42ED8D82123}" srcOrd="0" destOrd="0" presId="urn:microsoft.com/office/officeart/2005/8/layout/vList2"/>
    <dgm:cxn modelId="{F5F1715B-FCFF-414D-8075-0A4B25F62585}" type="presParOf" srcId="{ED5DCCC5-BCA8-4491-AA37-BAF153ECA184}" destId="{39A7FEF5-35A8-47C7-A004-A42ED8D82123}" srcOrd="0" destOrd="0" presId="urn:microsoft.com/office/officeart/2005/8/layout/vList2"/>
    <dgm:cxn modelId="{C568556C-5BC6-4F80-840B-BCBC1B0788B7}" type="presParOf" srcId="{ED5DCCC5-BCA8-4491-AA37-BAF153ECA184}" destId="{18C01CC1-5CA2-4E3A-8D6F-C27F5F8BD8D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665BE1-93E5-4096-9782-DEFB6093FA7D}">
      <dgm:prSet/>
      <dgm:spPr/>
      <dgm:t>
        <a:bodyPr/>
        <a:lstStyle/>
        <a:p>
          <a:r>
            <a:rPr lang="en-US" b="0" i="1" dirty="0"/>
            <a:t>Variable-length</a:t>
          </a:r>
          <a:r>
            <a:rPr lang="en-US" b="0" i="0" dirty="0"/>
            <a:t> arguments </a:t>
          </a:r>
        </a:p>
      </dgm:t>
    </dgm:pt>
    <dgm:pt modelId="{277AC35E-504F-4983-9CE4-B2529D655CB6}" type="parTrans" cxnId="{8E87F236-12F5-406F-B4B3-533CBAFBB6B1}">
      <dgm:prSet/>
      <dgm:spPr/>
      <dgm:t>
        <a:bodyPr/>
        <a:lstStyle/>
        <a:p>
          <a:endParaRPr lang="en-US"/>
        </a:p>
      </dgm:t>
    </dgm:pt>
    <dgm:pt modelId="{F4A4D3BF-38D5-47DA-B683-4EE71EDC008E}" type="sibTrans" cxnId="{8E87F236-12F5-406F-B4B3-533CBAFBB6B1}">
      <dgm:prSet/>
      <dgm:spPr/>
      <dgm:t>
        <a:bodyPr/>
        <a:lstStyle/>
        <a:p>
          <a:endParaRPr lang="en-US"/>
        </a:p>
      </dgm:t>
    </dgm:pt>
    <dgm:pt modelId="{58E73C53-4239-484D-B246-2D5BE81A387E}">
      <dgm:prSet/>
      <dgm:spPr/>
      <dgm:t>
        <a:bodyPr/>
        <a:lstStyle/>
        <a:p>
          <a:r>
            <a:rPr lang="en-US" b="0" i="0" dirty="0"/>
            <a:t>You can process a function for more arguments than you specified </a:t>
          </a:r>
        </a:p>
      </dgm:t>
    </dgm:pt>
    <dgm:pt modelId="{0077EB12-32D3-4312-ADCC-84B225FB302D}" type="parTrans" cxnId="{1D566962-D5D7-48C2-BD84-A94C21212497}">
      <dgm:prSet/>
      <dgm:spPr/>
      <dgm:t>
        <a:bodyPr/>
        <a:lstStyle/>
        <a:p>
          <a:endParaRPr lang="en-US"/>
        </a:p>
      </dgm:t>
    </dgm:pt>
    <dgm:pt modelId="{6C0E4F23-722A-4F35-9E0F-FB33AA9D956B}" type="sibTrans" cxnId="{1D566962-D5D7-48C2-BD84-A94C21212497}">
      <dgm:prSet/>
      <dgm:spPr/>
      <dgm:t>
        <a:bodyPr/>
        <a:lstStyle/>
        <a:p>
          <a:endParaRPr lang="en-US"/>
        </a:p>
      </dgm:t>
    </dgm:pt>
    <dgm:pt modelId="{1E53234F-AC15-4F6B-B8E5-A55421E2ED58}">
      <dgm:prSet/>
      <dgm:spPr/>
      <dgm:t>
        <a:bodyPr/>
        <a:lstStyle/>
        <a:p>
          <a:r>
            <a:rPr lang="en-US" b="0" i="0" dirty="0"/>
            <a:t>An asterisk (*) is placed before the variable name that holds the values of all non keyword variable arguments</a:t>
          </a:r>
        </a:p>
      </dgm:t>
    </dgm:pt>
    <dgm:pt modelId="{7B853C8B-12F8-421E-833C-A9CF8A48D389}" type="parTrans" cxnId="{E7E8F2C0-FC95-4E14-A71F-3DD61C48E23F}">
      <dgm:prSet/>
      <dgm:spPr/>
      <dgm:t>
        <a:bodyPr/>
        <a:lstStyle/>
        <a:p>
          <a:endParaRPr lang="en-US"/>
        </a:p>
      </dgm:t>
    </dgm:pt>
    <dgm:pt modelId="{840E7165-466E-4C94-BB4D-8655F5065695}" type="sibTrans" cxnId="{E7E8F2C0-FC95-4E14-A71F-3DD61C48E23F}">
      <dgm:prSet/>
      <dgm:spPr/>
      <dgm:t>
        <a:bodyPr/>
        <a:lstStyle/>
        <a:p>
          <a:endParaRPr lang="en-US"/>
        </a:p>
      </dgm:t>
    </dgm:pt>
    <dgm:pt modelId="{BF505DD7-90AE-4909-95AC-058DE96978F9}">
      <dgm:prSet/>
      <dgm:spPr/>
      <dgm:t>
        <a:bodyPr/>
        <a:lstStyle/>
        <a:p>
          <a:r>
            <a:rPr lang="en-US" b="0" i="0" dirty="0"/>
            <a:t>It saves the additional parameters in Tuple</a:t>
          </a:r>
        </a:p>
      </dgm:t>
    </dgm:pt>
    <dgm:pt modelId="{ADF27FB4-E067-40BB-BF3E-62AA38960689}" type="parTrans" cxnId="{98760749-C56D-4949-B557-0A47518EDA31}">
      <dgm:prSet/>
      <dgm:spPr/>
      <dgm:t>
        <a:bodyPr/>
        <a:lstStyle/>
        <a:p>
          <a:endParaRPr lang="en-US"/>
        </a:p>
      </dgm:t>
    </dgm:pt>
    <dgm:pt modelId="{8DF07142-AA40-4EA8-9337-26F5CD0152E5}" type="sibTrans" cxnId="{98760749-C56D-4949-B557-0A47518EDA31}">
      <dgm:prSet/>
      <dgm:spPr/>
      <dgm:t>
        <a:bodyPr/>
        <a:lstStyle/>
        <a:p>
          <a:endParaRPr lang="en-US"/>
        </a:p>
      </dgm:t>
    </dgm:pt>
    <dgm:pt modelId="{2BF97BBF-35D6-4390-BBEA-D9CC9C379ED5}">
      <dgm:prSet/>
      <dgm:spPr/>
      <dgm:t>
        <a:bodyPr/>
        <a:lstStyle/>
        <a:p>
          <a:r>
            <a:rPr lang="en-US" b="0" i="0" dirty="0"/>
            <a:t>This tuple is empty when no additional arguments are specified during the function call</a:t>
          </a:r>
        </a:p>
      </dgm:t>
    </dgm:pt>
    <dgm:pt modelId="{FD3A870F-8241-4B1C-87FC-DA2484267114}" type="parTrans" cxnId="{E229325B-C24C-4887-9312-49C6427F63DB}">
      <dgm:prSet/>
      <dgm:spPr/>
      <dgm:t>
        <a:bodyPr/>
        <a:lstStyle/>
        <a:p>
          <a:endParaRPr lang="en-US"/>
        </a:p>
      </dgm:t>
    </dgm:pt>
    <dgm:pt modelId="{2BBDA72D-7472-41BA-A21B-F8D9FD8CA985}" type="sibTrans" cxnId="{E229325B-C24C-4887-9312-49C6427F63DB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39A7FEF5-35A8-47C7-A004-A42ED8D82123}" type="pres">
      <dgm:prSet presAssocID="{C4665BE1-93E5-4096-9782-DEFB6093FA7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8C01CC1-5CA2-4E3A-8D6F-C27F5F8BD8D5}" type="pres">
      <dgm:prSet presAssocID="{C4665BE1-93E5-4096-9782-DEFB6093FA7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792161F-F949-4AC4-A14A-D2560FD2CF0F}" type="presOf" srcId="{1E53234F-AC15-4F6B-B8E5-A55421E2ED58}" destId="{18C01CC1-5CA2-4E3A-8D6F-C27F5F8BD8D5}" srcOrd="0" destOrd="1" presId="urn:microsoft.com/office/officeart/2005/8/layout/vList2"/>
    <dgm:cxn modelId="{8E87F236-12F5-406F-B4B3-533CBAFBB6B1}" srcId="{90119837-5B71-4D44-BB01-DB0B084933C8}" destId="{C4665BE1-93E5-4096-9782-DEFB6093FA7D}" srcOrd="0" destOrd="0" parTransId="{277AC35E-504F-4983-9CE4-B2529D655CB6}" sibTransId="{F4A4D3BF-38D5-47DA-B683-4EE71EDC008E}"/>
    <dgm:cxn modelId="{E229325B-C24C-4887-9312-49C6427F63DB}" srcId="{C4665BE1-93E5-4096-9782-DEFB6093FA7D}" destId="{2BF97BBF-35D6-4390-BBEA-D9CC9C379ED5}" srcOrd="3" destOrd="0" parTransId="{FD3A870F-8241-4B1C-87FC-DA2484267114}" sibTransId="{2BBDA72D-7472-41BA-A21B-F8D9FD8CA985}"/>
    <dgm:cxn modelId="{1D566962-D5D7-48C2-BD84-A94C21212497}" srcId="{C4665BE1-93E5-4096-9782-DEFB6093FA7D}" destId="{58E73C53-4239-484D-B246-2D5BE81A387E}" srcOrd="0" destOrd="0" parTransId="{0077EB12-32D3-4312-ADCC-84B225FB302D}" sibTransId="{6C0E4F23-722A-4F35-9E0F-FB33AA9D956B}"/>
    <dgm:cxn modelId="{98760749-C56D-4949-B557-0A47518EDA31}" srcId="{C4665BE1-93E5-4096-9782-DEFB6093FA7D}" destId="{BF505DD7-90AE-4909-95AC-058DE96978F9}" srcOrd="2" destOrd="0" parTransId="{ADF27FB4-E067-40BB-BF3E-62AA38960689}" sibTransId="{8DF07142-AA40-4EA8-9337-26F5CD0152E5}"/>
    <dgm:cxn modelId="{98935F51-1A89-4CD3-B9A5-50D8217331EF}" type="presOf" srcId="{BF505DD7-90AE-4909-95AC-058DE96978F9}" destId="{18C01CC1-5CA2-4E3A-8D6F-C27F5F8BD8D5}" srcOrd="0" destOrd="2" presId="urn:microsoft.com/office/officeart/2005/8/layout/vList2"/>
    <dgm:cxn modelId="{1FFCC159-C83F-4228-AD9E-FBBD8C4A8BB1}" type="presOf" srcId="{2BF97BBF-35D6-4390-BBEA-D9CC9C379ED5}" destId="{18C01CC1-5CA2-4E3A-8D6F-C27F5F8BD8D5}" srcOrd="0" destOrd="3" presId="urn:microsoft.com/office/officeart/2005/8/layout/vList2"/>
    <dgm:cxn modelId="{E7E8F2C0-FC95-4E14-A71F-3DD61C48E23F}" srcId="{C4665BE1-93E5-4096-9782-DEFB6093FA7D}" destId="{1E53234F-AC15-4F6B-B8E5-A55421E2ED58}" srcOrd="1" destOrd="0" parTransId="{7B853C8B-12F8-421E-833C-A9CF8A48D389}" sibTransId="{840E7165-466E-4C94-BB4D-8655F5065695}"/>
    <dgm:cxn modelId="{1B6C50D0-B3F7-4312-9C11-FBD585A3F92F}" type="presOf" srcId="{90119837-5B71-4D44-BB01-DB0B084933C8}" destId="{ED5DCCC5-BCA8-4491-AA37-BAF153ECA184}" srcOrd="0" destOrd="0" presId="urn:microsoft.com/office/officeart/2005/8/layout/vList2"/>
    <dgm:cxn modelId="{06CE14EF-AFD6-4FAA-A19A-2590D864B008}" type="presOf" srcId="{C4665BE1-93E5-4096-9782-DEFB6093FA7D}" destId="{39A7FEF5-35A8-47C7-A004-A42ED8D82123}" srcOrd="0" destOrd="0" presId="urn:microsoft.com/office/officeart/2005/8/layout/vList2"/>
    <dgm:cxn modelId="{BA6326F0-A9C9-4133-BF8C-D1A24F26E172}" type="presOf" srcId="{58E73C53-4239-484D-B246-2D5BE81A387E}" destId="{18C01CC1-5CA2-4E3A-8D6F-C27F5F8BD8D5}" srcOrd="0" destOrd="0" presId="urn:microsoft.com/office/officeart/2005/8/layout/vList2"/>
    <dgm:cxn modelId="{E453C4E7-E149-4A5E-BF43-364ECA16D5BC}" type="presParOf" srcId="{ED5DCCC5-BCA8-4491-AA37-BAF153ECA184}" destId="{39A7FEF5-35A8-47C7-A004-A42ED8D82123}" srcOrd="0" destOrd="0" presId="urn:microsoft.com/office/officeart/2005/8/layout/vList2"/>
    <dgm:cxn modelId="{9C52E03F-5952-42D7-A214-9A11F4038360}" type="presParOf" srcId="{ED5DCCC5-BCA8-4491-AA37-BAF153ECA184}" destId="{18C01CC1-5CA2-4E3A-8D6F-C27F5F8BD8D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4D3A6C-6ED2-4F6F-B34A-BED429110728}">
      <dgm:prSet/>
      <dgm:spPr/>
      <dgm:t>
        <a:bodyPr/>
        <a:lstStyle/>
        <a:p>
          <a:r>
            <a:rPr lang="en-US" altLang="en-US" i="1" dirty="0"/>
            <a:t>Pass by value</a:t>
          </a:r>
          <a:endParaRPr lang="en-US" altLang="en-US" dirty="0"/>
        </a:p>
      </dgm:t>
    </dgm:pt>
    <dgm:pt modelId="{B5C0A33B-822D-465E-BB1C-E67B3DCCCE0D}" type="parTrans" cxnId="{2567B07D-FDC1-44BD-97EE-254AC045FA7E}">
      <dgm:prSet/>
      <dgm:spPr/>
      <dgm:t>
        <a:bodyPr/>
        <a:lstStyle/>
        <a:p>
          <a:endParaRPr lang="en-US"/>
        </a:p>
      </dgm:t>
    </dgm:pt>
    <dgm:pt modelId="{2DBAC6D0-BA14-44E4-9B6D-3D71F5206D0A}" type="sibTrans" cxnId="{2567B07D-FDC1-44BD-97EE-254AC045FA7E}">
      <dgm:prSet/>
      <dgm:spPr/>
      <dgm:t>
        <a:bodyPr/>
        <a:lstStyle/>
        <a:p>
          <a:endParaRPr lang="en-US"/>
        </a:p>
      </dgm:t>
    </dgm:pt>
    <dgm:pt modelId="{A25C4A1B-7B93-402F-8A07-2953ADC8A588}">
      <dgm:prSet/>
      <dgm:spPr/>
      <dgm:t>
        <a:bodyPr/>
        <a:lstStyle/>
        <a:p>
          <a:r>
            <a:rPr lang="en-US" altLang="en-US" dirty="0"/>
            <a:t>Provides a way for </a:t>
          </a:r>
          <a:r>
            <a:rPr lang="en-US" altLang="en-US" dirty="0">
              <a:solidFill>
                <a:srgbClr val="FF0000"/>
              </a:solidFill>
            </a:rPr>
            <a:t>unidirectional</a:t>
          </a:r>
          <a:r>
            <a:rPr lang="en-US" altLang="en-US" dirty="0"/>
            <a:t> communication between</a:t>
          </a:r>
          <a:endParaRPr lang="en-US" altLang="en-US" i="1" dirty="0"/>
        </a:p>
      </dgm:t>
    </dgm:pt>
    <dgm:pt modelId="{487A592D-47B4-4954-BDB5-87D7B3632647}" type="parTrans" cxnId="{C4F118E8-E209-4ED7-BAB1-809BF88D5CD0}">
      <dgm:prSet/>
      <dgm:spPr/>
      <dgm:t>
        <a:bodyPr/>
        <a:lstStyle/>
        <a:p>
          <a:endParaRPr lang="en-US"/>
        </a:p>
      </dgm:t>
    </dgm:pt>
    <dgm:pt modelId="{CFEC510A-E3F1-4AB4-A5C7-85B8FD20E39B}" type="sibTrans" cxnId="{C4F118E8-E209-4ED7-BAB1-809BF88D5CD0}">
      <dgm:prSet/>
      <dgm:spPr/>
      <dgm:t>
        <a:bodyPr/>
        <a:lstStyle/>
        <a:p>
          <a:endParaRPr lang="en-US"/>
        </a:p>
      </dgm:t>
    </dgm:pt>
    <dgm:pt modelId="{AF9F573E-AB6E-4A2A-B7D7-A37223973420}">
      <dgm:prSet/>
      <dgm:spPr/>
      <dgm:t>
        <a:bodyPr/>
        <a:lstStyle/>
        <a:p>
          <a:r>
            <a:rPr lang="en-US" altLang="en-US" dirty="0">
              <a:solidFill>
                <a:srgbClr val="FF0000"/>
              </a:solidFill>
            </a:rPr>
            <a:t>Calling</a:t>
          </a:r>
          <a:r>
            <a:rPr lang="en-US" altLang="en-US" dirty="0"/>
            <a:t> function can communicate with </a:t>
          </a:r>
          <a:r>
            <a:rPr lang="en-US" altLang="en-US" dirty="0">
              <a:solidFill>
                <a:srgbClr val="FF0000"/>
              </a:solidFill>
            </a:rPr>
            <a:t>caller</a:t>
          </a:r>
          <a:endParaRPr lang="he-IL" altLang="en-US" dirty="0">
            <a:solidFill>
              <a:srgbClr val="FF0000"/>
            </a:solidFill>
          </a:endParaRPr>
        </a:p>
      </dgm:t>
    </dgm:pt>
    <dgm:pt modelId="{EDA5A290-9CBB-40F6-9D90-EEB5EA2370A1}" type="parTrans" cxnId="{15AC6911-9CEB-48FD-9A1B-A482175F3829}">
      <dgm:prSet/>
      <dgm:spPr/>
      <dgm:t>
        <a:bodyPr/>
        <a:lstStyle/>
        <a:p>
          <a:endParaRPr lang="en-US"/>
        </a:p>
      </dgm:t>
    </dgm:pt>
    <dgm:pt modelId="{FC7D0288-1941-4482-8CBA-1E0EC9017BD7}" type="sibTrans" cxnId="{15AC6911-9CEB-48FD-9A1B-A482175F3829}">
      <dgm:prSet/>
      <dgm:spPr/>
      <dgm:t>
        <a:bodyPr/>
        <a:lstStyle/>
        <a:p>
          <a:endParaRPr lang="en-US"/>
        </a:p>
      </dgm:t>
    </dgm:pt>
    <dgm:pt modelId="{B2D983D1-5A33-4245-A591-F2836E3449FF}">
      <dgm:prSet/>
      <dgm:spPr/>
      <dgm:t>
        <a:bodyPr/>
        <a:lstStyle/>
        <a:p>
          <a:r>
            <a:rPr lang="en-US" altLang="en-US" dirty="0"/>
            <a:t>Changes made to a parameter value within the function </a:t>
          </a:r>
          <a:r>
            <a:rPr lang="en-US" altLang="en-US" dirty="0">
              <a:solidFill>
                <a:srgbClr val="FF0000"/>
              </a:solidFill>
            </a:rPr>
            <a:t>do not affect </a:t>
          </a:r>
          <a:r>
            <a:rPr lang="en-US" altLang="en-US" dirty="0"/>
            <a:t>the actual parameter</a:t>
          </a:r>
        </a:p>
      </dgm:t>
    </dgm:pt>
    <dgm:pt modelId="{89A9F77E-CCC9-443B-9814-4216F9F82EFF}" type="parTrans" cxnId="{9029FC5F-471D-4225-8E63-5EEC5E648A5B}">
      <dgm:prSet/>
      <dgm:spPr/>
      <dgm:t>
        <a:bodyPr/>
        <a:lstStyle/>
        <a:p>
          <a:endParaRPr lang="en-US"/>
        </a:p>
      </dgm:t>
    </dgm:pt>
    <dgm:pt modelId="{7D4F72B5-D39E-4237-BC7C-AF04C4F209D3}" type="sibTrans" cxnId="{9029FC5F-471D-4225-8E63-5EEC5E648A5B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C6083A40-F3FD-4487-ADC9-635EB72E2F0C}" type="pres">
      <dgm:prSet presAssocID="{1B4D3A6C-6ED2-4F6F-B34A-BED42911072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E943417-EBF7-4B2C-9399-89F768186420}" type="pres">
      <dgm:prSet presAssocID="{1B4D3A6C-6ED2-4F6F-B34A-BED42911072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E768CB02-6136-4D77-8111-EE7CF7991BDD}" type="presOf" srcId="{A25C4A1B-7B93-402F-8A07-2953ADC8A588}" destId="{0E943417-EBF7-4B2C-9399-89F768186420}" srcOrd="0" destOrd="1" presId="urn:microsoft.com/office/officeart/2005/8/layout/vList2"/>
    <dgm:cxn modelId="{15AC6911-9CEB-48FD-9A1B-A482175F3829}" srcId="{1B4D3A6C-6ED2-4F6F-B34A-BED429110728}" destId="{AF9F573E-AB6E-4A2A-B7D7-A37223973420}" srcOrd="2" destOrd="0" parTransId="{EDA5A290-9CBB-40F6-9D90-EEB5EA2370A1}" sibTransId="{FC7D0288-1941-4482-8CBA-1E0EC9017BD7}"/>
    <dgm:cxn modelId="{700AF32E-A8A8-4C86-A2C1-C6C5DB750C45}" type="presOf" srcId="{B2D983D1-5A33-4245-A591-F2836E3449FF}" destId="{0E943417-EBF7-4B2C-9399-89F768186420}" srcOrd="0" destOrd="0" presId="urn:microsoft.com/office/officeart/2005/8/layout/vList2"/>
    <dgm:cxn modelId="{ED4BEF5D-03CA-4A4C-B806-7AB6967DB9FA}" type="presOf" srcId="{90119837-5B71-4D44-BB01-DB0B084933C8}" destId="{ED5DCCC5-BCA8-4491-AA37-BAF153ECA184}" srcOrd="0" destOrd="0" presId="urn:microsoft.com/office/officeart/2005/8/layout/vList2"/>
    <dgm:cxn modelId="{9029FC5F-471D-4225-8E63-5EEC5E648A5B}" srcId="{1B4D3A6C-6ED2-4F6F-B34A-BED429110728}" destId="{B2D983D1-5A33-4245-A591-F2836E3449FF}" srcOrd="0" destOrd="0" parTransId="{89A9F77E-CCC9-443B-9814-4216F9F82EFF}" sibTransId="{7D4F72B5-D39E-4237-BC7C-AF04C4F209D3}"/>
    <dgm:cxn modelId="{2567B07D-FDC1-44BD-97EE-254AC045FA7E}" srcId="{90119837-5B71-4D44-BB01-DB0B084933C8}" destId="{1B4D3A6C-6ED2-4F6F-B34A-BED429110728}" srcOrd="0" destOrd="0" parTransId="{B5C0A33B-822D-465E-BB1C-E67B3DCCCE0D}" sibTransId="{2DBAC6D0-BA14-44E4-9B6D-3D71F5206D0A}"/>
    <dgm:cxn modelId="{AD515398-2C2B-4299-9A3A-3F82F1E6B3CE}" type="presOf" srcId="{1B4D3A6C-6ED2-4F6F-B34A-BED429110728}" destId="{C6083A40-F3FD-4487-ADC9-635EB72E2F0C}" srcOrd="0" destOrd="0" presId="urn:microsoft.com/office/officeart/2005/8/layout/vList2"/>
    <dgm:cxn modelId="{B4A869A2-6499-4018-8136-B46740D8B049}" type="presOf" srcId="{AF9F573E-AB6E-4A2A-B7D7-A37223973420}" destId="{0E943417-EBF7-4B2C-9399-89F768186420}" srcOrd="0" destOrd="2" presId="urn:microsoft.com/office/officeart/2005/8/layout/vList2"/>
    <dgm:cxn modelId="{C4F118E8-E209-4ED7-BAB1-809BF88D5CD0}" srcId="{1B4D3A6C-6ED2-4F6F-B34A-BED429110728}" destId="{A25C4A1B-7B93-402F-8A07-2953ADC8A588}" srcOrd="1" destOrd="0" parTransId="{487A592D-47B4-4954-BDB5-87D7B3632647}" sibTransId="{CFEC510A-E3F1-4AB4-A5C7-85B8FD20E39B}"/>
    <dgm:cxn modelId="{C8104148-A021-4A17-B4BB-DE77F1035272}" type="presParOf" srcId="{ED5DCCC5-BCA8-4491-AA37-BAF153ECA184}" destId="{C6083A40-F3FD-4487-ADC9-635EB72E2F0C}" srcOrd="0" destOrd="0" presId="urn:microsoft.com/office/officeart/2005/8/layout/vList2"/>
    <dgm:cxn modelId="{3BED8522-E857-414C-86AF-E05A71765BA5}" type="presParOf" srcId="{ED5DCCC5-BCA8-4491-AA37-BAF153ECA184}" destId="{0E943417-EBF7-4B2C-9399-89F76818642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4D3A6C-6ED2-4F6F-B34A-BED429110728}">
      <dgm:prSet/>
      <dgm:spPr/>
      <dgm:t>
        <a:bodyPr/>
        <a:lstStyle/>
        <a:p>
          <a:r>
            <a:rPr lang="en-US" altLang="en-US" i="1" dirty="0"/>
            <a:t>Pass by </a:t>
          </a:r>
          <a:r>
            <a:rPr lang="en-US" altLang="en-US" i="1" dirty="0">
              <a:solidFill>
                <a:srgbClr val="FFFF00"/>
              </a:solidFill>
            </a:rPr>
            <a:t>Reference</a:t>
          </a:r>
          <a:endParaRPr lang="en-US" altLang="en-US" dirty="0">
            <a:solidFill>
              <a:srgbClr val="FFFF00"/>
            </a:solidFill>
          </a:endParaRPr>
        </a:p>
      </dgm:t>
    </dgm:pt>
    <dgm:pt modelId="{B5C0A33B-822D-465E-BB1C-E67B3DCCCE0D}" type="parTrans" cxnId="{2567B07D-FDC1-44BD-97EE-254AC045FA7E}">
      <dgm:prSet/>
      <dgm:spPr/>
      <dgm:t>
        <a:bodyPr/>
        <a:lstStyle/>
        <a:p>
          <a:endParaRPr lang="en-US"/>
        </a:p>
      </dgm:t>
    </dgm:pt>
    <dgm:pt modelId="{2DBAC6D0-BA14-44E4-9B6D-3D71F5206D0A}" type="sibTrans" cxnId="{2567B07D-FDC1-44BD-97EE-254AC045FA7E}">
      <dgm:prSet/>
      <dgm:spPr/>
      <dgm:t>
        <a:bodyPr/>
        <a:lstStyle/>
        <a:p>
          <a:endParaRPr lang="en-US"/>
        </a:p>
      </dgm:t>
    </dgm:pt>
    <dgm:pt modelId="{B2D983D1-5A33-4245-A591-F2836E3449FF}">
      <dgm:prSet/>
      <dgm:spPr/>
      <dgm:t>
        <a:bodyPr/>
        <a:lstStyle/>
        <a:p>
          <a:r>
            <a:rPr lang="en-US" b="0" i="0" dirty="0"/>
            <a:t>Parameters (arguments) in the Python language are some instance passed by </a:t>
          </a:r>
          <a:r>
            <a:rPr lang="en-US" b="0" i="0" dirty="0">
              <a:solidFill>
                <a:srgbClr val="FF0000"/>
              </a:solidFill>
            </a:rPr>
            <a:t>Reference</a:t>
          </a:r>
          <a:r>
            <a:rPr lang="en-US" b="0" i="0" dirty="0"/>
            <a:t>.</a:t>
          </a:r>
          <a:endParaRPr lang="en-US" altLang="en-US" dirty="0"/>
        </a:p>
      </dgm:t>
    </dgm:pt>
    <dgm:pt modelId="{89A9F77E-CCC9-443B-9814-4216F9F82EFF}" type="parTrans" cxnId="{9029FC5F-471D-4225-8E63-5EEC5E648A5B}">
      <dgm:prSet/>
      <dgm:spPr/>
      <dgm:t>
        <a:bodyPr/>
        <a:lstStyle/>
        <a:p>
          <a:endParaRPr lang="en-US"/>
        </a:p>
      </dgm:t>
    </dgm:pt>
    <dgm:pt modelId="{7D4F72B5-D39E-4237-BC7C-AF04C4F209D3}" type="sibTrans" cxnId="{9029FC5F-471D-4225-8E63-5EEC5E648A5B}">
      <dgm:prSet/>
      <dgm:spPr/>
      <dgm:t>
        <a:bodyPr/>
        <a:lstStyle/>
        <a:p>
          <a:endParaRPr lang="en-US"/>
        </a:p>
      </dgm:t>
    </dgm:pt>
    <dgm:pt modelId="{9285057D-5131-4F56-96C2-57E69FF55CFE}">
      <dgm:prSet/>
      <dgm:spPr/>
      <dgm:t>
        <a:bodyPr/>
        <a:lstStyle/>
        <a:p>
          <a:r>
            <a:rPr lang="en-US" b="0" i="0" dirty="0"/>
            <a:t> It means if you change what a parameter refers to within a function, the change also reflects back in the calling function.</a:t>
          </a:r>
          <a:endParaRPr lang="en-US" altLang="en-US" dirty="0"/>
        </a:p>
      </dgm:t>
    </dgm:pt>
    <dgm:pt modelId="{3E2A7AE6-8D7B-410D-89AC-4FADACD0E7A8}" type="parTrans" cxnId="{ACCD7B14-3195-45F6-9437-4957CCDBC86A}">
      <dgm:prSet/>
      <dgm:spPr/>
      <dgm:t>
        <a:bodyPr/>
        <a:lstStyle/>
        <a:p>
          <a:endParaRPr lang="en-US"/>
        </a:p>
      </dgm:t>
    </dgm:pt>
    <dgm:pt modelId="{E0512CE4-AE36-4176-8A6E-8D092312A1A7}" type="sibTrans" cxnId="{ACCD7B14-3195-45F6-9437-4957CCDBC86A}">
      <dgm:prSet/>
      <dgm:spPr/>
      <dgm:t>
        <a:bodyPr/>
        <a:lstStyle/>
        <a:p>
          <a:endParaRPr lang="en-US"/>
        </a:p>
      </dgm:t>
    </dgm:pt>
    <dgm:pt modelId="{3601719F-7F8F-4496-BBEC-A504B0703791}">
      <dgm:prSet/>
      <dgm:spPr/>
      <dgm:t>
        <a:bodyPr/>
        <a:lstStyle/>
        <a:p>
          <a:endParaRPr lang="en-US" altLang="en-US" dirty="0"/>
        </a:p>
      </dgm:t>
    </dgm:pt>
    <dgm:pt modelId="{928F669A-D144-4293-A6CD-11FA157567B2}" type="parTrans" cxnId="{B938E7B7-EF41-4141-A228-0E4FEBEA04E6}">
      <dgm:prSet/>
      <dgm:spPr/>
      <dgm:t>
        <a:bodyPr/>
        <a:lstStyle/>
        <a:p>
          <a:endParaRPr lang="en-US"/>
        </a:p>
      </dgm:t>
    </dgm:pt>
    <dgm:pt modelId="{08589ED8-9308-4E93-BD1C-CD9F70CD1DAF}" type="sibTrans" cxnId="{B938E7B7-EF41-4141-A228-0E4FEBEA04E6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C6083A40-F3FD-4487-ADC9-635EB72E2F0C}" type="pres">
      <dgm:prSet presAssocID="{1B4D3A6C-6ED2-4F6F-B34A-BED42911072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E943417-EBF7-4B2C-9399-89F768186420}" type="pres">
      <dgm:prSet presAssocID="{1B4D3A6C-6ED2-4F6F-B34A-BED42911072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2D9FE10-87EF-490E-83BD-DA8B751C48B9}" type="presOf" srcId="{9285057D-5131-4F56-96C2-57E69FF55CFE}" destId="{0E943417-EBF7-4B2C-9399-89F768186420}" srcOrd="0" destOrd="1" presId="urn:microsoft.com/office/officeart/2005/8/layout/vList2"/>
    <dgm:cxn modelId="{ACCD7B14-3195-45F6-9437-4957CCDBC86A}" srcId="{1B4D3A6C-6ED2-4F6F-B34A-BED429110728}" destId="{9285057D-5131-4F56-96C2-57E69FF55CFE}" srcOrd="1" destOrd="0" parTransId="{3E2A7AE6-8D7B-410D-89AC-4FADACD0E7A8}" sibTransId="{E0512CE4-AE36-4176-8A6E-8D092312A1A7}"/>
    <dgm:cxn modelId="{9029FC5F-471D-4225-8E63-5EEC5E648A5B}" srcId="{1B4D3A6C-6ED2-4F6F-B34A-BED429110728}" destId="{B2D983D1-5A33-4245-A591-F2836E3449FF}" srcOrd="0" destOrd="0" parTransId="{89A9F77E-CCC9-443B-9814-4216F9F82EFF}" sibTransId="{7D4F72B5-D39E-4237-BC7C-AF04C4F209D3}"/>
    <dgm:cxn modelId="{2567B07D-FDC1-44BD-97EE-254AC045FA7E}" srcId="{90119837-5B71-4D44-BB01-DB0B084933C8}" destId="{1B4D3A6C-6ED2-4F6F-B34A-BED429110728}" srcOrd="0" destOrd="0" parTransId="{B5C0A33B-822D-465E-BB1C-E67B3DCCCE0D}" sibTransId="{2DBAC6D0-BA14-44E4-9B6D-3D71F5206D0A}"/>
    <dgm:cxn modelId="{D01EB798-1B45-4CA4-9944-D08573F7DD8B}" type="presOf" srcId="{90119837-5B71-4D44-BB01-DB0B084933C8}" destId="{ED5DCCC5-BCA8-4491-AA37-BAF153ECA184}" srcOrd="0" destOrd="0" presId="urn:microsoft.com/office/officeart/2005/8/layout/vList2"/>
    <dgm:cxn modelId="{B938E7B7-EF41-4141-A228-0E4FEBEA04E6}" srcId="{1B4D3A6C-6ED2-4F6F-B34A-BED429110728}" destId="{3601719F-7F8F-4496-BBEC-A504B0703791}" srcOrd="2" destOrd="0" parTransId="{928F669A-D144-4293-A6CD-11FA157567B2}" sibTransId="{08589ED8-9308-4E93-BD1C-CD9F70CD1DAF}"/>
    <dgm:cxn modelId="{B87397BF-8010-4170-B132-1CFEF6F9B5A7}" type="presOf" srcId="{B2D983D1-5A33-4245-A591-F2836E3449FF}" destId="{0E943417-EBF7-4B2C-9399-89F768186420}" srcOrd="0" destOrd="0" presId="urn:microsoft.com/office/officeart/2005/8/layout/vList2"/>
    <dgm:cxn modelId="{16A6A2E5-FCD0-4487-9E9C-4D4715F6D877}" type="presOf" srcId="{1B4D3A6C-6ED2-4F6F-B34A-BED429110728}" destId="{C6083A40-F3FD-4487-ADC9-635EB72E2F0C}" srcOrd="0" destOrd="0" presId="urn:microsoft.com/office/officeart/2005/8/layout/vList2"/>
    <dgm:cxn modelId="{9DBBB0EE-16CF-43CB-B58B-67BEDA9E2D59}" type="presOf" srcId="{3601719F-7F8F-4496-BBEC-A504B0703791}" destId="{0E943417-EBF7-4B2C-9399-89F768186420}" srcOrd="0" destOrd="2" presId="urn:microsoft.com/office/officeart/2005/8/layout/vList2"/>
    <dgm:cxn modelId="{7E21E663-A54E-46CC-8731-9D4BDE5DD585}" type="presParOf" srcId="{ED5DCCC5-BCA8-4491-AA37-BAF153ECA184}" destId="{C6083A40-F3FD-4487-ADC9-635EB72E2F0C}" srcOrd="0" destOrd="0" presId="urn:microsoft.com/office/officeart/2005/8/layout/vList2"/>
    <dgm:cxn modelId="{353C4464-2BB7-4D83-9866-1C4E85A4B9B2}" type="presParOf" srcId="{ED5DCCC5-BCA8-4491-AA37-BAF153ECA184}" destId="{0E943417-EBF7-4B2C-9399-89F76818642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4D3A6C-6ED2-4F6F-B34A-BED429110728}">
      <dgm:prSet custT="1"/>
      <dgm:spPr/>
      <dgm:t>
        <a:bodyPr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800" i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Pass by Reference</a:t>
          </a:r>
        </a:p>
      </dgm:t>
    </dgm:pt>
    <dgm:pt modelId="{B5C0A33B-822D-465E-BB1C-E67B3DCCCE0D}" type="parTrans" cxnId="{2567B07D-FDC1-44BD-97EE-254AC045FA7E}">
      <dgm:prSet/>
      <dgm:spPr/>
      <dgm:t>
        <a:bodyPr/>
        <a:lstStyle/>
        <a:p>
          <a:endParaRPr lang="en-US"/>
        </a:p>
      </dgm:t>
    </dgm:pt>
    <dgm:pt modelId="{2DBAC6D0-BA14-44E4-9B6D-3D71F5206D0A}" type="sibTrans" cxnId="{2567B07D-FDC1-44BD-97EE-254AC045FA7E}">
      <dgm:prSet/>
      <dgm:spPr/>
      <dgm:t>
        <a:bodyPr/>
        <a:lstStyle/>
        <a:p>
          <a:endParaRPr lang="en-US"/>
        </a:p>
      </dgm:t>
    </dgm:pt>
    <dgm:pt modelId="{B2D983D1-5A33-4245-A591-F2836E3449FF}">
      <dgm:prSet/>
      <dgm:spPr/>
      <dgm:t>
        <a:bodyPr/>
        <a:lstStyle/>
        <a:p>
          <a:r>
            <a:rPr lang="en-US" b="0" i="0" dirty="0"/>
            <a:t>Argument is being passed by reference and the </a:t>
          </a:r>
          <a:r>
            <a:rPr lang="en-US" b="0" i="0" dirty="0">
              <a:solidFill>
                <a:srgbClr val="FF0000"/>
              </a:solidFill>
            </a:rPr>
            <a:t>reference</a:t>
          </a:r>
          <a:r>
            <a:rPr lang="en-US" b="0" i="0" dirty="0"/>
            <a:t> is being overwritten inside the called function</a:t>
          </a:r>
          <a:endParaRPr lang="en-US" altLang="en-US" dirty="0"/>
        </a:p>
      </dgm:t>
    </dgm:pt>
    <dgm:pt modelId="{89A9F77E-CCC9-443B-9814-4216F9F82EFF}" type="parTrans" cxnId="{9029FC5F-471D-4225-8E63-5EEC5E648A5B}">
      <dgm:prSet/>
      <dgm:spPr/>
      <dgm:t>
        <a:bodyPr/>
        <a:lstStyle/>
        <a:p>
          <a:endParaRPr lang="en-US"/>
        </a:p>
      </dgm:t>
    </dgm:pt>
    <dgm:pt modelId="{7D4F72B5-D39E-4237-BC7C-AF04C4F209D3}" type="sibTrans" cxnId="{9029FC5F-471D-4225-8E63-5EEC5E648A5B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C6083A40-F3FD-4487-ADC9-635EB72E2F0C}" type="pres">
      <dgm:prSet presAssocID="{1B4D3A6C-6ED2-4F6F-B34A-BED42911072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E943417-EBF7-4B2C-9399-89F768186420}" type="pres">
      <dgm:prSet presAssocID="{1B4D3A6C-6ED2-4F6F-B34A-BED42911072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5C2F113-1441-4AAD-92BA-B7933AB000B7}" type="presOf" srcId="{B2D983D1-5A33-4245-A591-F2836E3449FF}" destId="{0E943417-EBF7-4B2C-9399-89F768186420}" srcOrd="0" destOrd="0" presId="urn:microsoft.com/office/officeart/2005/8/layout/vList2"/>
    <dgm:cxn modelId="{9029FC5F-471D-4225-8E63-5EEC5E648A5B}" srcId="{1B4D3A6C-6ED2-4F6F-B34A-BED429110728}" destId="{B2D983D1-5A33-4245-A591-F2836E3449FF}" srcOrd="0" destOrd="0" parTransId="{89A9F77E-CCC9-443B-9814-4216F9F82EFF}" sibTransId="{7D4F72B5-D39E-4237-BC7C-AF04C4F209D3}"/>
    <dgm:cxn modelId="{8F9A697B-E342-4F85-ADFE-055A82725B86}" type="presOf" srcId="{1B4D3A6C-6ED2-4F6F-B34A-BED429110728}" destId="{C6083A40-F3FD-4487-ADC9-635EB72E2F0C}" srcOrd="0" destOrd="0" presId="urn:microsoft.com/office/officeart/2005/8/layout/vList2"/>
    <dgm:cxn modelId="{2567B07D-FDC1-44BD-97EE-254AC045FA7E}" srcId="{90119837-5B71-4D44-BB01-DB0B084933C8}" destId="{1B4D3A6C-6ED2-4F6F-B34A-BED429110728}" srcOrd="0" destOrd="0" parTransId="{B5C0A33B-822D-465E-BB1C-E67B3DCCCE0D}" sibTransId="{2DBAC6D0-BA14-44E4-9B6D-3D71F5206D0A}"/>
    <dgm:cxn modelId="{872D0794-0E1B-4606-9370-FB05902BB98C}" type="presOf" srcId="{90119837-5B71-4D44-BB01-DB0B084933C8}" destId="{ED5DCCC5-BCA8-4491-AA37-BAF153ECA184}" srcOrd="0" destOrd="0" presId="urn:microsoft.com/office/officeart/2005/8/layout/vList2"/>
    <dgm:cxn modelId="{3B24D179-281F-4AC2-B160-9B671D81D39A}" type="presParOf" srcId="{ED5DCCC5-BCA8-4491-AA37-BAF153ECA184}" destId="{C6083A40-F3FD-4487-ADC9-635EB72E2F0C}" srcOrd="0" destOrd="0" presId="urn:microsoft.com/office/officeart/2005/8/layout/vList2"/>
    <dgm:cxn modelId="{23006C21-4B0A-4EA5-95CC-8B4E1AD61D19}" type="presParOf" srcId="{ED5DCCC5-BCA8-4491-AA37-BAF153ECA184}" destId="{0E943417-EBF7-4B2C-9399-89F76818642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4D3A6C-6ED2-4F6F-B34A-BED429110728}">
      <dgm:prSet/>
      <dgm:spPr/>
      <dgm:t>
        <a:bodyPr/>
        <a:lstStyle/>
        <a:p>
          <a:r>
            <a:rPr lang="en-US" b="0" i="0" dirty="0"/>
            <a:t>The statement return [expression] exits a function, optionally passing back an expression to the caller. </a:t>
          </a:r>
          <a:endParaRPr lang="en-US" altLang="en-US" dirty="0"/>
        </a:p>
      </dgm:t>
    </dgm:pt>
    <dgm:pt modelId="{B5C0A33B-822D-465E-BB1C-E67B3DCCCE0D}" type="parTrans" cxnId="{2567B07D-FDC1-44BD-97EE-254AC045FA7E}">
      <dgm:prSet/>
      <dgm:spPr/>
      <dgm:t>
        <a:bodyPr/>
        <a:lstStyle/>
        <a:p>
          <a:endParaRPr lang="en-US"/>
        </a:p>
      </dgm:t>
    </dgm:pt>
    <dgm:pt modelId="{2DBAC6D0-BA14-44E4-9B6D-3D71F5206D0A}" type="sibTrans" cxnId="{2567B07D-FDC1-44BD-97EE-254AC045FA7E}">
      <dgm:prSet/>
      <dgm:spPr/>
      <dgm:t>
        <a:bodyPr/>
        <a:lstStyle/>
        <a:p>
          <a:endParaRPr lang="en-US"/>
        </a:p>
      </dgm:t>
    </dgm:pt>
    <dgm:pt modelId="{DECC7342-0C2F-4BA2-ACBE-D0EA21C67A8E}">
      <dgm:prSet/>
      <dgm:spPr/>
      <dgm:t>
        <a:bodyPr/>
        <a:lstStyle/>
        <a:p>
          <a:r>
            <a:rPr lang="en-US" b="0" i="0" dirty="0"/>
            <a:t>A return statement with no arguments is the same as return None.</a:t>
          </a:r>
          <a:endParaRPr lang="en-US" altLang="en-US" dirty="0"/>
        </a:p>
      </dgm:t>
    </dgm:pt>
    <dgm:pt modelId="{077E1DC6-01E1-4D06-A00D-571F6B4C9250}" type="parTrans" cxnId="{6389BFD1-02CF-4AB1-985B-B23AEDD391BD}">
      <dgm:prSet/>
      <dgm:spPr/>
      <dgm:t>
        <a:bodyPr/>
        <a:lstStyle/>
        <a:p>
          <a:endParaRPr lang="en-US"/>
        </a:p>
      </dgm:t>
    </dgm:pt>
    <dgm:pt modelId="{9FE27BB9-FDF8-4909-A974-785988E7BAAA}" type="sibTrans" cxnId="{6389BFD1-02CF-4AB1-985B-B23AEDD391BD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C6083A40-F3FD-4487-ADC9-635EB72E2F0C}" type="pres">
      <dgm:prSet presAssocID="{1B4D3A6C-6ED2-4F6F-B34A-BED429110728}" presName="parentText" presStyleLbl="node1" presStyleIdx="0" presStyleCnt="1" custLinFactNeighborX="3458" custLinFactNeighborY="-6804">
        <dgm:presLayoutVars>
          <dgm:chMax val="0"/>
          <dgm:bulletEnabled val="1"/>
        </dgm:presLayoutVars>
      </dgm:prSet>
      <dgm:spPr/>
    </dgm:pt>
    <dgm:pt modelId="{0E943417-EBF7-4B2C-9399-89F768186420}" type="pres">
      <dgm:prSet presAssocID="{1B4D3A6C-6ED2-4F6F-B34A-BED42911072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2567B07D-FDC1-44BD-97EE-254AC045FA7E}" srcId="{90119837-5B71-4D44-BB01-DB0B084933C8}" destId="{1B4D3A6C-6ED2-4F6F-B34A-BED429110728}" srcOrd="0" destOrd="0" parTransId="{B5C0A33B-822D-465E-BB1C-E67B3DCCCE0D}" sibTransId="{2DBAC6D0-BA14-44E4-9B6D-3D71F5206D0A}"/>
    <dgm:cxn modelId="{3EFF8C98-0A10-450A-9588-F2A56B27E189}" type="presOf" srcId="{DECC7342-0C2F-4BA2-ACBE-D0EA21C67A8E}" destId="{0E943417-EBF7-4B2C-9399-89F768186420}" srcOrd="0" destOrd="0" presId="urn:microsoft.com/office/officeart/2005/8/layout/vList2"/>
    <dgm:cxn modelId="{FED516AB-03A5-4599-A2EA-AF2BAE5CF83F}" type="presOf" srcId="{1B4D3A6C-6ED2-4F6F-B34A-BED429110728}" destId="{C6083A40-F3FD-4487-ADC9-635EB72E2F0C}" srcOrd="0" destOrd="0" presId="urn:microsoft.com/office/officeart/2005/8/layout/vList2"/>
    <dgm:cxn modelId="{066EEBAC-5F5E-41C4-A558-C5F781C483FC}" type="presOf" srcId="{90119837-5B71-4D44-BB01-DB0B084933C8}" destId="{ED5DCCC5-BCA8-4491-AA37-BAF153ECA184}" srcOrd="0" destOrd="0" presId="urn:microsoft.com/office/officeart/2005/8/layout/vList2"/>
    <dgm:cxn modelId="{6389BFD1-02CF-4AB1-985B-B23AEDD391BD}" srcId="{1B4D3A6C-6ED2-4F6F-B34A-BED429110728}" destId="{DECC7342-0C2F-4BA2-ACBE-D0EA21C67A8E}" srcOrd="0" destOrd="0" parTransId="{077E1DC6-01E1-4D06-A00D-571F6B4C9250}" sibTransId="{9FE27BB9-FDF8-4909-A974-785988E7BAAA}"/>
    <dgm:cxn modelId="{12062539-A2AC-4CBC-B027-7968110AB152}" type="presParOf" srcId="{ED5DCCC5-BCA8-4491-AA37-BAF153ECA184}" destId="{C6083A40-F3FD-4487-ADC9-635EB72E2F0C}" srcOrd="0" destOrd="0" presId="urn:microsoft.com/office/officeart/2005/8/layout/vList2"/>
    <dgm:cxn modelId="{568F7C08-183E-4BBC-A123-54E7389079F9}" type="presParOf" srcId="{ED5DCCC5-BCA8-4491-AA37-BAF153ECA184}" destId="{0E943417-EBF7-4B2C-9399-89F76818642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4D3A6C-6ED2-4F6F-B34A-BED429110728}">
      <dgm:prSet/>
      <dgm:spPr/>
      <dgm:t>
        <a:bodyPr/>
        <a:lstStyle/>
        <a:p>
          <a:r>
            <a:rPr lang="en-US" dirty="0"/>
            <a:t>A function can return multiple values</a:t>
          </a:r>
          <a:endParaRPr lang="en-US" altLang="en-US" dirty="0"/>
        </a:p>
      </dgm:t>
    </dgm:pt>
    <dgm:pt modelId="{B5C0A33B-822D-465E-BB1C-E67B3DCCCE0D}" type="parTrans" cxnId="{2567B07D-FDC1-44BD-97EE-254AC045FA7E}">
      <dgm:prSet/>
      <dgm:spPr/>
      <dgm:t>
        <a:bodyPr/>
        <a:lstStyle/>
        <a:p>
          <a:endParaRPr lang="en-US"/>
        </a:p>
      </dgm:t>
    </dgm:pt>
    <dgm:pt modelId="{2DBAC6D0-BA14-44E4-9B6D-3D71F5206D0A}" type="sibTrans" cxnId="{2567B07D-FDC1-44BD-97EE-254AC045FA7E}">
      <dgm:prSet/>
      <dgm:spPr/>
      <dgm:t>
        <a:bodyPr/>
        <a:lstStyle/>
        <a:p>
          <a:endParaRPr lang="en-US"/>
        </a:p>
      </dgm:t>
    </dgm:pt>
    <dgm:pt modelId="{67BDDB2C-0297-4B91-8174-0E4FC7010DF1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Specified after the return statement separated by commas</a:t>
          </a:r>
        </a:p>
      </dgm:t>
    </dgm:pt>
    <dgm:pt modelId="{1733C3DF-EBA7-484E-9272-8869476E246B}" type="parTrans" cxnId="{56F70D5B-F558-41F6-9F15-6DC47AA12B35}">
      <dgm:prSet/>
      <dgm:spPr/>
      <dgm:t>
        <a:bodyPr/>
        <a:lstStyle/>
        <a:p>
          <a:endParaRPr lang="en-US"/>
        </a:p>
      </dgm:t>
    </dgm:pt>
    <dgm:pt modelId="{63041C2C-ABC7-4C50-A9EE-D09A3B902A35}" type="sibTrans" cxnId="{56F70D5B-F558-41F6-9F15-6DC47AA12B35}">
      <dgm:prSet/>
      <dgm:spPr/>
      <dgm:t>
        <a:bodyPr/>
        <a:lstStyle/>
        <a:p>
          <a:endParaRPr lang="en-US"/>
        </a:p>
      </dgm:t>
    </dgm:pt>
    <dgm:pt modelId="{CEDC332C-4515-4015-800A-F104AFB30EED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Format: </a:t>
          </a:r>
          <a:r>
            <a:rPr lang="en-US" dirty="0">
              <a:latin typeface="Courier New" pitchFamily="49" charset="0"/>
              <a:cs typeface="Courier New" pitchFamily="49" charset="0"/>
            </a:rPr>
            <a:t>return </a:t>
          </a:r>
          <a:r>
            <a:rPr lang="en-US" i="1" dirty="0">
              <a:latin typeface="Courier New" pitchFamily="49" charset="0"/>
              <a:cs typeface="Courier New" pitchFamily="49" charset="0"/>
            </a:rPr>
            <a:t>expression1,expression2, etc.</a:t>
          </a:r>
        </a:p>
      </dgm:t>
    </dgm:pt>
    <dgm:pt modelId="{BF99F648-2374-46D5-B6BF-A592D414BA06}" type="parTrans" cxnId="{31028F95-4D89-42C7-BED0-F783C3FBD014}">
      <dgm:prSet/>
      <dgm:spPr/>
      <dgm:t>
        <a:bodyPr/>
        <a:lstStyle/>
        <a:p>
          <a:endParaRPr lang="en-US"/>
        </a:p>
      </dgm:t>
    </dgm:pt>
    <dgm:pt modelId="{445DE749-38C2-479F-8A47-B0E3CC9FA3FF}" type="sibTrans" cxnId="{31028F95-4D89-42C7-BED0-F783C3FBD014}">
      <dgm:prSet/>
      <dgm:spPr/>
      <dgm:t>
        <a:bodyPr/>
        <a:lstStyle/>
        <a:p>
          <a:endParaRPr lang="en-US"/>
        </a:p>
      </dgm:t>
    </dgm:pt>
    <dgm:pt modelId="{5C191924-63C6-44B7-BD8C-45747A6D5F65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When you call such a function in an assignment statement, you need a separate variable on the left side of the </a:t>
          </a:r>
          <a:r>
            <a:rPr lang="en-US" dirty="0">
              <a:latin typeface="Courier New" pitchFamily="49" charset="0"/>
              <a:cs typeface="Courier New" pitchFamily="49" charset="0"/>
            </a:rPr>
            <a:t>=</a:t>
          </a:r>
          <a:r>
            <a:rPr lang="en-US" dirty="0">
              <a:latin typeface="+mj-lt"/>
              <a:cs typeface="Courier New" pitchFamily="49" charset="0"/>
            </a:rPr>
            <a:t> operator to receive each returned value</a:t>
          </a:r>
        </a:p>
      </dgm:t>
    </dgm:pt>
    <dgm:pt modelId="{B73B7227-6A02-47D0-BF4F-D0483E0218EA}" type="parTrans" cxnId="{93D57875-7DCD-4790-B6F7-CF3A78DB9AEB}">
      <dgm:prSet/>
      <dgm:spPr/>
      <dgm:t>
        <a:bodyPr/>
        <a:lstStyle/>
        <a:p>
          <a:endParaRPr lang="en-US"/>
        </a:p>
      </dgm:t>
    </dgm:pt>
    <dgm:pt modelId="{22CAB151-C0AF-4F70-9945-703FB00813C5}" type="sibTrans" cxnId="{93D57875-7DCD-4790-B6F7-CF3A78DB9AEB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C6083A40-F3FD-4487-ADC9-635EB72E2F0C}" type="pres">
      <dgm:prSet presAssocID="{1B4D3A6C-6ED2-4F6F-B34A-BED42911072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E943417-EBF7-4B2C-9399-89F768186420}" type="pres">
      <dgm:prSet presAssocID="{1B4D3A6C-6ED2-4F6F-B34A-BED42911072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D27813E-1D0A-47C2-AAE1-818FFD1FA88C}" type="presOf" srcId="{1B4D3A6C-6ED2-4F6F-B34A-BED429110728}" destId="{C6083A40-F3FD-4487-ADC9-635EB72E2F0C}" srcOrd="0" destOrd="0" presId="urn:microsoft.com/office/officeart/2005/8/layout/vList2"/>
    <dgm:cxn modelId="{56F70D5B-F558-41F6-9F15-6DC47AA12B35}" srcId="{1B4D3A6C-6ED2-4F6F-B34A-BED429110728}" destId="{67BDDB2C-0297-4B91-8174-0E4FC7010DF1}" srcOrd="0" destOrd="0" parTransId="{1733C3DF-EBA7-484E-9272-8869476E246B}" sibTransId="{63041C2C-ABC7-4C50-A9EE-D09A3B902A35}"/>
    <dgm:cxn modelId="{BE8F3E62-43FC-4400-8227-4D2363DAABFE}" type="presOf" srcId="{5C191924-63C6-44B7-BD8C-45747A6D5F65}" destId="{0E943417-EBF7-4B2C-9399-89F768186420}" srcOrd="0" destOrd="2" presId="urn:microsoft.com/office/officeart/2005/8/layout/vList2"/>
    <dgm:cxn modelId="{93D57875-7DCD-4790-B6F7-CF3A78DB9AEB}" srcId="{1B4D3A6C-6ED2-4F6F-B34A-BED429110728}" destId="{5C191924-63C6-44B7-BD8C-45747A6D5F65}" srcOrd="1" destOrd="0" parTransId="{B73B7227-6A02-47D0-BF4F-D0483E0218EA}" sibTransId="{22CAB151-C0AF-4F70-9945-703FB00813C5}"/>
    <dgm:cxn modelId="{2567B07D-FDC1-44BD-97EE-254AC045FA7E}" srcId="{90119837-5B71-4D44-BB01-DB0B084933C8}" destId="{1B4D3A6C-6ED2-4F6F-B34A-BED429110728}" srcOrd="0" destOrd="0" parTransId="{B5C0A33B-822D-465E-BB1C-E67B3DCCCE0D}" sibTransId="{2DBAC6D0-BA14-44E4-9B6D-3D71F5206D0A}"/>
    <dgm:cxn modelId="{31028F95-4D89-42C7-BED0-F783C3FBD014}" srcId="{67BDDB2C-0297-4B91-8174-0E4FC7010DF1}" destId="{CEDC332C-4515-4015-800A-F104AFB30EED}" srcOrd="0" destOrd="0" parTransId="{BF99F648-2374-46D5-B6BF-A592D414BA06}" sibTransId="{445DE749-38C2-479F-8A47-B0E3CC9FA3FF}"/>
    <dgm:cxn modelId="{CF57F5D3-F3A8-4E6A-B0F5-4C2196B708B4}" type="presOf" srcId="{67BDDB2C-0297-4B91-8174-0E4FC7010DF1}" destId="{0E943417-EBF7-4B2C-9399-89F768186420}" srcOrd="0" destOrd="0" presId="urn:microsoft.com/office/officeart/2005/8/layout/vList2"/>
    <dgm:cxn modelId="{0D2976F9-0866-4085-B926-B2AD76EE07FC}" type="presOf" srcId="{CEDC332C-4515-4015-800A-F104AFB30EED}" destId="{0E943417-EBF7-4B2C-9399-89F768186420}" srcOrd="0" destOrd="1" presId="urn:microsoft.com/office/officeart/2005/8/layout/vList2"/>
    <dgm:cxn modelId="{FE64F2F9-8EF8-4B72-B8E8-444105D09872}" type="presOf" srcId="{90119837-5B71-4D44-BB01-DB0B084933C8}" destId="{ED5DCCC5-BCA8-4491-AA37-BAF153ECA184}" srcOrd="0" destOrd="0" presId="urn:microsoft.com/office/officeart/2005/8/layout/vList2"/>
    <dgm:cxn modelId="{46D72B6F-B5C7-4FBB-BFA8-7E26A400DDEA}" type="presParOf" srcId="{ED5DCCC5-BCA8-4491-AA37-BAF153ECA184}" destId="{C6083A40-F3FD-4487-ADC9-635EB72E2F0C}" srcOrd="0" destOrd="0" presId="urn:microsoft.com/office/officeart/2005/8/layout/vList2"/>
    <dgm:cxn modelId="{8EE0AB2F-61ED-4521-AB81-5A56ED1ACF4D}" type="presParOf" srcId="{ED5DCCC5-BCA8-4491-AA37-BAF153ECA184}" destId="{0E943417-EBF7-4B2C-9399-89F76818642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11C18A-FD96-4E63-821A-54D70D8DC65F}">
      <dgm:prSet phldrT="[Text]"/>
      <dgm:spPr/>
      <dgm:t>
        <a:bodyPr/>
        <a:lstStyle/>
        <a:p>
          <a:r>
            <a:rPr lang="en-US" b="0" i="0" dirty="0"/>
            <a:t>When you import a module, the Python interpreter searches for the module in the following sequences −</a:t>
          </a:r>
          <a:endParaRPr lang="en-US" dirty="0">
            <a:solidFill>
              <a:schemeClr val="bg1"/>
            </a:solidFill>
          </a:endParaRPr>
        </a:p>
      </dgm:t>
    </dgm:pt>
    <dgm:pt modelId="{83BE74EF-FAB4-45A2-BBED-7CD5259AB210}" type="parTrans" cxnId="{FFD8B471-C98F-4DB5-8DE3-2AB7E896ADD5}">
      <dgm:prSet/>
      <dgm:spPr/>
      <dgm:t>
        <a:bodyPr/>
        <a:lstStyle/>
        <a:p>
          <a:endParaRPr lang="en-US"/>
        </a:p>
      </dgm:t>
    </dgm:pt>
    <dgm:pt modelId="{B4F34DE2-2DAE-4F88-8C78-BD8892EBF4FF}" type="sibTrans" cxnId="{FFD8B471-C98F-4DB5-8DE3-2AB7E896ADD5}">
      <dgm:prSet/>
      <dgm:spPr/>
      <dgm:t>
        <a:bodyPr/>
        <a:lstStyle/>
        <a:p>
          <a:endParaRPr lang="en-US"/>
        </a:p>
      </dgm:t>
    </dgm:pt>
    <dgm:pt modelId="{5CC6988F-6B92-44E2-B504-74A52618C008}">
      <dgm:prSet/>
      <dgm:spPr/>
      <dgm:t>
        <a:bodyPr/>
        <a:lstStyle/>
        <a:p>
          <a:r>
            <a:rPr lang="en-US" b="0" i="0" dirty="0"/>
            <a:t>The </a:t>
          </a:r>
          <a:r>
            <a:rPr lang="en-US" b="0" i="0" dirty="0">
              <a:solidFill>
                <a:srgbClr val="FF0000"/>
              </a:solidFill>
            </a:rPr>
            <a:t>current</a:t>
          </a:r>
          <a:r>
            <a:rPr lang="en-US" b="0" i="0" dirty="0"/>
            <a:t> directory</a:t>
          </a:r>
        </a:p>
      </dgm:t>
    </dgm:pt>
    <dgm:pt modelId="{5780219B-D483-47E0-AE96-D11F4A652538}" type="parTrans" cxnId="{1A8C6403-6891-4F43-960C-AE0F1693DE8D}">
      <dgm:prSet/>
      <dgm:spPr/>
      <dgm:t>
        <a:bodyPr/>
        <a:lstStyle/>
        <a:p>
          <a:endParaRPr lang="en-US"/>
        </a:p>
      </dgm:t>
    </dgm:pt>
    <dgm:pt modelId="{011064A5-352E-4E05-A8A7-A11386D45715}" type="sibTrans" cxnId="{1A8C6403-6891-4F43-960C-AE0F1693DE8D}">
      <dgm:prSet/>
      <dgm:spPr/>
      <dgm:t>
        <a:bodyPr/>
        <a:lstStyle/>
        <a:p>
          <a:endParaRPr lang="en-US"/>
        </a:p>
      </dgm:t>
    </dgm:pt>
    <dgm:pt modelId="{DB98745D-1590-4763-948E-A2214478B74B}">
      <dgm:prSet/>
      <dgm:spPr/>
      <dgm:t>
        <a:bodyPr/>
        <a:lstStyle/>
        <a:p>
          <a:r>
            <a:rPr lang="en-US" b="0" i="0" dirty="0"/>
            <a:t>If the module isn't found, Python then searches each directory in the shell variable </a:t>
          </a:r>
          <a:r>
            <a:rPr lang="en-US" b="0" i="0" dirty="0">
              <a:solidFill>
                <a:srgbClr val="FF0000"/>
              </a:solidFill>
            </a:rPr>
            <a:t>PYTHONPATH</a:t>
          </a:r>
        </a:p>
      </dgm:t>
    </dgm:pt>
    <dgm:pt modelId="{CEDFFACE-595E-47C1-9C64-FA916D2805D4}" type="parTrans" cxnId="{03450A4C-70D0-4DC1-A4EF-619AD9E63A74}">
      <dgm:prSet/>
      <dgm:spPr/>
      <dgm:t>
        <a:bodyPr/>
        <a:lstStyle/>
        <a:p>
          <a:endParaRPr lang="en-US"/>
        </a:p>
      </dgm:t>
    </dgm:pt>
    <dgm:pt modelId="{DF7A164F-20B1-4493-84CC-2EECB841AE64}" type="sibTrans" cxnId="{03450A4C-70D0-4DC1-A4EF-619AD9E63A74}">
      <dgm:prSet/>
      <dgm:spPr/>
      <dgm:t>
        <a:bodyPr/>
        <a:lstStyle/>
        <a:p>
          <a:endParaRPr lang="en-US"/>
        </a:p>
      </dgm:t>
    </dgm:pt>
    <dgm:pt modelId="{ECBC4FB8-8C32-4208-A193-3E8365F45DAB}">
      <dgm:prSet/>
      <dgm:spPr/>
      <dgm:t>
        <a:bodyPr/>
        <a:lstStyle/>
        <a:p>
          <a:r>
            <a:rPr lang="en-US" b="0" i="0" dirty="0"/>
            <a:t>If all else fails, Python checks the default path. On UNIX, this default path is normally </a:t>
          </a:r>
          <a:r>
            <a:rPr lang="en-US" b="0" i="0" dirty="0">
              <a:solidFill>
                <a:srgbClr val="FF0000"/>
              </a:solidFill>
            </a:rPr>
            <a:t>/usr/local/lib/python/</a:t>
          </a:r>
        </a:p>
      </dgm:t>
    </dgm:pt>
    <dgm:pt modelId="{2F368640-3410-4724-85AA-318121024550}" type="parTrans" cxnId="{66F07C1C-2852-4B37-A61B-BCF3C61650C6}">
      <dgm:prSet/>
      <dgm:spPr/>
      <dgm:t>
        <a:bodyPr/>
        <a:lstStyle/>
        <a:p>
          <a:endParaRPr lang="en-US"/>
        </a:p>
      </dgm:t>
    </dgm:pt>
    <dgm:pt modelId="{42F975DF-C81E-41C3-94FE-FF114A354D9B}" type="sibTrans" cxnId="{66F07C1C-2852-4B37-A61B-BCF3C61650C6}">
      <dgm:prSet/>
      <dgm:spPr/>
      <dgm:t>
        <a:bodyPr/>
        <a:lstStyle/>
        <a:p>
          <a:endParaRPr lang="en-US"/>
        </a:p>
      </dgm:t>
    </dgm:pt>
    <dgm:pt modelId="{7764EADF-DFD6-4680-AEAC-4342906D912B}">
      <dgm:prSet/>
      <dgm:spPr/>
      <dgm:t>
        <a:bodyPr/>
        <a:lstStyle/>
        <a:p>
          <a:r>
            <a:rPr lang="en-US" b="0" i="0" dirty="0"/>
            <a:t>The module search path is stored in the system module sys as the </a:t>
          </a:r>
          <a:r>
            <a:rPr lang="en-US" b="1" i="0" dirty="0"/>
            <a:t>sys.path</a:t>
          </a:r>
          <a:r>
            <a:rPr lang="en-US" b="0" i="0" dirty="0"/>
            <a:t> variable.</a:t>
          </a:r>
        </a:p>
      </dgm:t>
    </dgm:pt>
    <dgm:pt modelId="{05C7E93A-E4BC-4E77-9929-CB14D3EF37F3}" type="parTrans" cxnId="{1B15231E-32AA-4854-ABFC-BA039E172BF0}">
      <dgm:prSet/>
      <dgm:spPr/>
      <dgm:t>
        <a:bodyPr/>
        <a:lstStyle/>
        <a:p>
          <a:endParaRPr lang="en-US"/>
        </a:p>
      </dgm:t>
    </dgm:pt>
    <dgm:pt modelId="{B0912CB1-8D9A-4A52-85E9-8BA49BE8AE5C}" type="sibTrans" cxnId="{1B15231E-32AA-4854-ABFC-BA039E172BF0}">
      <dgm:prSet/>
      <dgm:spPr/>
      <dgm:t>
        <a:bodyPr/>
        <a:lstStyle/>
        <a:p>
          <a:endParaRPr lang="en-US"/>
        </a:p>
      </dgm:t>
    </dgm:pt>
    <dgm:pt modelId="{50A1F26B-AB70-4C15-A2EC-F3F6876F00C1}">
      <dgm:prSet/>
      <dgm:spPr/>
      <dgm:t>
        <a:bodyPr/>
        <a:lstStyle/>
        <a:p>
          <a:r>
            <a:rPr lang="en-US" b="0" i="0" dirty="0"/>
            <a:t>The </a:t>
          </a:r>
          <a:r>
            <a:rPr lang="en-US" b="0" i="0" dirty="0">
              <a:solidFill>
                <a:srgbClr val="FF0000"/>
              </a:solidFill>
            </a:rPr>
            <a:t>PYTHONPATH</a:t>
          </a:r>
          <a:r>
            <a:rPr lang="en-US" b="0" i="0" dirty="0"/>
            <a:t> is an environment variable, consisting of a list of directories. </a:t>
          </a:r>
        </a:p>
      </dgm:t>
    </dgm:pt>
    <dgm:pt modelId="{22C48ED4-7D73-4C74-BEF5-87D5F1BEE589}" type="parTrans" cxnId="{EA150AF1-E6C1-4516-A1D1-8030C295F331}">
      <dgm:prSet/>
      <dgm:spPr/>
      <dgm:t>
        <a:bodyPr/>
        <a:lstStyle/>
        <a:p>
          <a:endParaRPr lang="en-US"/>
        </a:p>
      </dgm:t>
    </dgm:pt>
    <dgm:pt modelId="{2800806B-7951-49C6-99C9-B117F9D6B4BE}" type="sibTrans" cxnId="{EA150AF1-E6C1-4516-A1D1-8030C295F331}">
      <dgm:prSet/>
      <dgm:spPr/>
      <dgm:t>
        <a:bodyPr/>
        <a:lstStyle/>
        <a:p>
          <a:endParaRPr lang="en-US"/>
        </a:p>
      </dgm:t>
    </dgm:pt>
    <dgm:pt modelId="{471ACD1F-F51D-4F6A-9825-75E4D3EA7D04}">
      <dgm:prSet/>
      <dgm:spPr/>
      <dgm:t>
        <a:bodyPr/>
        <a:lstStyle/>
        <a:p>
          <a:r>
            <a:rPr lang="en-US" b="0" i="0" dirty="0"/>
            <a:t>Here is a typical </a:t>
          </a:r>
          <a:r>
            <a:rPr lang="en-US" b="0" i="0" dirty="0">
              <a:solidFill>
                <a:srgbClr val="FF0000"/>
              </a:solidFill>
            </a:rPr>
            <a:t>PYTHONPATH</a:t>
          </a:r>
          <a:r>
            <a:rPr lang="en-US" b="0" i="0" dirty="0"/>
            <a:t> from a Windows system:</a:t>
          </a:r>
        </a:p>
      </dgm:t>
    </dgm:pt>
    <dgm:pt modelId="{3EE33210-D627-47D3-A7FD-F759C3A3514F}" type="parTrans" cxnId="{AD772728-3824-4DF1-8144-56A1615C6ED8}">
      <dgm:prSet/>
      <dgm:spPr/>
      <dgm:t>
        <a:bodyPr/>
        <a:lstStyle/>
        <a:p>
          <a:endParaRPr lang="en-US"/>
        </a:p>
      </dgm:t>
    </dgm:pt>
    <dgm:pt modelId="{9A6309B6-7984-4181-84CF-2F5F52EE719C}" type="sibTrans" cxnId="{AD772728-3824-4DF1-8144-56A1615C6ED8}">
      <dgm:prSet/>
      <dgm:spPr/>
      <dgm:t>
        <a:bodyPr/>
        <a:lstStyle/>
        <a:p>
          <a:endParaRPr lang="en-US"/>
        </a:p>
      </dgm:t>
    </dgm:pt>
    <dgm:pt modelId="{0E360B39-48D7-409D-9067-93C41B9959C9}">
      <dgm:prSet/>
      <dgm:spPr/>
      <dgm:t>
        <a:bodyPr/>
        <a:lstStyle/>
        <a:p>
          <a:r>
            <a:rPr lang="en-US" dirty="0">
              <a:solidFill>
                <a:srgbClr val="FF0000"/>
              </a:solidFill>
            </a:rPr>
            <a:t>set PYTHONPATH=c:\python20\lib;</a:t>
          </a:r>
        </a:p>
      </dgm:t>
    </dgm:pt>
    <dgm:pt modelId="{C6FD5119-5F70-44B7-9ED4-9E8D9538F91E}" type="parTrans" cxnId="{7909528F-8DC5-4437-8C9B-1980C7E2AED6}">
      <dgm:prSet/>
      <dgm:spPr/>
      <dgm:t>
        <a:bodyPr/>
        <a:lstStyle/>
        <a:p>
          <a:endParaRPr lang="en-US"/>
        </a:p>
      </dgm:t>
    </dgm:pt>
    <dgm:pt modelId="{52102501-3E0C-4924-9472-471A8625CF66}" type="sibTrans" cxnId="{7909528F-8DC5-4437-8C9B-1980C7E2AED6}">
      <dgm:prSet/>
      <dgm:spPr/>
      <dgm:t>
        <a:bodyPr/>
        <a:lstStyle/>
        <a:p>
          <a:endParaRPr lang="en-US"/>
        </a:p>
      </dgm:t>
    </dgm:pt>
    <dgm:pt modelId="{B5FD2912-AB5C-47ED-B75C-D83FBBFBBF85}">
      <dgm:prSet/>
      <dgm:spPr/>
      <dgm:t>
        <a:bodyPr/>
        <a:lstStyle/>
        <a:p>
          <a:r>
            <a:rPr lang="en-US" b="0" i="0" dirty="0"/>
            <a:t>The </a:t>
          </a:r>
          <a:r>
            <a:rPr lang="en-US" b="0" i="0" dirty="0">
              <a:solidFill>
                <a:srgbClr val="FF0000"/>
              </a:solidFill>
            </a:rPr>
            <a:t>sys.path</a:t>
          </a:r>
          <a:r>
            <a:rPr lang="en-US" b="0" i="0" dirty="0"/>
            <a:t> variable contains the current directory, </a:t>
          </a:r>
          <a:r>
            <a:rPr lang="en-US" b="0" i="0" dirty="0">
              <a:solidFill>
                <a:srgbClr val="FF0000"/>
              </a:solidFill>
            </a:rPr>
            <a:t>PYTHONPATH</a:t>
          </a:r>
          <a:r>
            <a:rPr lang="en-US" b="0" i="0" dirty="0"/>
            <a:t>, and the installation-dependent default.</a:t>
          </a:r>
        </a:p>
      </dgm:t>
    </dgm:pt>
    <dgm:pt modelId="{113BAF87-BAEC-497E-878B-507DF50A7E16}" type="parTrans" cxnId="{E53322B9-FBBD-4DED-9F7E-5FFAC0209293}">
      <dgm:prSet/>
      <dgm:spPr/>
      <dgm:t>
        <a:bodyPr/>
        <a:lstStyle/>
        <a:p>
          <a:endParaRPr lang="en-US"/>
        </a:p>
      </dgm:t>
    </dgm:pt>
    <dgm:pt modelId="{0BFD7AAD-CB83-4308-A57F-FF19DEC7CA03}" type="sibTrans" cxnId="{E53322B9-FBBD-4DED-9F7E-5FFAC0209293}">
      <dgm:prSet/>
      <dgm:spPr/>
      <dgm:t>
        <a:bodyPr/>
        <a:lstStyle/>
        <a:p>
          <a:endParaRPr lang="en-US"/>
        </a:p>
      </dgm:t>
    </dgm:pt>
    <dgm:pt modelId="{D7BBA55A-4301-4F85-90D1-2A976F8969C2}">
      <dgm:prSet/>
      <dgm:spPr/>
      <dgm:t>
        <a:bodyPr/>
        <a:lstStyle/>
        <a:p>
          <a:r>
            <a:rPr lang="en-US" b="0" i="0" dirty="0"/>
            <a:t>The syntax of </a:t>
          </a:r>
          <a:r>
            <a:rPr lang="en-US" b="0" i="0" dirty="0">
              <a:solidFill>
                <a:srgbClr val="FF0000"/>
              </a:solidFill>
            </a:rPr>
            <a:t>PYTHONPATH</a:t>
          </a:r>
          <a:r>
            <a:rPr lang="en-US" b="0" i="0" dirty="0"/>
            <a:t> is the same as that of the shell variable </a:t>
          </a:r>
          <a:r>
            <a:rPr lang="en-US" b="0" i="0" dirty="0">
              <a:solidFill>
                <a:srgbClr val="FF0000"/>
              </a:solidFill>
            </a:rPr>
            <a:t>PATH</a:t>
          </a:r>
          <a:r>
            <a:rPr lang="en-US" b="0" i="0" dirty="0"/>
            <a:t>.</a:t>
          </a:r>
        </a:p>
      </dgm:t>
    </dgm:pt>
    <dgm:pt modelId="{DE0999AD-8AEE-4DE4-9E4F-25F7EF0C0173}" type="parTrans" cxnId="{2D14D1C8-2262-4436-AAB8-844172C178E0}">
      <dgm:prSet/>
      <dgm:spPr/>
      <dgm:t>
        <a:bodyPr/>
        <a:lstStyle/>
        <a:p>
          <a:endParaRPr lang="en-US"/>
        </a:p>
      </dgm:t>
    </dgm:pt>
    <dgm:pt modelId="{BAE1E53C-079B-4435-879E-1607F4CA5EE9}" type="sibTrans" cxnId="{2D14D1C8-2262-4436-AAB8-844172C178E0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E75D4F1A-E54E-4DDB-A374-BC9037A6551C}" type="pres">
      <dgm:prSet presAssocID="{C111C18A-FD96-4E63-821A-54D70D8DC65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E71ED2E-3277-4574-9ED7-ECF67A282BE7}" type="pres">
      <dgm:prSet presAssocID="{C111C18A-FD96-4E63-821A-54D70D8DC65F}" presName="childText" presStyleLbl="revTx" presStyleIdx="0" presStyleCnt="2">
        <dgm:presLayoutVars>
          <dgm:bulletEnabled val="1"/>
        </dgm:presLayoutVars>
      </dgm:prSet>
      <dgm:spPr/>
    </dgm:pt>
    <dgm:pt modelId="{3EE40982-E0B4-4528-A411-A342AFBB8521}" type="pres">
      <dgm:prSet presAssocID="{7764EADF-DFD6-4680-AEAC-4342906D912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908748C-3D8D-482F-9F07-D7D283D92CD3}" type="pres">
      <dgm:prSet presAssocID="{7764EADF-DFD6-4680-AEAC-4342906D912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A8C6403-6891-4F43-960C-AE0F1693DE8D}" srcId="{C111C18A-FD96-4E63-821A-54D70D8DC65F}" destId="{5CC6988F-6B92-44E2-B504-74A52618C008}" srcOrd="0" destOrd="0" parTransId="{5780219B-D483-47E0-AE96-D11F4A652538}" sibTransId="{011064A5-352E-4E05-A8A7-A11386D45715}"/>
    <dgm:cxn modelId="{65CFAD0C-4F84-49FF-B59C-B0DBD9D16E58}" type="presOf" srcId="{D7BBA55A-4301-4F85-90D1-2A976F8969C2}" destId="{5908748C-3D8D-482F-9F07-D7D283D92CD3}" srcOrd="0" destOrd="2" presId="urn:microsoft.com/office/officeart/2005/8/layout/vList2"/>
    <dgm:cxn modelId="{66F07C1C-2852-4B37-A61B-BCF3C61650C6}" srcId="{C111C18A-FD96-4E63-821A-54D70D8DC65F}" destId="{ECBC4FB8-8C32-4208-A193-3E8365F45DAB}" srcOrd="2" destOrd="0" parTransId="{2F368640-3410-4724-85AA-318121024550}" sibTransId="{42F975DF-C81E-41C3-94FE-FF114A354D9B}"/>
    <dgm:cxn modelId="{1B15231E-32AA-4854-ABFC-BA039E172BF0}" srcId="{90119837-5B71-4D44-BB01-DB0B084933C8}" destId="{7764EADF-DFD6-4680-AEAC-4342906D912B}" srcOrd="1" destOrd="0" parTransId="{05C7E93A-E4BC-4E77-9929-CB14D3EF37F3}" sibTransId="{B0912CB1-8D9A-4A52-85E9-8BA49BE8AE5C}"/>
    <dgm:cxn modelId="{05161228-7D03-47C8-9F89-11F7D976DC11}" type="presOf" srcId="{0E360B39-48D7-409D-9067-93C41B9959C9}" destId="{5908748C-3D8D-482F-9F07-D7D283D92CD3}" srcOrd="0" destOrd="4" presId="urn:microsoft.com/office/officeart/2005/8/layout/vList2"/>
    <dgm:cxn modelId="{AD772728-3824-4DF1-8144-56A1615C6ED8}" srcId="{7764EADF-DFD6-4680-AEAC-4342906D912B}" destId="{471ACD1F-F51D-4F6A-9825-75E4D3EA7D04}" srcOrd="3" destOrd="0" parTransId="{3EE33210-D627-47D3-A7FD-F759C3A3514F}" sibTransId="{9A6309B6-7984-4181-84CF-2F5F52EE719C}"/>
    <dgm:cxn modelId="{AF292F5D-8B1C-4254-B2BD-AA61DE0FFFFB}" type="presOf" srcId="{5CC6988F-6B92-44E2-B504-74A52618C008}" destId="{3E71ED2E-3277-4574-9ED7-ECF67A282BE7}" srcOrd="0" destOrd="0" presId="urn:microsoft.com/office/officeart/2005/8/layout/vList2"/>
    <dgm:cxn modelId="{4D81EE66-FF47-4507-A550-DA761778DE1B}" type="presOf" srcId="{90119837-5B71-4D44-BB01-DB0B084933C8}" destId="{ED5DCCC5-BCA8-4491-AA37-BAF153ECA184}" srcOrd="0" destOrd="0" presId="urn:microsoft.com/office/officeart/2005/8/layout/vList2"/>
    <dgm:cxn modelId="{03450A4C-70D0-4DC1-A4EF-619AD9E63A74}" srcId="{C111C18A-FD96-4E63-821A-54D70D8DC65F}" destId="{DB98745D-1590-4763-948E-A2214478B74B}" srcOrd="1" destOrd="0" parTransId="{CEDFFACE-595E-47C1-9C64-FA916D2805D4}" sibTransId="{DF7A164F-20B1-4493-84CC-2EECB841AE64}"/>
    <dgm:cxn modelId="{FFD8B471-C98F-4DB5-8DE3-2AB7E896ADD5}" srcId="{90119837-5B71-4D44-BB01-DB0B084933C8}" destId="{C111C18A-FD96-4E63-821A-54D70D8DC65F}" srcOrd="0" destOrd="0" parTransId="{83BE74EF-FAB4-45A2-BBED-7CD5259AB210}" sibTransId="{B4F34DE2-2DAE-4F88-8C78-BD8892EBF4FF}"/>
    <dgm:cxn modelId="{232CD680-C543-434E-AE85-A20BE1991B5D}" type="presOf" srcId="{ECBC4FB8-8C32-4208-A193-3E8365F45DAB}" destId="{3E71ED2E-3277-4574-9ED7-ECF67A282BE7}" srcOrd="0" destOrd="2" presId="urn:microsoft.com/office/officeart/2005/8/layout/vList2"/>
    <dgm:cxn modelId="{DBE9DE89-EB7E-40AF-8D9C-BCE690966459}" type="presOf" srcId="{7764EADF-DFD6-4680-AEAC-4342906D912B}" destId="{3EE40982-E0B4-4528-A411-A342AFBB8521}" srcOrd="0" destOrd="0" presId="urn:microsoft.com/office/officeart/2005/8/layout/vList2"/>
    <dgm:cxn modelId="{7909528F-8DC5-4437-8C9B-1980C7E2AED6}" srcId="{471ACD1F-F51D-4F6A-9825-75E4D3EA7D04}" destId="{0E360B39-48D7-409D-9067-93C41B9959C9}" srcOrd="0" destOrd="0" parTransId="{C6FD5119-5F70-44B7-9ED4-9E8D9538F91E}" sibTransId="{52102501-3E0C-4924-9472-471A8625CF66}"/>
    <dgm:cxn modelId="{611932A6-B0B6-42B4-AFCC-BAFEAC8E9AD3}" type="presOf" srcId="{DB98745D-1590-4763-948E-A2214478B74B}" destId="{3E71ED2E-3277-4574-9ED7-ECF67A282BE7}" srcOrd="0" destOrd="1" presId="urn:microsoft.com/office/officeart/2005/8/layout/vList2"/>
    <dgm:cxn modelId="{384A58B0-2911-4A7A-9541-580CF90B4A9B}" type="presOf" srcId="{C111C18A-FD96-4E63-821A-54D70D8DC65F}" destId="{E75D4F1A-E54E-4DDB-A374-BC9037A6551C}" srcOrd="0" destOrd="0" presId="urn:microsoft.com/office/officeart/2005/8/layout/vList2"/>
    <dgm:cxn modelId="{AC9DACB7-5F92-4B69-8472-BCAB006D836B}" type="presOf" srcId="{471ACD1F-F51D-4F6A-9825-75E4D3EA7D04}" destId="{5908748C-3D8D-482F-9F07-D7D283D92CD3}" srcOrd="0" destOrd="3" presId="urn:microsoft.com/office/officeart/2005/8/layout/vList2"/>
    <dgm:cxn modelId="{E53322B9-FBBD-4DED-9F7E-5FFAC0209293}" srcId="{7764EADF-DFD6-4680-AEAC-4342906D912B}" destId="{B5FD2912-AB5C-47ED-B75C-D83FBBFBBF85}" srcOrd="0" destOrd="0" parTransId="{113BAF87-BAEC-497E-878B-507DF50A7E16}" sibTransId="{0BFD7AAD-CB83-4308-A57F-FF19DEC7CA03}"/>
    <dgm:cxn modelId="{2D14D1C8-2262-4436-AAB8-844172C178E0}" srcId="{7764EADF-DFD6-4680-AEAC-4342906D912B}" destId="{D7BBA55A-4301-4F85-90D1-2A976F8969C2}" srcOrd="2" destOrd="0" parTransId="{DE0999AD-8AEE-4DE4-9E4F-25F7EF0C0173}" sibTransId="{BAE1E53C-079B-4435-879E-1607F4CA5EE9}"/>
    <dgm:cxn modelId="{169A2CE1-19E1-4018-9C36-FE33DB080CBA}" type="presOf" srcId="{50A1F26B-AB70-4C15-A2EC-F3F6876F00C1}" destId="{5908748C-3D8D-482F-9F07-D7D283D92CD3}" srcOrd="0" destOrd="1" presId="urn:microsoft.com/office/officeart/2005/8/layout/vList2"/>
    <dgm:cxn modelId="{E54132E4-868E-4140-8F25-8A69C87009D6}" type="presOf" srcId="{B5FD2912-AB5C-47ED-B75C-D83FBBFBBF85}" destId="{5908748C-3D8D-482F-9F07-D7D283D92CD3}" srcOrd="0" destOrd="0" presId="urn:microsoft.com/office/officeart/2005/8/layout/vList2"/>
    <dgm:cxn modelId="{EA150AF1-E6C1-4516-A1D1-8030C295F331}" srcId="{7764EADF-DFD6-4680-AEAC-4342906D912B}" destId="{50A1F26B-AB70-4C15-A2EC-F3F6876F00C1}" srcOrd="1" destOrd="0" parTransId="{22C48ED4-7D73-4C74-BEF5-87D5F1BEE589}" sibTransId="{2800806B-7951-49C6-99C9-B117F9D6B4BE}"/>
    <dgm:cxn modelId="{CB37A8CE-F46D-4063-9BEC-E14C78430DDE}" type="presParOf" srcId="{ED5DCCC5-BCA8-4491-AA37-BAF153ECA184}" destId="{E75D4F1A-E54E-4DDB-A374-BC9037A6551C}" srcOrd="0" destOrd="0" presId="urn:microsoft.com/office/officeart/2005/8/layout/vList2"/>
    <dgm:cxn modelId="{0F1C0CC9-719C-47FA-891A-86C889327399}" type="presParOf" srcId="{ED5DCCC5-BCA8-4491-AA37-BAF153ECA184}" destId="{3E71ED2E-3277-4574-9ED7-ECF67A282BE7}" srcOrd="1" destOrd="0" presId="urn:microsoft.com/office/officeart/2005/8/layout/vList2"/>
    <dgm:cxn modelId="{EC9FB611-80B2-445D-8615-6D796AF8C04A}" type="presParOf" srcId="{ED5DCCC5-BCA8-4491-AA37-BAF153ECA184}" destId="{3EE40982-E0B4-4528-A411-A342AFBB8521}" srcOrd="2" destOrd="0" presId="urn:microsoft.com/office/officeart/2005/8/layout/vList2"/>
    <dgm:cxn modelId="{1E83B421-1EEB-4566-B9B6-87F1C58002EB}" type="presParOf" srcId="{ED5DCCC5-BCA8-4491-AA37-BAF153ECA184}" destId="{5908748C-3D8D-482F-9F07-D7D283D92CD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0181D8-E8CF-4A26-971C-2F7DE60FFE05}">
      <dgm:prSet/>
      <dgm:spPr/>
      <dgm:t>
        <a:bodyPr/>
        <a:lstStyle/>
        <a:p>
          <a:r>
            <a:rPr lang="en-US" b="0" i="0" dirty="0"/>
            <a:t>All variables in a program may not be </a:t>
          </a:r>
          <a:r>
            <a:rPr lang="en-US" b="0" i="0" dirty="0">
              <a:solidFill>
                <a:srgbClr val="FFFF00"/>
              </a:solidFill>
            </a:rPr>
            <a:t>accessible</a:t>
          </a:r>
          <a:r>
            <a:rPr lang="en-US" b="0" i="0" dirty="0"/>
            <a:t> at all locations in that program. </a:t>
          </a:r>
          <a:endParaRPr lang="en-US" dirty="0"/>
        </a:p>
      </dgm:t>
    </dgm:pt>
    <dgm:pt modelId="{DDE5D2C5-3FD5-4452-80B1-EF797A3B2B9C}" type="parTrans" cxnId="{564EBFFE-75A8-40AC-B4F4-4957E3CF7864}">
      <dgm:prSet/>
      <dgm:spPr/>
      <dgm:t>
        <a:bodyPr/>
        <a:lstStyle/>
        <a:p>
          <a:endParaRPr lang="en-US"/>
        </a:p>
      </dgm:t>
    </dgm:pt>
    <dgm:pt modelId="{6B49D688-C2E5-410E-B1EE-48FA532589F8}" type="sibTrans" cxnId="{564EBFFE-75A8-40AC-B4F4-4957E3CF7864}">
      <dgm:prSet/>
      <dgm:spPr/>
      <dgm:t>
        <a:bodyPr/>
        <a:lstStyle/>
        <a:p>
          <a:endParaRPr lang="en-US"/>
        </a:p>
      </dgm:t>
    </dgm:pt>
    <dgm:pt modelId="{371E9CDE-3546-453E-84A3-24F978BB843E}">
      <dgm:prSet/>
      <dgm:spPr/>
      <dgm:t>
        <a:bodyPr/>
        <a:lstStyle/>
        <a:p>
          <a:r>
            <a:rPr lang="en-US" b="0" i="0" dirty="0"/>
            <a:t>The </a:t>
          </a:r>
          <a:r>
            <a:rPr lang="en-US" b="0" i="0" dirty="0">
              <a:solidFill>
                <a:srgbClr val="FFFF00"/>
              </a:solidFill>
            </a:rPr>
            <a:t>scope</a:t>
          </a:r>
          <a:r>
            <a:rPr lang="en-US" b="0" i="0" dirty="0"/>
            <a:t> of a variable determines the portion of the program where you can </a:t>
          </a:r>
          <a:r>
            <a:rPr lang="en-US" b="0" i="0" dirty="0">
              <a:solidFill>
                <a:srgbClr val="FFFF00"/>
              </a:solidFill>
            </a:rPr>
            <a:t>access</a:t>
          </a:r>
          <a:r>
            <a:rPr lang="en-US" b="0" i="0" dirty="0"/>
            <a:t> a particular identifier. </a:t>
          </a:r>
        </a:p>
      </dgm:t>
    </dgm:pt>
    <dgm:pt modelId="{C828B781-C499-4AA2-8F4E-CE19ECAB925B}" type="parTrans" cxnId="{E8122902-4FEB-40CA-B3DE-E2A51CCB8E45}">
      <dgm:prSet/>
      <dgm:spPr/>
      <dgm:t>
        <a:bodyPr/>
        <a:lstStyle/>
        <a:p>
          <a:endParaRPr lang="en-US"/>
        </a:p>
      </dgm:t>
    </dgm:pt>
    <dgm:pt modelId="{A39733A4-D911-4B32-8500-5AEC9CCF1879}" type="sibTrans" cxnId="{E8122902-4FEB-40CA-B3DE-E2A51CCB8E45}">
      <dgm:prSet/>
      <dgm:spPr/>
      <dgm:t>
        <a:bodyPr/>
        <a:lstStyle/>
        <a:p>
          <a:endParaRPr lang="en-US"/>
        </a:p>
      </dgm:t>
    </dgm:pt>
    <dgm:pt modelId="{ADAA17EB-3E7C-4E72-B2FA-E148C60E117C}">
      <dgm:prSet/>
      <dgm:spPr/>
      <dgm:t>
        <a:bodyPr/>
        <a:lstStyle/>
        <a:p>
          <a:r>
            <a:rPr lang="en-US" b="1" i="0" dirty="0">
              <a:solidFill>
                <a:srgbClr val="FF0000"/>
              </a:solidFill>
            </a:rPr>
            <a:t>Global</a:t>
          </a:r>
          <a:r>
            <a:rPr lang="en-US" b="0" i="0" dirty="0"/>
            <a:t> variables</a:t>
          </a:r>
        </a:p>
      </dgm:t>
    </dgm:pt>
    <dgm:pt modelId="{A5B254BC-5CDE-4642-A37A-631C3C53572D}" type="parTrans" cxnId="{9B8F4C9B-2BFF-4D4D-B9CD-4F847D0AC12E}">
      <dgm:prSet/>
      <dgm:spPr/>
      <dgm:t>
        <a:bodyPr/>
        <a:lstStyle/>
        <a:p>
          <a:endParaRPr lang="en-US"/>
        </a:p>
      </dgm:t>
    </dgm:pt>
    <dgm:pt modelId="{EAAC037E-ADA9-4B49-BE4B-8A5525E6DD89}" type="sibTrans" cxnId="{9B8F4C9B-2BFF-4D4D-B9CD-4F847D0AC12E}">
      <dgm:prSet/>
      <dgm:spPr/>
      <dgm:t>
        <a:bodyPr/>
        <a:lstStyle/>
        <a:p>
          <a:endParaRPr lang="en-US"/>
        </a:p>
      </dgm:t>
    </dgm:pt>
    <dgm:pt modelId="{FC1E0338-43E0-4487-9AAB-9600EC6D6683}">
      <dgm:prSet/>
      <dgm:spPr/>
      <dgm:t>
        <a:bodyPr/>
        <a:lstStyle/>
        <a:p>
          <a:r>
            <a:rPr lang="en-US" b="1" i="0" dirty="0">
              <a:solidFill>
                <a:srgbClr val="FF0000"/>
              </a:solidFill>
            </a:rPr>
            <a:t>Local</a:t>
          </a:r>
          <a:r>
            <a:rPr lang="en-US" b="0" i="0" dirty="0"/>
            <a:t> variables</a:t>
          </a:r>
        </a:p>
      </dgm:t>
    </dgm:pt>
    <dgm:pt modelId="{47BB536F-B43F-4F1D-9B88-D585968DB491}" type="parTrans" cxnId="{47F810D0-FC8A-4DF5-A0CE-A25AE32398E8}">
      <dgm:prSet/>
      <dgm:spPr/>
      <dgm:t>
        <a:bodyPr/>
        <a:lstStyle/>
        <a:p>
          <a:endParaRPr lang="en-US"/>
        </a:p>
      </dgm:t>
    </dgm:pt>
    <dgm:pt modelId="{152FB14B-F044-4258-A1F1-902AE143AE53}" type="sibTrans" cxnId="{47F810D0-FC8A-4DF5-A0CE-A25AE32398E8}">
      <dgm:prSet/>
      <dgm:spPr/>
      <dgm:t>
        <a:bodyPr/>
        <a:lstStyle/>
        <a:p>
          <a:endParaRPr lang="en-US"/>
        </a:p>
      </dgm:t>
    </dgm:pt>
    <dgm:pt modelId="{D90C0BE6-0C1A-4D40-8262-5C60CF69A10E}">
      <dgm:prSet/>
      <dgm:spPr/>
      <dgm:t>
        <a:bodyPr/>
        <a:lstStyle/>
        <a:p>
          <a:r>
            <a:rPr lang="en-US" b="0" i="0" dirty="0"/>
            <a:t>This depends on </a:t>
          </a:r>
          <a:r>
            <a:rPr lang="en-US" b="0" i="0" dirty="0">
              <a:solidFill>
                <a:srgbClr val="FFFF00"/>
              </a:solidFill>
            </a:rPr>
            <a:t>where</a:t>
          </a:r>
          <a:r>
            <a:rPr lang="en-US" b="0" i="0" dirty="0"/>
            <a:t> you have declared a variable.</a:t>
          </a:r>
          <a:endParaRPr lang="en-US" dirty="0"/>
        </a:p>
      </dgm:t>
    </dgm:pt>
    <dgm:pt modelId="{8DA37C1A-2164-4038-B5E1-76DE829F4393}" type="parTrans" cxnId="{4C0D1201-9A8E-490A-87A0-86A6394E41D0}">
      <dgm:prSet/>
      <dgm:spPr/>
      <dgm:t>
        <a:bodyPr/>
        <a:lstStyle/>
        <a:p>
          <a:endParaRPr lang="en-US"/>
        </a:p>
      </dgm:t>
    </dgm:pt>
    <dgm:pt modelId="{84C5FBED-C432-4BBE-B5D3-A3E73D8712BB}" type="sibTrans" cxnId="{4C0D1201-9A8E-490A-87A0-86A6394E41D0}">
      <dgm:prSet/>
      <dgm:spPr/>
      <dgm:t>
        <a:bodyPr/>
        <a:lstStyle/>
        <a:p>
          <a:endParaRPr lang="en-US"/>
        </a:p>
      </dgm:t>
    </dgm:pt>
    <dgm:pt modelId="{B7FA645B-ECDE-4C66-9185-8EED2AC7E6AD}">
      <dgm:prSet/>
      <dgm:spPr/>
      <dgm:t>
        <a:bodyPr/>
        <a:lstStyle/>
        <a:p>
          <a:r>
            <a:rPr lang="en-US" b="0" i="0" dirty="0"/>
            <a:t>There are two basic scopes of variables in Python</a:t>
          </a:r>
        </a:p>
      </dgm:t>
    </dgm:pt>
    <dgm:pt modelId="{D643EFF2-CB01-4305-BF9F-C11DD9A146B5}" type="parTrans" cxnId="{A7FA4102-BB3C-432D-9A17-416E73E97CC1}">
      <dgm:prSet/>
      <dgm:spPr/>
      <dgm:t>
        <a:bodyPr/>
        <a:lstStyle/>
        <a:p>
          <a:endParaRPr lang="en-US"/>
        </a:p>
      </dgm:t>
    </dgm:pt>
    <dgm:pt modelId="{19DC9C81-E3B6-40CE-B637-DBAA03732132}" type="sibTrans" cxnId="{A7FA4102-BB3C-432D-9A17-416E73E97CC1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B9058970-B9FC-44DC-9A14-BF5EF6D65515}" type="pres">
      <dgm:prSet presAssocID="{6F0181D8-E8CF-4A26-971C-2F7DE60FFE0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5CBAD1F-0716-4390-9A68-40FEA593BC8F}" type="pres">
      <dgm:prSet presAssocID="{6B49D688-C2E5-410E-B1EE-48FA532589F8}" presName="spacer" presStyleCnt="0"/>
      <dgm:spPr/>
    </dgm:pt>
    <dgm:pt modelId="{41D589AB-392F-4FB7-BC1C-97CEFC7492C4}" type="pres">
      <dgm:prSet presAssocID="{D90C0BE6-0C1A-4D40-8262-5C60CF69A10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CB1B55D-D39C-4A9C-BB20-8D0EF8932C27}" type="pres">
      <dgm:prSet presAssocID="{84C5FBED-C432-4BBE-B5D3-A3E73D8712BB}" presName="spacer" presStyleCnt="0"/>
      <dgm:spPr/>
    </dgm:pt>
    <dgm:pt modelId="{D784C2F4-1038-48EB-8CB4-3234D6194981}" type="pres">
      <dgm:prSet presAssocID="{371E9CDE-3546-453E-84A3-24F978BB843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7255906-6A12-4C8C-A8C7-D0A05F4912F8}" type="pres">
      <dgm:prSet presAssocID="{A39733A4-D911-4B32-8500-5AEC9CCF1879}" presName="spacer" presStyleCnt="0"/>
      <dgm:spPr/>
    </dgm:pt>
    <dgm:pt modelId="{0B7B2368-AEBD-4745-8822-962A8C60BEDA}" type="pres">
      <dgm:prSet presAssocID="{B7FA645B-ECDE-4C66-9185-8EED2AC7E6A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30B3FD9-CBDA-48B4-8336-CA650EF35BBA}" type="pres">
      <dgm:prSet presAssocID="{B7FA645B-ECDE-4C66-9185-8EED2AC7E6A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C0D1201-9A8E-490A-87A0-86A6394E41D0}" srcId="{90119837-5B71-4D44-BB01-DB0B084933C8}" destId="{D90C0BE6-0C1A-4D40-8262-5C60CF69A10E}" srcOrd="1" destOrd="0" parTransId="{8DA37C1A-2164-4038-B5E1-76DE829F4393}" sibTransId="{84C5FBED-C432-4BBE-B5D3-A3E73D8712BB}"/>
    <dgm:cxn modelId="{E8122902-4FEB-40CA-B3DE-E2A51CCB8E45}" srcId="{90119837-5B71-4D44-BB01-DB0B084933C8}" destId="{371E9CDE-3546-453E-84A3-24F978BB843E}" srcOrd="2" destOrd="0" parTransId="{C828B781-C499-4AA2-8F4E-CE19ECAB925B}" sibTransId="{A39733A4-D911-4B32-8500-5AEC9CCF1879}"/>
    <dgm:cxn modelId="{A7FA4102-BB3C-432D-9A17-416E73E97CC1}" srcId="{90119837-5B71-4D44-BB01-DB0B084933C8}" destId="{B7FA645B-ECDE-4C66-9185-8EED2AC7E6AD}" srcOrd="3" destOrd="0" parTransId="{D643EFF2-CB01-4305-BF9F-C11DD9A146B5}" sibTransId="{19DC9C81-E3B6-40CE-B637-DBAA03732132}"/>
    <dgm:cxn modelId="{49054012-05F1-4019-9DEE-B7F04D5E66E4}" type="presOf" srcId="{FC1E0338-43E0-4487-9AAB-9600EC6D6683}" destId="{630B3FD9-CBDA-48B4-8336-CA650EF35BBA}" srcOrd="0" destOrd="1" presId="urn:microsoft.com/office/officeart/2005/8/layout/vList2"/>
    <dgm:cxn modelId="{E1A54066-7066-4BF6-93AD-24F6E3B8E750}" type="presOf" srcId="{6F0181D8-E8CF-4A26-971C-2F7DE60FFE05}" destId="{B9058970-B9FC-44DC-9A14-BF5EF6D65515}" srcOrd="0" destOrd="0" presId="urn:microsoft.com/office/officeart/2005/8/layout/vList2"/>
    <dgm:cxn modelId="{72548470-E215-4742-BCB8-D4582A291D47}" type="presOf" srcId="{ADAA17EB-3E7C-4E72-B2FA-E148C60E117C}" destId="{630B3FD9-CBDA-48B4-8336-CA650EF35BBA}" srcOrd="0" destOrd="0" presId="urn:microsoft.com/office/officeart/2005/8/layout/vList2"/>
    <dgm:cxn modelId="{9B8F4C9B-2BFF-4D4D-B9CD-4F847D0AC12E}" srcId="{B7FA645B-ECDE-4C66-9185-8EED2AC7E6AD}" destId="{ADAA17EB-3E7C-4E72-B2FA-E148C60E117C}" srcOrd="0" destOrd="0" parTransId="{A5B254BC-5CDE-4642-A37A-631C3C53572D}" sibTransId="{EAAC037E-ADA9-4B49-BE4B-8A5525E6DD89}"/>
    <dgm:cxn modelId="{47F810D0-FC8A-4DF5-A0CE-A25AE32398E8}" srcId="{B7FA645B-ECDE-4C66-9185-8EED2AC7E6AD}" destId="{FC1E0338-43E0-4487-9AAB-9600EC6D6683}" srcOrd="1" destOrd="0" parTransId="{47BB536F-B43F-4F1D-9B88-D585968DB491}" sibTransId="{152FB14B-F044-4258-A1F1-902AE143AE53}"/>
    <dgm:cxn modelId="{2D906CDA-6F13-46EA-87A0-AC8182BF5839}" type="presOf" srcId="{D90C0BE6-0C1A-4D40-8262-5C60CF69A10E}" destId="{41D589AB-392F-4FB7-BC1C-97CEFC7492C4}" srcOrd="0" destOrd="0" presId="urn:microsoft.com/office/officeart/2005/8/layout/vList2"/>
    <dgm:cxn modelId="{36D6C7E4-F077-4B95-9514-C5EE96FF3A67}" type="presOf" srcId="{90119837-5B71-4D44-BB01-DB0B084933C8}" destId="{ED5DCCC5-BCA8-4491-AA37-BAF153ECA184}" srcOrd="0" destOrd="0" presId="urn:microsoft.com/office/officeart/2005/8/layout/vList2"/>
    <dgm:cxn modelId="{9CE7F3E7-3331-441F-AB51-11B4FA0664EE}" type="presOf" srcId="{B7FA645B-ECDE-4C66-9185-8EED2AC7E6AD}" destId="{0B7B2368-AEBD-4745-8822-962A8C60BEDA}" srcOrd="0" destOrd="0" presId="urn:microsoft.com/office/officeart/2005/8/layout/vList2"/>
    <dgm:cxn modelId="{309EE5FD-7E38-48CC-86A4-79C1B917FA0D}" type="presOf" srcId="{371E9CDE-3546-453E-84A3-24F978BB843E}" destId="{D784C2F4-1038-48EB-8CB4-3234D6194981}" srcOrd="0" destOrd="0" presId="urn:microsoft.com/office/officeart/2005/8/layout/vList2"/>
    <dgm:cxn modelId="{564EBFFE-75A8-40AC-B4F4-4957E3CF7864}" srcId="{90119837-5B71-4D44-BB01-DB0B084933C8}" destId="{6F0181D8-E8CF-4A26-971C-2F7DE60FFE05}" srcOrd="0" destOrd="0" parTransId="{DDE5D2C5-3FD5-4452-80B1-EF797A3B2B9C}" sibTransId="{6B49D688-C2E5-410E-B1EE-48FA532589F8}"/>
    <dgm:cxn modelId="{AFEDE03E-687C-4387-8020-FD9C2BB8965B}" type="presParOf" srcId="{ED5DCCC5-BCA8-4491-AA37-BAF153ECA184}" destId="{B9058970-B9FC-44DC-9A14-BF5EF6D65515}" srcOrd="0" destOrd="0" presId="urn:microsoft.com/office/officeart/2005/8/layout/vList2"/>
    <dgm:cxn modelId="{25852BAE-04BD-420E-92F2-8893F64BE75C}" type="presParOf" srcId="{ED5DCCC5-BCA8-4491-AA37-BAF153ECA184}" destId="{65CBAD1F-0716-4390-9A68-40FEA593BC8F}" srcOrd="1" destOrd="0" presId="urn:microsoft.com/office/officeart/2005/8/layout/vList2"/>
    <dgm:cxn modelId="{1A6F5A37-9013-46A9-8662-2ADFA914D5EA}" type="presParOf" srcId="{ED5DCCC5-BCA8-4491-AA37-BAF153ECA184}" destId="{41D589AB-392F-4FB7-BC1C-97CEFC7492C4}" srcOrd="2" destOrd="0" presId="urn:microsoft.com/office/officeart/2005/8/layout/vList2"/>
    <dgm:cxn modelId="{BDBBF740-D27B-41A6-A568-AE3F4DE7BBE8}" type="presParOf" srcId="{ED5DCCC5-BCA8-4491-AA37-BAF153ECA184}" destId="{ACB1B55D-D39C-4A9C-BB20-8D0EF8932C27}" srcOrd="3" destOrd="0" presId="urn:microsoft.com/office/officeart/2005/8/layout/vList2"/>
    <dgm:cxn modelId="{711ACDFF-71CF-4C2A-B25D-47123D7FEE1D}" type="presParOf" srcId="{ED5DCCC5-BCA8-4491-AA37-BAF153ECA184}" destId="{D784C2F4-1038-48EB-8CB4-3234D6194981}" srcOrd="4" destOrd="0" presId="urn:microsoft.com/office/officeart/2005/8/layout/vList2"/>
    <dgm:cxn modelId="{4EF737DB-6A84-4C0E-BB6E-B5D19CAE2CC6}" type="presParOf" srcId="{ED5DCCC5-BCA8-4491-AA37-BAF153ECA184}" destId="{97255906-6A12-4C8C-A8C7-D0A05F4912F8}" srcOrd="5" destOrd="0" presId="urn:microsoft.com/office/officeart/2005/8/layout/vList2"/>
    <dgm:cxn modelId="{49C699A6-8CE5-4178-9201-9967557B6EFA}" type="presParOf" srcId="{ED5DCCC5-BCA8-4491-AA37-BAF153ECA184}" destId="{0B7B2368-AEBD-4745-8822-962A8C60BEDA}" srcOrd="6" destOrd="0" presId="urn:microsoft.com/office/officeart/2005/8/layout/vList2"/>
    <dgm:cxn modelId="{DC85BF2D-B167-4A98-9C8D-7FFB1631CFD7}" type="presParOf" srcId="{ED5DCCC5-BCA8-4491-AA37-BAF153ECA184}" destId="{630B3FD9-CBDA-48B4-8336-CA650EF35BBA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0181D8-E8CF-4A26-971C-2F7DE60FFE05}">
      <dgm:prSet/>
      <dgm:spPr/>
      <dgm:t>
        <a:bodyPr/>
        <a:lstStyle/>
        <a:p>
          <a:r>
            <a:rPr lang="en-US" altLang="en-US" b="1" u="none" dirty="0">
              <a:solidFill>
                <a:srgbClr val="FFFF00"/>
              </a:solidFill>
            </a:rPr>
            <a:t>Local</a:t>
          </a:r>
          <a:r>
            <a:rPr lang="en-US" altLang="en-US" u="none" dirty="0"/>
            <a:t> variable</a:t>
          </a:r>
          <a:endParaRPr lang="en-US" u="none" dirty="0"/>
        </a:p>
      </dgm:t>
    </dgm:pt>
    <dgm:pt modelId="{DDE5D2C5-3FD5-4452-80B1-EF797A3B2B9C}" type="parTrans" cxnId="{564EBFFE-75A8-40AC-B4F4-4957E3CF7864}">
      <dgm:prSet/>
      <dgm:spPr/>
      <dgm:t>
        <a:bodyPr/>
        <a:lstStyle/>
        <a:p>
          <a:endParaRPr lang="en-US"/>
        </a:p>
      </dgm:t>
    </dgm:pt>
    <dgm:pt modelId="{6B49D688-C2E5-410E-B1EE-48FA532589F8}" type="sibTrans" cxnId="{564EBFFE-75A8-40AC-B4F4-4957E3CF7864}">
      <dgm:prSet/>
      <dgm:spPr/>
      <dgm:t>
        <a:bodyPr/>
        <a:lstStyle/>
        <a:p>
          <a:endParaRPr lang="en-US"/>
        </a:p>
      </dgm:t>
    </dgm:pt>
    <dgm:pt modelId="{6699A303-5518-4A0D-AC07-9F908034043C}">
      <dgm:prSet/>
      <dgm:spPr/>
      <dgm:t>
        <a:bodyPr/>
        <a:lstStyle/>
        <a:p>
          <a:r>
            <a:rPr lang="en-US" altLang="en-US" dirty="0">
              <a:latin typeface="+mn-lt"/>
            </a:rPr>
            <a:t>Belongs to the function in which it was created</a:t>
          </a:r>
        </a:p>
      </dgm:t>
    </dgm:pt>
    <dgm:pt modelId="{B01612C0-F8DC-4E26-A9FE-19E4B17879C5}" type="parTrans" cxnId="{FA4697CA-7037-43B1-81F4-2FBC2624D1DD}">
      <dgm:prSet/>
      <dgm:spPr/>
      <dgm:t>
        <a:bodyPr/>
        <a:lstStyle/>
        <a:p>
          <a:endParaRPr lang="en-US"/>
        </a:p>
      </dgm:t>
    </dgm:pt>
    <dgm:pt modelId="{2A03ADCB-2DDC-4EB9-BC8A-ACF15E8C0F82}" type="sibTrans" cxnId="{FA4697CA-7037-43B1-81F4-2FBC2624D1DD}">
      <dgm:prSet/>
      <dgm:spPr/>
      <dgm:t>
        <a:bodyPr/>
        <a:lstStyle/>
        <a:p>
          <a:endParaRPr lang="en-US"/>
        </a:p>
      </dgm:t>
    </dgm:pt>
    <dgm:pt modelId="{4737976D-A7E4-4C03-BEA8-9895D023ABDD}">
      <dgm:prSet/>
      <dgm:spPr/>
      <dgm:t>
        <a:bodyPr/>
        <a:lstStyle/>
        <a:p>
          <a:r>
            <a:rPr lang="en-US" altLang="en-US" dirty="0">
              <a:latin typeface="+mn-lt"/>
            </a:rPr>
            <a:t>Only statements inside that function can access it, error will occur if another function tries to access the variable</a:t>
          </a:r>
        </a:p>
      </dgm:t>
    </dgm:pt>
    <dgm:pt modelId="{CD4575F3-7356-4568-B72F-76640BC9B6B0}" type="parTrans" cxnId="{5639D7CF-18D8-4FF7-A8F0-75B0BDCE67AB}">
      <dgm:prSet/>
      <dgm:spPr/>
      <dgm:t>
        <a:bodyPr/>
        <a:lstStyle/>
        <a:p>
          <a:endParaRPr lang="en-US"/>
        </a:p>
      </dgm:t>
    </dgm:pt>
    <dgm:pt modelId="{345EB097-AB4B-4524-A9A1-7A734D3FFCFE}" type="sibTrans" cxnId="{5639D7CF-18D8-4FF7-A8F0-75B0BDCE67AB}">
      <dgm:prSet/>
      <dgm:spPr/>
      <dgm:t>
        <a:bodyPr/>
        <a:lstStyle/>
        <a:p>
          <a:endParaRPr lang="en-US"/>
        </a:p>
      </dgm:t>
    </dgm:pt>
    <dgm:pt modelId="{7CDB95E0-3B5B-4EA4-9650-24171562766A}">
      <dgm:prSet/>
      <dgm:spPr/>
      <dgm:t>
        <a:bodyPr/>
        <a:lstStyle/>
        <a:p>
          <a:r>
            <a:rPr lang="en-US" altLang="en-US" dirty="0">
              <a:latin typeface="+mn-lt"/>
            </a:rPr>
            <a:t>Function in which created</a:t>
          </a:r>
        </a:p>
      </dgm:t>
    </dgm:pt>
    <dgm:pt modelId="{796E30B8-6BB7-4E5A-9878-12ADF618BB92}" type="parTrans" cxnId="{D5DEAECD-1F66-4B9A-9537-AC070F4D4009}">
      <dgm:prSet/>
      <dgm:spPr/>
      <dgm:t>
        <a:bodyPr/>
        <a:lstStyle/>
        <a:p>
          <a:endParaRPr lang="en-US"/>
        </a:p>
      </dgm:t>
    </dgm:pt>
    <dgm:pt modelId="{09712142-9509-41A8-A526-FD5ED306A946}" type="sibTrans" cxnId="{D5DEAECD-1F66-4B9A-9537-AC070F4D4009}">
      <dgm:prSet/>
      <dgm:spPr/>
      <dgm:t>
        <a:bodyPr/>
        <a:lstStyle/>
        <a:p>
          <a:endParaRPr lang="en-US"/>
        </a:p>
      </dgm:t>
    </dgm:pt>
    <dgm:pt modelId="{9771D9B9-6E8B-4FE1-9C7C-8128E95A92C3}">
      <dgm:prSet/>
      <dgm:spPr/>
      <dgm:t>
        <a:bodyPr/>
        <a:lstStyle/>
        <a:p>
          <a:r>
            <a:rPr lang="en-US" altLang="en-US" dirty="0">
              <a:latin typeface="+mn-lt"/>
            </a:rPr>
            <a:t>Variable that is assigned a value inside a function</a:t>
          </a:r>
          <a:endParaRPr lang="en-US" dirty="0">
            <a:latin typeface="+mn-lt"/>
          </a:endParaRPr>
        </a:p>
      </dgm:t>
    </dgm:pt>
    <dgm:pt modelId="{C0025B0F-2EBA-49F2-9EBD-771C6473328B}" type="parTrans" cxnId="{2ADAF1E8-B9EA-4F55-A87E-D07FAE8029EE}">
      <dgm:prSet/>
      <dgm:spPr/>
      <dgm:t>
        <a:bodyPr/>
        <a:lstStyle/>
        <a:p>
          <a:endParaRPr lang="en-US"/>
        </a:p>
      </dgm:t>
    </dgm:pt>
    <dgm:pt modelId="{6E6F27A6-B8D5-4DF2-B1CE-4DF56155FF5F}" type="sibTrans" cxnId="{2ADAF1E8-B9EA-4F55-A87E-D07FAE8029EE}">
      <dgm:prSet/>
      <dgm:spPr/>
      <dgm:t>
        <a:bodyPr/>
        <a:lstStyle/>
        <a:p>
          <a:endParaRPr lang="en-US"/>
        </a:p>
      </dgm:t>
    </dgm:pt>
    <dgm:pt modelId="{DF7DA9BC-B1C2-4300-9209-CF87D34105BF}">
      <dgm:prSet/>
      <dgm:spPr/>
      <dgm:t>
        <a:bodyPr/>
        <a:lstStyle/>
        <a:p>
          <a:r>
            <a:rPr lang="en-US" dirty="0">
              <a:latin typeface="+mn-lt"/>
              <a:cs typeface="Courier New" pitchFamily="49" charset="0"/>
            </a:rPr>
            <a:t>Local variable cannot be accessed by statements inside its function which precede its creation</a:t>
          </a:r>
          <a:endParaRPr lang="en-US" altLang="en-US" dirty="0">
            <a:latin typeface="+mn-lt"/>
          </a:endParaRPr>
        </a:p>
      </dgm:t>
    </dgm:pt>
    <dgm:pt modelId="{0FD34171-049F-4513-8EDF-7BB1B121720B}" type="parTrans" cxnId="{AA786068-E927-438E-9E41-47BCE9137358}">
      <dgm:prSet/>
      <dgm:spPr/>
      <dgm:t>
        <a:bodyPr/>
        <a:lstStyle/>
        <a:p>
          <a:endParaRPr lang="en-US"/>
        </a:p>
      </dgm:t>
    </dgm:pt>
    <dgm:pt modelId="{D8933337-3A8C-4A5D-8DA1-4FE4BD123506}" type="sibTrans" cxnId="{AA786068-E927-438E-9E41-47BCE9137358}">
      <dgm:prSet/>
      <dgm:spPr/>
      <dgm:t>
        <a:bodyPr/>
        <a:lstStyle/>
        <a:p>
          <a:endParaRPr lang="en-US"/>
        </a:p>
      </dgm:t>
    </dgm:pt>
    <dgm:pt modelId="{22A153BB-FA36-4F37-8BBB-CA3119AD86C5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Different functions may have local variables with the same name </a:t>
          </a:r>
        </a:p>
      </dgm:t>
    </dgm:pt>
    <dgm:pt modelId="{E7A4EAA8-255A-4659-94D7-2D9E180F12F7}" type="parTrans" cxnId="{4D5A4749-9B52-41B8-B3DF-402B2CE15E36}">
      <dgm:prSet/>
      <dgm:spPr/>
      <dgm:t>
        <a:bodyPr/>
        <a:lstStyle/>
        <a:p>
          <a:endParaRPr lang="en-US"/>
        </a:p>
      </dgm:t>
    </dgm:pt>
    <dgm:pt modelId="{7EFCA6AA-7672-4AB2-B270-CBCF19C9D2B3}" type="sibTrans" cxnId="{4D5A4749-9B52-41B8-B3DF-402B2CE15E36}">
      <dgm:prSet/>
      <dgm:spPr/>
      <dgm:t>
        <a:bodyPr/>
        <a:lstStyle/>
        <a:p>
          <a:endParaRPr lang="en-US"/>
        </a:p>
      </dgm:t>
    </dgm:pt>
    <dgm:pt modelId="{32A64A52-3D6C-44B7-B7E7-ED745980ACB5}">
      <dgm:prSet/>
      <dgm:spPr/>
      <dgm:t>
        <a:bodyPr/>
        <a:lstStyle/>
        <a:p>
          <a:r>
            <a:rPr lang="en-US" dirty="0">
              <a:latin typeface="+mn-lt"/>
              <a:cs typeface="Courier New" pitchFamily="49" charset="0"/>
            </a:rPr>
            <a:t>Each function does not see the other function’s local variables, so no confusion</a:t>
          </a:r>
          <a:endParaRPr lang="he-IL" dirty="0">
            <a:latin typeface="+mn-lt"/>
            <a:cs typeface="Courier New" pitchFamily="49" charset="0"/>
          </a:endParaRPr>
        </a:p>
      </dgm:t>
    </dgm:pt>
    <dgm:pt modelId="{BEA869BE-A11C-4DB2-BDB8-DCDAB656516D}" type="parTrans" cxnId="{AC4099DE-1EA8-4596-BA45-C86567AC42CC}">
      <dgm:prSet/>
      <dgm:spPr/>
      <dgm:t>
        <a:bodyPr/>
        <a:lstStyle/>
        <a:p>
          <a:endParaRPr lang="en-US"/>
        </a:p>
      </dgm:t>
    </dgm:pt>
    <dgm:pt modelId="{46FB437A-9034-4435-B007-DFFA9CB1A5CF}" type="sibTrans" cxnId="{AC4099DE-1EA8-4596-BA45-C86567AC42CC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B9058970-B9FC-44DC-9A14-BF5EF6D65515}" type="pres">
      <dgm:prSet presAssocID="{6F0181D8-E8CF-4A26-971C-2F7DE60FFE0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A68E320-2120-4867-81DD-6C492966CAEF}" type="pres">
      <dgm:prSet presAssocID="{6F0181D8-E8CF-4A26-971C-2F7DE60FFE05}" presName="childText" presStyleLbl="revTx" presStyleIdx="0" presStyleCnt="2">
        <dgm:presLayoutVars>
          <dgm:bulletEnabled val="1"/>
        </dgm:presLayoutVars>
      </dgm:prSet>
      <dgm:spPr/>
    </dgm:pt>
    <dgm:pt modelId="{0C37FE4E-3925-4A84-9FC8-EB9012FB888C}" type="pres">
      <dgm:prSet presAssocID="{22A153BB-FA36-4F37-8BBB-CA3119AD86C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229E0FD-6F7F-45E8-96A0-B1A8718E05F7}" type="pres">
      <dgm:prSet presAssocID="{22A153BB-FA36-4F37-8BBB-CA3119AD86C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FB24590E-91B6-44CE-8696-7EE4D51C8B77}" type="presOf" srcId="{4737976D-A7E4-4C03-BEA8-9895D023ABDD}" destId="{7A68E320-2120-4867-81DD-6C492966CAEF}" srcOrd="0" destOrd="2" presId="urn:microsoft.com/office/officeart/2005/8/layout/vList2"/>
    <dgm:cxn modelId="{8643D262-FE56-491A-B855-84F757ABF80F}" type="presOf" srcId="{6699A303-5518-4A0D-AC07-9F908034043C}" destId="{7A68E320-2120-4867-81DD-6C492966CAEF}" srcOrd="0" destOrd="1" presId="urn:microsoft.com/office/officeart/2005/8/layout/vList2"/>
    <dgm:cxn modelId="{AA786068-E927-438E-9E41-47BCE9137358}" srcId="{6F0181D8-E8CF-4A26-971C-2F7DE60FFE05}" destId="{DF7DA9BC-B1C2-4300-9209-CF87D34105BF}" srcOrd="3" destOrd="0" parTransId="{0FD34171-049F-4513-8EDF-7BB1B121720B}" sibTransId="{D8933337-3A8C-4A5D-8DA1-4FE4BD123506}"/>
    <dgm:cxn modelId="{4D5A4749-9B52-41B8-B3DF-402B2CE15E36}" srcId="{90119837-5B71-4D44-BB01-DB0B084933C8}" destId="{22A153BB-FA36-4F37-8BBB-CA3119AD86C5}" srcOrd="1" destOrd="0" parTransId="{E7A4EAA8-255A-4659-94D7-2D9E180F12F7}" sibTransId="{7EFCA6AA-7672-4AB2-B270-CBCF19C9D2B3}"/>
    <dgm:cxn modelId="{63A2AB59-321B-44EF-9E21-BE2ED84869BB}" type="presOf" srcId="{7CDB95E0-3B5B-4EA4-9650-24171562766A}" destId="{7A68E320-2120-4867-81DD-6C492966CAEF}" srcOrd="0" destOrd="3" presId="urn:microsoft.com/office/officeart/2005/8/layout/vList2"/>
    <dgm:cxn modelId="{46FB6692-89A8-4BAF-A660-C9AAE0C15E3D}" type="presOf" srcId="{6F0181D8-E8CF-4A26-971C-2F7DE60FFE05}" destId="{B9058970-B9FC-44DC-9A14-BF5EF6D65515}" srcOrd="0" destOrd="0" presId="urn:microsoft.com/office/officeart/2005/8/layout/vList2"/>
    <dgm:cxn modelId="{83A9FA9D-82DA-49E2-94C2-DC8EB78E5AFA}" type="presOf" srcId="{22A153BB-FA36-4F37-8BBB-CA3119AD86C5}" destId="{0C37FE4E-3925-4A84-9FC8-EB9012FB888C}" srcOrd="0" destOrd="0" presId="urn:microsoft.com/office/officeart/2005/8/layout/vList2"/>
    <dgm:cxn modelId="{707CF7AF-E07A-469D-8887-1999559A41D1}" type="presOf" srcId="{DF7DA9BC-B1C2-4300-9209-CF87D34105BF}" destId="{7A68E320-2120-4867-81DD-6C492966CAEF}" srcOrd="0" destOrd="4" presId="urn:microsoft.com/office/officeart/2005/8/layout/vList2"/>
    <dgm:cxn modelId="{F42A9BC4-0C76-4AF6-9B89-26563A69FA95}" type="presOf" srcId="{32A64A52-3D6C-44B7-B7E7-ED745980ACB5}" destId="{8229E0FD-6F7F-45E8-96A0-B1A8718E05F7}" srcOrd="0" destOrd="0" presId="urn:microsoft.com/office/officeart/2005/8/layout/vList2"/>
    <dgm:cxn modelId="{FA4697CA-7037-43B1-81F4-2FBC2624D1DD}" srcId="{6F0181D8-E8CF-4A26-971C-2F7DE60FFE05}" destId="{6699A303-5518-4A0D-AC07-9F908034043C}" srcOrd="1" destOrd="0" parTransId="{B01612C0-F8DC-4E26-A9FE-19E4B17879C5}" sibTransId="{2A03ADCB-2DDC-4EB9-BC8A-ACF15E8C0F82}"/>
    <dgm:cxn modelId="{4B466CCC-5C19-4928-B66E-8377B737C08D}" type="presOf" srcId="{9771D9B9-6E8B-4FE1-9C7C-8128E95A92C3}" destId="{7A68E320-2120-4867-81DD-6C492966CAEF}" srcOrd="0" destOrd="0" presId="urn:microsoft.com/office/officeart/2005/8/layout/vList2"/>
    <dgm:cxn modelId="{D5DEAECD-1F66-4B9A-9537-AC070F4D4009}" srcId="{6F0181D8-E8CF-4A26-971C-2F7DE60FFE05}" destId="{7CDB95E0-3B5B-4EA4-9650-24171562766A}" srcOrd="2" destOrd="0" parTransId="{796E30B8-6BB7-4E5A-9878-12ADF618BB92}" sibTransId="{09712142-9509-41A8-A526-FD5ED306A946}"/>
    <dgm:cxn modelId="{5639D7CF-18D8-4FF7-A8F0-75B0BDCE67AB}" srcId="{6699A303-5518-4A0D-AC07-9F908034043C}" destId="{4737976D-A7E4-4C03-BEA8-9895D023ABDD}" srcOrd="0" destOrd="0" parTransId="{CD4575F3-7356-4568-B72F-76640BC9B6B0}" sibTransId="{345EB097-AB4B-4524-A9A1-7A734D3FFCFE}"/>
    <dgm:cxn modelId="{AC4099DE-1EA8-4596-BA45-C86567AC42CC}" srcId="{22A153BB-FA36-4F37-8BBB-CA3119AD86C5}" destId="{32A64A52-3D6C-44B7-B7E7-ED745980ACB5}" srcOrd="0" destOrd="0" parTransId="{BEA869BE-A11C-4DB2-BDB8-DCDAB656516D}" sibTransId="{46FB437A-9034-4435-B007-DFFA9CB1A5CF}"/>
    <dgm:cxn modelId="{2ADAF1E8-B9EA-4F55-A87E-D07FAE8029EE}" srcId="{6F0181D8-E8CF-4A26-971C-2F7DE60FFE05}" destId="{9771D9B9-6E8B-4FE1-9C7C-8128E95A92C3}" srcOrd="0" destOrd="0" parTransId="{C0025B0F-2EBA-49F2-9EBD-771C6473328B}" sibTransId="{6E6F27A6-B8D5-4DF2-B1CE-4DF56155FF5F}"/>
    <dgm:cxn modelId="{99805FFB-B80D-4692-B812-820D0BE1F5DF}" type="presOf" srcId="{90119837-5B71-4D44-BB01-DB0B084933C8}" destId="{ED5DCCC5-BCA8-4491-AA37-BAF153ECA184}" srcOrd="0" destOrd="0" presId="urn:microsoft.com/office/officeart/2005/8/layout/vList2"/>
    <dgm:cxn modelId="{564EBFFE-75A8-40AC-B4F4-4957E3CF7864}" srcId="{90119837-5B71-4D44-BB01-DB0B084933C8}" destId="{6F0181D8-E8CF-4A26-971C-2F7DE60FFE05}" srcOrd="0" destOrd="0" parTransId="{DDE5D2C5-3FD5-4452-80B1-EF797A3B2B9C}" sibTransId="{6B49D688-C2E5-410E-B1EE-48FA532589F8}"/>
    <dgm:cxn modelId="{E25D9142-F844-48A7-8197-78189D012C28}" type="presParOf" srcId="{ED5DCCC5-BCA8-4491-AA37-BAF153ECA184}" destId="{B9058970-B9FC-44DC-9A14-BF5EF6D65515}" srcOrd="0" destOrd="0" presId="urn:microsoft.com/office/officeart/2005/8/layout/vList2"/>
    <dgm:cxn modelId="{095C9925-1F92-42EA-8FBC-4D3B6096CF5E}" type="presParOf" srcId="{ED5DCCC5-BCA8-4491-AA37-BAF153ECA184}" destId="{7A68E320-2120-4867-81DD-6C492966CAEF}" srcOrd="1" destOrd="0" presId="urn:microsoft.com/office/officeart/2005/8/layout/vList2"/>
    <dgm:cxn modelId="{DEA0BAA1-AAAC-40BA-BC1D-BE597D273FC7}" type="presParOf" srcId="{ED5DCCC5-BCA8-4491-AA37-BAF153ECA184}" destId="{0C37FE4E-3925-4A84-9FC8-EB9012FB888C}" srcOrd="2" destOrd="0" presId="urn:microsoft.com/office/officeart/2005/8/layout/vList2"/>
    <dgm:cxn modelId="{1EA239D0-1F9C-4929-9A6F-7491C10474D9}" type="presParOf" srcId="{ED5DCCC5-BCA8-4491-AA37-BAF153ECA184}" destId="{8229E0FD-6F7F-45E8-96A0-B1A8718E05F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0181D8-E8CF-4A26-971C-2F7DE60FFE05}">
      <dgm:prSet/>
      <dgm:spPr/>
      <dgm:t>
        <a:bodyPr/>
        <a:lstStyle/>
        <a:p>
          <a:r>
            <a:rPr lang="en-US" altLang="en-US" b="1" u="none" dirty="0">
              <a:solidFill>
                <a:srgbClr val="FFFF00"/>
              </a:solidFill>
            </a:rPr>
            <a:t>Global</a:t>
          </a:r>
          <a:r>
            <a:rPr lang="en-US" altLang="en-US" u="none" dirty="0"/>
            <a:t> variable</a:t>
          </a:r>
          <a:endParaRPr lang="en-US" u="none" dirty="0"/>
        </a:p>
      </dgm:t>
    </dgm:pt>
    <dgm:pt modelId="{DDE5D2C5-3FD5-4452-80B1-EF797A3B2B9C}" type="parTrans" cxnId="{564EBFFE-75A8-40AC-B4F4-4957E3CF7864}">
      <dgm:prSet/>
      <dgm:spPr/>
      <dgm:t>
        <a:bodyPr/>
        <a:lstStyle/>
        <a:p>
          <a:endParaRPr lang="en-US"/>
        </a:p>
      </dgm:t>
    </dgm:pt>
    <dgm:pt modelId="{6B49D688-C2E5-410E-B1EE-48FA532589F8}" type="sibTrans" cxnId="{564EBFFE-75A8-40AC-B4F4-4957E3CF7864}">
      <dgm:prSet/>
      <dgm:spPr/>
      <dgm:t>
        <a:bodyPr/>
        <a:lstStyle/>
        <a:p>
          <a:endParaRPr lang="en-US"/>
        </a:p>
      </dgm:t>
    </dgm:pt>
    <dgm:pt modelId="{E9C21ED8-9580-45DC-BDF8-45C33FC9EAD7}">
      <dgm:prSet/>
      <dgm:spPr/>
      <dgm:t>
        <a:bodyPr/>
        <a:lstStyle/>
        <a:p>
          <a:r>
            <a:rPr lang="en-US" altLang="en-US" dirty="0"/>
            <a:t>Can be accessed by any statement in the program file, including from within a function</a:t>
          </a:r>
        </a:p>
      </dgm:t>
    </dgm:pt>
    <dgm:pt modelId="{FAE09BFE-56E0-40B1-BCF6-6EE3D2B5A554}" type="parTrans" cxnId="{10111295-7347-4F7E-A408-A4D028BCAD52}">
      <dgm:prSet/>
      <dgm:spPr/>
      <dgm:t>
        <a:bodyPr/>
        <a:lstStyle/>
        <a:p>
          <a:endParaRPr lang="en-US"/>
        </a:p>
      </dgm:t>
    </dgm:pt>
    <dgm:pt modelId="{233E4B5A-DF8C-4BEA-8554-46145780C4AB}" type="sibTrans" cxnId="{10111295-7347-4F7E-A408-A4D028BCAD52}">
      <dgm:prSet/>
      <dgm:spPr/>
      <dgm:t>
        <a:bodyPr/>
        <a:lstStyle/>
        <a:p>
          <a:endParaRPr lang="en-US"/>
        </a:p>
      </dgm:t>
    </dgm:pt>
    <dgm:pt modelId="{EB37D6BB-AF77-4C5E-A2AE-7A97092F7352}">
      <dgm:prSet/>
      <dgm:spPr/>
      <dgm:t>
        <a:bodyPr/>
        <a:lstStyle/>
        <a:p>
          <a:r>
            <a:rPr lang="en-US" altLang="en-US" dirty="0"/>
            <a:t>If a function needs to assign a value to the global variable, the global variable must be re-declared within the function</a:t>
          </a:r>
        </a:p>
      </dgm:t>
    </dgm:pt>
    <dgm:pt modelId="{3E092939-E3DE-4D6E-BA62-2071E41FDCC1}" type="parTrans" cxnId="{14F6F401-E44F-4672-9110-CCFCD14F22C0}">
      <dgm:prSet/>
      <dgm:spPr/>
      <dgm:t>
        <a:bodyPr/>
        <a:lstStyle/>
        <a:p>
          <a:endParaRPr lang="en-US"/>
        </a:p>
      </dgm:t>
    </dgm:pt>
    <dgm:pt modelId="{D7D65A5B-9ED4-4296-B58C-4234174C3B66}" type="sibTrans" cxnId="{14F6F401-E44F-4672-9110-CCFCD14F22C0}">
      <dgm:prSet/>
      <dgm:spPr/>
      <dgm:t>
        <a:bodyPr/>
        <a:lstStyle/>
        <a:p>
          <a:endParaRPr lang="en-US"/>
        </a:p>
      </dgm:t>
    </dgm:pt>
    <dgm:pt modelId="{B63B88EE-C8D3-412F-93CE-C305460D0C39}">
      <dgm:prSet/>
      <dgm:spPr/>
      <dgm:t>
        <a:bodyPr/>
        <a:lstStyle/>
        <a:p>
          <a:r>
            <a:rPr lang="en-US" altLang="en-US" dirty="0"/>
            <a:t>General format: </a:t>
          </a:r>
          <a:r>
            <a:rPr lang="en-US" altLang="en-US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rPr>
            <a:t>global </a:t>
          </a:r>
          <a:r>
            <a:rPr lang="en-US" altLang="en-US" b="1" i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rPr>
            <a:t>variable_name</a:t>
          </a:r>
          <a:endParaRPr lang="he-IL" altLang="en-US" b="1" i="1" dirty="0">
            <a:solidFill>
              <a:srgbClr val="FFFF00"/>
            </a:solidFill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0F6CAF51-3FB7-4FE6-9D92-FD7FFEA3131F}" type="parTrans" cxnId="{015C1015-0335-404B-84BA-C1D52DE67CAA}">
      <dgm:prSet/>
      <dgm:spPr/>
      <dgm:t>
        <a:bodyPr/>
        <a:lstStyle/>
        <a:p>
          <a:endParaRPr lang="en-US"/>
        </a:p>
      </dgm:t>
    </dgm:pt>
    <dgm:pt modelId="{15C65961-60AF-4ED7-A80D-CA6AA3CC4522}" type="sibTrans" cxnId="{015C1015-0335-404B-84BA-C1D52DE67CAA}">
      <dgm:prSet/>
      <dgm:spPr/>
      <dgm:t>
        <a:bodyPr/>
        <a:lstStyle/>
        <a:p>
          <a:endParaRPr lang="en-US"/>
        </a:p>
      </dgm:t>
    </dgm:pt>
    <dgm:pt modelId="{185CB9FE-A627-43B5-BCBF-987FF26EC37B}">
      <dgm:prSet/>
      <dgm:spPr/>
      <dgm:t>
        <a:bodyPr/>
        <a:lstStyle/>
        <a:p>
          <a:r>
            <a:rPr lang="en-US" altLang="en-US" dirty="0"/>
            <a:t>Created by assignment statement written outside all the functions</a:t>
          </a:r>
          <a:endParaRPr lang="en-US" u="none" dirty="0"/>
        </a:p>
      </dgm:t>
    </dgm:pt>
    <dgm:pt modelId="{E63FBE51-AEAB-428B-9EA9-001C03BE8895}" type="parTrans" cxnId="{EECA62CC-4504-4E2D-A173-7E22DD782D4B}">
      <dgm:prSet/>
      <dgm:spPr/>
      <dgm:t>
        <a:bodyPr/>
        <a:lstStyle/>
        <a:p>
          <a:endParaRPr lang="en-US"/>
        </a:p>
      </dgm:t>
    </dgm:pt>
    <dgm:pt modelId="{130EC08E-E77E-4CF5-AE88-F4F02DC05A36}" type="sibTrans" cxnId="{EECA62CC-4504-4E2D-A173-7E22DD782D4B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B9058970-B9FC-44DC-9A14-BF5EF6D65515}" type="pres">
      <dgm:prSet presAssocID="{6F0181D8-E8CF-4A26-971C-2F7DE60FFE0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7A68E320-2120-4867-81DD-6C492966CAEF}" type="pres">
      <dgm:prSet presAssocID="{6F0181D8-E8CF-4A26-971C-2F7DE60FFE0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4233601-BDEE-4940-903F-A3A4550FB844}" type="presOf" srcId="{185CB9FE-A627-43B5-BCBF-987FF26EC37B}" destId="{7A68E320-2120-4867-81DD-6C492966CAEF}" srcOrd="0" destOrd="0" presId="urn:microsoft.com/office/officeart/2005/8/layout/vList2"/>
    <dgm:cxn modelId="{14F6F401-E44F-4672-9110-CCFCD14F22C0}" srcId="{6F0181D8-E8CF-4A26-971C-2F7DE60FFE05}" destId="{EB37D6BB-AF77-4C5E-A2AE-7A97092F7352}" srcOrd="2" destOrd="0" parTransId="{3E092939-E3DE-4D6E-BA62-2071E41FDCC1}" sibTransId="{D7D65A5B-9ED4-4296-B58C-4234174C3B66}"/>
    <dgm:cxn modelId="{015C1015-0335-404B-84BA-C1D52DE67CAA}" srcId="{EB37D6BB-AF77-4C5E-A2AE-7A97092F7352}" destId="{B63B88EE-C8D3-412F-93CE-C305460D0C39}" srcOrd="0" destOrd="0" parTransId="{0F6CAF51-3FB7-4FE6-9D92-FD7FFEA3131F}" sibTransId="{15C65961-60AF-4ED7-A80D-CA6AA3CC4522}"/>
    <dgm:cxn modelId="{819ED673-A48C-494D-BDF2-D945B2C13185}" type="presOf" srcId="{E9C21ED8-9580-45DC-BDF8-45C33FC9EAD7}" destId="{7A68E320-2120-4867-81DD-6C492966CAEF}" srcOrd="0" destOrd="1" presId="urn:microsoft.com/office/officeart/2005/8/layout/vList2"/>
    <dgm:cxn modelId="{F1D73B59-35F1-45C9-9E54-A69437B38446}" type="presOf" srcId="{EB37D6BB-AF77-4C5E-A2AE-7A97092F7352}" destId="{7A68E320-2120-4867-81DD-6C492966CAEF}" srcOrd="0" destOrd="2" presId="urn:microsoft.com/office/officeart/2005/8/layout/vList2"/>
    <dgm:cxn modelId="{10111295-7347-4F7E-A408-A4D028BCAD52}" srcId="{6F0181D8-E8CF-4A26-971C-2F7DE60FFE05}" destId="{E9C21ED8-9580-45DC-BDF8-45C33FC9EAD7}" srcOrd="1" destOrd="0" parTransId="{FAE09BFE-56E0-40B1-BCF6-6EE3D2B5A554}" sibTransId="{233E4B5A-DF8C-4BEA-8554-46145780C4AB}"/>
    <dgm:cxn modelId="{3C9561B3-062D-44A6-BE5B-1031A6121DA8}" type="presOf" srcId="{6F0181D8-E8CF-4A26-971C-2F7DE60FFE05}" destId="{B9058970-B9FC-44DC-9A14-BF5EF6D65515}" srcOrd="0" destOrd="0" presId="urn:microsoft.com/office/officeart/2005/8/layout/vList2"/>
    <dgm:cxn modelId="{EECA62CC-4504-4E2D-A173-7E22DD782D4B}" srcId="{6F0181D8-E8CF-4A26-971C-2F7DE60FFE05}" destId="{185CB9FE-A627-43B5-BCBF-987FF26EC37B}" srcOrd="0" destOrd="0" parTransId="{E63FBE51-AEAB-428B-9EA9-001C03BE8895}" sibTransId="{130EC08E-E77E-4CF5-AE88-F4F02DC05A36}"/>
    <dgm:cxn modelId="{5CE1D7DF-2268-473D-A445-DF28B240EFD3}" type="presOf" srcId="{B63B88EE-C8D3-412F-93CE-C305460D0C39}" destId="{7A68E320-2120-4867-81DD-6C492966CAEF}" srcOrd="0" destOrd="3" presId="urn:microsoft.com/office/officeart/2005/8/layout/vList2"/>
    <dgm:cxn modelId="{D56363FE-2856-452E-A374-8D331255D978}" type="presOf" srcId="{90119837-5B71-4D44-BB01-DB0B084933C8}" destId="{ED5DCCC5-BCA8-4491-AA37-BAF153ECA184}" srcOrd="0" destOrd="0" presId="urn:microsoft.com/office/officeart/2005/8/layout/vList2"/>
    <dgm:cxn modelId="{564EBFFE-75A8-40AC-B4F4-4957E3CF7864}" srcId="{90119837-5B71-4D44-BB01-DB0B084933C8}" destId="{6F0181D8-E8CF-4A26-971C-2F7DE60FFE05}" srcOrd="0" destOrd="0" parTransId="{DDE5D2C5-3FD5-4452-80B1-EF797A3B2B9C}" sibTransId="{6B49D688-C2E5-410E-B1EE-48FA532589F8}"/>
    <dgm:cxn modelId="{C7062CC4-7CC0-4A38-B9A7-F96FB294EDB3}" type="presParOf" srcId="{ED5DCCC5-BCA8-4491-AA37-BAF153ECA184}" destId="{B9058970-B9FC-44DC-9A14-BF5EF6D65515}" srcOrd="0" destOrd="0" presId="urn:microsoft.com/office/officeart/2005/8/layout/vList2"/>
    <dgm:cxn modelId="{8AE97D26-E5E9-4392-AD05-BD535D0DB556}" type="presParOf" srcId="{ED5DCCC5-BCA8-4491-AA37-BAF153ECA184}" destId="{7A68E320-2120-4867-81DD-6C492966CAE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0181D8-E8CF-4A26-971C-2F7DE60FFE05}">
      <dgm:prSet/>
      <dgm:spPr/>
      <dgm:t>
        <a:bodyPr/>
        <a:lstStyle/>
        <a:p>
          <a:r>
            <a:rPr lang="en-US" dirty="0"/>
            <a:t>Avoid using global variables</a:t>
          </a:r>
          <a:endParaRPr lang="en-US" u="none" dirty="0"/>
        </a:p>
      </dgm:t>
    </dgm:pt>
    <dgm:pt modelId="{DDE5D2C5-3FD5-4452-80B1-EF797A3B2B9C}" type="parTrans" cxnId="{564EBFFE-75A8-40AC-B4F4-4957E3CF7864}">
      <dgm:prSet/>
      <dgm:spPr/>
      <dgm:t>
        <a:bodyPr/>
        <a:lstStyle/>
        <a:p>
          <a:endParaRPr lang="en-US"/>
        </a:p>
      </dgm:t>
    </dgm:pt>
    <dgm:pt modelId="{6B49D688-C2E5-410E-B1EE-48FA532589F8}" type="sibTrans" cxnId="{564EBFFE-75A8-40AC-B4F4-4957E3CF7864}">
      <dgm:prSet/>
      <dgm:spPr/>
      <dgm:t>
        <a:bodyPr/>
        <a:lstStyle/>
        <a:p>
          <a:endParaRPr lang="en-US"/>
        </a:p>
      </dgm:t>
    </dgm:pt>
    <dgm:pt modelId="{902D1222-CEDD-4B0F-99D4-DE3037D5A878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Global variables making debugging difficult</a:t>
          </a:r>
        </a:p>
      </dgm:t>
    </dgm:pt>
    <dgm:pt modelId="{CEF28497-2D8D-43D5-A2CA-874376A369C2}" type="parTrans" cxnId="{DE57AD10-8EB8-4A9B-9EB3-0C77B79F6469}">
      <dgm:prSet/>
      <dgm:spPr/>
      <dgm:t>
        <a:bodyPr/>
        <a:lstStyle/>
        <a:p>
          <a:endParaRPr lang="en-US"/>
        </a:p>
      </dgm:t>
    </dgm:pt>
    <dgm:pt modelId="{B17DC14E-6D78-4A0A-8F0C-B54ECFBD7BEA}" type="sibTrans" cxnId="{DE57AD10-8EB8-4A9B-9EB3-0C77B79F6469}">
      <dgm:prSet/>
      <dgm:spPr/>
      <dgm:t>
        <a:bodyPr/>
        <a:lstStyle/>
        <a:p>
          <a:endParaRPr lang="en-US"/>
        </a:p>
      </dgm:t>
    </dgm:pt>
    <dgm:pt modelId="{574BDFF4-88CD-4ADD-9A84-D4FFAE02F496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Many locations in the code could be causing a wrong variable value</a:t>
          </a:r>
        </a:p>
      </dgm:t>
    </dgm:pt>
    <dgm:pt modelId="{A0A9B9FE-18DB-4626-97E8-DED73A27B10D}" type="parTrans" cxnId="{5520ADBB-CF11-4B87-9516-5E639DFFC3F8}">
      <dgm:prSet/>
      <dgm:spPr/>
      <dgm:t>
        <a:bodyPr/>
        <a:lstStyle/>
        <a:p>
          <a:endParaRPr lang="en-US"/>
        </a:p>
      </dgm:t>
    </dgm:pt>
    <dgm:pt modelId="{A9032EFE-01AB-4940-8646-7AF054BB74DE}" type="sibTrans" cxnId="{5520ADBB-CF11-4B87-9516-5E639DFFC3F8}">
      <dgm:prSet/>
      <dgm:spPr/>
      <dgm:t>
        <a:bodyPr/>
        <a:lstStyle/>
        <a:p>
          <a:endParaRPr lang="en-US"/>
        </a:p>
      </dgm:t>
    </dgm:pt>
    <dgm:pt modelId="{343468EE-991B-48C1-827A-2A828668EB98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Functions that use global variables are usually dependent on those variables</a:t>
          </a:r>
        </a:p>
      </dgm:t>
    </dgm:pt>
    <dgm:pt modelId="{AD3F4F76-6DC1-4FD3-8B23-FB7D29CF622D}" type="parTrans" cxnId="{19B855CD-CC12-4DA5-9A4A-55096CD9B63F}">
      <dgm:prSet/>
      <dgm:spPr/>
      <dgm:t>
        <a:bodyPr/>
        <a:lstStyle/>
        <a:p>
          <a:endParaRPr lang="en-US"/>
        </a:p>
      </dgm:t>
    </dgm:pt>
    <dgm:pt modelId="{493848BA-309E-4F93-9F77-97CC74AD23D5}" type="sibTrans" cxnId="{19B855CD-CC12-4DA5-9A4A-55096CD9B63F}">
      <dgm:prSet/>
      <dgm:spPr/>
      <dgm:t>
        <a:bodyPr/>
        <a:lstStyle/>
        <a:p>
          <a:endParaRPr lang="en-US"/>
        </a:p>
      </dgm:t>
    </dgm:pt>
    <dgm:pt modelId="{81636E7A-9550-4BF5-B1B8-F7CFB05312C3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Makes function hard to transfer to another program</a:t>
          </a:r>
        </a:p>
      </dgm:t>
    </dgm:pt>
    <dgm:pt modelId="{49EC9B26-3E88-43FB-8C8F-932AFF0EC973}" type="parTrans" cxnId="{3A211C66-81D1-4316-B021-925389AEB347}">
      <dgm:prSet/>
      <dgm:spPr/>
      <dgm:t>
        <a:bodyPr/>
        <a:lstStyle/>
        <a:p>
          <a:endParaRPr lang="en-US"/>
        </a:p>
      </dgm:t>
    </dgm:pt>
    <dgm:pt modelId="{F4068E61-256A-4605-96C7-3706C09B3EAA}" type="sibTrans" cxnId="{3A211C66-81D1-4316-B021-925389AEB347}">
      <dgm:prSet/>
      <dgm:spPr/>
      <dgm:t>
        <a:bodyPr/>
        <a:lstStyle/>
        <a:p>
          <a:endParaRPr lang="en-US"/>
        </a:p>
      </dgm:t>
    </dgm:pt>
    <dgm:pt modelId="{CF7E67E7-09E7-4342-B5CB-62648D5EB711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Global variables make a program hard to understand</a:t>
          </a:r>
        </a:p>
      </dgm:t>
    </dgm:pt>
    <dgm:pt modelId="{A613F459-3CCC-4358-984A-7F1F63F676C1}" type="parTrans" cxnId="{82062BC7-634C-4FF2-B80B-5EF302305CE6}">
      <dgm:prSet/>
      <dgm:spPr/>
      <dgm:t>
        <a:bodyPr/>
        <a:lstStyle/>
        <a:p>
          <a:endParaRPr lang="en-US"/>
        </a:p>
      </dgm:t>
    </dgm:pt>
    <dgm:pt modelId="{2355023A-3EAA-4842-A549-DE272E9CBAA2}" type="sibTrans" cxnId="{82062BC7-634C-4FF2-B80B-5EF302305CE6}">
      <dgm:prSet/>
      <dgm:spPr/>
      <dgm:t>
        <a:bodyPr/>
        <a:lstStyle/>
        <a:p>
          <a:endParaRPr lang="en-US"/>
        </a:p>
      </dgm:t>
    </dgm:pt>
    <dgm:pt modelId="{CC867FB1-9557-4E9F-9158-B0204C233A9D}">
      <dgm:prSet/>
      <dgm:spPr/>
      <dgm:t>
        <a:bodyPr/>
        <a:lstStyle/>
        <a:p>
          <a:endParaRPr lang="en-US" dirty="0">
            <a:latin typeface="+mj-lt"/>
            <a:cs typeface="Courier New" pitchFamily="49" charset="0"/>
          </a:endParaRPr>
        </a:p>
      </dgm:t>
    </dgm:pt>
    <dgm:pt modelId="{047EA412-3F5A-46D0-85FC-9D51C94E2C65}" type="parTrans" cxnId="{A0E53ECA-46D7-4D6C-B774-30BE5EB54871}">
      <dgm:prSet/>
      <dgm:spPr/>
      <dgm:t>
        <a:bodyPr/>
        <a:lstStyle/>
        <a:p>
          <a:endParaRPr lang="en-US"/>
        </a:p>
      </dgm:t>
    </dgm:pt>
    <dgm:pt modelId="{B6E843EF-8CE8-4E11-A2A4-24525EAFE5CF}" type="sibTrans" cxnId="{A0E53ECA-46D7-4D6C-B774-30BE5EB54871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B9058970-B9FC-44DC-9A14-BF5EF6D65515}" type="pres">
      <dgm:prSet presAssocID="{6F0181D8-E8CF-4A26-971C-2F7DE60FFE0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7A68E320-2120-4867-81DD-6C492966CAEF}" type="pres">
      <dgm:prSet presAssocID="{6F0181D8-E8CF-4A26-971C-2F7DE60FFE0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E57AD10-8EB8-4A9B-9EB3-0C77B79F6469}" srcId="{6F0181D8-E8CF-4A26-971C-2F7DE60FFE05}" destId="{902D1222-CEDD-4B0F-99D4-DE3037D5A878}" srcOrd="0" destOrd="0" parTransId="{CEF28497-2D8D-43D5-A2CA-874376A369C2}" sibTransId="{B17DC14E-6D78-4A0A-8F0C-B54ECFBD7BEA}"/>
    <dgm:cxn modelId="{D1DEC710-1EE2-4BDE-AF51-440634178830}" type="presOf" srcId="{343468EE-991B-48C1-827A-2A828668EB98}" destId="{7A68E320-2120-4867-81DD-6C492966CAEF}" srcOrd="0" destOrd="2" presId="urn:microsoft.com/office/officeart/2005/8/layout/vList2"/>
    <dgm:cxn modelId="{A674AD3A-39D9-4607-80AB-5D9DDD23C338}" type="presOf" srcId="{CC867FB1-9557-4E9F-9158-B0204C233A9D}" destId="{7A68E320-2120-4867-81DD-6C492966CAEF}" srcOrd="0" destOrd="5" presId="urn:microsoft.com/office/officeart/2005/8/layout/vList2"/>
    <dgm:cxn modelId="{40BDC33F-AA87-41DE-B2F4-EB1620806A07}" type="presOf" srcId="{574BDFF4-88CD-4ADD-9A84-D4FFAE02F496}" destId="{7A68E320-2120-4867-81DD-6C492966CAEF}" srcOrd="0" destOrd="1" presId="urn:microsoft.com/office/officeart/2005/8/layout/vList2"/>
    <dgm:cxn modelId="{3A211C66-81D1-4316-B021-925389AEB347}" srcId="{343468EE-991B-48C1-827A-2A828668EB98}" destId="{81636E7A-9550-4BF5-B1B8-F7CFB05312C3}" srcOrd="0" destOrd="0" parTransId="{49EC9B26-3E88-43FB-8C8F-932AFF0EC973}" sibTransId="{F4068E61-256A-4605-96C7-3706C09B3EAA}"/>
    <dgm:cxn modelId="{A1A26F99-3BC1-4192-BC5E-6DEB0246310D}" type="presOf" srcId="{CF7E67E7-09E7-4342-B5CB-62648D5EB711}" destId="{7A68E320-2120-4867-81DD-6C492966CAEF}" srcOrd="0" destOrd="4" presId="urn:microsoft.com/office/officeart/2005/8/layout/vList2"/>
    <dgm:cxn modelId="{A032E49B-8256-4C2E-A6F1-24421304A009}" type="presOf" srcId="{90119837-5B71-4D44-BB01-DB0B084933C8}" destId="{ED5DCCC5-BCA8-4491-AA37-BAF153ECA184}" srcOrd="0" destOrd="0" presId="urn:microsoft.com/office/officeart/2005/8/layout/vList2"/>
    <dgm:cxn modelId="{EFC822AC-AA57-4076-B017-70183FCF5D2E}" type="presOf" srcId="{81636E7A-9550-4BF5-B1B8-F7CFB05312C3}" destId="{7A68E320-2120-4867-81DD-6C492966CAEF}" srcOrd="0" destOrd="3" presId="urn:microsoft.com/office/officeart/2005/8/layout/vList2"/>
    <dgm:cxn modelId="{1B08F6B3-97CE-43BE-AF5F-271654391C62}" type="presOf" srcId="{6F0181D8-E8CF-4A26-971C-2F7DE60FFE05}" destId="{B9058970-B9FC-44DC-9A14-BF5EF6D65515}" srcOrd="0" destOrd="0" presId="urn:microsoft.com/office/officeart/2005/8/layout/vList2"/>
    <dgm:cxn modelId="{5520ADBB-CF11-4B87-9516-5E639DFFC3F8}" srcId="{902D1222-CEDD-4B0F-99D4-DE3037D5A878}" destId="{574BDFF4-88CD-4ADD-9A84-D4FFAE02F496}" srcOrd="0" destOrd="0" parTransId="{A0A9B9FE-18DB-4626-97E8-DED73A27B10D}" sibTransId="{A9032EFE-01AB-4940-8646-7AF054BB74DE}"/>
    <dgm:cxn modelId="{82062BC7-634C-4FF2-B80B-5EF302305CE6}" srcId="{6F0181D8-E8CF-4A26-971C-2F7DE60FFE05}" destId="{CF7E67E7-09E7-4342-B5CB-62648D5EB711}" srcOrd="2" destOrd="0" parTransId="{A613F459-3CCC-4358-984A-7F1F63F676C1}" sibTransId="{2355023A-3EAA-4842-A549-DE272E9CBAA2}"/>
    <dgm:cxn modelId="{A0E53ECA-46D7-4D6C-B774-30BE5EB54871}" srcId="{6F0181D8-E8CF-4A26-971C-2F7DE60FFE05}" destId="{CC867FB1-9557-4E9F-9158-B0204C233A9D}" srcOrd="3" destOrd="0" parTransId="{047EA412-3F5A-46D0-85FC-9D51C94E2C65}" sibTransId="{B6E843EF-8CE8-4E11-A2A4-24525EAFE5CF}"/>
    <dgm:cxn modelId="{19B855CD-CC12-4DA5-9A4A-55096CD9B63F}" srcId="{6F0181D8-E8CF-4A26-971C-2F7DE60FFE05}" destId="{343468EE-991B-48C1-827A-2A828668EB98}" srcOrd="1" destOrd="0" parTransId="{AD3F4F76-6DC1-4FD3-8B23-FB7D29CF622D}" sibTransId="{493848BA-309E-4F93-9F77-97CC74AD23D5}"/>
    <dgm:cxn modelId="{9364A8FB-2FFE-4D1C-85A6-0F598F699C49}" type="presOf" srcId="{902D1222-CEDD-4B0F-99D4-DE3037D5A878}" destId="{7A68E320-2120-4867-81DD-6C492966CAEF}" srcOrd="0" destOrd="0" presId="urn:microsoft.com/office/officeart/2005/8/layout/vList2"/>
    <dgm:cxn modelId="{564EBFFE-75A8-40AC-B4F4-4957E3CF7864}" srcId="{90119837-5B71-4D44-BB01-DB0B084933C8}" destId="{6F0181D8-E8CF-4A26-971C-2F7DE60FFE05}" srcOrd="0" destOrd="0" parTransId="{DDE5D2C5-3FD5-4452-80B1-EF797A3B2B9C}" sibTransId="{6B49D688-C2E5-410E-B1EE-48FA532589F8}"/>
    <dgm:cxn modelId="{08792727-F3C2-4C89-9FB7-679397EBA5B4}" type="presParOf" srcId="{ED5DCCC5-BCA8-4491-AA37-BAF153ECA184}" destId="{B9058970-B9FC-44DC-9A14-BF5EF6D65515}" srcOrd="0" destOrd="0" presId="urn:microsoft.com/office/officeart/2005/8/layout/vList2"/>
    <dgm:cxn modelId="{CACCD800-FF4E-47BA-B65C-8F856B9BCF9F}" type="presParOf" srcId="{ED5DCCC5-BCA8-4491-AA37-BAF153ECA184}" destId="{7A68E320-2120-4867-81DD-6C492966CAE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0181D8-E8CF-4A26-971C-2F7DE60FFE05}">
      <dgm:prSet/>
      <dgm:spPr/>
      <dgm:t>
        <a:bodyPr/>
        <a:lstStyle/>
        <a:p>
          <a:r>
            <a:rPr lang="en-US" u="none" dirty="0">
              <a:latin typeface="+mj-lt"/>
              <a:cs typeface="Courier New" pitchFamily="49" charset="0"/>
            </a:rPr>
            <a:t>Global constant</a:t>
          </a:r>
          <a:endParaRPr lang="en-US" u="none" dirty="0"/>
        </a:p>
      </dgm:t>
    </dgm:pt>
    <dgm:pt modelId="{DDE5D2C5-3FD5-4452-80B1-EF797A3B2B9C}" type="parTrans" cxnId="{564EBFFE-75A8-40AC-B4F4-4957E3CF7864}">
      <dgm:prSet/>
      <dgm:spPr/>
      <dgm:t>
        <a:bodyPr/>
        <a:lstStyle/>
        <a:p>
          <a:endParaRPr lang="en-US"/>
        </a:p>
      </dgm:t>
    </dgm:pt>
    <dgm:pt modelId="{6B49D688-C2E5-410E-B1EE-48FA532589F8}" type="sibTrans" cxnId="{564EBFFE-75A8-40AC-B4F4-4957E3CF7864}">
      <dgm:prSet/>
      <dgm:spPr/>
      <dgm:t>
        <a:bodyPr/>
        <a:lstStyle/>
        <a:p>
          <a:endParaRPr lang="en-US"/>
        </a:p>
      </dgm:t>
    </dgm:pt>
    <dgm:pt modelId="{FE336819-72FF-485D-90FE-6370E13854F5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Permissible to use global constants in a program </a:t>
          </a:r>
        </a:p>
      </dgm:t>
    </dgm:pt>
    <dgm:pt modelId="{B7A8244B-7625-45D7-A64C-D2C67B7FBC18}" type="parTrans" cxnId="{2CE92C3D-9A1B-4263-BD59-E787087A7ADD}">
      <dgm:prSet/>
      <dgm:spPr/>
      <dgm:t>
        <a:bodyPr/>
        <a:lstStyle/>
        <a:p>
          <a:endParaRPr lang="en-US"/>
        </a:p>
      </dgm:t>
    </dgm:pt>
    <dgm:pt modelId="{EA48B178-5CFD-4635-A51C-3CBDD16F9F22}" type="sibTrans" cxnId="{2CE92C3D-9A1B-4263-BD59-E787087A7ADD}">
      <dgm:prSet/>
      <dgm:spPr/>
      <dgm:t>
        <a:bodyPr/>
        <a:lstStyle/>
        <a:p>
          <a:endParaRPr lang="en-US"/>
        </a:p>
      </dgm:t>
    </dgm:pt>
    <dgm:pt modelId="{AA8323C1-6F15-44E3-BE0A-CAA3E90F2764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To simulate global constant in Python, create global variable and do not re-declare it within functions</a:t>
          </a:r>
          <a:endParaRPr lang="he-IL" dirty="0">
            <a:latin typeface="+mj-lt"/>
            <a:cs typeface="Courier New" pitchFamily="49" charset="0"/>
          </a:endParaRPr>
        </a:p>
      </dgm:t>
    </dgm:pt>
    <dgm:pt modelId="{E60C85FD-046C-47E5-84AF-05D53D905246}" type="parTrans" cxnId="{0D57DDAC-CD90-4B8C-9DEB-7B8CC7836420}">
      <dgm:prSet/>
      <dgm:spPr/>
      <dgm:t>
        <a:bodyPr/>
        <a:lstStyle/>
        <a:p>
          <a:endParaRPr lang="en-US"/>
        </a:p>
      </dgm:t>
    </dgm:pt>
    <dgm:pt modelId="{3C922227-D635-4C08-B096-E9D2FC698A33}" type="sibTrans" cxnId="{0D57DDAC-CD90-4B8C-9DEB-7B8CC7836420}">
      <dgm:prSet/>
      <dgm:spPr/>
      <dgm:t>
        <a:bodyPr/>
        <a:lstStyle/>
        <a:p>
          <a:endParaRPr lang="en-US"/>
        </a:p>
      </dgm:t>
    </dgm:pt>
    <dgm:pt modelId="{9F708BA1-D7BF-4152-8F5A-E490D05E7B5B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Global name that references a value that cannot be changed</a:t>
          </a:r>
          <a:endParaRPr lang="en-US" u="none" dirty="0"/>
        </a:p>
      </dgm:t>
    </dgm:pt>
    <dgm:pt modelId="{44E2C1C0-2C23-467E-AD8E-CDB77DF4ABE6}" type="parTrans" cxnId="{64159940-65A3-4D9B-A7F8-5D63EFAB78B7}">
      <dgm:prSet/>
      <dgm:spPr/>
      <dgm:t>
        <a:bodyPr/>
        <a:lstStyle/>
        <a:p>
          <a:endParaRPr lang="en-US"/>
        </a:p>
      </dgm:t>
    </dgm:pt>
    <dgm:pt modelId="{7E86177B-4DA2-4BAC-814C-FA561B4F5B83}" type="sibTrans" cxnId="{64159940-65A3-4D9B-A7F8-5D63EFAB78B7}">
      <dgm:prSet/>
      <dgm:spPr/>
      <dgm:t>
        <a:bodyPr/>
        <a:lstStyle/>
        <a:p>
          <a:endParaRPr lang="en-US"/>
        </a:p>
      </dgm:t>
    </dgm:pt>
    <dgm:pt modelId="{BE3B6898-2AF4-4722-9CA0-0A4CE42A4A24}">
      <dgm:prSet/>
      <dgm:spPr/>
      <dgm:t>
        <a:bodyPr/>
        <a:lstStyle/>
        <a:p>
          <a:endParaRPr lang="he-IL" dirty="0">
            <a:latin typeface="+mj-lt"/>
            <a:cs typeface="Courier New" pitchFamily="49" charset="0"/>
          </a:endParaRPr>
        </a:p>
      </dgm:t>
    </dgm:pt>
    <dgm:pt modelId="{70F02490-9952-401C-9466-6686F843D259}" type="parTrans" cxnId="{ED82C88D-3CC0-4BD2-8CD9-86A95292B6B4}">
      <dgm:prSet/>
      <dgm:spPr/>
      <dgm:t>
        <a:bodyPr/>
        <a:lstStyle/>
        <a:p>
          <a:endParaRPr lang="en-US"/>
        </a:p>
      </dgm:t>
    </dgm:pt>
    <dgm:pt modelId="{2B314714-B7EE-4649-BD2C-474D24CEF143}" type="sibTrans" cxnId="{ED82C88D-3CC0-4BD2-8CD9-86A95292B6B4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B9058970-B9FC-44DC-9A14-BF5EF6D65515}" type="pres">
      <dgm:prSet presAssocID="{6F0181D8-E8CF-4A26-971C-2F7DE60FFE0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7A68E320-2120-4867-81DD-6C492966CAEF}" type="pres">
      <dgm:prSet presAssocID="{6F0181D8-E8CF-4A26-971C-2F7DE60FFE0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65C0B1F-7AAF-4F87-AA40-AEB75C978F8C}" type="presOf" srcId="{BE3B6898-2AF4-4722-9CA0-0A4CE42A4A24}" destId="{7A68E320-2120-4867-81DD-6C492966CAEF}" srcOrd="0" destOrd="3" presId="urn:microsoft.com/office/officeart/2005/8/layout/vList2"/>
    <dgm:cxn modelId="{CF55CE38-760D-4798-8B8A-607ACFA59921}" type="presOf" srcId="{90119837-5B71-4D44-BB01-DB0B084933C8}" destId="{ED5DCCC5-BCA8-4491-AA37-BAF153ECA184}" srcOrd="0" destOrd="0" presId="urn:microsoft.com/office/officeart/2005/8/layout/vList2"/>
    <dgm:cxn modelId="{2CE92C3D-9A1B-4263-BD59-E787087A7ADD}" srcId="{6F0181D8-E8CF-4A26-971C-2F7DE60FFE05}" destId="{FE336819-72FF-485D-90FE-6370E13854F5}" srcOrd="1" destOrd="0" parTransId="{B7A8244B-7625-45D7-A64C-D2C67B7FBC18}" sibTransId="{EA48B178-5CFD-4635-A51C-3CBDD16F9F22}"/>
    <dgm:cxn modelId="{64159940-65A3-4D9B-A7F8-5D63EFAB78B7}" srcId="{6F0181D8-E8CF-4A26-971C-2F7DE60FFE05}" destId="{9F708BA1-D7BF-4152-8F5A-E490D05E7B5B}" srcOrd="0" destOrd="0" parTransId="{44E2C1C0-2C23-467E-AD8E-CDB77DF4ABE6}" sibTransId="{7E86177B-4DA2-4BAC-814C-FA561B4F5B83}"/>
    <dgm:cxn modelId="{F4FF8E6F-7EEE-4100-A4D8-EDC890E99C60}" type="presOf" srcId="{AA8323C1-6F15-44E3-BE0A-CAA3E90F2764}" destId="{7A68E320-2120-4867-81DD-6C492966CAEF}" srcOrd="0" destOrd="2" presId="urn:microsoft.com/office/officeart/2005/8/layout/vList2"/>
    <dgm:cxn modelId="{252D7F54-4FEB-41B0-BCBF-4FE67211D638}" type="presOf" srcId="{6F0181D8-E8CF-4A26-971C-2F7DE60FFE05}" destId="{B9058970-B9FC-44DC-9A14-BF5EF6D65515}" srcOrd="0" destOrd="0" presId="urn:microsoft.com/office/officeart/2005/8/layout/vList2"/>
    <dgm:cxn modelId="{ED82C88D-3CC0-4BD2-8CD9-86A95292B6B4}" srcId="{6F0181D8-E8CF-4A26-971C-2F7DE60FFE05}" destId="{BE3B6898-2AF4-4722-9CA0-0A4CE42A4A24}" srcOrd="3" destOrd="0" parTransId="{70F02490-9952-401C-9466-6686F843D259}" sibTransId="{2B314714-B7EE-4649-BD2C-474D24CEF143}"/>
    <dgm:cxn modelId="{B5328F8E-9085-4A60-8E07-F32678BEBDED}" type="presOf" srcId="{FE336819-72FF-485D-90FE-6370E13854F5}" destId="{7A68E320-2120-4867-81DD-6C492966CAEF}" srcOrd="0" destOrd="1" presId="urn:microsoft.com/office/officeart/2005/8/layout/vList2"/>
    <dgm:cxn modelId="{0D57DDAC-CD90-4B8C-9DEB-7B8CC7836420}" srcId="{6F0181D8-E8CF-4A26-971C-2F7DE60FFE05}" destId="{AA8323C1-6F15-44E3-BE0A-CAA3E90F2764}" srcOrd="2" destOrd="0" parTransId="{E60C85FD-046C-47E5-84AF-05D53D905246}" sibTransId="{3C922227-D635-4C08-B096-E9D2FC698A33}"/>
    <dgm:cxn modelId="{8889C8D6-FC52-4695-976A-CFD3DE6AEED2}" type="presOf" srcId="{9F708BA1-D7BF-4152-8F5A-E490D05E7B5B}" destId="{7A68E320-2120-4867-81DD-6C492966CAEF}" srcOrd="0" destOrd="0" presId="urn:microsoft.com/office/officeart/2005/8/layout/vList2"/>
    <dgm:cxn modelId="{564EBFFE-75A8-40AC-B4F4-4957E3CF7864}" srcId="{90119837-5B71-4D44-BB01-DB0B084933C8}" destId="{6F0181D8-E8CF-4A26-971C-2F7DE60FFE05}" srcOrd="0" destOrd="0" parTransId="{DDE5D2C5-3FD5-4452-80B1-EF797A3B2B9C}" sibTransId="{6B49D688-C2E5-410E-B1EE-48FA532589F8}"/>
    <dgm:cxn modelId="{6A28F8F6-969E-4EE0-BA47-0785E5820B9D}" type="presParOf" srcId="{ED5DCCC5-BCA8-4491-AA37-BAF153ECA184}" destId="{B9058970-B9FC-44DC-9A14-BF5EF6D65515}" srcOrd="0" destOrd="0" presId="urn:microsoft.com/office/officeart/2005/8/layout/vList2"/>
    <dgm:cxn modelId="{52718F0A-EA42-4F9E-AE5B-418447B64F85}" type="presParOf" srcId="{ED5DCCC5-BCA8-4491-AA37-BAF153ECA184}" destId="{7A68E320-2120-4867-81DD-6C492966CAE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0181D8-E8CF-4A26-971C-2F7DE60FFE05}">
      <dgm:prSet/>
      <dgm:spPr/>
      <dgm:t>
        <a:bodyPr/>
        <a:lstStyle/>
        <a:p>
          <a:r>
            <a:rPr lang="en-US" u="none" dirty="0">
              <a:latin typeface="+mj-lt"/>
              <a:cs typeface="Courier New" pitchFamily="49" charset="0"/>
            </a:rPr>
            <a:t>Global variable</a:t>
          </a:r>
          <a:endParaRPr lang="en-US" u="none" dirty="0"/>
        </a:p>
      </dgm:t>
    </dgm:pt>
    <dgm:pt modelId="{DDE5D2C5-3FD5-4452-80B1-EF797A3B2B9C}" type="parTrans" cxnId="{564EBFFE-75A8-40AC-B4F4-4957E3CF7864}">
      <dgm:prSet/>
      <dgm:spPr/>
      <dgm:t>
        <a:bodyPr/>
        <a:lstStyle/>
        <a:p>
          <a:endParaRPr lang="en-US"/>
        </a:p>
      </dgm:t>
    </dgm:pt>
    <dgm:pt modelId="{6B49D688-C2E5-410E-B1EE-48FA532589F8}" type="sibTrans" cxnId="{564EBFFE-75A8-40AC-B4F4-4957E3CF7864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B9058970-B9FC-44DC-9A14-BF5EF6D65515}" type="pres">
      <dgm:prSet presAssocID="{6F0181D8-E8CF-4A26-971C-2F7DE60FFE05}" presName="parentText" presStyleLbl="node1" presStyleIdx="0" presStyleCnt="1" custLinFactY="-29265" custLinFactNeighborX="-2083" custLinFactNeighborY="-100000">
        <dgm:presLayoutVars>
          <dgm:chMax val="0"/>
          <dgm:bulletEnabled val="1"/>
        </dgm:presLayoutVars>
      </dgm:prSet>
      <dgm:spPr/>
    </dgm:pt>
  </dgm:ptLst>
  <dgm:cxnLst>
    <dgm:cxn modelId="{CEEB2084-2AF9-4283-901F-4DEAA28F645D}" type="presOf" srcId="{6F0181D8-E8CF-4A26-971C-2F7DE60FFE05}" destId="{B9058970-B9FC-44DC-9A14-BF5EF6D65515}" srcOrd="0" destOrd="0" presId="urn:microsoft.com/office/officeart/2005/8/layout/vList2"/>
    <dgm:cxn modelId="{58B281F9-558B-4EAB-A259-C0BD11ED67CF}" type="presOf" srcId="{90119837-5B71-4D44-BB01-DB0B084933C8}" destId="{ED5DCCC5-BCA8-4491-AA37-BAF153ECA184}" srcOrd="0" destOrd="0" presId="urn:microsoft.com/office/officeart/2005/8/layout/vList2"/>
    <dgm:cxn modelId="{564EBFFE-75A8-40AC-B4F4-4957E3CF7864}" srcId="{90119837-5B71-4D44-BB01-DB0B084933C8}" destId="{6F0181D8-E8CF-4A26-971C-2F7DE60FFE05}" srcOrd="0" destOrd="0" parTransId="{DDE5D2C5-3FD5-4452-80B1-EF797A3B2B9C}" sibTransId="{6B49D688-C2E5-410E-B1EE-48FA532589F8}"/>
    <dgm:cxn modelId="{0FABB23C-E42C-4E16-8A14-657A2FF919B5}" type="presParOf" srcId="{ED5DCCC5-BCA8-4491-AA37-BAF153ECA184}" destId="{B9058970-B9FC-44DC-9A14-BF5EF6D6551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0181D8-E8CF-4A26-971C-2F7DE60FFE05}">
      <dgm:prSet/>
      <dgm:spPr/>
      <dgm:t>
        <a:bodyPr/>
        <a:lstStyle/>
        <a:p>
          <a:r>
            <a:rPr lang="en-US" dirty="0"/>
            <a:t>In a flowchart</a:t>
          </a:r>
        </a:p>
      </dgm:t>
    </dgm:pt>
    <dgm:pt modelId="{DDE5D2C5-3FD5-4452-80B1-EF797A3B2B9C}" type="parTrans" cxnId="{564EBFFE-75A8-40AC-B4F4-4957E3CF7864}">
      <dgm:prSet/>
      <dgm:spPr/>
      <dgm:t>
        <a:bodyPr/>
        <a:lstStyle/>
        <a:p>
          <a:endParaRPr lang="en-US"/>
        </a:p>
      </dgm:t>
    </dgm:pt>
    <dgm:pt modelId="{6B49D688-C2E5-410E-B1EE-48FA532589F8}" type="sibTrans" cxnId="{564EBFFE-75A8-40AC-B4F4-4957E3CF7864}">
      <dgm:prSet/>
      <dgm:spPr/>
      <dgm:t>
        <a:bodyPr/>
        <a:lstStyle/>
        <a:p>
          <a:endParaRPr lang="en-US"/>
        </a:p>
      </dgm:t>
    </dgm:pt>
    <dgm:pt modelId="{DD491B35-5D16-4365-A709-1782AE6FC891}">
      <dgm:prSet/>
      <dgm:spPr/>
      <dgm:t>
        <a:bodyPr/>
        <a:lstStyle/>
        <a:p>
          <a:r>
            <a:rPr lang="en-US" dirty="0"/>
            <a:t>Function </a:t>
          </a:r>
          <a:r>
            <a:rPr lang="en-US" dirty="0">
              <a:solidFill>
                <a:srgbClr val="FF0000"/>
              </a:solidFill>
            </a:rPr>
            <a:t>name</a:t>
          </a:r>
          <a:r>
            <a:rPr lang="en-US" dirty="0"/>
            <a:t> written in the symbol</a:t>
          </a:r>
        </a:p>
      </dgm:t>
    </dgm:pt>
    <dgm:pt modelId="{D3774C32-2D58-4D1D-83A4-C204496577C2}" type="parTrans" cxnId="{9D815850-590F-47E3-ABE1-147D344FEA0E}">
      <dgm:prSet/>
      <dgm:spPr/>
      <dgm:t>
        <a:bodyPr/>
        <a:lstStyle/>
        <a:p>
          <a:endParaRPr lang="en-US"/>
        </a:p>
      </dgm:t>
    </dgm:pt>
    <dgm:pt modelId="{9C223CA2-DFFA-4E2F-9B2D-CF34C7EBDF3E}" type="sibTrans" cxnId="{9D815850-590F-47E3-ABE1-147D344FEA0E}">
      <dgm:prSet/>
      <dgm:spPr/>
      <dgm:t>
        <a:bodyPr/>
        <a:lstStyle/>
        <a:p>
          <a:endParaRPr lang="en-US"/>
        </a:p>
      </dgm:t>
    </dgm:pt>
    <dgm:pt modelId="{F88633C4-D4FD-4AE8-B3C9-18FA574AF4BC}">
      <dgm:prSet/>
      <dgm:spPr/>
      <dgm:t>
        <a:bodyPr/>
        <a:lstStyle/>
        <a:p>
          <a:r>
            <a:rPr lang="en-US" dirty="0"/>
            <a:t>Typically draw </a:t>
          </a:r>
          <a:r>
            <a:rPr lang="en-US" dirty="0">
              <a:solidFill>
                <a:srgbClr val="FF0000"/>
              </a:solidFill>
            </a:rPr>
            <a:t>separate flow chart </a:t>
          </a:r>
          <a:r>
            <a:rPr lang="en-US" dirty="0"/>
            <a:t>for each function in the program</a:t>
          </a:r>
        </a:p>
      </dgm:t>
    </dgm:pt>
    <dgm:pt modelId="{9871FD30-5138-4709-9009-14785AC33557}" type="parTrans" cxnId="{18B968A4-C853-490F-8437-6D2184B91243}">
      <dgm:prSet/>
      <dgm:spPr/>
      <dgm:t>
        <a:bodyPr/>
        <a:lstStyle/>
        <a:p>
          <a:endParaRPr lang="en-US"/>
        </a:p>
      </dgm:t>
    </dgm:pt>
    <dgm:pt modelId="{2009A9AB-CEE9-497D-B9D9-3DFBE7FA5E4C}" type="sibTrans" cxnId="{18B968A4-C853-490F-8437-6D2184B91243}">
      <dgm:prSet/>
      <dgm:spPr/>
      <dgm:t>
        <a:bodyPr/>
        <a:lstStyle/>
        <a:p>
          <a:endParaRPr lang="en-US"/>
        </a:p>
      </dgm:t>
    </dgm:pt>
    <dgm:pt modelId="{A9D76223-6ABC-4F98-A32B-0441D37D20DE}">
      <dgm:prSet/>
      <dgm:spPr/>
      <dgm:t>
        <a:bodyPr/>
        <a:lstStyle/>
        <a:p>
          <a:r>
            <a:rPr lang="en-US" dirty="0"/>
            <a:t>End terminal symbol usually reads </a:t>
          </a:r>
          <a:r>
            <a:rPr lang="en-US" dirty="0">
              <a:solidFill>
                <a:srgbClr val="FF0000"/>
              </a:solidFill>
              <a:latin typeface="Courier New" pitchFamily="49" charset="0"/>
              <a:cs typeface="Courier New" pitchFamily="49" charset="0"/>
            </a:rPr>
            <a:t>Return</a:t>
          </a:r>
        </a:p>
      </dgm:t>
    </dgm:pt>
    <dgm:pt modelId="{59A846FE-4932-48CC-877C-60F250E82FEF}" type="parTrans" cxnId="{50F670F4-5C50-4B92-8437-5090FED300B9}">
      <dgm:prSet/>
      <dgm:spPr/>
      <dgm:t>
        <a:bodyPr/>
        <a:lstStyle/>
        <a:p>
          <a:endParaRPr lang="en-US"/>
        </a:p>
      </dgm:t>
    </dgm:pt>
    <dgm:pt modelId="{DADBC94A-BD14-4D43-B049-467E0249513A}" type="sibTrans" cxnId="{50F670F4-5C50-4B92-8437-5090FED300B9}">
      <dgm:prSet/>
      <dgm:spPr/>
      <dgm:t>
        <a:bodyPr/>
        <a:lstStyle/>
        <a:p>
          <a:endParaRPr lang="en-US"/>
        </a:p>
      </dgm:t>
    </dgm:pt>
    <dgm:pt modelId="{2720B24A-4C68-411F-BA29-EB3D8250D7C5}">
      <dgm:prSet/>
      <dgm:spPr/>
      <dgm:t>
        <a:bodyPr/>
        <a:lstStyle/>
        <a:p>
          <a:r>
            <a:rPr lang="en-US" u="none" dirty="0">
              <a:latin typeface="+mj-lt"/>
              <a:cs typeface="Courier New" pitchFamily="49" charset="0"/>
            </a:rPr>
            <a:t>Top-down design</a:t>
          </a:r>
          <a:endParaRPr lang="he-IL" u="none" dirty="0">
            <a:latin typeface="+mj-lt"/>
            <a:cs typeface="Courier New" pitchFamily="49" charset="0"/>
          </a:endParaRPr>
        </a:p>
      </dgm:t>
    </dgm:pt>
    <dgm:pt modelId="{C39086CC-A264-46A5-A6F7-AC7EBDE23071}" type="parTrans" cxnId="{D0BCAF08-A3E3-47C3-B06A-54D134F9A047}">
      <dgm:prSet/>
      <dgm:spPr/>
      <dgm:t>
        <a:bodyPr/>
        <a:lstStyle/>
        <a:p>
          <a:endParaRPr lang="en-US"/>
        </a:p>
      </dgm:t>
    </dgm:pt>
    <dgm:pt modelId="{FEC258AD-84CF-4EC2-B803-713C0CBD9666}" type="sibTrans" cxnId="{D0BCAF08-A3E3-47C3-B06A-54D134F9A047}">
      <dgm:prSet/>
      <dgm:spPr/>
      <dgm:t>
        <a:bodyPr/>
        <a:lstStyle/>
        <a:p>
          <a:endParaRPr lang="en-US"/>
        </a:p>
      </dgm:t>
    </dgm:pt>
    <dgm:pt modelId="{4E205A89-EA28-4DAE-B1A6-25A77B705781}">
      <dgm:prSet/>
      <dgm:spPr/>
      <dgm:t>
        <a:bodyPr/>
        <a:lstStyle/>
        <a:p>
          <a:r>
            <a:rPr lang="en-US" dirty="0"/>
            <a:t>Function call shown as </a:t>
          </a:r>
          <a:r>
            <a:rPr lang="en-US" dirty="0">
              <a:solidFill>
                <a:srgbClr val="FF0000"/>
              </a:solidFill>
            </a:rPr>
            <a:t>rectangle with vertical bars at each side</a:t>
          </a:r>
        </a:p>
      </dgm:t>
    </dgm:pt>
    <dgm:pt modelId="{0A8EFD44-55D4-4271-A8C2-7824D5B07787}" type="parTrans" cxnId="{838737C5-3C31-4C12-B1F6-317F96A7869D}">
      <dgm:prSet/>
      <dgm:spPr/>
      <dgm:t>
        <a:bodyPr/>
        <a:lstStyle/>
        <a:p>
          <a:endParaRPr lang="en-US"/>
        </a:p>
      </dgm:t>
    </dgm:pt>
    <dgm:pt modelId="{E5D897C7-7907-47C7-8903-624BE4A31448}" type="sibTrans" cxnId="{838737C5-3C31-4C12-B1F6-317F96A7869D}">
      <dgm:prSet/>
      <dgm:spPr/>
      <dgm:t>
        <a:bodyPr/>
        <a:lstStyle/>
        <a:p>
          <a:endParaRPr lang="en-US"/>
        </a:p>
      </dgm:t>
    </dgm:pt>
    <dgm:pt modelId="{DBBDC4BC-D4DB-4460-B731-81ADCF0A9F32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Technique for breaking algorithm into functions</a:t>
          </a:r>
          <a:endParaRPr lang="he-IL" u="sng" dirty="0">
            <a:latin typeface="+mj-lt"/>
            <a:cs typeface="Courier New" pitchFamily="49" charset="0"/>
          </a:endParaRPr>
        </a:p>
      </dgm:t>
    </dgm:pt>
    <dgm:pt modelId="{9DAC7122-97AB-41B0-B9AB-681052BFC215}" type="parTrans" cxnId="{00A33669-A7CD-431F-8E2B-958EF86A2795}">
      <dgm:prSet/>
      <dgm:spPr/>
      <dgm:t>
        <a:bodyPr/>
        <a:lstStyle/>
        <a:p>
          <a:endParaRPr lang="en-US"/>
        </a:p>
      </dgm:t>
    </dgm:pt>
    <dgm:pt modelId="{9A265B5C-0DB2-4BA8-9B9E-457F8F54BECD}" type="sibTrans" cxnId="{00A33669-A7CD-431F-8E2B-958EF86A2795}">
      <dgm:prSet/>
      <dgm:spPr/>
      <dgm:t>
        <a:bodyPr/>
        <a:lstStyle/>
        <a:p>
          <a:endParaRPr lang="en-US"/>
        </a:p>
      </dgm:t>
    </dgm:pt>
    <dgm:pt modelId="{A1D0E034-6FD8-493D-B366-2E8A64A253F2}">
      <dgm:prSet/>
      <dgm:spPr/>
      <dgm:t>
        <a:bodyPr/>
        <a:lstStyle/>
        <a:p>
          <a:endParaRPr lang="en-US" dirty="0">
            <a:latin typeface="Courier New" pitchFamily="49" charset="0"/>
            <a:cs typeface="Courier New" pitchFamily="49" charset="0"/>
          </a:endParaRPr>
        </a:p>
      </dgm:t>
    </dgm:pt>
    <dgm:pt modelId="{8DDB2A1B-E7C2-489C-B800-3CE670C0116D}" type="parTrans" cxnId="{064B6FD7-843D-44CB-BBFF-83AC9EA4239C}">
      <dgm:prSet/>
      <dgm:spPr/>
      <dgm:t>
        <a:bodyPr/>
        <a:lstStyle/>
        <a:p>
          <a:endParaRPr lang="en-US"/>
        </a:p>
      </dgm:t>
    </dgm:pt>
    <dgm:pt modelId="{422E83DB-0662-4E04-A8FC-9F082C8DAD6E}" type="sibTrans" cxnId="{064B6FD7-843D-44CB-BBFF-83AC9EA4239C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B9058970-B9FC-44DC-9A14-BF5EF6D65515}" type="pres">
      <dgm:prSet presAssocID="{6F0181D8-E8CF-4A26-971C-2F7DE60FFE0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71EC292-FF5F-4AED-9D08-FB7E97F59620}" type="pres">
      <dgm:prSet presAssocID="{6F0181D8-E8CF-4A26-971C-2F7DE60FFE05}" presName="childText" presStyleLbl="revTx" presStyleIdx="0" presStyleCnt="2">
        <dgm:presLayoutVars>
          <dgm:bulletEnabled val="1"/>
        </dgm:presLayoutVars>
      </dgm:prSet>
      <dgm:spPr/>
    </dgm:pt>
    <dgm:pt modelId="{4EB15AB9-FE52-4EF7-B7A3-0D3F8FE11819}" type="pres">
      <dgm:prSet presAssocID="{2720B24A-4C68-411F-BA29-EB3D8250D7C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42E8F1D-0381-44D8-BDF5-F10494738507}" type="pres">
      <dgm:prSet presAssocID="{2720B24A-4C68-411F-BA29-EB3D8250D7C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0BCAF08-A3E3-47C3-B06A-54D134F9A047}" srcId="{90119837-5B71-4D44-BB01-DB0B084933C8}" destId="{2720B24A-4C68-411F-BA29-EB3D8250D7C5}" srcOrd="1" destOrd="0" parTransId="{C39086CC-A264-46A5-A6F7-AC7EBDE23071}" sibTransId="{FEC258AD-84CF-4EC2-B803-713C0CBD9666}"/>
    <dgm:cxn modelId="{47385A2E-6023-40FA-877F-3123C437499C}" type="presOf" srcId="{DD491B35-5D16-4365-A709-1782AE6FC891}" destId="{971EC292-FF5F-4AED-9D08-FB7E97F59620}" srcOrd="0" destOrd="1" presId="urn:microsoft.com/office/officeart/2005/8/layout/vList2"/>
    <dgm:cxn modelId="{2397E72F-D2C2-4B3F-AB39-822E2110C297}" type="presOf" srcId="{4E205A89-EA28-4DAE-B1A6-25A77B705781}" destId="{971EC292-FF5F-4AED-9D08-FB7E97F59620}" srcOrd="0" destOrd="0" presId="urn:microsoft.com/office/officeart/2005/8/layout/vList2"/>
    <dgm:cxn modelId="{9C9D1434-FA26-48EB-A0CF-D7F35BCB6F70}" type="presOf" srcId="{A9D76223-6ABC-4F98-A32B-0441D37D20DE}" destId="{971EC292-FF5F-4AED-9D08-FB7E97F59620}" srcOrd="0" destOrd="3" presId="urn:microsoft.com/office/officeart/2005/8/layout/vList2"/>
    <dgm:cxn modelId="{1275003E-2366-4FD3-978C-926F0D1F8501}" type="presOf" srcId="{DBBDC4BC-D4DB-4460-B731-81ADCF0A9F32}" destId="{C42E8F1D-0381-44D8-BDF5-F10494738507}" srcOrd="0" destOrd="0" presId="urn:microsoft.com/office/officeart/2005/8/layout/vList2"/>
    <dgm:cxn modelId="{1CB5B848-064A-4BF1-8E66-83591225785F}" type="presOf" srcId="{6F0181D8-E8CF-4A26-971C-2F7DE60FFE05}" destId="{B9058970-B9FC-44DC-9A14-BF5EF6D65515}" srcOrd="0" destOrd="0" presId="urn:microsoft.com/office/officeart/2005/8/layout/vList2"/>
    <dgm:cxn modelId="{00A33669-A7CD-431F-8E2B-958EF86A2795}" srcId="{2720B24A-4C68-411F-BA29-EB3D8250D7C5}" destId="{DBBDC4BC-D4DB-4460-B731-81ADCF0A9F32}" srcOrd="0" destOrd="0" parTransId="{9DAC7122-97AB-41B0-B9AB-681052BFC215}" sibTransId="{9A265B5C-0DB2-4BA8-9B9E-457F8F54BECD}"/>
    <dgm:cxn modelId="{9D815850-590F-47E3-ABE1-147D344FEA0E}" srcId="{6F0181D8-E8CF-4A26-971C-2F7DE60FFE05}" destId="{DD491B35-5D16-4365-A709-1782AE6FC891}" srcOrd="1" destOrd="0" parTransId="{D3774C32-2D58-4D1D-83A4-C204496577C2}" sibTransId="{9C223CA2-DFFA-4E2F-9B2D-CF34C7EBDF3E}"/>
    <dgm:cxn modelId="{BD946F92-74EB-4167-871F-87F290C1C7A8}" type="presOf" srcId="{2720B24A-4C68-411F-BA29-EB3D8250D7C5}" destId="{4EB15AB9-FE52-4EF7-B7A3-0D3F8FE11819}" srcOrd="0" destOrd="0" presId="urn:microsoft.com/office/officeart/2005/8/layout/vList2"/>
    <dgm:cxn modelId="{3F558997-EEF8-43C6-A43C-C51261D8A851}" type="presOf" srcId="{F88633C4-D4FD-4AE8-B3C9-18FA574AF4BC}" destId="{971EC292-FF5F-4AED-9D08-FB7E97F59620}" srcOrd="0" destOrd="2" presId="urn:microsoft.com/office/officeart/2005/8/layout/vList2"/>
    <dgm:cxn modelId="{18B968A4-C853-490F-8437-6D2184B91243}" srcId="{6F0181D8-E8CF-4A26-971C-2F7DE60FFE05}" destId="{F88633C4-D4FD-4AE8-B3C9-18FA574AF4BC}" srcOrd="2" destOrd="0" parTransId="{9871FD30-5138-4709-9009-14785AC33557}" sibTransId="{2009A9AB-CEE9-497D-B9D9-3DFBE7FA5E4C}"/>
    <dgm:cxn modelId="{838737C5-3C31-4C12-B1F6-317F96A7869D}" srcId="{6F0181D8-E8CF-4A26-971C-2F7DE60FFE05}" destId="{4E205A89-EA28-4DAE-B1A6-25A77B705781}" srcOrd="0" destOrd="0" parTransId="{0A8EFD44-55D4-4271-A8C2-7824D5B07787}" sibTransId="{E5D897C7-7907-47C7-8903-624BE4A31448}"/>
    <dgm:cxn modelId="{244A67C7-9FE8-4C5A-9EC9-2BC284C68A73}" type="presOf" srcId="{A1D0E034-6FD8-493D-B366-2E8A64A253F2}" destId="{971EC292-FF5F-4AED-9D08-FB7E97F59620}" srcOrd="0" destOrd="4" presId="urn:microsoft.com/office/officeart/2005/8/layout/vList2"/>
    <dgm:cxn modelId="{ABD6CAD0-91EE-428E-8758-EF1B33E4292C}" type="presOf" srcId="{90119837-5B71-4D44-BB01-DB0B084933C8}" destId="{ED5DCCC5-BCA8-4491-AA37-BAF153ECA184}" srcOrd="0" destOrd="0" presId="urn:microsoft.com/office/officeart/2005/8/layout/vList2"/>
    <dgm:cxn modelId="{064B6FD7-843D-44CB-BBFF-83AC9EA4239C}" srcId="{F88633C4-D4FD-4AE8-B3C9-18FA574AF4BC}" destId="{A1D0E034-6FD8-493D-B366-2E8A64A253F2}" srcOrd="1" destOrd="0" parTransId="{8DDB2A1B-E7C2-489C-B800-3CE670C0116D}" sibTransId="{422E83DB-0662-4E04-A8FC-9F082C8DAD6E}"/>
    <dgm:cxn modelId="{50F670F4-5C50-4B92-8437-5090FED300B9}" srcId="{F88633C4-D4FD-4AE8-B3C9-18FA574AF4BC}" destId="{A9D76223-6ABC-4F98-A32B-0441D37D20DE}" srcOrd="0" destOrd="0" parTransId="{59A846FE-4932-48CC-877C-60F250E82FEF}" sibTransId="{DADBC94A-BD14-4D43-B049-467E0249513A}"/>
    <dgm:cxn modelId="{564EBFFE-75A8-40AC-B4F4-4957E3CF7864}" srcId="{90119837-5B71-4D44-BB01-DB0B084933C8}" destId="{6F0181D8-E8CF-4A26-971C-2F7DE60FFE05}" srcOrd="0" destOrd="0" parTransId="{DDE5D2C5-3FD5-4452-80B1-EF797A3B2B9C}" sibTransId="{6B49D688-C2E5-410E-B1EE-48FA532589F8}"/>
    <dgm:cxn modelId="{265CAF06-035D-4BF2-8001-473BA69681DB}" type="presParOf" srcId="{ED5DCCC5-BCA8-4491-AA37-BAF153ECA184}" destId="{B9058970-B9FC-44DC-9A14-BF5EF6D65515}" srcOrd="0" destOrd="0" presId="urn:microsoft.com/office/officeart/2005/8/layout/vList2"/>
    <dgm:cxn modelId="{ACC175DD-CBFD-479A-93F7-70136E22650B}" type="presParOf" srcId="{ED5DCCC5-BCA8-4491-AA37-BAF153ECA184}" destId="{971EC292-FF5F-4AED-9D08-FB7E97F59620}" srcOrd="1" destOrd="0" presId="urn:microsoft.com/office/officeart/2005/8/layout/vList2"/>
    <dgm:cxn modelId="{7BA9787B-6955-42EC-821B-6A1E5709137D}" type="presParOf" srcId="{ED5DCCC5-BCA8-4491-AA37-BAF153ECA184}" destId="{4EB15AB9-FE52-4EF7-B7A3-0D3F8FE11819}" srcOrd="2" destOrd="0" presId="urn:microsoft.com/office/officeart/2005/8/layout/vList2"/>
    <dgm:cxn modelId="{093544BC-69FA-4041-BA64-9BE8AF9A7C00}" type="presParOf" srcId="{ED5DCCC5-BCA8-4491-AA37-BAF153ECA184}" destId="{C42E8F1D-0381-44D8-BDF5-F1049473850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0181D8-E8CF-4A26-971C-2F7DE60FFE05}">
      <dgm:prSet/>
      <dgm:spPr/>
      <dgm:t>
        <a:bodyPr/>
        <a:lstStyle/>
        <a:p>
          <a:r>
            <a:rPr lang="en-US" altLang="en-US" u="none" dirty="0"/>
            <a:t>Hierarchy chart</a:t>
          </a:r>
          <a:endParaRPr lang="en-US" u="none" dirty="0"/>
        </a:p>
      </dgm:t>
    </dgm:pt>
    <dgm:pt modelId="{DDE5D2C5-3FD5-4452-80B1-EF797A3B2B9C}" type="parTrans" cxnId="{564EBFFE-75A8-40AC-B4F4-4957E3CF7864}">
      <dgm:prSet/>
      <dgm:spPr/>
      <dgm:t>
        <a:bodyPr/>
        <a:lstStyle/>
        <a:p>
          <a:endParaRPr lang="en-US"/>
        </a:p>
      </dgm:t>
    </dgm:pt>
    <dgm:pt modelId="{6B49D688-C2E5-410E-B1EE-48FA532589F8}" type="sibTrans" cxnId="{564EBFFE-75A8-40AC-B4F4-4957E3CF7864}">
      <dgm:prSet/>
      <dgm:spPr/>
      <dgm:t>
        <a:bodyPr/>
        <a:lstStyle/>
        <a:p>
          <a:endParaRPr lang="en-US"/>
        </a:p>
      </dgm:t>
    </dgm:pt>
    <dgm:pt modelId="{BAD07769-6193-40AB-A342-CF9FC3B904CE}">
      <dgm:prSet/>
      <dgm:spPr/>
      <dgm:t>
        <a:bodyPr/>
        <a:lstStyle/>
        <a:p>
          <a:r>
            <a:rPr lang="en-US" altLang="en-US" dirty="0"/>
            <a:t>Box for each function in the program, Lines </a:t>
          </a:r>
          <a:r>
            <a:rPr lang="en-US" altLang="en-US" dirty="0">
              <a:solidFill>
                <a:srgbClr val="FF0000"/>
              </a:solidFill>
            </a:rPr>
            <a:t>connecting boxes</a:t>
          </a:r>
          <a:r>
            <a:rPr lang="en-US" altLang="en-US" dirty="0"/>
            <a:t> illustrate the functions called by each function</a:t>
          </a:r>
        </a:p>
      </dgm:t>
    </dgm:pt>
    <dgm:pt modelId="{97D44BC2-E3E9-45F6-984D-59AADE8BABC2}" type="parTrans" cxnId="{6E54FB25-5DA7-4457-A901-152EC4833358}">
      <dgm:prSet/>
      <dgm:spPr/>
      <dgm:t>
        <a:bodyPr/>
        <a:lstStyle/>
        <a:p>
          <a:endParaRPr lang="en-US"/>
        </a:p>
      </dgm:t>
    </dgm:pt>
    <dgm:pt modelId="{C13AD5FC-02CE-49D4-BA1B-DD0643E0E68A}" type="sibTrans" cxnId="{6E54FB25-5DA7-4457-A901-152EC4833358}">
      <dgm:prSet/>
      <dgm:spPr/>
      <dgm:t>
        <a:bodyPr/>
        <a:lstStyle/>
        <a:p>
          <a:endParaRPr lang="en-US"/>
        </a:p>
      </dgm:t>
    </dgm:pt>
    <dgm:pt modelId="{3A640CCC-9892-4716-8031-36FED32815CF}">
      <dgm:prSet/>
      <dgm:spPr/>
      <dgm:t>
        <a:bodyPr/>
        <a:lstStyle/>
        <a:p>
          <a:r>
            <a:rPr lang="en-US" altLang="en-US" dirty="0"/>
            <a:t>Does not show steps taken </a:t>
          </a:r>
          <a:r>
            <a:rPr lang="en-US" altLang="en-US" dirty="0">
              <a:solidFill>
                <a:srgbClr val="FF0000"/>
              </a:solidFill>
            </a:rPr>
            <a:t>inside</a:t>
          </a:r>
          <a:r>
            <a:rPr lang="en-US" altLang="en-US" dirty="0"/>
            <a:t> a function</a:t>
          </a:r>
        </a:p>
      </dgm:t>
    </dgm:pt>
    <dgm:pt modelId="{EA7EB623-39D5-4221-9A93-1A844D6F255A}" type="parTrans" cxnId="{574FE945-5F0E-4749-8A22-E18660DE2C86}">
      <dgm:prSet/>
      <dgm:spPr/>
      <dgm:t>
        <a:bodyPr/>
        <a:lstStyle/>
        <a:p>
          <a:endParaRPr lang="en-US"/>
        </a:p>
      </dgm:t>
    </dgm:pt>
    <dgm:pt modelId="{9569F579-9BB8-4C3C-A5AE-B3E7CA51618C}" type="sibTrans" cxnId="{574FE945-5F0E-4749-8A22-E18660DE2C86}">
      <dgm:prSet/>
      <dgm:spPr/>
      <dgm:t>
        <a:bodyPr/>
        <a:lstStyle/>
        <a:p>
          <a:endParaRPr lang="en-US"/>
        </a:p>
      </dgm:t>
    </dgm:pt>
    <dgm:pt modelId="{5347C005-D22B-411D-A7BF-BB3E2EDE9FB0}">
      <dgm:prSet/>
      <dgm:spPr/>
      <dgm:t>
        <a:bodyPr/>
        <a:lstStyle/>
        <a:p>
          <a:r>
            <a:rPr lang="en-US" altLang="en-US" dirty="0"/>
            <a:t>Depicts </a:t>
          </a:r>
          <a:r>
            <a:rPr lang="en-US" altLang="en-US" dirty="0">
              <a:solidFill>
                <a:srgbClr val="FF0000"/>
              </a:solidFill>
            </a:rPr>
            <a:t>relationship</a:t>
          </a:r>
          <a:r>
            <a:rPr lang="en-US" altLang="en-US" dirty="0"/>
            <a:t> between functions</a:t>
          </a:r>
          <a:endParaRPr lang="en-US" dirty="0"/>
        </a:p>
      </dgm:t>
    </dgm:pt>
    <dgm:pt modelId="{BDDF2ED3-671B-46BC-A2BD-272AFD9BFBE8}" type="parTrans" cxnId="{EFEF7098-F1B3-4B18-884A-0A870C6E12A1}">
      <dgm:prSet/>
      <dgm:spPr/>
      <dgm:t>
        <a:bodyPr/>
        <a:lstStyle/>
        <a:p>
          <a:endParaRPr lang="en-US"/>
        </a:p>
      </dgm:t>
    </dgm:pt>
    <dgm:pt modelId="{4910235B-055E-4263-9473-98171C8FE553}" type="sibTrans" cxnId="{EFEF7098-F1B3-4B18-884A-0A870C6E12A1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B9058970-B9FC-44DC-9A14-BF5EF6D65515}" type="pres">
      <dgm:prSet presAssocID="{6F0181D8-E8CF-4A26-971C-2F7DE60FFE0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971EC292-FF5F-4AED-9D08-FB7E97F59620}" type="pres">
      <dgm:prSet presAssocID="{6F0181D8-E8CF-4A26-971C-2F7DE60FFE0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CE43F17-4F58-4B8D-9DA9-219E34866E6F}" type="presOf" srcId="{BAD07769-6193-40AB-A342-CF9FC3B904CE}" destId="{971EC292-FF5F-4AED-9D08-FB7E97F59620}" srcOrd="0" destOrd="1" presId="urn:microsoft.com/office/officeart/2005/8/layout/vList2"/>
    <dgm:cxn modelId="{6E54FB25-5DA7-4457-A901-152EC4833358}" srcId="{6F0181D8-E8CF-4A26-971C-2F7DE60FFE05}" destId="{BAD07769-6193-40AB-A342-CF9FC3B904CE}" srcOrd="1" destOrd="0" parTransId="{97D44BC2-E3E9-45F6-984D-59AADE8BABC2}" sibTransId="{C13AD5FC-02CE-49D4-BA1B-DD0643E0E68A}"/>
    <dgm:cxn modelId="{2DF58F44-C84C-42B9-8BC6-80CD5673001D}" type="presOf" srcId="{3A640CCC-9892-4716-8031-36FED32815CF}" destId="{971EC292-FF5F-4AED-9D08-FB7E97F59620}" srcOrd="0" destOrd="2" presId="urn:microsoft.com/office/officeart/2005/8/layout/vList2"/>
    <dgm:cxn modelId="{574FE945-5F0E-4749-8A22-E18660DE2C86}" srcId="{6F0181D8-E8CF-4A26-971C-2F7DE60FFE05}" destId="{3A640CCC-9892-4716-8031-36FED32815CF}" srcOrd="2" destOrd="0" parTransId="{EA7EB623-39D5-4221-9A93-1A844D6F255A}" sibTransId="{9569F579-9BB8-4C3C-A5AE-B3E7CA51618C}"/>
    <dgm:cxn modelId="{9E8E4C82-9F26-4BE1-A0E7-BD2DF12E0DA7}" type="presOf" srcId="{90119837-5B71-4D44-BB01-DB0B084933C8}" destId="{ED5DCCC5-BCA8-4491-AA37-BAF153ECA184}" srcOrd="0" destOrd="0" presId="urn:microsoft.com/office/officeart/2005/8/layout/vList2"/>
    <dgm:cxn modelId="{EFEF7098-F1B3-4B18-884A-0A870C6E12A1}" srcId="{6F0181D8-E8CF-4A26-971C-2F7DE60FFE05}" destId="{5347C005-D22B-411D-A7BF-BB3E2EDE9FB0}" srcOrd="0" destOrd="0" parTransId="{BDDF2ED3-671B-46BC-A2BD-272AFD9BFBE8}" sibTransId="{4910235B-055E-4263-9473-98171C8FE553}"/>
    <dgm:cxn modelId="{22B0D9B7-1675-4587-B80B-65F544469A20}" type="presOf" srcId="{5347C005-D22B-411D-A7BF-BB3E2EDE9FB0}" destId="{971EC292-FF5F-4AED-9D08-FB7E97F59620}" srcOrd="0" destOrd="0" presId="urn:microsoft.com/office/officeart/2005/8/layout/vList2"/>
    <dgm:cxn modelId="{6ABA16D7-FFD9-4A65-ACC6-92E7CBCDEFE3}" type="presOf" srcId="{6F0181D8-E8CF-4A26-971C-2F7DE60FFE05}" destId="{B9058970-B9FC-44DC-9A14-BF5EF6D65515}" srcOrd="0" destOrd="0" presId="urn:microsoft.com/office/officeart/2005/8/layout/vList2"/>
    <dgm:cxn modelId="{564EBFFE-75A8-40AC-B4F4-4957E3CF7864}" srcId="{90119837-5B71-4D44-BB01-DB0B084933C8}" destId="{6F0181D8-E8CF-4A26-971C-2F7DE60FFE05}" srcOrd="0" destOrd="0" parTransId="{DDE5D2C5-3FD5-4452-80B1-EF797A3B2B9C}" sibTransId="{6B49D688-C2E5-410E-B1EE-48FA532589F8}"/>
    <dgm:cxn modelId="{A911EFE7-A62E-48D3-8F0D-96DE67EB84DC}" type="presParOf" srcId="{ED5DCCC5-BCA8-4491-AA37-BAF153ECA184}" destId="{B9058970-B9FC-44DC-9A14-BF5EF6D65515}" srcOrd="0" destOrd="0" presId="urn:microsoft.com/office/officeart/2005/8/layout/vList2"/>
    <dgm:cxn modelId="{68D64B10-2CFA-4B10-BCA4-DEFC88964664}" type="presParOf" srcId="{ED5DCCC5-BCA8-4491-AA37-BAF153ECA184}" destId="{971EC292-FF5F-4AED-9D08-FB7E97F5962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058970-B9FC-44DC-9A14-BF5EF6D65515}">
      <dsp:nvSpPr>
        <dsp:cNvPr id="0" name=""/>
        <dsp:cNvSpPr/>
      </dsp:nvSpPr>
      <dsp:spPr>
        <a:xfrm>
          <a:off x="0" y="54316"/>
          <a:ext cx="10972800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u="none" kern="1200" dirty="0"/>
            <a:t>Parameter variable</a:t>
          </a:r>
        </a:p>
      </dsp:txBody>
      <dsp:txXfrm>
        <a:off x="43321" y="97637"/>
        <a:ext cx="10886158" cy="800803"/>
      </dsp:txXfrm>
    </dsp:sp>
    <dsp:sp modelId="{7A68E320-2120-4867-81DD-6C492966CAEF}">
      <dsp:nvSpPr>
        <dsp:cNvPr id="0" name=""/>
        <dsp:cNvSpPr/>
      </dsp:nvSpPr>
      <dsp:spPr>
        <a:xfrm>
          <a:off x="0" y="941762"/>
          <a:ext cx="10972800" cy="1991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 dirty="0">
              <a:latin typeface="+mn-lt"/>
            </a:rPr>
            <a:t>Assigned the value of an argument when the function is </a:t>
          </a:r>
          <a:r>
            <a:rPr lang="en-US" sz="2900" kern="1200" dirty="0">
              <a:solidFill>
                <a:srgbClr val="FF0000"/>
              </a:solidFill>
              <a:latin typeface="+mn-lt"/>
            </a:rPr>
            <a:t>called</a:t>
          </a:r>
          <a:endParaRPr lang="en-US" sz="2900" u="none" kern="1200" dirty="0">
            <a:solidFill>
              <a:srgbClr val="FF0000"/>
            </a:solidFill>
            <a:latin typeface="+mn-lt"/>
          </a:endParaRP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 dirty="0">
              <a:latin typeface="+mn-lt"/>
            </a:rPr>
            <a:t>The parameter and the argument reference the </a:t>
          </a:r>
          <a:r>
            <a:rPr lang="en-US" sz="2900" kern="1200" dirty="0">
              <a:solidFill>
                <a:srgbClr val="FF0000"/>
              </a:solidFill>
              <a:latin typeface="+mn-lt"/>
            </a:rPr>
            <a:t>same value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 dirty="0">
              <a:latin typeface="+mn-lt"/>
            </a:rPr>
            <a:t>General format: </a:t>
          </a:r>
          <a:r>
            <a:rPr lang="en-US" sz="2900" kern="1200" dirty="0">
              <a:solidFill>
                <a:srgbClr val="FF0000"/>
              </a:solidFill>
              <a:latin typeface="+mn-lt"/>
              <a:cs typeface="Courier New" pitchFamily="49" charset="0"/>
            </a:rPr>
            <a:t>def </a:t>
          </a:r>
          <a:r>
            <a:rPr lang="en-US" sz="2900" i="1" kern="1200" dirty="0">
              <a:solidFill>
                <a:srgbClr val="FF0000"/>
              </a:solidFill>
              <a:latin typeface="+mn-lt"/>
              <a:cs typeface="Courier New" pitchFamily="49" charset="0"/>
            </a:rPr>
            <a:t>function</a:t>
          </a:r>
          <a:r>
            <a:rPr lang="en-US" sz="2900" kern="1200" dirty="0">
              <a:solidFill>
                <a:srgbClr val="FF0000"/>
              </a:solidFill>
              <a:latin typeface="+mn-lt"/>
              <a:cs typeface="Courier New" pitchFamily="49" charset="0"/>
            </a:rPr>
            <a:t>_</a:t>
          </a:r>
          <a:r>
            <a:rPr lang="en-US" sz="2900" i="1" kern="1200" dirty="0">
              <a:solidFill>
                <a:srgbClr val="FF0000"/>
              </a:solidFill>
              <a:latin typeface="+mn-lt"/>
              <a:cs typeface="Courier New" pitchFamily="49" charset="0"/>
            </a:rPr>
            <a:t>name</a:t>
          </a:r>
          <a:r>
            <a:rPr lang="en-US" sz="2900" kern="1200" dirty="0">
              <a:solidFill>
                <a:srgbClr val="FF0000"/>
              </a:solidFill>
              <a:latin typeface="+mn-lt"/>
              <a:cs typeface="Courier New" pitchFamily="49" charset="0"/>
            </a:rPr>
            <a:t>(</a:t>
          </a:r>
          <a:r>
            <a:rPr lang="en-US" sz="2900" i="1" kern="1200" dirty="0">
              <a:solidFill>
                <a:srgbClr val="FF0000"/>
              </a:solidFill>
              <a:latin typeface="+mn-lt"/>
              <a:cs typeface="Courier New" pitchFamily="49" charset="0"/>
            </a:rPr>
            <a:t>parameter</a:t>
          </a:r>
          <a:r>
            <a:rPr lang="en-US" sz="2900" kern="1200" dirty="0">
              <a:solidFill>
                <a:srgbClr val="FF0000"/>
              </a:solidFill>
              <a:latin typeface="+mn-lt"/>
              <a:cs typeface="Courier New" pitchFamily="49" charset="0"/>
            </a:rPr>
            <a:t>):</a:t>
          </a:r>
          <a:endParaRPr lang="en-US" sz="2900" kern="1200" dirty="0">
            <a:solidFill>
              <a:srgbClr val="FF0000"/>
            </a:solidFill>
            <a:latin typeface="+mn-lt"/>
          </a:endParaRP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u="none" kern="1200" dirty="0">
              <a:solidFill>
                <a:srgbClr val="FF0000"/>
              </a:solidFill>
              <a:latin typeface="+mn-lt"/>
              <a:cs typeface="Courier New" pitchFamily="49" charset="0"/>
            </a:rPr>
            <a:t>Scope</a:t>
          </a:r>
          <a:r>
            <a:rPr lang="en-US" sz="2900" u="none" kern="1200" dirty="0">
              <a:latin typeface="+mn-lt"/>
              <a:cs typeface="Courier New" pitchFamily="49" charset="0"/>
            </a:rPr>
            <a:t> of a parameter exists inside </a:t>
          </a:r>
          <a:r>
            <a:rPr lang="en-US" sz="2900" kern="1200" dirty="0">
              <a:latin typeface="+mn-lt"/>
              <a:cs typeface="Courier New" pitchFamily="49" charset="0"/>
            </a:rPr>
            <a:t>the function</a:t>
          </a:r>
        </a:p>
      </dsp:txBody>
      <dsp:txXfrm>
        <a:off x="0" y="941762"/>
        <a:ext cx="10972800" cy="1991340"/>
      </dsp:txXfrm>
    </dsp:sp>
    <dsp:sp modelId="{B4025433-A258-4531-AC2E-75F7918900B7}">
      <dsp:nvSpPr>
        <dsp:cNvPr id="0" name=""/>
        <dsp:cNvSpPr/>
      </dsp:nvSpPr>
      <dsp:spPr>
        <a:xfrm>
          <a:off x="0" y="2933102"/>
          <a:ext cx="10972800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700" u="none" kern="1200" dirty="0"/>
            <a:t>Argument</a:t>
          </a:r>
          <a:endParaRPr lang="en-US" sz="3700" u="none" kern="1200" dirty="0"/>
        </a:p>
      </dsp:txBody>
      <dsp:txXfrm>
        <a:off x="43321" y="2976423"/>
        <a:ext cx="10886158" cy="800803"/>
      </dsp:txXfrm>
    </dsp:sp>
    <dsp:sp modelId="{8DC6BD66-3418-47FF-8F15-989B5E18B3DC}">
      <dsp:nvSpPr>
        <dsp:cNvPr id="0" name=""/>
        <dsp:cNvSpPr/>
      </dsp:nvSpPr>
      <dsp:spPr>
        <a:xfrm>
          <a:off x="0" y="3820547"/>
          <a:ext cx="10972800" cy="1914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2900" kern="1200" dirty="0">
              <a:solidFill>
                <a:srgbClr val="FF0000"/>
              </a:solidFill>
              <a:latin typeface="+mn-lt"/>
            </a:rPr>
            <a:t>Piece of data </a:t>
          </a:r>
          <a:r>
            <a:rPr lang="en-US" altLang="en-US" sz="2900" kern="1200" dirty="0">
              <a:latin typeface="+mn-lt"/>
            </a:rPr>
            <a:t>that is sent into a function</a:t>
          </a:r>
          <a:endParaRPr lang="en-US" sz="2900" kern="1200" dirty="0">
            <a:latin typeface="+mn-lt"/>
          </a:endParaRP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2900" kern="1200" dirty="0">
              <a:latin typeface="+mn-lt"/>
            </a:rPr>
            <a:t>Function can use arguments for calculations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2900" kern="1200" dirty="0">
              <a:latin typeface="+mn-lt"/>
            </a:rPr>
            <a:t>When calling the function, the argument is placed in </a:t>
          </a:r>
          <a:r>
            <a:rPr lang="en-US" altLang="en-US" sz="2900" kern="1200" dirty="0">
              <a:solidFill>
                <a:srgbClr val="FF0000"/>
              </a:solidFill>
              <a:latin typeface="+mn-lt"/>
            </a:rPr>
            <a:t>parentheses</a:t>
          </a:r>
          <a:r>
            <a:rPr lang="en-US" altLang="en-US" sz="2900" kern="1200" dirty="0">
              <a:latin typeface="+mn-lt"/>
            </a:rPr>
            <a:t> following the function name</a:t>
          </a:r>
        </a:p>
      </dsp:txBody>
      <dsp:txXfrm>
        <a:off x="0" y="3820547"/>
        <a:ext cx="10972800" cy="19147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058970-B9FC-44DC-9A14-BF5EF6D65515}">
      <dsp:nvSpPr>
        <dsp:cNvPr id="0" name=""/>
        <dsp:cNvSpPr/>
      </dsp:nvSpPr>
      <dsp:spPr>
        <a:xfrm>
          <a:off x="0" y="18159"/>
          <a:ext cx="1074420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dirty="0"/>
            <a:t>Required arguments</a:t>
          </a:r>
          <a:endParaRPr lang="en-US" sz="2700" u="none" kern="1200" dirty="0"/>
        </a:p>
      </dsp:txBody>
      <dsp:txXfrm>
        <a:off x="31613" y="49772"/>
        <a:ext cx="10680974" cy="584369"/>
      </dsp:txXfrm>
    </dsp:sp>
    <dsp:sp modelId="{7A68E320-2120-4867-81DD-6C492966CAEF}">
      <dsp:nvSpPr>
        <dsp:cNvPr id="0" name=""/>
        <dsp:cNvSpPr/>
      </dsp:nvSpPr>
      <dsp:spPr>
        <a:xfrm>
          <a:off x="0" y="665754"/>
          <a:ext cx="10744200" cy="1676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1128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0" i="0" kern="1200" dirty="0"/>
            <a:t>Arguments passed to a function are in correct positional </a:t>
          </a:r>
          <a:r>
            <a:rPr lang="en-US" sz="2100" b="0" i="0" kern="1200" dirty="0">
              <a:solidFill>
                <a:srgbClr val="FF0000"/>
              </a:solidFill>
            </a:rPr>
            <a:t>order</a:t>
          </a:r>
          <a:endParaRPr lang="en-US" sz="2100" u="none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0" i="0" kern="1200" dirty="0"/>
            <a:t>The number of arguments in the function call </a:t>
          </a:r>
          <a:r>
            <a:rPr lang="en-US" sz="2100" b="0" i="0" kern="1200" dirty="0">
              <a:solidFill>
                <a:srgbClr val="FF0000"/>
              </a:solidFill>
            </a:rPr>
            <a:t>should match exactly </a:t>
          </a:r>
          <a:r>
            <a:rPr lang="en-US" sz="2100" b="0" i="0" kern="1200" dirty="0"/>
            <a:t>with the function definition</a:t>
          </a:r>
          <a:endParaRPr lang="en-US" sz="2100" u="none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0" i="0" kern="1200" dirty="0"/>
            <a:t>To call the function </a:t>
          </a:r>
          <a:r>
            <a:rPr lang="en-US" sz="2100" b="0" i="1" kern="1200" dirty="0">
              <a:solidFill>
                <a:srgbClr val="FF0000"/>
              </a:solidFill>
            </a:rPr>
            <a:t>printMe()</a:t>
          </a:r>
          <a:r>
            <a:rPr lang="en-US" sz="2100" b="0" i="0" kern="1200" dirty="0">
              <a:solidFill>
                <a:srgbClr val="FF0000"/>
              </a:solidFill>
            </a:rPr>
            <a:t>, </a:t>
          </a:r>
          <a:r>
            <a:rPr lang="en-US" sz="2100" b="0" i="0" kern="1200" dirty="0"/>
            <a:t>you definitely need to pass one argument, otherwise it gives a syntax error</a:t>
          </a:r>
        </a:p>
      </dsp:txBody>
      <dsp:txXfrm>
        <a:off x="0" y="665754"/>
        <a:ext cx="10744200" cy="16766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A7FEF5-35A8-47C7-A004-A42ED8D82123}">
      <dsp:nvSpPr>
        <dsp:cNvPr id="0" name=""/>
        <dsp:cNvSpPr/>
      </dsp:nvSpPr>
      <dsp:spPr>
        <a:xfrm>
          <a:off x="0" y="50536"/>
          <a:ext cx="1097280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dirty="0"/>
            <a:t>Keyword arguments</a:t>
          </a:r>
        </a:p>
      </dsp:txBody>
      <dsp:txXfrm>
        <a:off x="31613" y="82149"/>
        <a:ext cx="10909574" cy="584369"/>
      </dsp:txXfrm>
    </dsp:sp>
    <dsp:sp modelId="{18C01CC1-5CA2-4E3A-8D6F-C27F5F8BD8D5}">
      <dsp:nvSpPr>
        <dsp:cNvPr id="0" name=""/>
        <dsp:cNvSpPr/>
      </dsp:nvSpPr>
      <dsp:spPr>
        <a:xfrm>
          <a:off x="0" y="665754"/>
          <a:ext cx="10972800" cy="1676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0" i="0" kern="1200" dirty="0"/>
            <a:t>When you use arguments in a function call, the caller identifies the arguments by the </a:t>
          </a:r>
          <a:r>
            <a:rPr lang="en-US" sz="2100" b="0" i="0" kern="1200" dirty="0">
              <a:solidFill>
                <a:srgbClr val="FF0000"/>
              </a:solidFill>
            </a:rPr>
            <a:t>parameter name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0" i="0" kern="1200" dirty="0"/>
            <a:t>This allows you to skip arguments or place them out of order because the Python interpreter is able to use the </a:t>
          </a:r>
          <a:r>
            <a:rPr lang="en-US" sz="2100" b="0" i="0" kern="1200" dirty="0">
              <a:solidFill>
                <a:srgbClr val="FF0000"/>
              </a:solidFill>
            </a:rPr>
            <a:t>parameter names</a:t>
          </a:r>
          <a:r>
            <a:rPr lang="en-US" sz="2100" b="0" i="0" kern="1200" dirty="0"/>
            <a:t> provided to match the values with parameters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0" i="0" kern="1200" dirty="0"/>
            <a:t>You can also make keyword calls to the </a:t>
          </a:r>
          <a:r>
            <a:rPr lang="en-US" sz="2100" b="0" i="1" kern="1200" dirty="0">
              <a:solidFill>
                <a:srgbClr val="FF0000"/>
              </a:solidFill>
            </a:rPr>
            <a:t>printInfo()</a:t>
          </a:r>
          <a:r>
            <a:rPr lang="en-US" sz="2100" b="0" i="0" kern="1200" dirty="0"/>
            <a:t> function</a:t>
          </a:r>
        </a:p>
      </dsp:txBody>
      <dsp:txXfrm>
        <a:off x="0" y="665754"/>
        <a:ext cx="10972800" cy="16766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A7FEF5-35A8-47C7-A004-A42ED8D82123}">
      <dsp:nvSpPr>
        <dsp:cNvPr id="0" name=""/>
        <dsp:cNvSpPr/>
      </dsp:nvSpPr>
      <dsp:spPr>
        <a:xfrm>
          <a:off x="0" y="2"/>
          <a:ext cx="10058399" cy="8960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dirty="0"/>
            <a:t>A default argument</a:t>
          </a:r>
        </a:p>
      </dsp:txBody>
      <dsp:txXfrm>
        <a:off x="43743" y="43745"/>
        <a:ext cx="9970913" cy="808589"/>
      </dsp:txXfrm>
    </dsp:sp>
    <dsp:sp modelId="{18C01CC1-5CA2-4E3A-8D6F-C27F5F8BD8D5}">
      <dsp:nvSpPr>
        <dsp:cNvPr id="0" name=""/>
        <dsp:cNvSpPr/>
      </dsp:nvSpPr>
      <dsp:spPr>
        <a:xfrm>
          <a:off x="0" y="896077"/>
          <a:ext cx="10058399" cy="14407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dirty="0"/>
            <a:t>Argument that assumes a </a:t>
          </a:r>
          <a:r>
            <a:rPr lang="en-US" sz="2300" b="0" i="0" kern="1200" dirty="0">
              <a:solidFill>
                <a:srgbClr val="FF0000"/>
              </a:solidFill>
            </a:rPr>
            <a:t>default value </a:t>
          </a:r>
          <a:r>
            <a:rPr lang="en-US" sz="2300" b="0" i="0" kern="1200" dirty="0"/>
            <a:t>if a value is not provided in the function call for that argument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dirty="0"/>
            <a:t>The following example gives an idea on default arguments, it </a:t>
          </a:r>
          <a:r>
            <a:rPr lang="en-US" sz="2300" b="0" i="0" kern="1200" dirty="0">
              <a:solidFill>
                <a:srgbClr val="FF0000"/>
              </a:solidFill>
            </a:rPr>
            <a:t>prints default age </a:t>
          </a:r>
          <a:r>
            <a:rPr lang="en-US" sz="2300" b="0" i="0" kern="1200" dirty="0"/>
            <a:t>if it is not passed</a:t>
          </a:r>
        </a:p>
      </dsp:txBody>
      <dsp:txXfrm>
        <a:off x="0" y="896077"/>
        <a:ext cx="10058399" cy="14407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A7FEF5-35A8-47C7-A004-A42ED8D82123}">
      <dsp:nvSpPr>
        <dsp:cNvPr id="0" name=""/>
        <dsp:cNvSpPr/>
      </dsp:nvSpPr>
      <dsp:spPr>
        <a:xfrm>
          <a:off x="0" y="22384"/>
          <a:ext cx="10058399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1" kern="1200" dirty="0"/>
            <a:t>Variable-length</a:t>
          </a:r>
          <a:r>
            <a:rPr lang="en-US" sz="2600" b="0" i="0" kern="1200" dirty="0"/>
            <a:t> arguments </a:t>
          </a:r>
        </a:p>
      </dsp:txBody>
      <dsp:txXfrm>
        <a:off x="30442" y="52826"/>
        <a:ext cx="9997515" cy="562726"/>
      </dsp:txXfrm>
    </dsp:sp>
    <dsp:sp modelId="{18C01CC1-5CA2-4E3A-8D6F-C27F5F8BD8D5}">
      <dsp:nvSpPr>
        <dsp:cNvPr id="0" name=""/>
        <dsp:cNvSpPr/>
      </dsp:nvSpPr>
      <dsp:spPr>
        <a:xfrm>
          <a:off x="0" y="645995"/>
          <a:ext cx="10058399" cy="1668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i="0" kern="1200" dirty="0"/>
            <a:t>You can process a function for more arguments than you specified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i="0" kern="1200" dirty="0"/>
            <a:t>An asterisk (*) is placed before the variable name that holds the values of all non keyword variable arguments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i="0" kern="1200" dirty="0"/>
            <a:t>It saves the additional parameters in Tuple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i="0" kern="1200" dirty="0"/>
            <a:t>This tuple is empty when no additional arguments are specified during the function call</a:t>
          </a:r>
        </a:p>
      </dsp:txBody>
      <dsp:txXfrm>
        <a:off x="0" y="645995"/>
        <a:ext cx="10058399" cy="16684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083A40-F3FD-4487-ADC9-635EB72E2F0C}">
      <dsp:nvSpPr>
        <dsp:cNvPr id="0" name=""/>
        <dsp:cNvSpPr/>
      </dsp:nvSpPr>
      <dsp:spPr>
        <a:xfrm>
          <a:off x="0" y="158971"/>
          <a:ext cx="10972800" cy="12951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5400" i="1" kern="1200" dirty="0"/>
            <a:t>Pass by value</a:t>
          </a:r>
          <a:endParaRPr lang="en-US" altLang="en-US" sz="5400" kern="1200" dirty="0"/>
        </a:p>
      </dsp:txBody>
      <dsp:txXfrm>
        <a:off x="63226" y="222197"/>
        <a:ext cx="10846348" cy="1168738"/>
      </dsp:txXfrm>
    </dsp:sp>
    <dsp:sp modelId="{0E943417-EBF7-4B2C-9399-89F768186420}">
      <dsp:nvSpPr>
        <dsp:cNvPr id="0" name=""/>
        <dsp:cNvSpPr/>
      </dsp:nvSpPr>
      <dsp:spPr>
        <a:xfrm>
          <a:off x="0" y="1454161"/>
          <a:ext cx="10972800" cy="4024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68580" rIns="384048" bIns="68580" numCol="1" spcCol="1270" anchor="t" anchorCtr="0">
          <a:noAutofit/>
        </a:bodyPr>
        <a:lstStyle/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4200" kern="1200" dirty="0"/>
            <a:t>Changes made to a parameter value within the function </a:t>
          </a:r>
          <a:r>
            <a:rPr lang="en-US" altLang="en-US" sz="4200" kern="1200" dirty="0">
              <a:solidFill>
                <a:srgbClr val="FF0000"/>
              </a:solidFill>
            </a:rPr>
            <a:t>do not affect </a:t>
          </a:r>
          <a:r>
            <a:rPr lang="en-US" altLang="en-US" sz="4200" kern="1200" dirty="0"/>
            <a:t>the actual parameter</a:t>
          </a:r>
        </a:p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4200" kern="1200" dirty="0"/>
            <a:t>Provides a way for </a:t>
          </a:r>
          <a:r>
            <a:rPr lang="en-US" altLang="en-US" sz="4200" kern="1200" dirty="0">
              <a:solidFill>
                <a:srgbClr val="FF0000"/>
              </a:solidFill>
            </a:rPr>
            <a:t>unidirectional</a:t>
          </a:r>
          <a:r>
            <a:rPr lang="en-US" altLang="en-US" sz="4200" kern="1200" dirty="0"/>
            <a:t> communication between</a:t>
          </a:r>
          <a:endParaRPr lang="en-US" altLang="en-US" sz="4200" i="1" kern="1200" dirty="0"/>
        </a:p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4200" kern="1200" dirty="0">
              <a:solidFill>
                <a:srgbClr val="FF0000"/>
              </a:solidFill>
            </a:rPr>
            <a:t>Calling</a:t>
          </a:r>
          <a:r>
            <a:rPr lang="en-US" altLang="en-US" sz="4200" kern="1200" dirty="0"/>
            <a:t> function can communicate with </a:t>
          </a:r>
          <a:r>
            <a:rPr lang="en-US" altLang="en-US" sz="4200" kern="1200" dirty="0">
              <a:solidFill>
                <a:srgbClr val="FF0000"/>
              </a:solidFill>
            </a:rPr>
            <a:t>caller</a:t>
          </a:r>
          <a:endParaRPr lang="he-IL" altLang="en-US" sz="4200" kern="1200" dirty="0">
            <a:solidFill>
              <a:srgbClr val="FF0000"/>
            </a:solidFill>
          </a:endParaRPr>
        </a:p>
      </dsp:txBody>
      <dsp:txXfrm>
        <a:off x="0" y="1454161"/>
        <a:ext cx="10972800" cy="402407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083A40-F3FD-4487-ADC9-635EB72E2F0C}">
      <dsp:nvSpPr>
        <dsp:cNvPr id="0" name=""/>
        <dsp:cNvSpPr/>
      </dsp:nvSpPr>
      <dsp:spPr>
        <a:xfrm>
          <a:off x="0" y="5717"/>
          <a:ext cx="109728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800" i="1" kern="1200" dirty="0"/>
            <a:t>Pass by </a:t>
          </a:r>
          <a:r>
            <a:rPr lang="en-US" altLang="en-US" sz="2800" i="1" kern="1200" dirty="0">
              <a:solidFill>
                <a:srgbClr val="FFFF00"/>
              </a:solidFill>
            </a:rPr>
            <a:t>Reference</a:t>
          </a:r>
          <a:endParaRPr lang="en-US" altLang="en-US" sz="2800" kern="1200" dirty="0">
            <a:solidFill>
              <a:srgbClr val="FFFF00"/>
            </a:solidFill>
          </a:endParaRPr>
        </a:p>
      </dsp:txBody>
      <dsp:txXfrm>
        <a:off x="32784" y="38501"/>
        <a:ext cx="10907232" cy="606012"/>
      </dsp:txXfrm>
    </dsp:sp>
    <dsp:sp modelId="{0E943417-EBF7-4B2C-9399-89F768186420}">
      <dsp:nvSpPr>
        <dsp:cNvPr id="0" name=""/>
        <dsp:cNvSpPr/>
      </dsp:nvSpPr>
      <dsp:spPr>
        <a:xfrm>
          <a:off x="0" y="677297"/>
          <a:ext cx="10972800" cy="1449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 dirty="0"/>
            <a:t>Parameters (arguments) in the Python language are some instance passed by </a:t>
          </a:r>
          <a:r>
            <a:rPr lang="en-US" sz="2200" b="0" i="0" kern="1200" dirty="0">
              <a:solidFill>
                <a:srgbClr val="FF0000"/>
              </a:solidFill>
            </a:rPr>
            <a:t>Reference</a:t>
          </a:r>
          <a:r>
            <a:rPr lang="en-US" sz="2200" b="0" i="0" kern="1200" dirty="0"/>
            <a:t>.</a:t>
          </a:r>
          <a:endParaRPr lang="en-US" alt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 dirty="0"/>
            <a:t> It means if you change what a parameter refers to within a function, the change also reflects back in the calling function.</a:t>
          </a:r>
          <a:endParaRPr lang="en-US" alt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altLang="en-US" sz="2200" kern="1200" dirty="0"/>
        </a:p>
      </dsp:txBody>
      <dsp:txXfrm>
        <a:off x="0" y="677297"/>
        <a:ext cx="10972800" cy="1449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083A40-F3FD-4487-ADC9-635EB72E2F0C}">
      <dsp:nvSpPr>
        <dsp:cNvPr id="0" name=""/>
        <dsp:cNvSpPr/>
      </dsp:nvSpPr>
      <dsp:spPr>
        <a:xfrm>
          <a:off x="0" y="119071"/>
          <a:ext cx="10972800" cy="82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800" i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Pass by Reference</a:t>
          </a:r>
        </a:p>
      </dsp:txBody>
      <dsp:txXfrm>
        <a:off x="40209" y="159280"/>
        <a:ext cx="10892382" cy="743262"/>
      </dsp:txXfrm>
    </dsp:sp>
    <dsp:sp modelId="{0E943417-EBF7-4B2C-9399-89F768186420}">
      <dsp:nvSpPr>
        <dsp:cNvPr id="0" name=""/>
        <dsp:cNvSpPr/>
      </dsp:nvSpPr>
      <dsp:spPr>
        <a:xfrm>
          <a:off x="0" y="942752"/>
          <a:ext cx="10972800" cy="1070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55880" rIns="312928" bIns="55880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400" b="0" i="0" kern="1200" dirty="0"/>
            <a:t>Argument is being passed by reference and the </a:t>
          </a:r>
          <a:r>
            <a:rPr lang="en-US" sz="3400" b="0" i="0" kern="1200" dirty="0">
              <a:solidFill>
                <a:srgbClr val="FF0000"/>
              </a:solidFill>
            </a:rPr>
            <a:t>reference</a:t>
          </a:r>
          <a:r>
            <a:rPr lang="en-US" sz="3400" b="0" i="0" kern="1200" dirty="0"/>
            <a:t> is being overwritten inside the called function</a:t>
          </a:r>
          <a:endParaRPr lang="en-US" altLang="en-US" sz="3400" kern="1200" dirty="0"/>
        </a:p>
      </dsp:txBody>
      <dsp:txXfrm>
        <a:off x="0" y="942752"/>
        <a:ext cx="10972800" cy="107019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083A40-F3FD-4487-ADC9-635EB72E2F0C}">
      <dsp:nvSpPr>
        <dsp:cNvPr id="0" name=""/>
        <dsp:cNvSpPr/>
      </dsp:nvSpPr>
      <dsp:spPr>
        <a:xfrm>
          <a:off x="0" y="0"/>
          <a:ext cx="10972800" cy="14718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0" i="0" kern="1200" dirty="0"/>
            <a:t>The statement return [expression] exits a function, optionally passing back an expression to the caller. </a:t>
          </a:r>
          <a:endParaRPr lang="en-US" altLang="en-US" sz="3700" kern="1200" dirty="0"/>
        </a:p>
      </dsp:txBody>
      <dsp:txXfrm>
        <a:off x="71850" y="71850"/>
        <a:ext cx="10829100" cy="1328160"/>
      </dsp:txXfrm>
    </dsp:sp>
    <dsp:sp modelId="{0E943417-EBF7-4B2C-9399-89F768186420}">
      <dsp:nvSpPr>
        <dsp:cNvPr id="0" name=""/>
        <dsp:cNvSpPr/>
      </dsp:nvSpPr>
      <dsp:spPr>
        <a:xfrm>
          <a:off x="0" y="1495577"/>
          <a:ext cx="10972800" cy="612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b="0" i="0" kern="1200" dirty="0"/>
            <a:t>A return statement with no arguments is the same as return None.</a:t>
          </a:r>
          <a:endParaRPr lang="en-US" altLang="en-US" sz="2900" kern="1200" dirty="0"/>
        </a:p>
      </dsp:txBody>
      <dsp:txXfrm>
        <a:off x="0" y="1495577"/>
        <a:ext cx="10972800" cy="61272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083A40-F3FD-4487-ADC9-635EB72E2F0C}">
      <dsp:nvSpPr>
        <dsp:cNvPr id="0" name=""/>
        <dsp:cNvSpPr/>
      </dsp:nvSpPr>
      <dsp:spPr>
        <a:xfrm>
          <a:off x="0" y="43584"/>
          <a:ext cx="1051560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 function can return multiple values</a:t>
          </a:r>
          <a:endParaRPr lang="en-US" altLang="en-US" sz="2700" kern="1200" dirty="0"/>
        </a:p>
      </dsp:txBody>
      <dsp:txXfrm>
        <a:off x="31613" y="75197"/>
        <a:ext cx="10452374" cy="584369"/>
      </dsp:txXfrm>
    </dsp:sp>
    <dsp:sp modelId="{0E943417-EBF7-4B2C-9399-89F768186420}">
      <dsp:nvSpPr>
        <dsp:cNvPr id="0" name=""/>
        <dsp:cNvSpPr/>
      </dsp:nvSpPr>
      <dsp:spPr>
        <a:xfrm>
          <a:off x="0" y="691179"/>
          <a:ext cx="10515600" cy="1397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>
              <a:latin typeface="+mj-lt"/>
              <a:cs typeface="Courier New" pitchFamily="49" charset="0"/>
            </a:rPr>
            <a:t>Specified after the return statement separated by commas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>
              <a:latin typeface="+mj-lt"/>
              <a:cs typeface="Courier New" pitchFamily="49" charset="0"/>
            </a:rPr>
            <a:t>Format: </a:t>
          </a:r>
          <a:r>
            <a:rPr lang="en-US" sz="2100" kern="1200" dirty="0">
              <a:latin typeface="Courier New" pitchFamily="49" charset="0"/>
              <a:cs typeface="Courier New" pitchFamily="49" charset="0"/>
            </a:rPr>
            <a:t>return </a:t>
          </a:r>
          <a:r>
            <a:rPr lang="en-US" sz="2100" i="1" kern="1200" dirty="0">
              <a:latin typeface="Courier New" pitchFamily="49" charset="0"/>
              <a:cs typeface="Courier New" pitchFamily="49" charset="0"/>
            </a:rPr>
            <a:t>expression1,expression2, etc.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>
              <a:latin typeface="+mj-lt"/>
              <a:cs typeface="Courier New" pitchFamily="49" charset="0"/>
            </a:rPr>
            <a:t>When you call such a function in an assignment statement, you need a separate variable on the left side of the </a:t>
          </a:r>
          <a:r>
            <a:rPr lang="en-US" sz="2100" kern="1200" dirty="0">
              <a:latin typeface="Courier New" pitchFamily="49" charset="0"/>
              <a:cs typeface="Courier New" pitchFamily="49" charset="0"/>
            </a:rPr>
            <a:t>=</a:t>
          </a:r>
          <a:r>
            <a:rPr lang="en-US" sz="2100" kern="1200" dirty="0">
              <a:latin typeface="+mj-lt"/>
              <a:cs typeface="Courier New" pitchFamily="49" charset="0"/>
            </a:rPr>
            <a:t> operator to receive each returned value</a:t>
          </a:r>
        </a:p>
      </dsp:txBody>
      <dsp:txXfrm>
        <a:off x="0" y="691179"/>
        <a:ext cx="10515600" cy="139725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D4F1A-E54E-4DDB-A374-BC9037A6551C}">
      <dsp:nvSpPr>
        <dsp:cNvPr id="0" name=""/>
        <dsp:cNvSpPr/>
      </dsp:nvSpPr>
      <dsp:spPr>
        <a:xfrm>
          <a:off x="0" y="260867"/>
          <a:ext cx="108204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When you import a module, the Python interpreter searches for the module in the following sequences −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46606" y="307473"/>
        <a:ext cx="10727188" cy="861507"/>
      </dsp:txXfrm>
    </dsp:sp>
    <dsp:sp modelId="{3E71ED2E-3277-4574-9ED7-ECF67A282BE7}">
      <dsp:nvSpPr>
        <dsp:cNvPr id="0" name=""/>
        <dsp:cNvSpPr/>
      </dsp:nvSpPr>
      <dsp:spPr>
        <a:xfrm>
          <a:off x="0" y="1215587"/>
          <a:ext cx="10820400" cy="124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3548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dirty="0"/>
            <a:t>The </a:t>
          </a:r>
          <a:r>
            <a:rPr lang="en-US" sz="1900" b="0" i="0" kern="1200" dirty="0">
              <a:solidFill>
                <a:srgbClr val="FF0000"/>
              </a:solidFill>
            </a:rPr>
            <a:t>current</a:t>
          </a:r>
          <a:r>
            <a:rPr lang="en-US" sz="1900" b="0" i="0" kern="1200" dirty="0"/>
            <a:t> directory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dirty="0"/>
            <a:t>If the module isn't found, Python then searches each directory in the shell variable </a:t>
          </a:r>
          <a:r>
            <a:rPr lang="en-US" sz="1900" b="0" i="0" kern="1200" dirty="0">
              <a:solidFill>
                <a:srgbClr val="FF0000"/>
              </a:solidFill>
            </a:rPr>
            <a:t>PYTHONPATH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dirty="0"/>
            <a:t>If all else fails, Python checks the default path. On UNIX, this default path is normally </a:t>
          </a:r>
          <a:r>
            <a:rPr lang="en-US" sz="1900" b="0" i="0" kern="1200" dirty="0">
              <a:solidFill>
                <a:srgbClr val="FF0000"/>
              </a:solidFill>
            </a:rPr>
            <a:t>/usr/local/lib/python/</a:t>
          </a:r>
        </a:p>
      </dsp:txBody>
      <dsp:txXfrm>
        <a:off x="0" y="1215587"/>
        <a:ext cx="10820400" cy="1242000"/>
      </dsp:txXfrm>
    </dsp:sp>
    <dsp:sp modelId="{3EE40982-E0B4-4528-A411-A342AFBB8521}">
      <dsp:nvSpPr>
        <dsp:cNvPr id="0" name=""/>
        <dsp:cNvSpPr/>
      </dsp:nvSpPr>
      <dsp:spPr>
        <a:xfrm>
          <a:off x="0" y="2457587"/>
          <a:ext cx="108204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The module search path is stored in the system module sys as the </a:t>
          </a:r>
          <a:r>
            <a:rPr lang="en-US" sz="2400" b="1" i="0" kern="1200" dirty="0"/>
            <a:t>sys.path</a:t>
          </a:r>
          <a:r>
            <a:rPr lang="en-US" sz="2400" b="0" i="0" kern="1200" dirty="0"/>
            <a:t> variable.</a:t>
          </a:r>
        </a:p>
      </dsp:txBody>
      <dsp:txXfrm>
        <a:off x="46606" y="2504193"/>
        <a:ext cx="10727188" cy="861507"/>
      </dsp:txXfrm>
    </dsp:sp>
    <dsp:sp modelId="{5908748C-3D8D-482F-9F07-D7D283D92CD3}">
      <dsp:nvSpPr>
        <dsp:cNvPr id="0" name=""/>
        <dsp:cNvSpPr/>
      </dsp:nvSpPr>
      <dsp:spPr>
        <a:xfrm>
          <a:off x="0" y="3412307"/>
          <a:ext cx="10820400" cy="1887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3548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dirty="0"/>
            <a:t>The </a:t>
          </a:r>
          <a:r>
            <a:rPr lang="en-US" sz="1900" b="0" i="0" kern="1200" dirty="0">
              <a:solidFill>
                <a:srgbClr val="FF0000"/>
              </a:solidFill>
            </a:rPr>
            <a:t>sys.path</a:t>
          </a:r>
          <a:r>
            <a:rPr lang="en-US" sz="1900" b="0" i="0" kern="1200" dirty="0"/>
            <a:t> variable contains the current directory, </a:t>
          </a:r>
          <a:r>
            <a:rPr lang="en-US" sz="1900" b="0" i="0" kern="1200" dirty="0">
              <a:solidFill>
                <a:srgbClr val="FF0000"/>
              </a:solidFill>
            </a:rPr>
            <a:t>PYTHONPATH</a:t>
          </a:r>
          <a:r>
            <a:rPr lang="en-US" sz="1900" b="0" i="0" kern="1200" dirty="0"/>
            <a:t>, and the installation-dependent default.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dirty="0"/>
            <a:t>The </a:t>
          </a:r>
          <a:r>
            <a:rPr lang="en-US" sz="1900" b="0" i="0" kern="1200" dirty="0">
              <a:solidFill>
                <a:srgbClr val="FF0000"/>
              </a:solidFill>
            </a:rPr>
            <a:t>PYTHONPATH</a:t>
          </a:r>
          <a:r>
            <a:rPr lang="en-US" sz="1900" b="0" i="0" kern="1200" dirty="0"/>
            <a:t> is an environment variable, consisting of a list of directories.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dirty="0"/>
            <a:t>The syntax of </a:t>
          </a:r>
          <a:r>
            <a:rPr lang="en-US" sz="1900" b="0" i="0" kern="1200" dirty="0">
              <a:solidFill>
                <a:srgbClr val="FF0000"/>
              </a:solidFill>
            </a:rPr>
            <a:t>PYTHONPATH</a:t>
          </a:r>
          <a:r>
            <a:rPr lang="en-US" sz="1900" b="0" i="0" kern="1200" dirty="0"/>
            <a:t> is the same as that of the shell variable </a:t>
          </a:r>
          <a:r>
            <a:rPr lang="en-US" sz="1900" b="0" i="0" kern="1200" dirty="0">
              <a:solidFill>
                <a:srgbClr val="FF0000"/>
              </a:solidFill>
            </a:rPr>
            <a:t>PATH</a:t>
          </a:r>
          <a:r>
            <a:rPr lang="en-US" sz="1900" b="0" i="0" kern="1200" dirty="0"/>
            <a:t>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dirty="0"/>
            <a:t>Here is a typical </a:t>
          </a:r>
          <a:r>
            <a:rPr lang="en-US" sz="1900" b="0" i="0" kern="1200" dirty="0">
              <a:solidFill>
                <a:srgbClr val="FF0000"/>
              </a:solidFill>
            </a:rPr>
            <a:t>PYTHONPATH</a:t>
          </a:r>
          <a:r>
            <a:rPr lang="en-US" sz="1900" b="0" i="0" kern="1200" dirty="0"/>
            <a:t> from a Windows system: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>
              <a:solidFill>
                <a:srgbClr val="FF0000"/>
              </a:solidFill>
            </a:rPr>
            <a:t>set PYTHONPATH=c:\python20\lib;</a:t>
          </a:r>
        </a:p>
      </dsp:txBody>
      <dsp:txXfrm>
        <a:off x="0" y="3412307"/>
        <a:ext cx="10820400" cy="188784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058970-B9FC-44DC-9A14-BF5EF6D65515}">
      <dsp:nvSpPr>
        <dsp:cNvPr id="0" name=""/>
        <dsp:cNvSpPr/>
      </dsp:nvSpPr>
      <dsp:spPr>
        <a:xfrm>
          <a:off x="0" y="93226"/>
          <a:ext cx="10972800" cy="111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All variables in a program may not be </a:t>
          </a:r>
          <a:r>
            <a:rPr lang="en-US" sz="2800" b="0" i="0" kern="1200" dirty="0">
              <a:solidFill>
                <a:srgbClr val="FFFF00"/>
              </a:solidFill>
            </a:rPr>
            <a:t>accessible</a:t>
          </a:r>
          <a:r>
            <a:rPr lang="en-US" sz="2800" b="0" i="0" kern="1200" dirty="0"/>
            <a:t> at all locations in that program. </a:t>
          </a:r>
          <a:endParaRPr lang="en-US" sz="2800" kern="1200" dirty="0"/>
        </a:p>
      </dsp:txBody>
      <dsp:txXfrm>
        <a:off x="54373" y="147599"/>
        <a:ext cx="10864054" cy="1005094"/>
      </dsp:txXfrm>
    </dsp:sp>
    <dsp:sp modelId="{41D589AB-392F-4FB7-BC1C-97CEFC7492C4}">
      <dsp:nvSpPr>
        <dsp:cNvPr id="0" name=""/>
        <dsp:cNvSpPr/>
      </dsp:nvSpPr>
      <dsp:spPr>
        <a:xfrm>
          <a:off x="0" y="1287706"/>
          <a:ext cx="10972800" cy="111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This depends on </a:t>
          </a:r>
          <a:r>
            <a:rPr lang="en-US" sz="2800" b="0" i="0" kern="1200" dirty="0">
              <a:solidFill>
                <a:srgbClr val="FFFF00"/>
              </a:solidFill>
            </a:rPr>
            <a:t>where</a:t>
          </a:r>
          <a:r>
            <a:rPr lang="en-US" sz="2800" b="0" i="0" kern="1200" dirty="0"/>
            <a:t> you have declared a variable.</a:t>
          </a:r>
          <a:endParaRPr lang="en-US" sz="2800" kern="1200" dirty="0"/>
        </a:p>
      </dsp:txBody>
      <dsp:txXfrm>
        <a:off x="54373" y="1342079"/>
        <a:ext cx="10864054" cy="1005094"/>
      </dsp:txXfrm>
    </dsp:sp>
    <dsp:sp modelId="{D784C2F4-1038-48EB-8CB4-3234D6194981}">
      <dsp:nvSpPr>
        <dsp:cNvPr id="0" name=""/>
        <dsp:cNvSpPr/>
      </dsp:nvSpPr>
      <dsp:spPr>
        <a:xfrm>
          <a:off x="0" y="2482187"/>
          <a:ext cx="10972800" cy="111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The </a:t>
          </a:r>
          <a:r>
            <a:rPr lang="en-US" sz="2800" b="0" i="0" kern="1200" dirty="0">
              <a:solidFill>
                <a:srgbClr val="FFFF00"/>
              </a:solidFill>
            </a:rPr>
            <a:t>scope</a:t>
          </a:r>
          <a:r>
            <a:rPr lang="en-US" sz="2800" b="0" i="0" kern="1200" dirty="0"/>
            <a:t> of a variable determines the portion of the program where you can </a:t>
          </a:r>
          <a:r>
            <a:rPr lang="en-US" sz="2800" b="0" i="0" kern="1200" dirty="0">
              <a:solidFill>
                <a:srgbClr val="FFFF00"/>
              </a:solidFill>
            </a:rPr>
            <a:t>access</a:t>
          </a:r>
          <a:r>
            <a:rPr lang="en-US" sz="2800" b="0" i="0" kern="1200" dirty="0"/>
            <a:t> a particular identifier. </a:t>
          </a:r>
        </a:p>
      </dsp:txBody>
      <dsp:txXfrm>
        <a:off x="54373" y="2536560"/>
        <a:ext cx="10864054" cy="1005094"/>
      </dsp:txXfrm>
    </dsp:sp>
    <dsp:sp modelId="{0B7B2368-AEBD-4745-8822-962A8C60BEDA}">
      <dsp:nvSpPr>
        <dsp:cNvPr id="0" name=""/>
        <dsp:cNvSpPr/>
      </dsp:nvSpPr>
      <dsp:spPr>
        <a:xfrm>
          <a:off x="0" y="3676666"/>
          <a:ext cx="10972800" cy="111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There are two basic scopes of variables in Python</a:t>
          </a:r>
        </a:p>
      </dsp:txBody>
      <dsp:txXfrm>
        <a:off x="54373" y="3731039"/>
        <a:ext cx="10864054" cy="1005094"/>
      </dsp:txXfrm>
    </dsp:sp>
    <dsp:sp modelId="{630B3FD9-CBDA-48B4-8336-CA650EF35BBA}">
      <dsp:nvSpPr>
        <dsp:cNvPr id="0" name=""/>
        <dsp:cNvSpPr/>
      </dsp:nvSpPr>
      <dsp:spPr>
        <a:xfrm>
          <a:off x="0" y="4790506"/>
          <a:ext cx="10972800" cy="75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1" i="0" kern="1200" dirty="0">
              <a:solidFill>
                <a:srgbClr val="FF0000"/>
              </a:solidFill>
            </a:rPr>
            <a:t>Global</a:t>
          </a:r>
          <a:r>
            <a:rPr lang="en-US" sz="2200" b="0" i="0" kern="1200" dirty="0"/>
            <a:t> variables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1" i="0" kern="1200" dirty="0">
              <a:solidFill>
                <a:srgbClr val="FF0000"/>
              </a:solidFill>
            </a:rPr>
            <a:t>Local</a:t>
          </a:r>
          <a:r>
            <a:rPr lang="en-US" sz="2200" b="0" i="0" kern="1200" dirty="0"/>
            <a:t> variables</a:t>
          </a:r>
        </a:p>
      </dsp:txBody>
      <dsp:txXfrm>
        <a:off x="0" y="4790506"/>
        <a:ext cx="10972800" cy="75348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058970-B9FC-44DC-9A14-BF5EF6D65515}">
      <dsp:nvSpPr>
        <dsp:cNvPr id="0" name=""/>
        <dsp:cNvSpPr/>
      </dsp:nvSpPr>
      <dsp:spPr>
        <a:xfrm>
          <a:off x="0" y="438736"/>
          <a:ext cx="109728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100" b="1" u="none" kern="1200" dirty="0">
              <a:solidFill>
                <a:srgbClr val="FFFF00"/>
              </a:solidFill>
            </a:rPr>
            <a:t>Local</a:t>
          </a:r>
          <a:r>
            <a:rPr lang="en-US" altLang="en-US" sz="3100" u="none" kern="1200" dirty="0"/>
            <a:t> variable</a:t>
          </a:r>
          <a:endParaRPr lang="en-US" sz="3100" u="none" kern="1200" dirty="0"/>
        </a:p>
      </dsp:txBody>
      <dsp:txXfrm>
        <a:off x="36296" y="475032"/>
        <a:ext cx="10900208" cy="670943"/>
      </dsp:txXfrm>
    </dsp:sp>
    <dsp:sp modelId="{7A68E320-2120-4867-81DD-6C492966CAEF}">
      <dsp:nvSpPr>
        <dsp:cNvPr id="0" name=""/>
        <dsp:cNvSpPr/>
      </dsp:nvSpPr>
      <dsp:spPr>
        <a:xfrm>
          <a:off x="0" y="1182271"/>
          <a:ext cx="10972800" cy="2759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2400" kern="1200" dirty="0">
              <a:latin typeface="+mn-lt"/>
            </a:rPr>
            <a:t>Variable that is assigned a value inside a function</a:t>
          </a:r>
          <a:endParaRPr lang="en-US" sz="2400" kern="1200" dirty="0">
            <a:latin typeface="+mn-lt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2400" kern="1200" dirty="0">
              <a:latin typeface="+mn-lt"/>
            </a:rPr>
            <a:t>Belongs to the function in which it was created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2400" kern="1200" dirty="0">
              <a:latin typeface="+mn-lt"/>
            </a:rPr>
            <a:t>Only statements inside that function can access it, error will occur if another function tries to access the variable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2400" kern="1200" dirty="0">
              <a:latin typeface="+mn-lt"/>
            </a:rPr>
            <a:t>Function in which created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+mn-lt"/>
              <a:cs typeface="Courier New" pitchFamily="49" charset="0"/>
            </a:rPr>
            <a:t>Local variable cannot be accessed by statements inside its function which precede its creation</a:t>
          </a:r>
          <a:endParaRPr lang="en-US" altLang="en-US" sz="2400" kern="1200" dirty="0">
            <a:latin typeface="+mn-lt"/>
          </a:endParaRPr>
        </a:p>
      </dsp:txBody>
      <dsp:txXfrm>
        <a:off x="0" y="1182271"/>
        <a:ext cx="10972800" cy="2759309"/>
      </dsp:txXfrm>
    </dsp:sp>
    <dsp:sp modelId="{0C37FE4E-3925-4A84-9FC8-EB9012FB888C}">
      <dsp:nvSpPr>
        <dsp:cNvPr id="0" name=""/>
        <dsp:cNvSpPr/>
      </dsp:nvSpPr>
      <dsp:spPr>
        <a:xfrm>
          <a:off x="0" y="3941581"/>
          <a:ext cx="109728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+mj-lt"/>
              <a:cs typeface="Courier New" pitchFamily="49" charset="0"/>
            </a:rPr>
            <a:t>Different functions may have local variables with the same name </a:t>
          </a:r>
        </a:p>
      </dsp:txBody>
      <dsp:txXfrm>
        <a:off x="36296" y="3977877"/>
        <a:ext cx="10900208" cy="670943"/>
      </dsp:txXfrm>
    </dsp:sp>
    <dsp:sp modelId="{8229E0FD-6F7F-45E8-96A0-B1A8718E05F7}">
      <dsp:nvSpPr>
        <dsp:cNvPr id="0" name=""/>
        <dsp:cNvSpPr/>
      </dsp:nvSpPr>
      <dsp:spPr>
        <a:xfrm>
          <a:off x="0" y="4685117"/>
          <a:ext cx="10972800" cy="51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+mn-lt"/>
              <a:cs typeface="Courier New" pitchFamily="49" charset="0"/>
            </a:rPr>
            <a:t>Each function does not see the other function’s local variables, so no confusion</a:t>
          </a:r>
          <a:endParaRPr lang="he-IL" sz="2400" kern="1200" dirty="0">
            <a:latin typeface="+mn-lt"/>
            <a:cs typeface="Courier New" pitchFamily="49" charset="0"/>
          </a:endParaRPr>
        </a:p>
      </dsp:txBody>
      <dsp:txXfrm>
        <a:off x="0" y="4685117"/>
        <a:ext cx="10972800" cy="51336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058970-B9FC-44DC-9A14-BF5EF6D65515}">
      <dsp:nvSpPr>
        <dsp:cNvPr id="0" name=""/>
        <dsp:cNvSpPr/>
      </dsp:nvSpPr>
      <dsp:spPr>
        <a:xfrm>
          <a:off x="0" y="89919"/>
          <a:ext cx="10972800" cy="10793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4500" b="1" u="none" kern="1200" dirty="0">
              <a:solidFill>
                <a:srgbClr val="FFFF00"/>
              </a:solidFill>
            </a:rPr>
            <a:t>Global</a:t>
          </a:r>
          <a:r>
            <a:rPr lang="en-US" altLang="en-US" sz="4500" u="none" kern="1200" dirty="0"/>
            <a:t> variable</a:t>
          </a:r>
          <a:endParaRPr lang="en-US" sz="4500" u="none" kern="1200" dirty="0"/>
        </a:p>
      </dsp:txBody>
      <dsp:txXfrm>
        <a:off x="52688" y="142607"/>
        <a:ext cx="10867424" cy="973949"/>
      </dsp:txXfrm>
    </dsp:sp>
    <dsp:sp modelId="{7A68E320-2120-4867-81DD-6C492966CAEF}">
      <dsp:nvSpPr>
        <dsp:cNvPr id="0" name=""/>
        <dsp:cNvSpPr/>
      </dsp:nvSpPr>
      <dsp:spPr>
        <a:xfrm>
          <a:off x="0" y="1169244"/>
          <a:ext cx="10972800" cy="4378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57150" rIns="320040" bIns="57150" numCol="1" spcCol="1270" anchor="t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3500" kern="1200" dirty="0"/>
            <a:t>Created by assignment statement written outside all the functions</a:t>
          </a:r>
          <a:endParaRPr lang="en-US" sz="3500" u="none" kern="1200" dirty="0"/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3500" kern="1200" dirty="0"/>
            <a:t>Can be accessed by any statement in the program file, including from within a function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3500" kern="1200" dirty="0"/>
            <a:t>If a function needs to assign a value to the global variable, the global variable must be re-declared within the function</a:t>
          </a:r>
        </a:p>
        <a:p>
          <a:pPr marL="571500" lvl="2" indent="-285750" algn="l" defTabSz="1555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3500" kern="1200" dirty="0"/>
            <a:t>General format: </a:t>
          </a:r>
          <a:r>
            <a:rPr lang="en-US" altLang="en-US" sz="3500" b="1" kern="12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rPr>
            <a:t>global </a:t>
          </a:r>
          <a:r>
            <a:rPr lang="en-US" altLang="en-US" sz="3500" b="1" i="1" kern="1200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rPr>
            <a:t>variable_name</a:t>
          </a:r>
          <a:endParaRPr lang="he-IL" altLang="en-US" sz="3500" b="1" i="1" kern="1200" dirty="0">
            <a:solidFill>
              <a:srgbClr val="FFFF00"/>
            </a:solidFill>
            <a:latin typeface="Courier New" panose="02070309020205020404" pitchFamily="49" charset="0"/>
            <a:cs typeface="Courier New" panose="02070309020205020404" pitchFamily="49" charset="0"/>
          </a:endParaRPr>
        </a:p>
      </dsp:txBody>
      <dsp:txXfrm>
        <a:off x="0" y="1169244"/>
        <a:ext cx="10972800" cy="437804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058970-B9FC-44DC-9A14-BF5EF6D65515}">
      <dsp:nvSpPr>
        <dsp:cNvPr id="0" name=""/>
        <dsp:cNvSpPr/>
      </dsp:nvSpPr>
      <dsp:spPr>
        <a:xfrm>
          <a:off x="0" y="59476"/>
          <a:ext cx="10972800" cy="10553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Avoid using global variables</a:t>
          </a:r>
          <a:endParaRPr lang="en-US" sz="4400" u="none" kern="1200" dirty="0"/>
        </a:p>
      </dsp:txBody>
      <dsp:txXfrm>
        <a:off x="51517" y="110993"/>
        <a:ext cx="10869766" cy="952306"/>
      </dsp:txXfrm>
    </dsp:sp>
    <dsp:sp modelId="{7A68E320-2120-4867-81DD-6C492966CAEF}">
      <dsp:nvSpPr>
        <dsp:cNvPr id="0" name=""/>
        <dsp:cNvSpPr/>
      </dsp:nvSpPr>
      <dsp:spPr>
        <a:xfrm>
          <a:off x="0" y="1114817"/>
          <a:ext cx="10972800" cy="4462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55880" rIns="312928" bIns="55880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400" kern="1200" dirty="0">
              <a:latin typeface="+mj-lt"/>
              <a:cs typeface="Courier New" pitchFamily="49" charset="0"/>
            </a:rPr>
            <a:t>Global variables making debugging difficult</a:t>
          </a:r>
        </a:p>
        <a:p>
          <a:pPr marL="571500" lvl="2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400" kern="1200" dirty="0">
              <a:latin typeface="+mj-lt"/>
              <a:cs typeface="Courier New" pitchFamily="49" charset="0"/>
            </a:rPr>
            <a:t>Many locations in the code could be causing a wrong variable value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400" kern="1200" dirty="0">
              <a:latin typeface="+mj-lt"/>
              <a:cs typeface="Courier New" pitchFamily="49" charset="0"/>
            </a:rPr>
            <a:t>Functions that use global variables are usually dependent on those variables</a:t>
          </a:r>
        </a:p>
        <a:p>
          <a:pPr marL="571500" lvl="2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400" kern="1200" dirty="0">
              <a:latin typeface="+mj-lt"/>
              <a:cs typeface="Courier New" pitchFamily="49" charset="0"/>
            </a:rPr>
            <a:t>Makes function hard to transfer to another program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400" kern="1200" dirty="0">
              <a:latin typeface="+mj-lt"/>
              <a:cs typeface="Courier New" pitchFamily="49" charset="0"/>
            </a:rPr>
            <a:t>Global variables make a program hard to understand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3400" kern="1200" dirty="0">
            <a:latin typeface="+mj-lt"/>
            <a:cs typeface="Courier New" pitchFamily="49" charset="0"/>
          </a:endParaRPr>
        </a:p>
      </dsp:txBody>
      <dsp:txXfrm>
        <a:off x="0" y="1114817"/>
        <a:ext cx="10972800" cy="446292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058970-B9FC-44DC-9A14-BF5EF6D65515}">
      <dsp:nvSpPr>
        <dsp:cNvPr id="0" name=""/>
        <dsp:cNvSpPr/>
      </dsp:nvSpPr>
      <dsp:spPr>
        <a:xfrm>
          <a:off x="0" y="45481"/>
          <a:ext cx="10972800" cy="1199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u="none" kern="1200" dirty="0">
              <a:latin typeface="+mj-lt"/>
              <a:cs typeface="Courier New" pitchFamily="49" charset="0"/>
            </a:rPr>
            <a:t>Global constant</a:t>
          </a:r>
          <a:endParaRPr lang="en-US" sz="5000" u="none" kern="1200" dirty="0"/>
        </a:p>
      </dsp:txBody>
      <dsp:txXfrm>
        <a:off x="58543" y="104024"/>
        <a:ext cx="10855714" cy="1082164"/>
      </dsp:txXfrm>
    </dsp:sp>
    <dsp:sp modelId="{7A68E320-2120-4867-81DD-6C492966CAEF}">
      <dsp:nvSpPr>
        <dsp:cNvPr id="0" name=""/>
        <dsp:cNvSpPr/>
      </dsp:nvSpPr>
      <dsp:spPr>
        <a:xfrm>
          <a:off x="0" y="1244731"/>
          <a:ext cx="10972800" cy="434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63500" rIns="355600" bIns="63500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900" kern="1200" dirty="0">
              <a:latin typeface="+mj-lt"/>
              <a:cs typeface="Courier New" pitchFamily="49" charset="0"/>
            </a:rPr>
            <a:t>Global name that references a value that cannot be changed</a:t>
          </a:r>
          <a:endParaRPr lang="en-US" sz="3900" u="none" kern="1200" dirty="0"/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900" kern="1200" dirty="0">
              <a:latin typeface="+mj-lt"/>
              <a:cs typeface="Courier New" pitchFamily="49" charset="0"/>
            </a:rPr>
            <a:t>Permissible to use global constants in a program </a:t>
          </a:r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900" kern="1200" dirty="0">
              <a:latin typeface="+mj-lt"/>
              <a:cs typeface="Courier New" pitchFamily="49" charset="0"/>
            </a:rPr>
            <a:t>To simulate global constant in Python, create global variable and do not re-declare it within functions</a:t>
          </a:r>
          <a:endParaRPr lang="he-IL" sz="3900" kern="1200" dirty="0">
            <a:latin typeface="+mj-lt"/>
            <a:cs typeface="Courier New" pitchFamily="49" charset="0"/>
          </a:endParaRPr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he-IL" sz="3900" kern="1200" dirty="0">
            <a:latin typeface="+mj-lt"/>
            <a:cs typeface="Courier New" pitchFamily="49" charset="0"/>
          </a:endParaRPr>
        </a:p>
      </dsp:txBody>
      <dsp:txXfrm>
        <a:off x="0" y="1244731"/>
        <a:ext cx="10972800" cy="434700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058970-B9FC-44DC-9A14-BF5EF6D65515}">
      <dsp:nvSpPr>
        <dsp:cNvPr id="0" name=""/>
        <dsp:cNvSpPr/>
      </dsp:nvSpPr>
      <dsp:spPr>
        <a:xfrm>
          <a:off x="0" y="0"/>
          <a:ext cx="73152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u="none" kern="1200" dirty="0">
              <a:latin typeface="+mj-lt"/>
              <a:cs typeface="Courier New" pitchFamily="49" charset="0"/>
            </a:rPr>
            <a:t>Global variable</a:t>
          </a:r>
          <a:endParaRPr lang="en-US" sz="2800" u="none" kern="1200" dirty="0"/>
        </a:p>
      </dsp:txBody>
      <dsp:txXfrm>
        <a:off x="32784" y="32784"/>
        <a:ext cx="7249632" cy="60601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058970-B9FC-44DC-9A14-BF5EF6D65515}">
      <dsp:nvSpPr>
        <dsp:cNvPr id="0" name=""/>
        <dsp:cNvSpPr/>
      </dsp:nvSpPr>
      <dsp:spPr>
        <a:xfrm>
          <a:off x="0" y="37535"/>
          <a:ext cx="10972800" cy="9646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In a flowchart</a:t>
          </a:r>
        </a:p>
      </dsp:txBody>
      <dsp:txXfrm>
        <a:off x="47090" y="84625"/>
        <a:ext cx="10878620" cy="870466"/>
      </dsp:txXfrm>
    </dsp:sp>
    <dsp:sp modelId="{971EC292-FF5F-4AED-9D08-FB7E97F59620}">
      <dsp:nvSpPr>
        <dsp:cNvPr id="0" name=""/>
        <dsp:cNvSpPr/>
      </dsp:nvSpPr>
      <dsp:spPr>
        <a:xfrm>
          <a:off x="0" y="1002181"/>
          <a:ext cx="10972800" cy="2987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49530" rIns="277368" bIns="495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 dirty="0"/>
            <a:t>Function call shown as </a:t>
          </a:r>
          <a:r>
            <a:rPr lang="en-US" sz="3000" kern="1200" dirty="0">
              <a:solidFill>
                <a:srgbClr val="FF0000"/>
              </a:solidFill>
            </a:rPr>
            <a:t>rectangle with vertical bars at each side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 dirty="0"/>
            <a:t>Function </a:t>
          </a:r>
          <a:r>
            <a:rPr lang="en-US" sz="3000" kern="1200" dirty="0">
              <a:solidFill>
                <a:srgbClr val="FF0000"/>
              </a:solidFill>
            </a:rPr>
            <a:t>name</a:t>
          </a:r>
          <a:r>
            <a:rPr lang="en-US" sz="3000" kern="1200" dirty="0"/>
            <a:t> written in the symbol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 dirty="0"/>
            <a:t>Typically draw </a:t>
          </a:r>
          <a:r>
            <a:rPr lang="en-US" sz="3000" kern="1200" dirty="0">
              <a:solidFill>
                <a:srgbClr val="FF0000"/>
              </a:solidFill>
            </a:rPr>
            <a:t>separate flow chart </a:t>
          </a:r>
          <a:r>
            <a:rPr lang="en-US" sz="3000" kern="1200" dirty="0"/>
            <a:t>for each function in the program</a:t>
          </a:r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 dirty="0"/>
            <a:t>End terminal symbol usually reads </a:t>
          </a:r>
          <a:r>
            <a:rPr lang="en-US" sz="3000" kern="12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rPr>
            <a:t>Return</a:t>
          </a:r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3000" kern="1200" dirty="0">
            <a:latin typeface="Courier New" pitchFamily="49" charset="0"/>
            <a:cs typeface="Courier New" pitchFamily="49" charset="0"/>
          </a:endParaRPr>
        </a:p>
      </dsp:txBody>
      <dsp:txXfrm>
        <a:off x="0" y="1002181"/>
        <a:ext cx="10972800" cy="2987010"/>
      </dsp:txXfrm>
    </dsp:sp>
    <dsp:sp modelId="{4EB15AB9-FE52-4EF7-B7A3-0D3F8FE11819}">
      <dsp:nvSpPr>
        <dsp:cNvPr id="0" name=""/>
        <dsp:cNvSpPr/>
      </dsp:nvSpPr>
      <dsp:spPr>
        <a:xfrm>
          <a:off x="0" y="3989192"/>
          <a:ext cx="10972800" cy="9646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u="none" kern="1200" dirty="0">
              <a:latin typeface="+mj-lt"/>
              <a:cs typeface="Courier New" pitchFamily="49" charset="0"/>
            </a:rPr>
            <a:t>Top-down design</a:t>
          </a:r>
          <a:endParaRPr lang="he-IL" sz="3900" u="none" kern="1200" dirty="0">
            <a:latin typeface="+mj-lt"/>
            <a:cs typeface="Courier New" pitchFamily="49" charset="0"/>
          </a:endParaRPr>
        </a:p>
      </dsp:txBody>
      <dsp:txXfrm>
        <a:off x="47090" y="4036282"/>
        <a:ext cx="10878620" cy="870466"/>
      </dsp:txXfrm>
    </dsp:sp>
    <dsp:sp modelId="{C42E8F1D-0381-44D8-BDF5-F10494738507}">
      <dsp:nvSpPr>
        <dsp:cNvPr id="0" name=""/>
        <dsp:cNvSpPr/>
      </dsp:nvSpPr>
      <dsp:spPr>
        <a:xfrm>
          <a:off x="0" y="4953838"/>
          <a:ext cx="10972800" cy="64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49530" rIns="277368" bIns="495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 dirty="0">
              <a:latin typeface="+mj-lt"/>
              <a:cs typeface="Courier New" pitchFamily="49" charset="0"/>
            </a:rPr>
            <a:t>Technique for breaking algorithm into functions</a:t>
          </a:r>
          <a:endParaRPr lang="he-IL" sz="3000" u="sng" kern="1200" dirty="0">
            <a:latin typeface="+mj-lt"/>
            <a:cs typeface="Courier New" pitchFamily="49" charset="0"/>
          </a:endParaRPr>
        </a:p>
      </dsp:txBody>
      <dsp:txXfrm>
        <a:off x="0" y="4953838"/>
        <a:ext cx="10972800" cy="64584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058970-B9FC-44DC-9A14-BF5EF6D65515}">
      <dsp:nvSpPr>
        <dsp:cNvPr id="0" name=""/>
        <dsp:cNvSpPr/>
      </dsp:nvSpPr>
      <dsp:spPr>
        <a:xfrm>
          <a:off x="0" y="21992"/>
          <a:ext cx="10972800" cy="13911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5800" u="none" kern="1200" dirty="0"/>
            <a:t>Hierarchy chart</a:t>
          </a:r>
          <a:endParaRPr lang="en-US" sz="5800" u="none" kern="1200" dirty="0"/>
        </a:p>
      </dsp:txBody>
      <dsp:txXfrm>
        <a:off x="67909" y="89901"/>
        <a:ext cx="10836982" cy="1255312"/>
      </dsp:txXfrm>
    </dsp:sp>
    <dsp:sp modelId="{971EC292-FF5F-4AED-9D08-FB7E97F59620}">
      <dsp:nvSpPr>
        <dsp:cNvPr id="0" name=""/>
        <dsp:cNvSpPr/>
      </dsp:nvSpPr>
      <dsp:spPr>
        <a:xfrm>
          <a:off x="0" y="1413122"/>
          <a:ext cx="10972800" cy="4202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73660" rIns="412496" bIns="73660" numCol="1" spcCol="1270" anchor="t" anchorCtr="0">
          <a:noAutofit/>
        </a:bodyPr>
        <a:lstStyle/>
        <a:p>
          <a:pPr marL="285750" lvl="1" indent="-285750" algn="l" defTabSz="2000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4500" kern="1200" dirty="0"/>
            <a:t>Depicts </a:t>
          </a:r>
          <a:r>
            <a:rPr lang="en-US" altLang="en-US" sz="4500" kern="1200" dirty="0">
              <a:solidFill>
                <a:srgbClr val="FF0000"/>
              </a:solidFill>
            </a:rPr>
            <a:t>relationship</a:t>
          </a:r>
          <a:r>
            <a:rPr lang="en-US" altLang="en-US" sz="4500" kern="1200" dirty="0"/>
            <a:t> between functions</a:t>
          </a:r>
          <a:endParaRPr lang="en-US" sz="4500" kern="1200" dirty="0"/>
        </a:p>
        <a:p>
          <a:pPr marL="285750" lvl="1" indent="-285750" algn="l" defTabSz="2000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4500" kern="1200" dirty="0"/>
            <a:t>Box for each function in the program, Lines </a:t>
          </a:r>
          <a:r>
            <a:rPr lang="en-US" altLang="en-US" sz="4500" kern="1200" dirty="0">
              <a:solidFill>
                <a:srgbClr val="FF0000"/>
              </a:solidFill>
            </a:rPr>
            <a:t>connecting boxes</a:t>
          </a:r>
          <a:r>
            <a:rPr lang="en-US" altLang="en-US" sz="4500" kern="1200" dirty="0"/>
            <a:t> illustrate the functions called by each function</a:t>
          </a:r>
        </a:p>
        <a:p>
          <a:pPr marL="285750" lvl="1" indent="-285750" algn="l" defTabSz="2000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4500" kern="1200" dirty="0"/>
            <a:t>Does not show steps taken </a:t>
          </a:r>
          <a:r>
            <a:rPr lang="en-US" altLang="en-US" sz="4500" kern="1200" dirty="0">
              <a:solidFill>
                <a:srgbClr val="FF0000"/>
              </a:solidFill>
            </a:rPr>
            <a:t>inside</a:t>
          </a:r>
          <a:r>
            <a:rPr lang="en-US" altLang="en-US" sz="4500" kern="1200" dirty="0"/>
            <a:t> a function</a:t>
          </a:r>
        </a:p>
      </dsp:txBody>
      <dsp:txXfrm>
        <a:off x="0" y="1413122"/>
        <a:ext cx="10972800" cy="42020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1/9/2022</a:t>
            </a:fld>
            <a:endParaRPr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1/9/2022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5958" y="-4763"/>
            <a:ext cx="5013606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7638" y="1380069"/>
            <a:ext cx="8572389" cy="2616199"/>
          </a:xfrm>
        </p:spPr>
        <p:txBody>
          <a:bodyPr anchor="b">
            <a:normAutofit/>
          </a:bodyPr>
          <a:lstStyle>
            <a:lvl1pPr algn="r">
              <a:defRPr sz="5998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4202" y="3996267"/>
            <a:ext cx="698582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099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1023" y="5883276"/>
            <a:ext cx="432291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36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49005" y="5867132"/>
            <a:ext cx="551023" cy="365125"/>
          </a:xfrm>
        </p:spPr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977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610" y="2666999"/>
            <a:ext cx="8928421" cy="2110382"/>
          </a:xfrm>
        </p:spPr>
        <p:txBody>
          <a:bodyPr anchor="b"/>
          <a:lstStyle>
            <a:lvl1pPr algn="r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1608" y="4777381"/>
            <a:ext cx="892842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44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3925" y="685801"/>
            <a:ext cx="10016104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3926" y="2667000"/>
            <a:ext cx="4893780" cy="3124201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6246" y="2667000"/>
            <a:ext cx="4893781" cy="3124200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C5FE51A5-AB99-4630-AC29-3FC4F7C9FE41}"/>
              </a:ext>
            </a:extLst>
          </p:cNvPr>
          <p:cNvSpPr txBox="1">
            <a:spLocks/>
          </p:cNvSpPr>
          <p:nvPr userDrawn="1"/>
        </p:nvSpPr>
        <p:spPr>
          <a:xfrm>
            <a:off x="5285252" y="6545205"/>
            <a:ext cx="1618322" cy="365125"/>
          </a:xfrm>
          <a:prstGeom prst="rect">
            <a:avLst/>
          </a:prstGeom>
        </p:spPr>
        <p:txBody>
          <a:bodyPr vert="horz" lIns="34718" tIns="17360" rIns="34718" bIns="173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347187" rtl="0" eaLnBrk="1" latinLnBrk="0" hangingPunct="1">
              <a:defRPr/>
            </a:pPr>
            <a:r>
              <a:rPr lang="en-US" sz="1400" b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Page:</a:t>
            </a:r>
            <a:fld id="{97F33F24-5111-4524-9375-24241E4B6E0C}" type="slidenum">
              <a:rPr lang="en-US" sz="1400" b="1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marL="0" algn="ctr" defTabSz="347187" rtl="0" eaLnBrk="1" latinLnBrk="0" hangingPunct="1">
                <a:defRPr/>
              </a:pPr>
              <a:t>‹#›</a:t>
            </a:fld>
            <a:endParaRPr lang="en-US" sz="14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9622A0EE-C6FE-4485-ABBF-C2C1A36A989D}"/>
              </a:ext>
            </a:extLst>
          </p:cNvPr>
          <p:cNvSpPr/>
          <p:nvPr userDrawn="1"/>
        </p:nvSpPr>
        <p:spPr>
          <a:xfrm>
            <a:off x="609599" y="6507293"/>
            <a:ext cx="9218613" cy="45719"/>
          </a:xfrm>
          <a:prstGeom prst="leftArrow">
            <a:avLst/>
          </a:prstGeom>
          <a:solidFill>
            <a:schemeClr val="tx1"/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718" tIns="17360" rIns="34718" bIns="173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84" dirty="0"/>
          </a:p>
        </p:txBody>
      </p:sp>
    </p:spTree>
    <p:extLst>
      <p:ext uri="{BB962C8B-B14F-4D97-AF65-F5344CB8AC3E}">
        <p14:creationId xmlns:p14="http://schemas.microsoft.com/office/powerpoint/2010/main" val="1677240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1718" y="2658533"/>
            <a:ext cx="4605988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accent1">
                    <a:lumMod val="75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3925" y="3335337"/>
            <a:ext cx="4893781" cy="2455862"/>
          </a:xfrm>
        </p:spPr>
        <p:txBody>
          <a:bodyPr anchor="t"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78696" y="2667000"/>
            <a:ext cx="4621333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accent1">
                    <a:lumMod val="75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6246" y="3335337"/>
            <a:ext cx="4893781" cy="2455862"/>
          </a:xfrm>
        </p:spPr>
        <p:txBody>
          <a:bodyPr anchor="t"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D1E70BB-2334-4E60-B9C5-78AACAC5BA35}"/>
              </a:ext>
            </a:extLst>
          </p:cNvPr>
          <p:cNvSpPr txBox="1">
            <a:spLocks/>
          </p:cNvSpPr>
          <p:nvPr userDrawn="1"/>
        </p:nvSpPr>
        <p:spPr>
          <a:xfrm>
            <a:off x="5271453" y="6553013"/>
            <a:ext cx="1645920" cy="365125"/>
          </a:xfrm>
          <a:prstGeom prst="rect">
            <a:avLst/>
          </a:prstGeom>
        </p:spPr>
        <p:txBody>
          <a:bodyPr vert="horz" lIns="34718" tIns="17360" rIns="34718" bIns="173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347187" rtl="0" eaLnBrk="1" latinLnBrk="0" hangingPunct="1">
              <a:defRPr/>
            </a:pPr>
            <a:r>
              <a:rPr lang="en-US" sz="1400" b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Page:</a:t>
            </a:r>
            <a:fld id="{97F33F24-5111-4524-9375-24241E4B6E0C}" type="slidenum">
              <a:rPr lang="en-US" sz="1400" b="1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marL="0" algn="r" defTabSz="347187" rtl="0" eaLnBrk="1" latinLnBrk="0" hangingPunct="1">
                <a:defRPr/>
              </a:pPr>
              <a:t>‹#›</a:t>
            </a:fld>
            <a:endParaRPr lang="en-US" sz="14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Left Arrow 10">
            <a:extLst>
              <a:ext uri="{FF2B5EF4-FFF2-40B4-BE49-F238E27FC236}">
                <a16:creationId xmlns:a16="http://schemas.microsoft.com/office/drawing/2014/main" id="{3ED97DF9-CB85-4672-8173-A09B340DBA39}"/>
              </a:ext>
            </a:extLst>
          </p:cNvPr>
          <p:cNvSpPr/>
          <p:nvPr userDrawn="1"/>
        </p:nvSpPr>
        <p:spPr>
          <a:xfrm>
            <a:off x="696886" y="6507293"/>
            <a:ext cx="9218613" cy="45719"/>
          </a:xfrm>
          <a:prstGeom prst="leftArrow">
            <a:avLst/>
          </a:prstGeom>
          <a:solidFill>
            <a:schemeClr val="tx1"/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718" tIns="17360" rIns="34718" bIns="173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84" dirty="0"/>
          </a:p>
        </p:txBody>
      </p:sp>
    </p:spTree>
    <p:extLst>
      <p:ext uri="{BB962C8B-B14F-4D97-AF65-F5344CB8AC3E}">
        <p14:creationId xmlns:p14="http://schemas.microsoft.com/office/powerpoint/2010/main" val="4231715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945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61C8A-F0A1-4667-890B-1B8A1F2A05AA}" type="datetimeFigureOut">
              <a:rPr lang="en-US" smtClean="0"/>
              <a:t>1/9/2022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206E-DA6C-4A41-A871-A8BD553F98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170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3926" y="1600200"/>
            <a:ext cx="3548197" cy="1371600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0663" y="685800"/>
            <a:ext cx="6239365" cy="5105401"/>
          </a:xfrm>
        </p:spPr>
        <p:txBody>
          <a:bodyPr anchor="ctr"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3926" y="2971800"/>
            <a:ext cx="3548197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123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38" y="1752599"/>
            <a:ext cx="5424745" cy="1371600"/>
          </a:xfrm>
        </p:spPr>
        <p:txBody>
          <a:bodyPr anchor="b">
            <a:normAutofit/>
          </a:bodyPr>
          <a:lstStyle>
            <a:lvl1pPr algn="ctr">
              <a:defRPr sz="2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2704" y="914400"/>
            <a:ext cx="3280120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38" y="3124199"/>
            <a:ext cx="5424745" cy="1828800"/>
          </a:xfrm>
        </p:spPr>
        <p:txBody>
          <a:bodyPr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687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3925" y="4732865"/>
            <a:ext cx="10016102" cy="566738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5391" y="932112"/>
            <a:ext cx="8223802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3925" y="5299603"/>
            <a:ext cx="10016102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35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3926" y="685800"/>
            <a:ext cx="10016102" cy="3048000"/>
          </a:xfrm>
        </p:spPr>
        <p:txBody>
          <a:bodyPr anchor="ctr">
            <a:normAutofit/>
          </a:bodyPr>
          <a:lstStyle>
            <a:lvl1pPr algn="ctr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3926" y="4343400"/>
            <a:ext cx="10016104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378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196" y="863023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0588" y="2819399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637" y="685801"/>
            <a:ext cx="8987671" cy="2743199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177" y="3428999"/>
            <a:ext cx="853059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799"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3925" y="4343400"/>
            <a:ext cx="1001610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731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3927" y="3308581"/>
            <a:ext cx="10016100" cy="1468800"/>
          </a:xfrm>
        </p:spPr>
        <p:txBody>
          <a:bodyPr anchor="b">
            <a:normAutofit/>
          </a:bodyPr>
          <a:lstStyle>
            <a:lvl1pPr algn="r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3925" y="4777381"/>
            <a:ext cx="100161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114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196" y="863023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0588" y="2819399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637" y="685801"/>
            <a:ext cx="8987671" cy="2743199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3926" y="3886200"/>
            <a:ext cx="10016101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399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3925" y="4775200"/>
            <a:ext cx="10016101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143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3926" y="685801"/>
            <a:ext cx="10016103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3926" y="3505200"/>
            <a:ext cx="10016104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799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3925" y="4343400"/>
            <a:ext cx="10016104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67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9837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0121" y="685800"/>
            <a:ext cx="1769908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3925" y="685800"/>
            <a:ext cx="8017654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6915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Slide Number Placeholder 4"/>
          <p:cNvSpPr txBox="1">
            <a:spLocks/>
          </p:cNvSpPr>
          <p:nvPr userDrawn="1"/>
        </p:nvSpPr>
        <p:spPr>
          <a:xfrm>
            <a:off x="5285252" y="6545205"/>
            <a:ext cx="1618322" cy="365125"/>
          </a:xfrm>
          <a:prstGeom prst="rect">
            <a:avLst/>
          </a:prstGeom>
        </p:spPr>
        <p:txBody>
          <a:bodyPr vert="horz" lIns="34718" tIns="17360" rIns="34718" bIns="173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347187" rtl="0" eaLnBrk="1" latinLnBrk="0" hangingPunct="1">
              <a:defRPr/>
            </a:pPr>
            <a:r>
              <a:rPr lang="en-US" sz="1400" b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Page:</a:t>
            </a:r>
            <a:fld id="{97F33F24-5111-4524-9375-24241E4B6E0C}" type="slidenum">
              <a:rPr lang="en-US" sz="1400" b="1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marL="0" algn="ctr" defTabSz="347187" rtl="0" eaLnBrk="1" latinLnBrk="0" hangingPunct="1">
                <a:defRPr/>
              </a:pPr>
              <a:t>‹#›</a:t>
            </a:fld>
            <a:endParaRPr lang="en-US" sz="14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Left Arrow 7"/>
          <p:cNvSpPr/>
          <p:nvPr userDrawn="1"/>
        </p:nvSpPr>
        <p:spPr>
          <a:xfrm>
            <a:off x="609599" y="6507293"/>
            <a:ext cx="9218613" cy="45719"/>
          </a:xfrm>
          <a:prstGeom prst="leftArrow">
            <a:avLst/>
          </a:prstGeom>
          <a:solidFill>
            <a:schemeClr val="tx1"/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718" tIns="17360" rIns="34718" bIns="173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84" dirty="0"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773" y="1"/>
            <a:ext cx="2436178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3925" y="685801"/>
            <a:ext cx="10016104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3924" y="2667000"/>
            <a:ext cx="10016104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0122" y="5883276"/>
            <a:ext cx="1142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A27D24-2DDC-4BE2-9A3A-B80167364877}" type="datetimeFigureOut">
              <a:rPr lang="en-US" smtClean="0"/>
              <a:t>1/9/2022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1610" y="5883276"/>
            <a:ext cx="70823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9005" y="5883276"/>
            <a:ext cx="551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84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  <p:sldLayoutId id="2147483679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457063" rtl="0" eaLnBrk="1" latinLnBrk="0" hangingPunct="1">
        <a:spcBef>
          <a:spcPct val="0"/>
        </a:spcBef>
        <a:buNone/>
        <a:defRPr sz="3999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9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7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94825C6-D403-4065-A09B-FDB966E29D88}"/>
              </a:ext>
            </a:extLst>
          </p:cNvPr>
          <p:cNvSpPr/>
          <p:nvPr/>
        </p:nvSpPr>
        <p:spPr>
          <a:xfrm>
            <a:off x="1446212" y="1287236"/>
            <a:ext cx="5553123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Python - Functions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A191E-CC6F-438D-906D-3F25B555E588}"/>
              </a:ext>
            </a:extLst>
          </p:cNvPr>
          <p:cNvCxnSpPr>
            <a:cxnSpLocks/>
          </p:cNvCxnSpPr>
          <p:nvPr/>
        </p:nvCxnSpPr>
        <p:spPr>
          <a:xfrm flipV="1">
            <a:off x="1493256" y="3041562"/>
            <a:ext cx="6277556" cy="3452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A81254C-D2EA-4C57-8CAE-5CF2CBEB6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3658" y="1389628"/>
            <a:ext cx="2753109" cy="19433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3A8BE9-FBA8-4341-9473-F9089FCD770C}"/>
              </a:ext>
            </a:extLst>
          </p:cNvPr>
          <p:cNvSpPr txBox="1"/>
          <p:nvPr/>
        </p:nvSpPr>
        <p:spPr>
          <a:xfrm>
            <a:off x="1" y="16908"/>
            <a:ext cx="1218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/>
              <a:t>COSC 1336 Fundamentals of Programming</a:t>
            </a:r>
          </a:p>
        </p:txBody>
      </p:sp>
    </p:spTree>
    <p:extLst>
      <p:ext uri="{BB962C8B-B14F-4D97-AF65-F5344CB8AC3E}">
        <p14:creationId xmlns:p14="http://schemas.microsoft.com/office/powerpoint/2010/main" val="2965277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altLang="en-US" dirty="0">
                <a:solidFill>
                  <a:srgbClr val="FF0000"/>
                </a:solidFill>
              </a:rPr>
              <a:t>Why </a:t>
            </a:r>
            <a:r>
              <a:rPr lang="en-US" altLang="en-US" dirty="0"/>
              <a:t>Reinvent</a:t>
            </a:r>
            <a:r>
              <a:rPr lang="en-US" altLang="en-US" dirty="0">
                <a:solidFill>
                  <a:srgbClr val="FF0000"/>
                </a:solidFill>
              </a:rPr>
              <a:t> The Wheel?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94212" y="1157654"/>
            <a:ext cx="7374555" cy="135694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we program, </a:t>
            </a:r>
            <a:r>
              <a:rPr lang="en-US" dirty="0">
                <a:ln>
                  <a:solidFill>
                    <a:srgbClr val="FFFF00"/>
                  </a:solidFill>
                </a:ln>
              </a:rPr>
              <a:t>don’t reinvent the wheel</a:t>
            </a: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12" y="2188300"/>
            <a:ext cx="2463751" cy="27715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94211" y="2895600"/>
            <a:ext cx="7374555" cy="135694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Our Mantra, </a:t>
            </a:r>
            <a:r>
              <a:rPr lang="en-US" dirty="0">
                <a:ln>
                  <a:solidFill>
                    <a:srgbClr val="FFFF00"/>
                  </a:solidFill>
                </a:ln>
              </a:rPr>
              <a:t>“Write Once, Use Often”</a:t>
            </a:r>
            <a:endParaRPr lang="en-US" sz="2800" dirty="0"/>
          </a:p>
        </p:txBody>
      </p:sp>
      <p:sp>
        <p:nvSpPr>
          <p:cNvPr id="9" name="Rectangle 8"/>
          <p:cNvSpPr/>
          <p:nvPr/>
        </p:nvSpPr>
        <p:spPr>
          <a:xfrm>
            <a:off x="4494211" y="4572002"/>
            <a:ext cx="7374555" cy="135694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follow a </a:t>
            </a:r>
            <a:r>
              <a:rPr lang="en-US" dirty="0">
                <a:ln>
                  <a:solidFill>
                    <a:srgbClr val="FFFF00"/>
                  </a:solidFill>
                </a:ln>
              </a:rPr>
              <a:t>philosophy of reuse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44361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altLang="en-US" dirty="0">
                <a:solidFill>
                  <a:srgbClr val="FF0000"/>
                </a:solidFill>
              </a:rPr>
              <a:t>Philosophy Of </a:t>
            </a:r>
            <a:r>
              <a:rPr lang="en-US" altLang="en-US" dirty="0"/>
              <a:t>Reuse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94212" y="1157654"/>
            <a:ext cx="7374555" cy="135694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Identify anything that you do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 and over 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again</a:t>
            </a:r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4494211" y="2895600"/>
            <a:ext cx="7374555" cy="135694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Separate out commonly used chunks of code into reusable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functions</a:t>
            </a:r>
            <a:endParaRPr lang="en-US" sz="2800" b="1" dirty="0">
              <a:solidFill>
                <a:srgbClr val="FFFF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94211" y="4572002"/>
            <a:ext cx="7374555" cy="135694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Functions are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used like Legos 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assemble programs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12" y="2126273"/>
            <a:ext cx="3276600" cy="312420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8893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altLang="en-US" dirty="0">
                <a:solidFill>
                  <a:srgbClr val="FF0000"/>
                </a:solidFill>
              </a:rPr>
              <a:t>Python </a:t>
            </a:r>
            <a:r>
              <a:rPr lang="en-US" altLang="en-US" dirty="0"/>
              <a:t>Functions</a:t>
            </a:r>
            <a:endParaRPr lang="en-US" b="1" kern="0" dirty="0"/>
          </a:p>
        </p:txBody>
      </p:sp>
      <p:sp>
        <p:nvSpPr>
          <p:cNvPr id="5" name="Rectangle 4"/>
          <p:cNvSpPr/>
          <p:nvPr/>
        </p:nvSpPr>
        <p:spPr>
          <a:xfrm>
            <a:off x="4646612" y="1157654"/>
            <a:ext cx="7222155" cy="196654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Functions in programming are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similar to functions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Math: they may receive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values and produce </a:t>
            </a:r>
            <a:r>
              <a:rPr lang="en-US" sz="28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80630" y="3505200"/>
            <a:ext cx="7088137" cy="2057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programming, you can create functions that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 far more than perform mathematical calculations</a:t>
            </a:r>
            <a:endParaRPr lang="en-US" sz="2800" b="1" dirty="0">
              <a:solidFill>
                <a:srgbClr val="FFFF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2121877"/>
            <a:ext cx="3276601" cy="3048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54466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altLang="en-US" dirty="0">
                <a:solidFill>
                  <a:srgbClr val="FF0000"/>
                </a:solidFill>
              </a:rPr>
              <a:t>Python </a:t>
            </a:r>
            <a:r>
              <a:rPr lang="en-US" altLang="en-US" dirty="0"/>
              <a:t>Functions</a:t>
            </a:r>
            <a:endParaRPr lang="en-US" b="1" kern="0" dirty="0"/>
          </a:p>
        </p:txBody>
      </p:sp>
      <p:sp>
        <p:nvSpPr>
          <p:cNvPr id="5" name="Rectangle 4"/>
          <p:cNvSpPr/>
          <p:nvPr/>
        </p:nvSpPr>
        <p:spPr>
          <a:xfrm>
            <a:off x="4875212" y="1157654"/>
            <a:ext cx="6993555" cy="196654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function is nothing more than a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series of commands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organized that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does a single thing</a:t>
            </a:r>
            <a:endParaRPr lang="en-US" sz="2800" b="1" dirty="0">
              <a:solidFill>
                <a:srgbClr val="FFFF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04988" y="3505200"/>
            <a:ext cx="6863779" cy="2057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have already used many built-in Python functions to get stuff done: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endParaRPr lang="en-US" sz="2800" b="1" dirty="0">
              <a:solidFill>
                <a:srgbClr val="FFFF0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680434"/>
              </p:ext>
            </p:extLst>
          </p:nvPr>
        </p:nvGraphicFramePr>
        <p:xfrm>
          <a:off x="1217612" y="2286000"/>
          <a:ext cx="3219703" cy="25908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219703">
                  <a:extLst>
                    <a:ext uri="{9D8B030D-6E8A-4147-A177-3AD203B41FA5}">
                      <a16:colId xmlns:a16="http://schemas.microsoft.com/office/drawing/2014/main" val="3578528327"/>
                    </a:ext>
                  </a:extLst>
                </a:gridCol>
              </a:tblGrid>
              <a:tr h="206196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B w="6350" cap="flat" cmpd="sng" algn="ctr">
                      <a:noFill/>
                      <a:prstDash val="solid"/>
                      <a:miter lim="800000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166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# how to output</a:t>
                      </a:r>
                      <a:r>
                        <a:rPr lang="en-US" sz="1800" baseline="0" dirty="0">
                          <a:solidFill>
                            <a:srgbClr val="FF0000"/>
                          </a:solidFill>
                        </a:rPr>
                        <a:t> to screen</a:t>
                      </a:r>
                    </a:p>
                    <a:p>
                      <a:r>
                        <a:rPr lang="en-US" sz="1800" b="1" baseline="0" dirty="0">
                          <a:solidFill>
                            <a:schemeClr val="tx1"/>
                          </a:solidFill>
                        </a:rPr>
                        <a:t>print</a:t>
                      </a:r>
                      <a:r>
                        <a:rPr lang="en-US" sz="1800" baseline="0" dirty="0"/>
                        <a:t>(“</a:t>
                      </a:r>
                      <a:r>
                        <a:rPr lang="en-US" sz="1800" baseline="0" dirty="0">
                          <a:solidFill>
                            <a:srgbClr val="00B050"/>
                          </a:solidFill>
                        </a:rPr>
                        <a:t>I am AllyBaba</a:t>
                      </a:r>
                      <a:r>
                        <a:rPr lang="en-US" sz="1800" baseline="0" dirty="0"/>
                        <a:t>”)</a:t>
                      </a:r>
                    </a:p>
                    <a:p>
                      <a:endParaRPr lang="en-US" sz="1800" baseline="0" dirty="0"/>
                    </a:p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# how to ask user for info</a:t>
                      </a:r>
                      <a:endParaRPr lang="en-US" sz="1800" baseline="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sz="1800" b="1" baseline="0" dirty="0">
                          <a:solidFill>
                            <a:schemeClr val="tx1"/>
                          </a:solidFill>
                        </a:rPr>
                        <a:t>height = input</a:t>
                      </a:r>
                      <a:r>
                        <a:rPr lang="en-US" sz="1800" baseline="0" dirty="0"/>
                        <a:t>(“</a:t>
                      </a:r>
                      <a:r>
                        <a:rPr lang="en-US" sz="1800" baseline="0" dirty="0">
                          <a:solidFill>
                            <a:srgbClr val="00B050"/>
                          </a:solidFill>
                        </a:rPr>
                        <a:t>Enter height</a:t>
                      </a:r>
                      <a:r>
                        <a:rPr lang="en-US" sz="1800" baseline="0" dirty="0"/>
                        <a:t>”)</a:t>
                      </a:r>
                    </a:p>
                    <a:p>
                      <a:endParaRPr lang="en-US" sz="1800" baseline="0" dirty="0"/>
                    </a:p>
                    <a:p>
                      <a:endParaRPr lang="en-US" sz="1800" baseline="0" dirty="0"/>
                    </a:p>
                    <a:p>
                      <a:endParaRPr lang="en-US" sz="1800" dirty="0"/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0469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650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altLang="en-US" dirty="0">
                <a:solidFill>
                  <a:srgbClr val="FF0000"/>
                </a:solidFill>
              </a:rPr>
              <a:t>Python </a:t>
            </a:r>
            <a:r>
              <a:rPr lang="en-US" altLang="en-US" dirty="0"/>
              <a:t>Functions</a:t>
            </a:r>
            <a:endParaRPr lang="en-US" b="1" kern="0" dirty="0"/>
          </a:p>
        </p:txBody>
      </p:sp>
      <p:sp>
        <p:nvSpPr>
          <p:cNvPr id="8" name="Rectangle 7"/>
          <p:cNvSpPr/>
          <p:nvPr/>
        </p:nvSpPr>
        <p:spPr>
          <a:xfrm>
            <a:off x="6932611" y="1099879"/>
            <a:ext cx="5256213" cy="2057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Functions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 lines of code 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your main program by letting you avail predefined features multiple times without having to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repeat its set of codes 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again</a:t>
            </a:r>
            <a:endParaRPr lang="en-US" sz="2800" b="1" dirty="0">
              <a:solidFill>
                <a:srgbClr val="FFFF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012" y="885203"/>
            <a:ext cx="2514286" cy="412380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413" y="885203"/>
            <a:ext cx="2601172" cy="412380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6102349" y="5181084"/>
            <a:ext cx="5928342" cy="110990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DRY – Don’t Repeat Yourself</a:t>
            </a:r>
          </a:p>
          <a:p>
            <a:pPr lvl="0" algn="ctr"/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Functions are reusable tasks</a:t>
            </a:r>
            <a:endParaRPr lang="en-US" sz="2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68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altLang="en-US" dirty="0">
                <a:solidFill>
                  <a:srgbClr val="FF0000"/>
                </a:solidFill>
              </a:rPr>
              <a:t>Python </a:t>
            </a:r>
            <a:r>
              <a:rPr lang="en-US" altLang="en-US" dirty="0"/>
              <a:t>Functions</a:t>
            </a:r>
            <a:endParaRPr lang="en-US" b="1" kern="0" dirty="0"/>
          </a:p>
        </p:txBody>
      </p:sp>
      <p:sp>
        <p:nvSpPr>
          <p:cNvPr id="11" name="Rectangle 10"/>
          <p:cNvSpPr/>
          <p:nvPr/>
        </p:nvSpPr>
        <p:spPr>
          <a:xfrm>
            <a:off x="2132012" y="742949"/>
            <a:ext cx="9753600" cy="70485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Simpler code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94803" y="1570550"/>
            <a:ext cx="9753600" cy="70485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 Reuse - </a:t>
            </a:r>
            <a:r>
              <a:rPr lang="en-US" altLang="en-US" sz="2800" dirty="0"/>
              <a:t>Write the code once and call it multiple times </a:t>
            </a: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119719" y="2452545"/>
            <a:ext cx="9753600" cy="70485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Faster Development </a:t>
            </a:r>
            <a:r>
              <a:rPr lang="en-US" altLang="en-US" sz="2800" dirty="0"/>
              <a:t> </a:t>
            </a: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132012" y="3261988"/>
            <a:ext cx="9753600" cy="70485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Better Testing - </a:t>
            </a:r>
            <a:r>
              <a:rPr lang="en-US" altLang="en-US" sz="2800" dirty="0"/>
              <a:t>Can test and debug each function individually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94803" y="4182019"/>
            <a:ext cx="9753600" cy="14567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Easier Facilitation of Teamwork - </a:t>
            </a:r>
            <a:r>
              <a:rPr lang="en-US" altLang="en-US" sz="2800" dirty="0"/>
              <a:t>Different team members can write different functions</a:t>
            </a:r>
            <a:endParaRPr lang="he-IL" alt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7428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altLang="en-US" dirty="0">
                <a:solidFill>
                  <a:srgbClr val="FF0000"/>
                </a:solidFill>
              </a:rPr>
              <a:t>Python </a:t>
            </a:r>
            <a:r>
              <a:rPr lang="en-US" altLang="en-US" dirty="0"/>
              <a:t>Functions </a:t>
            </a:r>
            <a:r>
              <a:rPr lang="en-US" altLang="en-US" dirty="0">
                <a:solidFill>
                  <a:srgbClr val="FF0000"/>
                </a:solidFill>
              </a:rPr>
              <a:t>– How to Write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713802" y="742949"/>
            <a:ext cx="10076753" cy="9557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800" dirty="0"/>
              <a:t>Function blocks starts with keyword </a:t>
            </a:r>
            <a:r>
              <a:rPr lang="en-US" sz="2800" b="1" dirty="0">
                <a:solidFill>
                  <a:srgbClr val="FFFF00"/>
                </a:solidFill>
              </a:rPr>
              <a:t>def</a:t>
            </a:r>
            <a:r>
              <a:rPr lang="en-US" sz="2800" dirty="0"/>
              <a:t> followed by function name with parentheses ( ) and colon (:)</a:t>
            </a:r>
            <a:endParaRPr lang="en-US" altLang="en-US" sz="2800" dirty="0"/>
          </a:p>
        </p:txBody>
      </p:sp>
      <p:sp>
        <p:nvSpPr>
          <p:cNvPr id="14" name="Rectangle 13"/>
          <p:cNvSpPr/>
          <p:nvPr/>
        </p:nvSpPr>
        <p:spPr>
          <a:xfrm>
            <a:off x="1713802" y="1910926"/>
            <a:ext cx="10076753" cy="92003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800" dirty="0"/>
              <a:t>Any input </a:t>
            </a:r>
            <a:r>
              <a:rPr lang="en-US" sz="2800" b="1" dirty="0">
                <a:solidFill>
                  <a:srgbClr val="FFFF00"/>
                </a:solidFill>
              </a:rPr>
              <a:t>parameters/arguments</a:t>
            </a:r>
            <a:r>
              <a:rPr lang="en-US" sz="2800" dirty="0"/>
              <a:t> is placed within these parentheses.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51011" y="3049720"/>
            <a:ext cx="10076753" cy="9171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800" dirty="0"/>
              <a:t>Before you start the function, add </a:t>
            </a:r>
            <a:r>
              <a:rPr lang="en-US" sz="2800" b="1" dirty="0">
                <a:solidFill>
                  <a:srgbClr val="FFFF00"/>
                </a:solidFill>
              </a:rPr>
              <a:t>documentation</a:t>
            </a:r>
            <a:r>
              <a:rPr lang="en-US" sz="2800" dirty="0"/>
              <a:t> to write the main purpose of the function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13802" y="4038601"/>
            <a:ext cx="10076753" cy="762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800" dirty="0"/>
              <a:t>The code block within every function starts after the colon (:) are </a:t>
            </a:r>
            <a:r>
              <a:rPr lang="en-US" sz="2800" b="1" dirty="0">
                <a:solidFill>
                  <a:srgbClr val="FFFF00"/>
                </a:solidFill>
              </a:rPr>
              <a:t>indented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771649" y="4982286"/>
            <a:ext cx="10076753" cy="762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800" dirty="0"/>
              <a:t>Statement return exits a function to optionally pass back an expression to the caller.</a:t>
            </a:r>
          </a:p>
        </p:txBody>
      </p:sp>
    </p:spTree>
    <p:extLst>
      <p:ext uri="{BB962C8B-B14F-4D97-AF65-F5344CB8AC3E}">
        <p14:creationId xmlns:p14="http://schemas.microsoft.com/office/powerpoint/2010/main" val="43914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  <p:bldP spid="16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altLang="en-US" dirty="0">
                <a:solidFill>
                  <a:srgbClr val="FF0000"/>
                </a:solidFill>
              </a:rPr>
              <a:t>Python </a:t>
            </a:r>
            <a:r>
              <a:rPr lang="en-US" altLang="en-US" dirty="0"/>
              <a:t>Functions </a:t>
            </a:r>
            <a:r>
              <a:rPr lang="en-US" altLang="en-US" dirty="0">
                <a:solidFill>
                  <a:srgbClr val="FF0000"/>
                </a:solidFill>
              </a:rPr>
              <a:t>– Naming</a:t>
            </a:r>
            <a:endParaRPr lang="en-US" b="1" kern="0" dirty="0">
              <a:solidFill>
                <a:srgbClr val="FF0000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175702"/>
              </p:ext>
            </p:extLst>
          </p:nvPr>
        </p:nvGraphicFramePr>
        <p:xfrm>
          <a:off x="1522412" y="1104900"/>
          <a:ext cx="10518969" cy="4648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518969">
                  <a:extLst>
                    <a:ext uri="{9D8B030D-6E8A-4147-A177-3AD203B41FA5}">
                      <a16:colId xmlns:a16="http://schemas.microsoft.com/office/drawing/2014/main" val="3578528327"/>
                    </a:ext>
                  </a:extLst>
                </a:gridCol>
              </a:tblGrid>
              <a:tr h="581860">
                <a:tc>
                  <a:txBody>
                    <a:bodyPr/>
                    <a:lstStyle/>
                    <a:p>
                      <a:pPr marL="0" marR="0" lvl="0" indent="0" algn="ct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800" dirty="0">
                          <a:solidFill>
                            <a:schemeClr val="tx1"/>
                          </a:solidFill>
                        </a:rPr>
                        <a:t>Naming Rules</a:t>
                      </a:r>
                    </a:p>
                  </a:txBody>
                  <a:tcPr>
                    <a:lnB w="6350" cap="flat" cmpd="sng" algn="ctr">
                      <a:noFill/>
                      <a:prstDash val="solid"/>
                      <a:miter lim="800000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166496"/>
                  </a:ext>
                </a:extLst>
              </a:tr>
              <a:tr h="4066340">
                <a:tc>
                  <a:txBody>
                    <a:bodyPr/>
                    <a:lstStyle/>
                    <a:p>
                      <a:pPr marL="342900" lvl="0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altLang="en-US" sz="2800" dirty="0"/>
                        <a:t>Cannot use key words as a function name</a:t>
                      </a:r>
                    </a:p>
                    <a:p>
                      <a:pPr marL="342900" lvl="0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altLang="en-US" sz="2800" dirty="0"/>
                        <a:t>Cannot contain spaces</a:t>
                      </a:r>
                    </a:p>
                    <a:p>
                      <a:pPr marL="342900" lvl="0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altLang="en-US" sz="2800" dirty="0"/>
                        <a:t>First character must be a letter or underscore</a:t>
                      </a:r>
                    </a:p>
                    <a:p>
                      <a:pPr marL="342900" lvl="0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altLang="en-US" sz="2800" dirty="0"/>
                        <a:t>All other characters must be a letter, number or underscore</a:t>
                      </a:r>
                    </a:p>
                    <a:p>
                      <a:pPr marL="342900" lvl="0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altLang="en-US" sz="2800" dirty="0"/>
                        <a:t>Uppercase and lowercase characters are distinct</a:t>
                      </a:r>
                    </a:p>
                    <a:p>
                      <a:pPr marL="342900" lvl="0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altLang="en-US" sz="2800" dirty="0"/>
                        <a:t>Function name should be descriptive of the task carried out by the function</a:t>
                      </a:r>
                    </a:p>
                    <a:p>
                      <a:pPr marL="799963" lvl="1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US" altLang="en-US" sz="2800" dirty="0"/>
                        <a:t>Often includes a verb</a:t>
                      </a:r>
                      <a:endParaRPr lang="en-US" sz="2800" dirty="0"/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0469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021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altLang="en-US" dirty="0">
                <a:solidFill>
                  <a:srgbClr val="FF0000"/>
                </a:solidFill>
              </a:rPr>
              <a:t>Python </a:t>
            </a:r>
            <a:r>
              <a:rPr lang="en-US" altLang="en-US" dirty="0"/>
              <a:t>Functions </a:t>
            </a:r>
            <a:r>
              <a:rPr lang="en-US" altLang="en-US" dirty="0">
                <a:solidFill>
                  <a:srgbClr val="FF0000"/>
                </a:solidFill>
              </a:rPr>
              <a:t>– Blocks/Suite</a:t>
            </a:r>
            <a:endParaRPr lang="en-US" b="1" kern="0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772229"/>
              </p:ext>
            </p:extLst>
          </p:nvPr>
        </p:nvGraphicFramePr>
        <p:xfrm>
          <a:off x="1522412" y="1600200"/>
          <a:ext cx="10518969" cy="338459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518969">
                  <a:extLst>
                    <a:ext uri="{9D8B030D-6E8A-4147-A177-3AD203B41FA5}">
                      <a16:colId xmlns:a16="http://schemas.microsoft.com/office/drawing/2014/main" val="3578528327"/>
                    </a:ext>
                  </a:extLst>
                </a:gridCol>
              </a:tblGrid>
              <a:tr h="410164">
                <a:tc>
                  <a:txBody>
                    <a:bodyPr/>
                    <a:lstStyle/>
                    <a:p>
                      <a:pPr marL="0" marR="0" lvl="0" indent="0" algn="ct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6350" cap="flat" cmpd="sng" algn="ctr">
                      <a:noFill/>
                      <a:prstDash val="solid"/>
                      <a:miter lim="800000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166496"/>
                  </a:ext>
                </a:extLst>
              </a:tr>
              <a:tr h="2866436">
                <a:tc>
                  <a:txBody>
                    <a:bodyPr/>
                    <a:lstStyle/>
                    <a:p>
                      <a:pPr marL="457200" lvl="0" indent="-457200">
                        <a:buFont typeface="Wingdings" panose="05000000000000000000" pitchFamily="2" charset="2"/>
                        <a:buChar char="ü"/>
                      </a:pPr>
                      <a:r>
                        <a:rPr lang="en-US" sz="28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itchFamily="49" charset="0"/>
                        </a:rPr>
                        <a:t>Set of statements that belong together as a group of tasks that the function will accomplish</a:t>
                      </a:r>
                    </a:p>
                    <a:p>
                      <a:pPr marL="457200" lvl="0" indent="-457200">
                        <a:buFont typeface="Wingdings" panose="05000000000000000000" pitchFamily="2" charset="2"/>
                        <a:buChar char="ü"/>
                      </a:pPr>
                      <a:r>
                        <a:rPr lang="en-US" altLang="en-US" sz="2800" dirty="0"/>
                        <a:t>Each block must be indented</a:t>
                      </a:r>
                      <a:endParaRPr lang="he-IL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ourier New" pitchFamily="49" charset="0"/>
                      </a:endParaRPr>
                    </a:p>
                    <a:p>
                      <a:pPr marL="457200" lvl="0" indent="-457200">
                        <a:buFont typeface="Wingdings" panose="05000000000000000000" pitchFamily="2" charset="2"/>
                        <a:buChar char="ü"/>
                      </a:pPr>
                      <a:r>
                        <a:rPr lang="en-US" altLang="en-US" sz="2800" dirty="0"/>
                        <a:t>IDLE automatically indents the lines in a block</a:t>
                      </a:r>
                    </a:p>
                    <a:p>
                      <a:pPr marL="457200" lvl="0" indent="-457200">
                        <a:buFont typeface="Wingdings" panose="05000000000000000000" pitchFamily="2" charset="2"/>
                        <a:buChar char="ü"/>
                      </a:pPr>
                      <a:r>
                        <a:rPr lang="en-US" altLang="en-US" sz="2800" dirty="0"/>
                        <a:t>Blank lines that appear in a block are ignored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0469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887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altLang="en-US" dirty="0">
                <a:solidFill>
                  <a:srgbClr val="FF0000"/>
                </a:solidFill>
              </a:rPr>
              <a:t>Python </a:t>
            </a:r>
            <a:r>
              <a:rPr lang="en-US" altLang="en-US" dirty="0"/>
              <a:t>Functions </a:t>
            </a:r>
            <a:r>
              <a:rPr lang="en-US" altLang="en-US" dirty="0">
                <a:solidFill>
                  <a:srgbClr val="FF0000"/>
                </a:solidFill>
              </a:rPr>
              <a:t>– Parameters</a:t>
            </a:r>
            <a:endParaRPr lang="en-US" b="1" kern="0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344303"/>
              </p:ext>
            </p:extLst>
          </p:nvPr>
        </p:nvGraphicFramePr>
        <p:xfrm>
          <a:off x="1446212" y="2291975"/>
          <a:ext cx="10518969" cy="227404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518969">
                  <a:extLst>
                    <a:ext uri="{9D8B030D-6E8A-4147-A177-3AD203B41FA5}">
                      <a16:colId xmlns:a16="http://schemas.microsoft.com/office/drawing/2014/main" val="3578528327"/>
                    </a:ext>
                  </a:extLst>
                </a:gridCol>
              </a:tblGrid>
              <a:tr h="317409">
                <a:tc>
                  <a:txBody>
                    <a:bodyPr/>
                    <a:lstStyle/>
                    <a:p>
                      <a:pPr marL="0" marR="0" lvl="0" indent="0" algn="ct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6350" cap="flat" cmpd="sng" algn="ctr">
                      <a:noFill/>
                      <a:prstDash val="solid"/>
                      <a:miter lim="800000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166496"/>
                  </a:ext>
                </a:extLst>
              </a:tr>
              <a:tr h="1755889">
                <a:tc>
                  <a:txBody>
                    <a:bodyPr/>
                    <a:lstStyle/>
                    <a:p>
                      <a:pPr marL="457200" lvl="0" indent="-457200">
                        <a:buFont typeface="Wingdings" panose="05000000000000000000" pitchFamily="2" charset="2"/>
                        <a:buChar char="ü"/>
                      </a:pPr>
                      <a:r>
                        <a:rPr lang="en-US" sz="2800" b="0" i="0" dirty="0"/>
                        <a:t>By default, parameters have a positional behavior, and you need to inform them in the same order that they were defined from the caller</a:t>
                      </a:r>
                      <a:endParaRPr lang="en-US" altLang="en-US" sz="2800" dirty="0"/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0469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780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altLang="en-US" dirty="0">
                <a:solidFill>
                  <a:srgbClr val="FF0000"/>
                </a:solidFill>
              </a:rPr>
              <a:t>Python </a:t>
            </a:r>
            <a:r>
              <a:rPr lang="en-US" altLang="en-US" dirty="0"/>
              <a:t>Functions </a:t>
            </a:r>
            <a:r>
              <a:rPr lang="en-US" altLang="en-US" dirty="0">
                <a:solidFill>
                  <a:srgbClr val="FF0000"/>
                </a:solidFill>
              </a:rPr>
              <a:t>– Syntax</a:t>
            </a:r>
            <a:endParaRPr lang="en-US" b="1" kern="0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612" y="1143000"/>
            <a:ext cx="5562600" cy="4572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7313612" y="1071186"/>
            <a:ext cx="4674424" cy="2057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Start with the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keyword followed by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 name</a:t>
            </a:r>
            <a:endParaRPr lang="en-US" sz="2800" b="1" dirty="0">
              <a:solidFill>
                <a:srgbClr val="FFFF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212" y="2514600"/>
            <a:ext cx="3838095" cy="280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3612" y="3255601"/>
            <a:ext cx="4674424" cy="88706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Followed by </a:t>
            </a: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parenthesis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a </a:t>
            </a: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colon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2800" b="1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313612" y="4192656"/>
            <a:ext cx="4674424" cy="167474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Finally, there is an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indented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statement block 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code that forms the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 body</a:t>
            </a:r>
            <a:endParaRPr lang="en-US" sz="2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779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altLang="en-US" dirty="0">
                <a:solidFill>
                  <a:srgbClr val="FF0000"/>
                </a:solidFill>
              </a:rPr>
              <a:t>Python </a:t>
            </a:r>
            <a:r>
              <a:rPr lang="en-US" altLang="en-US" dirty="0"/>
              <a:t>Functions </a:t>
            </a:r>
            <a:r>
              <a:rPr lang="en-US" altLang="en-US" dirty="0">
                <a:solidFill>
                  <a:srgbClr val="FF0000"/>
                </a:solidFill>
              </a:rPr>
              <a:t>– Example</a:t>
            </a:r>
            <a:endParaRPr lang="en-US" b="1" kern="0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271" y="1297593"/>
            <a:ext cx="5257800" cy="426281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6733548" y="674035"/>
            <a:ext cx="5257800" cy="55568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 line of a function is called the </a:t>
            </a:r>
            <a:r>
              <a:rPr lang="en-US" sz="28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header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 and the rest, the </a:t>
            </a:r>
            <a:r>
              <a:rPr lang="en-US" sz="28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 body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function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greet()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called by the program (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caller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passes the control and data to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greet()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 </a:t>
            </a:r>
            <a:r>
              <a:rPr lang="en-US" sz="28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greet() </a:t>
            </a: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executes the block of codes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Once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greet() </a:t>
            </a: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completes it tasks, it returns control to the calling program (</a:t>
            </a:r>
            <a:r>
              <a:rPr lang="en-US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caller</a:t>
            </a: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endParaRPr lang="en-US" sz="2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81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altLang="en-US" dirty="0">
                <a:solidFill>
                  <a:srgbClr val="FF0000"/>
                </a:solidFill>
              </a:rPr>
              <a:t>Python </a:t>
            </a:r>
            <a:r>
              <a:rPr lang="en-US" altLang="en-US" dirty="0"/>
              <a:t>Functions </a:t>
            </a:r>
            <a:r>
              <a:rPr lang="en-US" altLang="en-US" dirty="0">
                <a:solidFill>
                  <a:srgbClr val="FF0000"/>
                </a:solidFill>
              </a:rPr>
              <a:t>– How to say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65187" y="650561"/>
            <a:ext cx="5326161" cy="55568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you execute a function, you are “</a:t>
            </a:r>
            <a:r>
              <a:rPr lang="en-US" sz="28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calling” 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it, you are the “</a:t>
            </a:r>
            <a:r>
              <a:rPr lang="en-US" sz="28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caller”</a:t>
            </a:r>
          </a:p>
          <a:p>
            <a:pPr lvl="0"/>
            <a:endParaRPr lang="en-US" sz="2800" dirty="0">
              <a:solidFill>
                <a:srgbClr val="FFFF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Functions define parameters, but you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“pass” </a:t>
            </a: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values known as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“arguments” </a:t>
            </a: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 </a:t>
            </a:r>
            <a:r>
              <a:rPr lang="en-US" sz="28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“parameters”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endParaRPr lang="en-US" sz="2800" b="1" dirty="0">
              <a:solidFill>
                <a:srgbClr val="FFFF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12" y="1981200"/>
            <a:ext cx="5326160" cy="32766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15802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altLang="en-US" dirty="0">
                <a:solidFill>
                  <a:srgbClr val="FF0000"/>
                </a:solidFill>
              </a:rPr>
              <a:t>Python </a:t>
            </a:r>
            <a:r>
              <a:rPr lang="en-US" altLang="en-US" dirty="0"/>
              <a:t>Functions </a:t>
            </a:r>
            <a:r>
              <a:rPr lang="en-US" altLang="en-US" dirty="0">
                <a:solidFill>
                  <a:srgbClr val="FF0000"/>
                </a:solidFill>
              </a:rPr>
              <a:t>– Example</a:t>
            </a:r>
            <a:endParaRPr lang="en-US" b="1" kern="0" dirty="0">
              <a:solidFill>
                <a:srgbClr val="FF0000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036587"/>
              </p:ext>
            </p:extLst>
          </p:nvPr>
        </p:nvGraphicFramePr>
        <p:xfrm>
          <a:off x="1279202" y="1066800"/>
          <a:ext cx="4677421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4086902722"/>
                    </a:ext>
                  </a:extLst>
                </a:gridCol>
                <a:gridCol w="4448821">
                  <a:extLst>
                    <a:ext uri="{9D8B030D-6E8A-4147-A177-3AD203B41FA5}">
                      <a16:colId xmlns:a16="http://schemas.microsoft.com/office/drawing/2014/main" val="125825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10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 declare a function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956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def bark():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687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print(“Who let the dogs out?”)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700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1897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 Using the function in your code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6344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bark()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0418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465136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803902"/>
              </p:ext>
            </p:extLst>
          </p:nvPr>
        </p:nvGraphicFramePr>
        <p:xfrm>
          <a:off x="1065212" y="4648200"/>
          <a:ext cx="4753622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4086902722"/>
                    </a:ext>
                  </a:extLst>
                </a:gridCol>
                <a:gridCol w="3839222">
                  <a:extLst>
                    <a:ext uri="{9D8B030D-6E8A-4147-A177-3AD203B41FA5}">
                      <a16:colId xmlns:a16="http://schemas.microsoft.com/office/drawing/2014/main" val="1258252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Who let the dogs out?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956975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094412" y="838200"/>
            <a:ext cx="5928342" cy="535858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Here is a simple function bark()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/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Tracing the code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 1: 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comments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 2: starts with 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means it knows that there is a function </a:t>
            </a:r>
            <a:r>
              <a:rPr lang="en-US" sz="20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bark()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jumps over the block(suites) of codes which are followed by : and indented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 4: white space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 5: Comments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 6:  caller calling the function </a:t>
            </a:r>
            <a:r>
              <a:rPr lang="en-US" sz="20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bark ()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CONTROL goes to function </a:t>
            </a:r>
            <a:r>
              <a:rPr lang="en-US" sz="20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bark()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 3: executes the block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After lines in function </a:t>
            </a:r>
            <a:r>
              <a:rPr lang="en-US" sz="20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bark() 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executes, the control is return to caller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Returns to Line 7</a:t>
            </a:r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>
              <a:buFont typeface="Wingdings" panose="05000000000000000000" pitchFamily="2" charset="2"/>
              <a:buChar char="q"/>
            </a:pPr>
            <a:endParaRPr lang="en-US" sz="2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848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altLang="en-US" dirty="0">
                <a:solidFill>
                  <a:srgbClr val="FF0000"/>
                </a:solidFill>
              </a:rPr>
              <a:t>Python </a:t>
            </a:r>
            <a:r>
              <a:rPr lang="en-US" altLang="en-US" dirty="0"/>
              <a:t>Functions </a:t>
            </a:r>
            <a:r>
              <a:rPr lang="en-US" altLang="en-US" dirty="0">
                <a:solidFill>
                  <a:srgbClr val="FF0000"/>
                </a:solidFill>
              </a:rPr>
              <a:t>– Example</a:t>
            </a:r>
            <a:endParaRPr lang="en-US" b="1" kern="0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713" y="713132"/>
            <a:ext cx="8153400" cy="33528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713" y="4419600"/>
            <a:ext cx="81534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364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altLang="en-US" dirty="0">
                <a:solidFill>
                  <a:srgbClr val="FF0000"/>
                </a:solidFill>
              </a:rPr>
              <a:t>Python </a:t>
            </a:r>
            <a:r>
              <a:rPr lang="en-US" altLang="en-US" dirty="0"/>
              <a:t>Functions </a:t>
            </a:r>
            <a:r>
              <a:rPr lang="en-US" altLang="en-US" dirty="0">
                <a:solidFill>
                  <a:srgbClr val="FF0000"/>
                </a:solidFill>
              </a:rPr>
              <a:t>– Example</a:t>
            </a:r>
            <a:endParaRPr lang="en-US" b="1" kern="0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212" y="1447800"/>
            <a:ext cx="9906000" cy="39624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5053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altLang="en-US" dirty="0">
                <a:solidFill>
                  <a:srgbClr val="FF0000"/>
                </a:solidFill>
              </a:rPr>
              <a:t>Python </a:t>
            </a:r>
            <a:r>
              <a:rPr lang="en-US" altLang="en-US" dirty="0"/>
              <a:t>Functions </a:t>
            </a:r>
            <a:r>
              <a:rPr lang="en-US" altLang="en-US" dirty="0">
                <a:solidFill>
                  <a:srgbClr val="FF0000"/>
                </a:solidFill>
              </a:rPr>
              <a:t>– Example</a:t>
            </a:r>
            <a:endParaRPr lang="en-US" b="1" kern="0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12" y="1600200"/>
            <a:ext cx="9296400" cy="41148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6698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altLang="en-US" dirty="0">
                <a:solidFill>
                  <a:srgbClr val="FF0000"/>
                </a:solidFill>
              </a:rPr>
              <a:t>Python </a:t>
            </a:r>
            <a:r>
              <a:rPr lang="en-US" altLang="en-US" dirty="0"/>
              <a:t>Functions </a:t>
            </a:r>
            <a:r>
              <a:rPr lang="en-US" altLang="en-US" dirty="0">
                <a:solidFill>
                  <a:srgbClr val="FF0000"/>
                </a:solidFill>
              </a:rPr>
              <a:t>– Example</a:t>
            </a:r>
            <a:endParaRPr lang="en-US" b="1" kern="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12" y="1143000"/>
            <a:ext cx="9220200" cy="4572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47652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altLang="en-US" dirty="0">
                <a:solidFill>
                  <a:srgbClr val="FF0000"/>
                </a:solidFill>
              </a:rPr>
              <a:t>Python </a:t>
            </a:r>
            <a:r>
              <a:rPr lang="en-US" altLang="en-US" dirty="0"/>
              <a:t>Functions </a:t>
            </a:r>
            <a:r>
              <a:rPr lang="en-US" altLang="en-US" dirty="0">
                <a:solidFill>
                  <a:srgbClr val="FF0000"/>
                </a:solidFill>
              </a:rPr>
              <a:t>– Indentation</a:t>
            </a:r>
            <a:endParaRPr lang="en-US" b="1" kern="0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984" y="1638300"/>
            <a:ext cx="6142857" cy="35814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58587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Function </a:t>
            </a:r>
            <a:r>
              <a:rPr lang="en-US" dirty="0">
                <a:solidFill>
                  <a:srgbClr val="FF0000"/>
                </a:solidFill>
              </a:rPr>
              <a:t>Arguments</a:t>
            </a:r>
            <a:r>
              <a:rPr lang="en-US" dirty="0"/>
              <a:t> (Parameters)</a:t>
            </a:r>
          </a:p>
        </p:txBody>
      </p:sp>
      <p:graphicFrame>
        <p:nvGraphicFramePr>
          <p:cNvPr id="7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43985509"/>
              </p:ext>
            </p:extLst>
          </p:nvPr>
        </p:nvGraphicFramePr>
        <p:xfrm>
          <a:off x="1216025" y="803275"/>
          <a:ext cx="10972800" cy="57896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146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Function </a:t>
            </a:r>
            <a:r>
              <a:rPr lang="en-US" dirty="0">
                <a:solidFill>
                  <a:srgbClr val="FF0000"/>
                </a:solidFill>
              </a:rPr>
              <a:t>Arguments</a:t>
            </a:r>
          </a:p>
        </p:txBody>
      </p:sp>
      <p:graphicFrame>
        <p:nvGraphicFramePr>
          <p:cNvPr id="7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85666560"/>
              </p:ext>
            </p:extLst>
          </p:nvPr>
        </p:nvGraphicFramePr>
        <p:xfrm>
          <a:off x="1370012" y="685800"/>
          <a:ext cx="10744200" cy="23606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3390106" y="3236942"/>
            <a:ext cx="5408613" cy="255454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# Function will print the parameter</a:t>
            </a:r>
          </a:p>
          <a:p>
            <a:r>
              <a:rPr lang="en-US" sz="2000" dirty="0"/>
              <a:t>def </a:t>
            </a:r>
            <a:r>
              <a:rPr lang="en-US" sz="2000" dirty="0">
                <a:solidFill>
                  <a:srgbClr val="FF0000"/>
                </a:solidFill>
              </a:rPr>
              <a:t>printMe</a:t>
            </a:r>
            <a:r>
              <a:rPr lang="en-US" sz="2000" dirty="0"/>
              <a:t>(myName):</a:t>
            </a:r>
          </a:p>
          <a:p>
            <a:r>
              <a:rPr lang="en-US" sz="2000" dirty="0"/>
              <a:t>   print (“Hello “, myName)</a:t>
            </a:r>
          </a:p>
          <a:p>
            <a:r>
              <a:rPr lang="en-US" sz="2000" dirty="0"/>
              <a:t>   return </a:t>
            </a:r>
            <a:r>
              <a:rPr lang="en-US" sz="2000" dirty="0">
                <a:solidFill>
                  <a:srgbClr val="FF0000"/>
                </a:solidFill>
              </a:rPr>
              <a:t># this is optional</a:t>
            </a:r>
          </a:p>
          <a:p>
            <a:endParaRPr lang="en-US" sz="2000" dirty="0"/>
          </a:p>
          <a:p>
            <a:r>
              <a:rPr lang="en-US" sz="2000" dirty="0"/>
              <a:t># Now you can call printMe() function</a:t>
            </a:r>
          </a:p>
          <a:p>
            <a:r>
              <a:rPr lang="en-US" sz="2000" dirty="0"/>
              <a:t>myName = “I am Ally Baba”</a:t>
            </a:r>
          </a:p>
          <a:p>
            <a:r>
              <a:rPr lang="en-US" sz="2000" dirty="0"/>
              <a:t>printMe(myName)</a:t>
            </a:r>
          </a:p>
        </p:txBody>
      </p:sp>
    </p:spTree>
    <p:extLst>
      <p:ext uri="{BB962C8B-B14F-4D97-AF65-F5344CB8AC3E}">
        <p14:creationId xmlns:p14="http://schemas.microsoft.com/office/powerpoint/2010/main" val="45787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Function </a:t>
            </a:r>
            <a:r>
              <a:rPr lang="en-US" dirty="0">
                <a:solidFill>
                  <a:srgbClr val="FF0000"/>
                </a:solidFill>
              </a:rPr>
              <a:t>Arguments</a:t>
            </a:r>
            <a:endParaRPr lang="en-US" dirty="0"/>
          </a:p>
        </p:txBody>
      </p:sp>
      <p:graphicFrame>
        <p:nvGraphicFramePr>
          <p:cNvPr id="7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96287284"/>
              </p:ext>
            </p:extLst>
          </p:nvPr>
        </p:nvGraphicFramePr>
        <p:xfrm>
          <a:off x="1216025" y="787400"/>
          <a:ext cx="10972800" cy="23606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3390106" y="3429000"/>
            <a:ext cx="5408613" cy="255454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# Function definition is here</a:t>
            </a:r>
          </a:p>
          <a:p>
            <a:r>
              <a:rPr lang="en-US" sz="2000" dirty="0"/>
              <a:t>def </a:t>
            </a:r>
            <a:r>
              <a:rPr lang="en-US" sz="2000" dirty="0">
                <a:solidFill>
                  <a:srgbClr val="FF0000"/>
                </a:solidFill>
              </a:rPr>
              <a:t>printInfo</a:t>
            </a:r>
            <a:r>
              <a:rPr lang="en-US" sz="2000" dirty="0"/>
              <a:t>( name, age ):</a:t>
            </a:r>
          </a:p>
          <a:p>
            <a:r>
              <a:rPr lang="en-US" sz="2000" dirty="0"/>
              <a:t>   print ("Name: ", name)</a:t>
            </a:r>
          </a:p>
          <a:p>
            <a:r>
              <a:rPr lang="en-US" sz="2000" dirty="0"/>
              <a:t>   print ("Age ", age)</a:t>
            </a:r>
          </a:p>
          <a:p>
            <a:r>
              <a:rPr lang="en-US" sz="2000" dirty="0"/>
              <a:t>   return</a:t>
            </a:r>
          </a:p>
          <a:p>
            <a:endParaRPr lang="en-US" sz="2000" dirty="0"/>
          </a:p>
          <a:p>
            <a:r>
              <a:rPr lang="en-US" sz="2000" dirty="0"/>
              <a:t># Now you can call printInfo() function</a:t>
            </a:r>
          </a:p>
          <a:p>
            <a:r>
              <a:rPr lang="en-US" sz="2000" dirty="0">
                <a:solidFill>
                  <a:srgbClr val="FF0000"/>
                </a:solidFill>
              </a:rPr>
              <a:t>printInfo</a:t>
            </a:r>
            <a:r>
              <a:rPr lang="en-US" sz="2000" dirty="0"/>
              <a:t>( age = 50, name = “AllyBaba" )</a:t>
            </a:r>
          </a:p>
        </p:txBody>
      </p:sp>
    </p:spTree>
    <p:extLst>
      <p:ext uri="{BB962C8B-B14F-4D97-AF65-F5344CB8AC3E}">
        <p14:creationId xmlns:p14="http://schemas.microsoft.com/office/powerpoint/2010/main" val="130776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Function </a:t>
            </a:r>
            <a:r>
              <a:rPr lang="en-US" dirty="0">
                <a:solidFill>
                  <a:srgbClr val="FF0000"/>
                </a:solidFill>
              </a:rPr>
              <a:t>Arguments</a:t>
            </a:r>
            <a:endParaRPr lang="en-US" dirty="0"/>
          </a:p>
        </p:txBody>
      </p:sp>
      <p:graphicFrame>
        <p:nvGraphicFramePr>
          <p:cNvPr id="7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01440403"/>
              </p:ext>
            </p:extLst>
          </p:nvPr>
        </p:nvGraphicFramePr>
        <p:xfrm>
          <a:off x="1674812" y="787400"/>
          <a:ext cx="100584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3390106" y="3429000"/>
            <a:ext cx="5408613" cy="2862322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# Function definition is here</a:t>
            </a:r>
          </a:p>
          <a:p>
            <a:r>
              <a:rPr lang="en-US" sz="2000" dirty="0"/>
              <a:t>def </a:t>
            </a:r>
            <a:r>
              <a:rPr lang="en-US" sz="2000" dirty="0">
                <a:solidFill>
                  <a:srgbClr val="FF0000"/>
                </a:solidFill>
              </a:rPr>
              <a:t>printInfo</a:t>
            </a:r>
            <a:r>
              <a:rPr lang="en-US" sz="2000" dirty="0"/>
              <a:t>( name, age = 35 ):</a:t>
            </a:r>
          </a:p>
          <a:p>
            <a:r>
              <a:rPr lang="en-US" sz="2000" dirty="0"/>
              <a:t>  print (“My Name: ", name)</a:t>
            </a:r>
          </a:p>
          <a:p>
            <a:r>
              <a:rPr lang="en-US" sz="2000" dirty="0"/>
              <a:t>  print (“My Age ", age)</a:t>
            </a:r>
          </a:p>
          <a:p>
            <a:r>
              <a:rPr lang="en-US" sz="2000" dirty="0"/>
              <a:t>   return</a:t>
            </a:r>
          </a:p>
          <a:p>
            <a:endParaRPr lang="en-US" sz="2000" dirty="0"/>
          </a:p>
          <a:p>
            <a:r>
              <a:rPr lang="en-US" sz="2000" dirty="0"/>
              <a:t># Now you can call printInfo() function</a:t>
            </a:r>
          </a:p>
          <a:p>
            <a:r>
              <a:rPr lang="en-US" sz="2000" dirty="0">
                <a:solidFill>
                  <a:srgbClr val="FF0000"/>
                </a:solidFill>
              </a:rPr>
              <a:t>printInfo</a:t>
            </a:r>
            <a:r>
              <a:rPr lang="en-US" sz="2000" dirty="0"/>
              <a:t>( age = 50, name = “AllyBaba" )</a:t>
            </a:r>
          </a:p>
          <a:p>
            <a:r>
              <a:rPr lang="en-US" sz="2000" dirty="0">
                <a:solidFill>
                  <a:srgbClr val="FF0000"/>
                </a:solidFill>
              </a:rPr>
              <a:t>printInfo</a:t>
            </a:r>
            <a:r>
              <a:rPr lang="en-US" sz="2000" dirty="0"/>
              <a:t>( name = “Scooby Doo" )</a:t>
            </a:r>
          </a:p>
        </p:txBody>
      </p:sp>
    </p:spTree>
    <p:extLst>
      <p:ext uri="{BB962C8B-B14F-4D97-AF65-F5344CB8AC3E}">
        <p14:creationId xmlns:p14="http://schemas.microsoft.com/office/powerpoint/2010/main" val="3963576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Function </a:t>
            </a:r>
            <a:r>
              <a:rPr lang="en-US" dirty="0">
                <a:solidFill>
                  <a:srgbClr val="FF0000"/>
                </a:solidFill>
              </a:rPr>
              <a:t>Arguments</a:t>
            </a:r>
            <a:endParaRPr lang="en-US" dirty="0"/>
          </a:p>
        </p:txBody>
      </p:sp>
      <p:graphicFrame>
        <p:nvGraphicFramePr>
          <p:cNvPr id="7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03541653"/>
              </p:ext>
            </p:extLst>
          </p:nvPr>
        </p:nvGraphicFramePr>
        <p:xfrm>
          <a:off x="1751012" y="787400"/>
          <a:ext cx="100584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3808412" y="3200400"/>
            <a:ext cx="5408613" cy="3170099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# Function definition is here</a:t>
            </a:r>
          </a:p>
          <a:p>
            <a:r>
              <a:rPr lang="en-US" sz="2000" dirty="0"/>
              <a:t>def </a:t>
            </a:r>
            <a:r>
              <a:rPr lang="en-US" sz="2000" dirty="0">
                <a:solidFill>
                  <a:srgbClr val="FF0000"/>
                </a:solidFill>
              </a:rPr>
              <a:t>printInfo</a:t>
            </a:r>
            <a:r>
              <a:rPr lang="en-US" sz="2000" dirty="0"/>
              <a:t>( arg1, *varTuple ):</a:t>
            </a:r>
          </a:p>
          <a:p>
            <a:r>
              <a:rPr lang="en-US" sz="2000" dirty="0"/>
              <a:t>   print ("Output is: ")</a:t>
            </a:r>
          </a:p>
          <a:p>
            <a:r>
              <a:rPr lang="en-US" sz="2000" dirty="0"/>
              <a:t>   print (arg1)</a:t>
            </a:r>
          </a:p>
          <a:p>
            <a:r>
              <a:rPr lang="en-US" sz="2000" dirty="0"/>
              <a:t>   for var in varTuple:</a:t>
            </a:r>
          </a:p>
          <a:p>
            <a:r>
              <a:rPr lang="en-US" sz="2000" dirty="0"/>
              <a:t>      print (var)</a:t>
            </a:r>
          </a:p>
          <a:p>
            <a:endParaRPr lang="en-US" sz="2000" dirty="0"/>
          </a:p>
          <a:p>
            <a:r>
              <a:rPr lang="en-US" sz="2000" dirty="0"/>
              <a:t># Now you can call printInfo() function</a:t>
            </a:r>
          </a:p>
          <a:p>
            <a:r>
              <a:rPr lang="en-US" sz="2000" dirty="0">
                <a:solidFill>
                  <a:srgbClr val="FF0000"/>
                </a:solidFill>
              </a:rPr>
              <a:t>printInfo</a:t>
            </a:r>
            <a:r>
              <a:rPr lang="en-US" sz="2000" dirty="0"/>
              <a:t>( 10 )</a:t>
            </a:r>
          </a:p>
          <a:p>
            <a:r>
              <a:rPr lang="en-US" sz="2000" dirty="0">
                <a:solidFill>
                  <a:srgbClr val="FF0000"/>
                </a:solidFill>
              </a:rPr>
              <a:t>printInfo</a:t>
            </a:r>
            <a:r>
              <a:rPr lang="en-US" sz="2000" dirty="0"/>
              <a:t>( 70, 60, 50 )</a:t>
            </a:r>
          </a:p>
        </p:txBody>
      </p:sp>
    </p:spTree>
    <p:extLst>
      <p:ext uri="{BB962C8B-B14F-4D97-AF65-F5344CB8AC3E}">
        <p14:creationId xmlns:p14="http://schemas.microsoft.com/office/powerpoint/2010/main" val="228646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Function </a:t>
            </a:r>
            <a:r>
              <a:rPr lang="en-US" dirty="0">
                <a:solidFill>
                  <a:srgbClr val="FF0000"/>
                </a:solidFill>
              </a:rPr>
              <a:t>Arguments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976683"/>
              </p:ext>
            </p:extLst>
          </p:nvPr>
        </p:nvGraphicFramePr>
        <p:xfrm>
          <a:off x="2022578" y="1524000"/>
          <a:ext cx="4677421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4086902722"/>
                    </a:ext>
                  </a:extLst>
                </a:gridCol>
                <a:gridCol w="4448821">
                  <a:extLst>
                    <a:ext uri="{9D8B030D-6E8A-4147-A177-3AD203B41FA5}">
                      <a16:colId xmlns:a16="http://schemas.microsoft.com/office/drawing/2014/main" val="125825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10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def main():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956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   value = 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687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showDouble(value)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700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1897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def showDouble(number):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6344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result = number * 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0418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print(result)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465136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06367"/>
              </p:ext>
            </p:extLst>
          </p:nvPr>
        </p:nvGraphicFramePr>
        <p:xfrm>
          <a:off x="2022578" y="5105400"/>
          <a:ext cx="4753622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4086902722"/>
                    </a:ext>
                  </a:extLst>
                </a:gridCol>
                <a:gridCol w="3839222">
                  <a:extLst>
                    <a:ext uri="{9D8B030D-6E8A-4147-A177-3AD203B41FA5}">
                      <a16:colId xmlns:a16="http://schemas.microsoft.com/office/drawing/2014/main" val="1258252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956975"/>
                  </a:ext>
                </a:extLst>
              </a:tr>
            </a:tbl>
          </a:graphicData>
        </a:graphic>
      </p:graphicFrame>
      <p:cxnSp>
        <p:nvCxnSpPr>
          <p:cNvPr id="11" name="Straight Connector 10"/>
          <p:cNvCxnSpPr/>
          <p:nvPr/>
        </p:nvCxnSpPr>
        <p:spPr>
          <a:xfrm>
            <a:off x="3503612" y="3352800"/>
            <a:ext cx="83447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717592"/>
              </p:ext>
            </p:extLst>
          </p:nvPr>
        </p:nvGraphicFramePr>
        <p:xfrm>
          <a:off x="7432778" y="1776454"/>
          <a:ext cx="1657797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86902722"/>
                    </a:ext>
                  </a:extLst>
                </a:gridCol>
                <a:gridCol w="1449517">
                  <a:extLst>
                    <a:ext uri="{9D8B030D-6E8A-4147-A177-3AD203B41FA5}">
                      <a16:colId xmlns:a16="http://schemas.microsoft.com/office/drawing/2014/main" val="125825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value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1031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956975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986660"/>
              </p:ext>
            </p:extLst>
          </p:nvPr>
        </p:nvGraphicFramePr>
        <p:xfrm>
          <a:off x="7638974" y="3452854"/>
          <a:ext cx="1657797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86902722"/>
                    </a:ext>
                  </a:extLst>
                </a:gridCol>
                <a:gridCol w="1449517">
                  <a:extLst>
                    <a:ext uri="{9D8B030D-6E8A-4147-A177-3AD203B41FA5}">
                      <a16:colId xmlns:a16="http://schemas.microsoft.com/office/drawing/2014/main" val="125825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1031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956975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96392"/>
              </p:ext>
            </p:extLst>
          </p:nvPr>
        </p:nvGraphicFramePr>
        <p:xfrm>
          <a:off x="10217593" y="3452854"/>
          <a:ext cx="1657797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86902722"/>
                    </a:ext>
                  </a:extLst>
                </a:gridCol>
                <a:gridCol w="1449517">
                  <a:extLst>
                    <a:ext uri="{9D8B030D-6E8A-4147-A177-3AD203B41FA5}">
                      <a16:colId xmlns:a16="http://schemas.microsoft.com/office/drawing/2014/main" val="125825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1031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956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1103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Function </a:t>
            </a:r>
            <a:r>
              <a:rPr lang="en-US" dirty="0">
                <a:solidFill>
                  <a:srgbClr val="FF0000"/>
                </a:solidFill>
              </a:rPr>
              <a:t>Arguments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093" y="1493128"/>
            <a:ext cx="6438638" cy="387174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3375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Function </a:t>
            </a:r>
            <a:r>
              <a:rPr lang="en-US" dirty="0">
                <a:solidFill>
                  <a:srgbClr val="FF0000"/>
                </a:solidFill>
              </a:rPr>
              <a:t>Types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412" y="825500"/>
            <a:ext cx="3276190" cy="29904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813" y="825500"/>
            <a:ext cx="3238095" cy="30952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814598" y="3921398"/>
            <a:ext cx="4215818" cy="247177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800" b="1" dirty="0">
                <a:solidFill>
                  <a:schemeClr val="bg1"/>
                </a:solidFill>
              </a:rPr>
              <a:t>Think of </a:t>
            </a:r>
            <a:r>
              <a:rPr lang="en-US" sz="2800" b="1" dirty="0">
                <a:solidFill>
                  <a:srgbClr val="FFFF00"/>
                </a:solidFill>
              </a:rPr>
              <a:t>void functions </a:t>
            </a:r>
            <a:r>
              <a:rPr lang="en-US" sz="2800" b="1" dirty="0">
                <a:solidFill>
                  <a:schemeClr val="bg1"/>
                </a:solidFill>
              </a:rPr>
              <a:t>as a black holes; something happens but </a:t>
            </a:r>
            <a:r>
              <a:rPr lang="en-US" sz="2800" b="1" dirty="0">
                <a:solidFill>
                  <a:srgbClr val="FFFF00"/>
                </a:solidFill>
              </a:rPr>
              <a:t>nothing is returned</a:t>
            </a:r>
            <a:r>
              <a:rPr lang="en-US" sz="2800" b="1" dirty="0">
                <a:solidFill>
                  <a:schemeClr val="bg1"/>
                </a:solidFill>
              </a:rPr>
              <a:t> to the caller</a:t>
            </a:r>
          </a:p>
          <a:p>
            <a:pPr lvl="0" algn="ctr"/>
            <a:r>
              <a:rPr lang="en-US" sz="2800" b="1" dirty="0">
                <a:solidFill>
                  <a:srgbClr val="FFFF00"/>
                </a:solidFill>
              </a:rPr>
              <a:t>print() </a:t>
            </a:r>
          </a:p>
        </p:txBody>
      </p:sp>
      <p:sp>
        <p:nvSpPr>
          <p:cNvPr id="9" name="Rectangle 8"/>
          <p:cNvSpPr/>
          <p:nvPr/>
        </p:nvSpPr>
        <p:spPr>
          <a:xfrm>
            <a:off x="7008813" y="4047791"/>
            <a:ext cx="4800600" cy="23622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800" b="1" dirty="0">
                <a:solidFill>
                  <a:schemeClr val="bg1"/>
                </a:solidFill>
              </a:rPr>
              <a:t>Think of fruitful functions as trees that bear fruit; they produce and return something to the caller</a:t>
            </a:r>
          </a:p>
          <a:p>
            <a:pPr lvl="0" algn="ctr"/>
            <a:r>
              <a:rPr lang="en-US" sz="2800" b="1" dirty="0">
                <a:solidFill>
                  <a:srgbClr val="FFFF00"/>
                </a:solidFill>
              </a:rPr>
              <a:t>input</a:t>
            </a:r>
            <a:r>
              <a:rPr lang="en-US" sz="2800" b="1" dirty="0">
                <a:solidFill>
                  <a:schemeClr val="bg1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028886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– Arguments - </a:t>
            </a:r>
            <a:r>
              <a:rPr lang="en-US" dirty="0"/>
              <a:t>Pass by </a:t>
            </a:r>
            <a:r>
              <a:rPr lang="en-US" dirty="0">
                <a:solidFill>
                  <a:srgbClr val="FF0000"/>
                </a:solidFill>
              </a:rPr>
              <a:t>value</a:t>
            </a:r>
          </a:p>
        </p:txBody>
      </p:sp>
      <p:graphicFrame>
        <p:nvGraphicFramePr>
          <p:cNvPr id="7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07066608"/>
              </p:ext>
            </p:extLst>
          </p:nvPr>
        </p:nvGraphicFramePr>
        <p:xfrm>
          <a:off x="1233487" y="787400"/>
          <a:ext cx="109728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494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– Arguments - </a:t>
            </a:r>
            <a:r>
              <a:rPr lang="en-US" dirty="0"/>
              <a:t>Pass by </a:t>
            </a:r>
            <a:r>
              <a:rPr lang="en-US" dirty="0">
                <a:solidFill>
                  <a:srgbClr val="FF0000"/>
                </a:solidFill>
              </a:rPr>
              <a:t>value</a:t>
            </a:r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074423"/>
              </p:ext>
            </p:extLst>
          </p:nvPr>
        </p:nvGraphicFramePr>
        <p:xfrm>
          <a:off x="2665412" y="1018540"/>
          <a:ext cx="4915864" cy="4820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7043">
                  <a:extLst>
                    <a:ext uri="{9D8B030D-6E8A-4147-A177-3AD203B41FA5}">
                      <a16:colId xmlns:a16="http://schemas.microsoft.com/office/drawing/2014/main" val="4086902722"/>
                    </a:ext>
                  </a:extLst>
                </a:gridCol>
                <a:gridCol w="4448821">
                  <a:extLst>
                    <a:ext uri="{9D8B030D-6E8A-4147-A177-3AD203B41FA5}">
                      <a16:colId xmlns:a16="http://schemas.microsoft.com/office/drawing/2014/main" val="125825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10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def main():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956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   value = 99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687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print(‘The value is’, value)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700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changeMe(value)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1897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print(‘Back in main the value is’, value)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6344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0418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def changeMe(arg):  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4651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print(‘I am changing the value.’)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334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arg = 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46396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print(‘Now the value is’, arg)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2211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8967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main()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6646917"/>
                  </a:ext>
                </a:extLst>
              </a:tr>
            </a:tbl>
          </a:graphicData>
        </a:graphic>
      </p:graphicFrame>
      <p:cxnSp>
        <p:nvCxnSpPr>
          <p:cNvPr id="13" name="Straight Connector 12"/>
          <p:cNvCxnSpPr/>
          <p:nvPr/>
        </p:nvCxnSpPr>
        <p:spPr>
          <a:xfrm>
            <a:off x="3503612" y="3124200"/>
            <a:ext cx="83447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302094"/>
              </p:ext>
            </p:extLst>
          </p:nvPr>
        </p:nvGraphicFramePr>
        <p:xfrm>
          <a:off x="8590619" y="2199474"/>
          <a:ext cx="1657797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86902722"/>
                    </a:ext>
                  </a:extLst>
                </a:gridCol>
                <a:gridCol w="1449517">
                  <a:extLst>
                    <a:ext uri="{9D8B030D-6E8A-4147-A177-3AD203B41FA5}">
                      <a16:colId xmlns:a16="http://schemas.microsoft.com/office/drawing/2014/main" val="125825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value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1031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956975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083697"/>
              </p:ext>
            </p:extLst>
          </p:nvPr>
        </p:nvGraphicFramePr>
        <p:xfrm>
          <a:off x="8590620" y="3759618"/>
          <a:ext cx="1657797" cy="736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86902722"/>
                    </a:ext>
                  </a:extLst>
                </a:gridCol>
                <a:gridCol w="1449517">
                  <a:extLst>
                    <a:ext uri="{9D8B030D-6E8A-4147-A177-3AD203B41FA5}">
                      <a16:colId xmlns:a16="http://schemas.microsoft.com/office/drawing/2014/main" val="1258252085"/>
                    </a:ext>
                  </a:extLst>
                </a:gridCol>
              </a:tblGrid>
              <a:tr h="318494">
                <a:tc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arg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1031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956975"/>
                  </a:ext>
                </a:extLst>
              </a:tr>
            </a:tbl>
          </a:graphicData>
        </a:graphic>
      </p:graphicFrame>
      <p:cxnSp>
        <p:nvCxnSpPr>
          <p:cNvPr id="17" name="Straight Connector 16"/>
          <p:cNvCxnSpPr/>
          <p:nvPr/>
        </p:nvCxnSpPr>
        <p:spPr>
          <a:xfrm flipV="1">
            <a:off x="8904724" y="3985667"/>
            <a:ext cx="852973" cy="773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701371" y="41300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038207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– Arguments - </a:t>
            </a:r>
            <a:r>
              <a:rPr lang="en-US" dirty="0"/>
              <a:t>Pass by </a:t>
            </a:r>
            <a:r>
              <a:rPr lang="en-US" dirty="0">
                <a:solidFill>
                  <a:srgbClr val="FF0000"/>
                </a:solidFill>
              </a:rPr>
              <a:t>value</a:t>
            </a:r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876735"/>
              </p:ext>
            </p:extLst>
          </p:nvPr>
        </p:nvGraphicFramePr>
        <p:xfrm>
          <a:off x="1394976" y="679330"/>
          <a:ext cx="6696512" cy="5562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6158">
                  <a:extLst>
                    <a:ext uri="{9D8B030D-6E8A-4147-A177-3AD203B41FA5}">
                      <a16:colId xmlns:a16="http://schemas.microsoft.com/office/drawing/2014/main" val="4086902722"/>
                    </a:ext>
                  </a:extLst>
                </a:gridCol>
                <a:gridCol w="6150354">
                  <a:extLst>
                    <a:ext uri="{9D8B030D-6E8A-4147-A177-3AD203B41FA5}">
                      <a16:colId xmlns:a16="http://schemas.microsoft.com/office/drawing/2014/main" val="125825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10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def main():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956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126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   numberOne = 9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687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   numberOne = 7</a:t>
                      </a:r>
                      <a:endParaRPr 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700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print(‘The values are’,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numberOne, “</a:t>
                      </a:r>
                      <a:r>
                        <a:rPr lang="en-US" sz="180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, “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 numberOne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1897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changeMe(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numberOne, numberOne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6344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print(‘Back in main, the values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are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’,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numberOne, numberOne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0418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4651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def changeMe(arg1, arg2):  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334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print(‘I am doing calculation.’)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46396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arg1 = arg1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+ arg2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2211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print(‘Inside the function, the values are ’, arg1,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“ , “, agr2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8967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6646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main()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4136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463751"/>
                  </a:ext>
                </a:extLst>
              </a:tr>
            </a:tbl>
          </a:graphicData>
        </a:graphic>
      </p:graphicFrame>
      <p:cxnSp>
        <p:nvCxnSpPr>
          <p:cNvPr id="13" name="Straight Connector 12"/>
          <p:cNvCxnSpPr/>
          <p:nvPr/>
        </p:nvCxnSpPr>
        <p:spPr>
          <a:xfrm>
            <a:off x="6018212" y="3460630"/>
            <a:ext cx="83447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1276"/>
              </p:ext>
            </p:extLst>
          </p:nvPr>
        </p:nvGraphicFramePr>
        <p:xfrm>
          <a:off x="8214406" y="707046"/>
          <a:ext cx="1657797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86902722"/>
                    </a:ext>
                  </a:extLst>
                </a:gridCol>
                <a:gridCol w="1449517">
                  <a:extLst>
                    <a:ext uri="{9D8B030D-6E8A-4147-A177-3AD203B41FA5}">
                      <a16:colId xmlns:a16="http://schemas.microsoft.com/office/drawing/2014/main" val="125825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numberOne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1031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956975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036682"/>
              </p:ext>
            </p:extLst>
          </p:nvPr>
        </p:nvGraphicFramePr>
        <p:xfrm>
          <a:off x="10159191" y="705081"/>
          <a:ext cx="1657797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86902722"/>
                    </a:ext>
                  </a:extLst>
                </a:gridCol>
                <a:gridCol w="1449517">
                  <a:extLst>
                    <a:ext uri="{9D8B030D-6E8A-4147-A177-3AD203B41FA5}">
                      <a16:colId xmlns:a16="http://schemas.microsoft.com/office/drawing/2014/main" val="125825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numberTwo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1031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956975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177955"/>
              </p:ext>
            </p:extLst>
          </p:nvPr>
        </p:nvGraphicFramePr>
        <p:xfrm>
          <a:off x="8209002" y="2420240"/>
          <a:ext cx="356916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9160">
                  <a:extLst>
                    <a:ext uri="{9D8B030D-6E8A-4147-A177-3AD203B41FA5}">
                      <a16:colId xmlns:a16="http://schemas.microsoft.com/office/drawing/2014/main" val="2243636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Screen Display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A8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2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Back in main, the values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are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9, 7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8792880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574473"/>
              </p:ext>
            </p:extLst>
          </p:nvPr>
        </p:nvGraphicFramePr>
        <p:xfrm>
          <a:off x="8230668" y="3708053"/>
          <a:ext cx="1657797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86902722"/>
                    </a:ext>
                  </a:extLst>
                </a:gridCol>
                <a:gridCol w="1449517">
                  <a:extLst>
                    <a:ext uri="{9D8B030D-6E8A-4147-A177-3AD203B41FA5}">
                      <a16:colId xmlns:a16="http://schemas.microsoft.com/office/drawing/2014/main" val="125825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arg1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1031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956975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295777"/>
              </p:ext>
            </p:extLst>
          </p:nvPr>
        </p:nvGraphicFramePr>
        <p:xfrm>
          <a:off x="10185001" y="3708053"/>
          <a:ext cx="1657797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86902722"/>
                    </a:ext>
                  </a:extLst>
                </a:gridCol>
                <a:gridCol w="1449517">
                  <a:extLst>
                    <a:ext uri="{9D8B030D-6E8A-4147-A177-3AD203B41FA5}">
                      <a16:colId xmlns:a16="http://schemas.microsoft.com/office/drawing/2014/main" val="125825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arg2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1031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956975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199702"/>
              </p:ext>
            </p:extLst>
          </p:nvPr>
        </p:nvGraphicFramePr>
        <p:xfrm>
          <a:off x="8247829" y="4537932"/>
          <a:ext cx="356916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9160">
                  <a:extLst>
                    <a:ext uri="{9D8B030D-6E8A-4147-A177-3AD203B41FA5}">
                      <a16:colId xmlns:a16="http://schemas.microsoft.com/office/drawing/2014/main" val="2243636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Screen Display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A8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2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am doing calculation.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8792880"/>
                  </a:ext>
                </a:extLst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 flipV="1">
            <a:off x="8624888" y="3962400"/>
            <a:ext cx="685800" cy="7347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29140" y="412450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97747"/>
              </p:ext>
            </p:extLst>
          </p:nvPr>
        </p:nvGraphicFramePr>
        <p:xfrm>
          <a:off x="8247828" y="5486847"/>
          <a:ext cx="3958459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58459">
                  <a:extLst>
                    <a:ext uri="{9D8B030D-6E8A-4147-A177-3AD203B41FA5}">
                      <a16:colId xmlns:a16="http://schemas.microsoft.com/office/drawing/2014/main" val="2243636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Screen Display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A8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2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Inside the function, the values are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16, 7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8792880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146354"/>
              </p:ext>
            </p:extLst>
          </p:nvPr>
        </p:nvGraphicFramePr>
        <p:xfrm>
          <a:off x="8214406" y="1534960"/>
          <a:ext cx="356916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9160">
                  <a:extLst>
                    <a:ext uri="{9D8B030D-6E8A-4147-A177-3AD203B41FA5}">
                      <a16:colId xmlns:a16="http://schemas.microsoft.com/office/drawing/2014/main" val="2243636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Screen Display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A8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2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 values are  are 9, 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8792880"/>
                  </a:ext>
                </a:extLst>
              </a:tr>
            </a:tbl>
          </a:graphicData>
        </a:graphic>
      </p:graphicFrame>
      <p:cxnSp>
        <p:nvCxnSpPr>
          <p:cNvPr id="24" name="Straight Connector 23"/>
          <p:cNvCxnSpPr/>
          <p:nvPr/>
        </p:nvCxnSpPr>
        <p:spPr>
          <a:xfrm>
            <a:off x="8247828" y="3708053"/>
            <a:ext cx="1290664" cy="9891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185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– Arguments - </a:t>
            </a:r>
            <a:r>
              <a:rPr lang="en-US" dirty="0"/>
              <a:t>Pass by </a:t>
            </a:r>
            <a:r>
              <a:rPr lang="en-US" dirty="0">
                <a:solidFill>
                  <a:srgbClr val="FF0000"/>
                </a:solidFill>
              </a:rPr>
              <a:t>Reference</a:t>
            </a:r>
            <a:endParaRPr lang="en-US" dirty="0"/>
          </a:p>
        </p:txBody>
      </p:sp>
      <p:graphicFrame>
        <p:nvGraphicFramePr>
          <p:cNvPr id="7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63859066"/>
              </p:ext>
            </p:extLst>
          </p:nvPr>
        </p:nvGraphicFramePr>
        <p:xfrm>
          <a:off x="1216025" y="661193"/>
          <a:ext cx="10972800" cy="21320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912812" y="2590800"/>
            <a:ext cx="6092825" cy="341632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2400" dirty="0"/>
              <a:t># Function definition is here</a:t>
            </a:r>
          </a:p>
          <a:p>
            <a:r>
              <a:rPr lang="en-US" sz="2400" dirty="0"/>
              <a:t>def changeMe( myList ):</a:t>
            </a:r>
          </a:p>
          <a:p>
            <a:r>
              <a:rPr lang="en-US" sz="2400" dirty="0"/>
              <a:t>   myList.append([1,2,3,4]);</a:t>
            </a:r>
          </a:p>
          <a:p>
            <a:r>
              <a:rPr lang="en-US" sz="2400" dirty="0"/>
              <a:t>   print ("Values inside the function: ", myList)</a:t>
            </a:r>
          </a:p>
          <a:p>
            <a:endParaRPr lang="en-US" sz="2400" dirty="0"/>
          </a:p>
          <a:p>
            <a:r>
              <a:rPr lang="en-US" sz="2400" dirty="0"/>
              <a:t># Now you can call changeMe() function</a:t>
            </a:r>
          </a:p>
          <a:p>
            <a:r>
              <a:rPr lang="en-US" sz="2400" dirty="0"/>
              <a:t>myList = [10,20,30];</a:t>
            </a:r>
          </a:p>
          <a:p>
            <a:r>
              <a:rPr lang="en-US" sz="2400" dirty="0"/>
              <a:t>changeMe( myList );</a:t>
            </a:r>
          </a:p>
          <a:p>
            <a:r>
              <a:rPr lang="en-US" sz="2400" dirty="0"/>
              <a:t>print ("Values outside the function: ", myList)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27066"/>
              </p:ext>
            </p:extLst>
          </p:nvPr>
        </p:nvGraphicFramePr>
        <p:xfrm>
          <a:off x="7110412" y="3034824"/>
          <a:ext cx="5105400" cy="1010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2243636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Screen Display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A8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2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Values inside the function:  [10, 20, 30, [1, 2, 3, 4]]</a:t>
                      </a:r>
                    </a:p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Values outside the function:  [10, 20, 30, [1, 2, 3, 4]]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8792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96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– Arguments - </a:t>
            </a:r>
            <a:r>
              <a:rPr lang="en-US" dirty="0"/>
              <a:t>Pass by </a:t>
            </a:r>
            <a:r>
              <a:rPr lang="en-US" dirty="0">
                <a:solidFill>
                  <a:srgbClr val="FF0000"/>
                </a:solidFill>
              </a:rPr>
              <a:t>Reference</a:t>
            </a:r>
            <a:endParaRPr lang="en-US" dirty="0"/>
          </a:p>
        </p:txBody>
      </p:sp>
      <p:graphicFrame>
        <p:nvGraphicFramePr>
          <p:cNvPr id="7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3998411"/>
              </p:ext>
            </p:extLst>
          </p:nvPr>
        </p:nvGraphicFramePr>
        <p:xfrm>
          <a:off x="1216025" y="754061"/>
          <a:ext cx="10972800" cy="21320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760412" y="2886075"/>
            <a:ext cx="6856413" cy="3170099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# Function definition is here</a:t>
            </a:r>
          </a:p>
          <a:p>
            <a:r>
              <a:rPr lang="en-US" sz="2000" dirty="0"/>
              <a:t>def changeMe( myList ):</a:t>
            </a:r>
          </a:p>
          <a:p>
            <a:r>
              <a:rPr lang="en-US" sz="2000" dirty="0"/>
              <a:t>   "This changes a passed list into this function"</a:t>
            </a:r>
          </a:p>
          <a:p>
            <a:r>
              <a:rPr lang="en-US" sz="2000" dirty="0"/>
              <a:t>   myList = [1,2,3,4]; # This would assign new reference in myList</a:t>
            </a:r>
          </a:p>
          <a:p>
            <a:r>
              <a:rPr lang="en-US" sz="2000" dirty="0"/>
              <a:t>   print ("Values inside the function: ", myList)</a:t>
            </a:r>
          </a:p>
          <a:p>
            <a:endParaRPr lang="en-US" sz="2000" dirty="0"/>
          </a:p>
          <a:p>
            <a:r>
              <a:rPr lang="en-US" sz="2000" dirty="0"/>
              <a:t># Now you can call changeMe() function</a:t>
            </a:r>
          </a:p>
          <a:p>
            <a:r>
              <a:rPr lang="en-US" sz="2000" dirty="0"/>
              <a:t>myList = [10,20,30];</a:t>
            </a:r>
          </a:p>
          <a:p>
            <a:r>
              <a:rPr lang="en-US" sz="2000" dirty="0"/>
              <a:t>changeMe( myList );</a:t>
            </a:r>
          </a:p>
          <a:p>
            <a:r>
              <a:rPr lang="en-US" sz="2000" dirty="0"/>
              <a:t>print ("Values outside the function: ", myList)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393666"/>
              </p:ext>
            </p:extLst>
          </p:nvPr>
        </p:nvGraphicFramePr>
        <p:xfrm>
          <a:off x="7694612" y="3659186"/>
          <a:ext cx="4417246" cy="1010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17246">
                  <a:extLst>
                    <a:ext uri="{9D8B030D-6E8A-4147-A177-3AD203B41FA5}">
                      <a16:colId xmlns:a16="http://schemas.microsoft.com/office/drawing/2014/main" val="2243636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Screen Display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A8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2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Values inside the function:  [1, 2, 3, 4]</a:t>
                      </a:r>
                    </a:p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Values outside the function:  [10, 20, 30]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8792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338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– </a:t>
            </a:r>
            <a:r>
              <a:rPr lang="en-US" dirty="0"/>
              <a:t>Return</a:t>
            </a:r>
            <a:r>
              <a:rPr lang="en-US" dirty="0">
                <a:solidFill>
                  <a:srgbClr val="FF0000"/>
                </a:solidFill>
              </a:rPr>
              <a:t> statement</a:t>
            </a:r>
            <a:endParaRPr lang="en-US" dirty="0"/>
          </a:p>
        </p:txBody>
      </p:sp>
      <p:graphicFrame>
        <p:nvGraphicFramePr>
          <p:cNvPr id="7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93312953"/>
              </p:ext>
            </p:extLst>
          </p:nvPr>
        </p:nvGraphicFramePr>
        <p:xfrm>
          <a:off x="1216025" y="718962"/>
          <a:ext cx="10972800" cy="21320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1129110" y="2971800"/>
            <a:ext cx="5254625" cy="2862322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 # Add both the parameters and return them</a:t>
            </a:r>
          </a:p>
          <a:p>
            <a:r>
              <a:rPr lang="en-US" sz="2000" dirty="0"/>
              <a:t>def sumNumbers( arg1, arg2 ):</a:t>
            </a:r>
          </a:p>
          <a:p>
            <a:r>
              <a:rPr lang="en-US" sz="2000" dirty="0"/>
              <a:t>   addition = arg1 + arg2</a:t>
            </a:r>
          </a:p>
          <a:p>
            <a:r>
              <a:rPr lang="en-US" sz="2000" dirty="0"/>
              <a:t>   print ("Inside the function : ", addition)</a:t>
            </a:r>
          </a:p>
          <a:p>
            <a:r>
              <a:rPr lang="en-US" sz="2000" dirty="0"/>
              <a:t>   return addition</a:t>
            </a:r>
          </a:p>
          <a:p>
            <a:endParaRPr lang="en-US" sz="2000" dirty="0"/>
          </a:p>
          <a:p>
            <a:r>
              <a:rPr lang="en-US" sz="2000" dirty="0"/>
              <a:t># Now you can call sum function</a:t>
            </a:r>
          </a:p>
          <a:p>
            <a:r>
              <a:rPr lang="en-US" sz="2000" dirty="0"/>
              <a:t>total = sumNumbers( 10, 20 )</a:t>
            </a:r>
          </a:p>
          <a:p>
            <a:r>
              <a:rPr lang="en-US" sz="2000" dirty="0"/>
              <a:t>print ("Outside the function : ", total)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188094"/>
              </p:ext>
            </p:extLst>
          </p:nvPr>
        </p:nvGraphicFramePr>
        <p:xfrm>
          <a:off x="6512365" y="4773752"/>
          <a:ext cx="259080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4086902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Statement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10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total = sum( 10, 20 )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95697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470726"/>
              </p:ext>
            </p:extLst>
          </p:nvPr>
        </p:nvGraphicFramePr>
        <p:xfrm>
          <a:off x="6534257" y="2971800"/>
          <a:ext cx="1506718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50802844"/>
                    </a:ext>
                  </a:extLst>
                </a:gridCol>
                <a:gridCol w="1298438">
                  <a:extLst>
                    <a:ext uri="{9D8B030D-6E8A-4147-A177-3AD203B41FA5}">
                      <a16:colId xmlns:a16="http://schemas.microsoft.com/office/drawing/2014/main" val="34924547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arg1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43071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8979587"/>
                  </a:ext>
                </a:extLst>
              </a:tr>
            </a:tbl>
          </a:graphicData>
        </a:graphic>
      </p:graphicFrame>
      <p:cxnSp>
        <p:nvCxnSpPr>
          <p:cNvPr id="9" name="Straight Connector 8"/>
          <p:cNvCxnSpPr/>
          <p:nvPr/>
        </p:nvCxnSpPr>
        <p:spPr>
          <a:xfrm>
            <a:off x="217225" y="4724400"/>
            <a:ext cx="1159218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744850"/>
              </p:ext>
            </p:extLst>
          </p:nvPr>
        </p:nvGraphicFramePr>
        <p:xfrm>
          <a:off x="8403394" y="2971800"/>
          <a:ext cx="1506718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50802844"/>
                    </a:ext>
                  </a:extLst>
                </a:gridCol>
                <a:gridCol w="1298438">
                  <a:extLst>
                    <a:ext uri="{9D8B030D-6E8A-4147-A177-3AD203B41FA5}">
                      <a16:colId xmlns:a16="http://schemas.microsoft.com/office/drawing/2014/main" val="34924547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arg2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43071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8979587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748877"/>
              </p:ext>
            </p:extLst>
          </p:nvPr>
        </p:nvGraphicFramePr>
        <p:xfrm>
          <a:off x="10272531" y="2971800"/>
          <a:ext cx="1506718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50802844"/>
                    </a:ext>
                  </a:extLst>
                </a:gridCol>
                <a:gridCol w="1298438">
                  <a:extLst>
                    <a:ext uri="{9D8B030D-6E8A-4147-A177-3AD203B41FA5}">
                      <a16:colId xmlns:a16="http://schemas.microsoft.com/office/drawing/2014/main" val="34924547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addition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43071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8979587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765207"/>
              </p:ext>
            </p:extLst>
          </p:nvPr>
        </p:nvGraphicFramePr>
        <p:xfrm>
          <a:off x="6534548" y="3781263"/>
          <a:ext cx="5105400" cy="736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2243636743"/>
                    </a:ext>
                  </a:extLst>
                </a:gridCol>
              </a:tblGrid>
              <a:tr h="14382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Screen Display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A8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2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Inside the function : 30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879288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804570"/>
              </p:ext>
            </p:extLst>
          </p:nvPr>
        </p:nvGraphicFramePr>
        <p:xfrm>
          <a:off x="9861715" y="4773752"/>
          <a:ext cx="1506718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50802844"/>
                    </a:ext>
                  </a:extLst>
                </a:gridCol>
                <a:gridCol w="1298438">
                  <a:extLst>
                    <a:ext uri="{9D8B030D-6E8A-4147-A177-3AD203B41FA5}">
                      <a16:colId xmlns:a16="http://schemas.microsoft.com/office/drawing/2014/main" val="34924547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total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43071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8979587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187498"/>
              </p:ext>
            </p:extLst>
          </p:nvPr>
        </p:nvGraphicFramePr>
        <p:xfrm>
          <a:off x="6512365" y="5625426"/>
          <a:ext cx="5105400" cy="736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2243636743"/>
                    </a:ext>
                  </a:extLst>
                </a:gridCol>
              </a:tblGrid>
              <a:tr h="14382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Screen Display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A8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2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Outside the function : 30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8792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4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– </a:t>
            </a:r>
            <a:r>
              <a:rPr lang="en-US" dirty="0"/>
              <a:t>Return</a:t>
            </a:r>
            <a:r>
              <a:rPr lang="en-US" dirty="0">
                <a:solidFill>
                  <a:srgbClr val="FF0000"/>
                </a:solidFill>
              </a:rPr>
              <a:t> statement</a:t>
            </a:r>
            <a:endParaRPr lang="en-US" dirty="0"/>
          </a:p>
        </p:txBody>
      </p:sp>
      <p:graphicFrame>
        <p:nvGraphicFramePr>
          <p:cNvPr id="7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791164"/>
              </p:ext>
            </p:extLst>
          </p:nvPr>
        </p:nvGraphicFramePr>
        <p:xfrm>
          <a:off x="1446212" y="787400"/>
          <a:ext cx="10515600" cy="21320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2589212" y="3200400"/>
            <a:ext cx="6092825" cy="2308324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2400" dirty="0"/>
              <a:t># function returns multiple values</a:t>
            </a:r>
          </a:p>
          <a:p>
            <a:r>
              <a:rPr lang="en-US" sz="2400" dirty="0"/>
              <a:t>def addMoney():</a:t>
            </a:r>
          </a:p>
          <a:p>
            <a:r>
              <a:rPr lang="en-US" sz="2400" dirty="0"/>
              <a:t>   return 1, 2, 3</a:t>
            </a:r>
          </a:p>
          <a:p>
            <a:endParaRPr lang="en-US" sz="2400" dirty="0"/>
          </a:p>
          <a:p>
            <a:r>
              <a:rPr lang="en-US" sz="2400" dirty="0"/>
              <a:t>x, y, z = addMoney()</a:t>
            </a:r>
          </a:p>
          <a:p>
            <a:r>
              <a:rPr lang="en-US" sz="2400" dirty="0"/>
              <a:t>print (x, y, z)</a:t>
            </a:r>
          </a:p>
        </p:txBody>
      </p:sp>
    </p:spTree>
    <p:extLst>
      <p:ext uri="{BB962C8B-B14F-4D97-AF65-F5344CB8AC3E}">
        <p14:creationId xmlns:p14="http://schemas.microsoft.com/office/powerpoint/2010/main" val="432187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– Multiple </a:t>
            </a:r>
            <a:r>
              <a:rPr lang="en-US" dirty="0"/>
              <a:t>Return</a:t>
            </a:r>
            <a:r>
              <a:rPr lang="en-US" dirty="0">
                <a:solidFill>
                  <a:srgbClr val="FF0000"/>
                </a:solidFill>
              </a:rPr>
              <a:t> statement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048000" y="1166842"/>
            <a:ext cx="6092825" cy="452431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2400" dirty="0"/>
              <a:t># function returns multiple values</a:t>
            </a:r>
          </a:p>
          <a:p>
            <a:r>
              <a:rPr lang="en-US" sz="2400" dirty="0"/>
              <a:t>def addMoney(number):</a:t>
            </a:r>
          </a:p>
          <a:p>
            <a:r>
              <a:rPr lang="en-US" sz="2400" dirty="0"/>
              <a:t>   if (number &lt; 0):</a:t>
            </a:r>
          </a:p>
          <a:p>
            <a:r>
              <a:rPr lang="en-US" sz="2400" dirty="0"/>
              <a:t>      return "Negative Number"</a:t>
            </a:r>
          </a:p>
          <a:p>
            <a:r>
              <a:rPr lang="en-US" sz="2400" dirty="0"/>
              <a:t>   elif (number == 0):</a:t>
            </a:r>
          </a:p>
          <a:p>
            <a:r>
              <a:rPr lang="en-US" sz="2400" dirty="0"/>
              <a:t>      return "Zero"</a:t>
            </a:r>
          </a:p>
          <a:p>
            <a:r>
              <a:rPr lang="en-US" sz="2400" dirty="0"/>
              <a:t>   else:</a:t>
            </a:r>
          </a:p>
          <a:p>
            <a:r>
              <a:rPr lang="en-US" sz="2400" dirty="0"/>
              <a:t>      return "Positive Number"</a:t>
            </a:r>
          </a:p>
          <a:p>
            <a:endParaRPr lang="en-US" sz="2400" dirty="0"/>
          </a:p>
          <a:p>
            <a:r>
              <a:rPr lang="en-US" sz="2400" dirty="0"/>
              <a:t># caller of function</a:t>
            </a:r>
          </a:p>
          <a:p>
            <a:r>
              <a:rPr lang="en-US" sz="2400" dirty="0"/>
              <a:t>value =  addMoney(-5)</a:t>
            </a:r>
          </a:p>
          <a:p>
            <a:r>
              <a:rPr lang="en-US" sz="2400" dirty="0"/>
              <a:t>print (value)</a:t>
            </a:r>
          </a:p>
        </p:txBody>
      </p:sp>
    </p:spTree>
    <p:extLst>
      <p:ext uri="{BB962C8B-B14F-4D97-AF65-F5344CB8AC3E}">
        <p14:creationId xmlns:p14="http://schemas.microsoft.com/office/powerpoint/2010/main" val="52490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– </a:t>
            </a:r>
            <a:r>
              <a:rPr lang="en-US" dirty="0"/>
              <a:t>Multiple</a:t>
            </a:r>
            <a:r>
              <a:rPr lang="en-US" dirty="0">
                <a:solidFill>
                  <a:srgbClr val="FF0000"/>
                </a:solidFill>
              </a:rPr>
              <a:t> Functions for same operation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864421" y="1028343"/>
            <a:ext cx="8459982" cy="4801314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 getData1() gets the salary from the user input</a:t>
            </a:r>
          </a:p>
          <a:p>
            <a:r>
              <a:rPr lang="en-US" dirty="0"/>
              <a:t>def getData1():</a:t>
            </a:r>
          </a:p>
          <a:p>
            <a:r>
              <a:rPr lang="en-US" dirty="0"/>
              <a:t>    salary = float(input('Please enter your base salary '))</a:t>
            </a:r>
          </a:p>
          <a:p>
            <a:r>
              <a:rPr lang="en-US" dirty="0"/>
              <a:t>    return salary</a:t>
            </a:r>
          </a:p>
          <a:p>
            <a:endParaRPr lang="en-US" dirty="0"/>
          </a:p>
          <a:p>
            <a:r>
              <a:rPr lang="en-US" dirty="0"/>
              <a:t># getData2() gets the bonus from the user input</a:t>
            </a:r>
          </a:p>
          <a:p>
            <a:r>
              <a:rPr lang="en-US" dirty="0"/>
              <a:t>def getData2():</a:t>
            </a:r>
          </a:p>
          <a:p>
            <a:r>
              <a:rPr lang="en-US" dirty="0"/>
              <a:t>    bonus = float(input('Please enter your the bonus '))</a:t>
            </a:r>
          </a:p>
          <a:p>
            <a:r>
              <a:rPr lang="en-US" dirty="0"/>
              <a:t>    return bonus</a:t>
            </a:r>
          </a:p>
          <a:p>
            <a:endParaRPr lang="en-US" dirty="0"/>
          </a:p>
          <a:p>
            <a:r>
              <a:rPr lang="en-US" dirty="0"/>
              <a:t># main() performs all the programming</a:t>
            </a:r>
          </a:p>
          <a:p>
            <a:r>
              <a:rPr lang="en-US" dirty="0"/>
              <a:t>def main():</a:t>
            </a:r>
          </a:p>
          <a:p>
            <a:r>
              <a:rPr lang="en-US" dirty="0"/>
              <a:t>    salary = getData1()</a:t>
            </a:r>
          </a:p>
          <a:p>
            <a:r>
              <a:rPr lang="en-US" dirty="0"/>
              <a:t>    bonus = getData2()</a:t>
            </a:r>
          </a:p>
          <a:p>
            <a:endParaRPr lang="en-US" dirty="0"/>
          </a:p>
          <a:p>
            <a:r>
              <a:rPr lang="en-US" dirty="0"/>
              <a:t># main() is used to initiate the stage of the program</a:t>
            </a:r>
          </a:p>
          <a:p>
            <a:r>
              <a:rPr lang="en-US" dirty="0"/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614738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– </a:t>
            </a:r>
            <a:r>
              <a:rPr lang="en-US" dirty="0"/>
              <a:t>One</a:t>
            </a:r>
            <a:r>
              <a:rPr lang="en-US" dirty="0">
                <a:solidFill>
                  <a:srgbClr val="FF0000"/>
                </a:solidFill>
              </a:rPr>
              <a:t> Function for </a:t>
            </a:r>
            <a:r>
              <a:rPr lang="en-US" dirty="0"/>
              <a:t>same operation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64422" y="1720840"/>
            <a:ext cx="8459982" cy="3693319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 getData1() gets value from user input</a:t>
            </a:r>
          </a:p>
          <a:p>
            <a:r>
              <a:rPr lang="en-US" dirty="0"/>
              <a:t>def getData(prompt):</a:t>
            </a:r>
          </a:p>
          <a:p>
            <a:r>
              <a:rPr lang="en-US" dirty="0"/>
              <a:t>    value = float(input(prompt))</a:t>
            </a:r>
          </a:p>
          <a:p>
            <a:r>
              <a:rPr lang="en-US" dirty="0"/>
              <a:t>    return value</a:t>
            </a:r>
          </a:p>
          <a:p>
            <a:endParaRPr lang="en-US" dirty="0"/>
          </a:p>
          <a:p>
            <a:r>
              <a:rPr lang="en-US" dirty="0"/>
              <a:t># main() performs all the programing</a:t>
            </a:r>
          </a:p>
          <a:p>
            <a:r>
              <a:rPr lang="en-US" dirty="0"/>
              <a:t>def main():</a:t>
            </a:r>
          </a:p>
          <a:p>
            <a:r>
              <a:rPr lang="en-US" dirty="0"/>
              <a:t>    # getting users input for salary and bonus</a:t>
            </a:r>
          </a:p>
          <a:p>
            <a:r>
              <a:rPr lang="en-US" dirty="0"/>
              <a:t>    salary = getData('Please enter your base salary ')</a:t>
            </a:r>
          </a:p>
          <a:p>
            <a:r>
              <a:rPr lang="en-US" dirty="0"/>
              <a:t>    bonus = getData('Please enter your the bonus ')</a:t>
            </a:r>
          </a:p>
          <a:p>
            <a:endParaRPr lang="en-US" dirty="0"/>
          </a:p>
          <a:p>
            <a:r>
              <a:rPr lang="en-US" dirty="0"/>
              <a:t># main() is used to initiate the stage of the program</a:t>
            </a:r>
          </a:p>
          <a:p>
            <a:r>
              <a:rPr lang="en-US" dirty="0"/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311035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– Function for </a:t>
            </a:r>
            <a:r>
              <a:rPr lang="en-US" dirty="0"/>
              <a:t>calculation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64422" y="1166843"/>
            <a:ext cx="8459982" cy="452431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 getData1() gets value from user input</a:t>
            </a:r>
          </a:p>
          <a:p>
            <a:r>
              <a:rPr lang="en-US" dirty="0"/>
              <a:t>def getData(prompt):</a:t>
            </a:r>
          </a:p>
          <a:p>
            <a:r>
              <a:rPr lang="en-US" dirty="0"/>
              <a:t>    value = float(input(prompt))</a:t>
            </a:r>
          </a:p>
          <a:p>
            <a:r>
              <a:rPr lang="en-US" dirty="0"/>
              <a:t>    return value</a:t>
            </a:r>
          </a:p>
          <a:p>
            <a:endParaRPr lang="en-US" dirty="0"/>
          </a:p>
          <a:p>
            <a:r>
              <a:rPr lang="en-US" dirty="0"/>
              <a:t># main() performs all the programing</a:t>
            </a:r>
          </a:p>
          <a:p>
            <a:r>
              <a:rPr lang="en-US" dirty="0"/>
              <a:t>def main():</a:t>
            </a:r>
          </a:p>
          <a:p>
            <a:r>
              <a:rPr lang="en-US" dirty="0"/>
              <a:t>    # getting users input for salary and bonus</a:t>
            </a:r>
          </a:p>
          <a:p>
            <a:r>
              <a:rPr lang="en-US" dirty="0"/>
              <a:t>    salary = getData('Please enter your base salary ')</a:t>
            </a:r>
          </a:p>
          <a:p>
            <a:r>
              <a:rPr lang="en-US" dirty="0"/>
              <a:t>    bonus = getData('Please enter your the bonus ')</a:t>
            </a:r>
          </a:p>
          <a:p>
            <a:endParaRPr lang="en-US" dirty="0"/>
          </a:p>
          <a:p>
            <a:r>
              <a:rPr lang="en-US" dirty="0"/>
              <a:t>   # calculation section</a:t>
            </a:r>
          </a:p>
          <a:p>
            <a:r>
              <a:rPr lang="en-US" dirty="0"/>
              <a:t>    totalSalary = salary + bonus</a:t>
            </a:r>
          </a:p>
          <a:p>
            <a:endParaRPr lang="en-US" dirty="0"/>
          </a:p>
          <a:p>
            <a:r>
              <a:rPr lang="en-US" dirty="0"/>
              <a:t># main() is used to initiate the stage of the program</a:t>
            </a:r>
          </a:p>
          <a:p>
            <a:r>
              <a:rPr lang="en-US" dirty="0"/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1225943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– Function for </a:t>
            </a:r>
            <a:r>
              <a:rPr lang="en-US" dirty="0"/>
              <a:t>calculation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64422" y="612844"/>
            <a:ext cx="8459982" cy="5632311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 getData1() gets value from user input</a:t>
            </a:r>
          </a:p>
          <a:p>
            <a:r>
              <a:rPr lang="en-US" dirty="0"/>
              <a:t>def getData(prompt):</a:t>
            </a:r>
          </a:p>
          <a:p>
            <a:r>
              <a:rPr lang="en-US" dirty="0"/>
              <a:t>    value = float(input(prompt))</a:t>
            </a:r>
          </a:p>
          <a:p>
            <a:r>
              <a:rPr lang="en-US" dirty="0"/>
              <a:t>    return value</a:t>
            </a:r>
          </a:p>
          <a:p>
            <a:endParaRPr lang="en-US" dirty="0"/>
          </a:p>
          <a:p>
            <a:r>
              <a:rPr lang="en-US" dirty="0"/>
              <a:t># main() performs all the programming</a:t>
            </a:r>
          </a:p>
          <a:p>
            <a:r>
              <a:rPr lang="en-US" dirty="0"/>
              <a:t>def main():</a:t>
            </a:r>
          </a:p>
          <a:p>
            <a:r>
              <a:rPr lang="en-US" dirty="0"/>
              <a:t>    # getting users input for salary and bonus </a:t>
            </a:r>
          </a:p>
          <a:p>
            <a:r>
              <a:rPr lang="en-US" dirty="0"/>
              <a:t>    salary = getData('Please enter your base salary ')</a:t>
            </a:r>
          </a:p>
          <a:p>
            <a:r>
              <a:rPr lang="en-US" dirty="0"/>
              <a:t>    bonus = getData('Please enter your the bonus ')</a:t>
            </a:r>
          </a:p>
          <a:p>
            <a:endParaRPr lang="en-US" dirty="0"/>
          </a:p>
          <a:p>
            <a:r>
              <a:rPr lang="en-US" dirty="0"/>
              <a:t>    # finding the total salary</a:t>
            </a:r>
          </a:p>
          <a:p>
            <a:r>
              <a:rPr lang="en-US" dirty="0"/>
              <a:t>    totalSalary = processData(bonus, salary)        </a:t>
            </a:r>
          </a:p>
          <a:p>
            <a:endParaRPr lang="en-US" dirty="0"/>
          </a:p>
          <a:p>
            <a:r>
              <a:rPr lang="en-US" dirty="0"/>
              <a:t># processData() will find the total salary</a:t>
            </a:r>
          </a:p>
          <a:p>
            <a:r>
              <a:rPr lang="en-US" dirty="0"/>
              <a:t>def processData(bonus, salary):</a:t>
            </a:r>
          </a:p>
          <a:p>
            <a:r>
              <a:rPr lang="en-US" dirty="0"/>
              <a:t>    return bonus + salary</a:t>
            </a:r>
          </a:p>
          <a:p>
            <a:endParaRPr lang="en-US" dirty="0"/>
          </a:p>
          <a:p>
            <a:r>
              <a:rPr lang="en-US" dirty="0"/>
              <a:t># main() is used to initiate the stage of the program</a:t>
            </a:r>
          </a:p>
          <a:p>
            <a:r>
              <a:rPr lang="en-US" dirty="0"/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397075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– Function </a:t>
            </a:r>
            <a:r>
              <a:rPr lang="en-US" dirty="0"/>
              <a:t>for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calculation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309" y="1177954"/>
            <a:ext cx="5144390" cy="4308872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# getData1() gets value from user input</a:t>
            </a:r>
          </a:p>
          <a:p>
            <a:r>
              <a:rPr lang="en-US" sz="2000" dirty="0"/>
              <a:t>def getData(prompt):</a:t>
            </a:r>
          </a:p>
          <a:p>
            <a:r>
              <a:rPr lang="en-US" sz="2000" dirty="0"/>
              <a:t>    value = float(input(prompt +'$'))</a:t>
            </a:r>
          </a:p>
          <a:p>
            <a:r>
              <a:rPr lang="en-US" sz="2000" dirty="0"/>
              <a:t>    return value</a:t>
            </a:r>
          </a:p>
          <a:p>
            <a:endParaRPr lang="en-US" sz="2000" dirty="0"/>
          </a:p>
          <a:p>
            <a:r>
              <a:rPr lang="en-US" sz="2000" dirty="0"/>
              <a:t># processData() will find the total salary</a:t>
            </a:r>
          </a:p>
          <a:p>
            <a:r>
              <a:rPr lang="en-US" sz="2000" dirty="0"/>
              <a:t>def processData(bonus, salary):</a:t>
            </a:r>
          </a:p>
          <a:p>
            <a:r>
              <a:rPr lang="en-US" sz="2000" dirty="0"/>
              <a:t>    return bonus + salary</a:t>
            </a:r>
          </a:p>
          <a:p>
            <a:endParaRPr lang="en-US" sz="2000" dirty="0"/>
          </a:p>
          <a:p>
            <a:r>
              <a:rPr lang="en-US" sz="2000" dirty="0"/>
              <a:t># printData() will display results on the screen</a:t>
            </a:r>
          </a:p>
          <a:p>
            <a:r>
              <a:rPr lang="en-US" sz="2000" dirty="0"/>
              <a:t>def printData(totalSalary):</a:t>
            </a:r>
          </a:p>
          <a:p>
            <a:r>
              <a:rPr lang="en-US" sz="2000" dirty="0"/>
              <a:t>    print('My monthly income is $', format(totalSalary, '7.2f'))</a:t>
            </a:r>
          </a:p>
          <a:p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6246812" y="1131788"/>
            <a:ext cx="5867400" cy="440120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# main() performs all the programing</a:t>
            </a:r>
          </a:p>
          <a:p>
            <a:r>
              <a:rPr lang="en-US" sz="2000" dirty="0"/>
              <a:t>def main():</a:t>
            </a:r>
          </a:p>
          <a:p>
            <a:r>
              <a:rPr lang="en-US" sz="2000" dirty="0"/>
              <a:t>    # getting users input for salary and bonus </a:t>
            </a:r>
          </a:p>
          <a:p>
            <a:r>
              <a:rPr lang="en-US" sz="2000" dirty="0"/>
              <a:t>    salary = getData('Please enter your base salary ')</a:t>
            </a:r>
          </a:p>
          <a:p>
            <a:r>
              <a:rPr lang="en-US" sz="2000" dirty="0"/>
              <a:t>    bonus = getData('Please enter your the bonus ')</a:t>
            </a:r>
          </a:p>
          <a:p>
            <a:endParaRPr lang="en-US" sz="2000" dirty="0"/>
          </a:p>
          <a:p>
            <a:r>
              <a:rPr lang="en-US" sz="2000" dirty="0"/>
              <a:t>    # finding the total salary</a:t>
            </a:r>
          </a:p>
          <a:p>
            <a:r>
              <a:rPr lang="en-US" sz="2000" dirty="0"/>
              <a:t>    totalSalary = processData(bonus, salary)</a:t>
            </a:r>
          </a:p>
          <a:p>
            <a:endParaRPr lang="en-US" sz="2000" dirty="0"/>
          </a:p>
          <a:p>
            <a:r>
              <a:rPr lang="en-US" sz="2000" dirty="0"/>
              <a:t>    # display results to screen</a:t>
            </a:r>
          </a:p>
          <a:p>
            <a:r>
              <a:rPr lang="en-US" sz="2000" dirty="0"/>
              <a:t>    printData(totalSalary)</a:t>
            </a:r>
          </a:p>
          <a:p>
            <a:endParaRPr lang="en-US" sz="2000" dirty="0"/>
          </a:p>
          <a:p>
            <a:r>
              <a:rPr lang="en-US" sz="2000" dirty="0"/>
              <a:t># main() is used to initiate the stage of the program</a:t>
            </a:r>
          </a:p>
          <a:p>
            <a:r>
              <a:rPr lang="en-US" sz="2000" dirty="0"/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3634085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3212" y="1219200"/>
            <a:ext cx="7620000" cy="1905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800" b="1" dirty="0">
                <a:solidFill>
                  <a:schemeClr val="bg1"/>
                </a:solidFill>
              </a:rPr>
              <a:t>A </a:t>
            </a:r>
            <a:r>
              <a:rPr lang="en-US" sz="2800" b="1" dirty="0">
                <a:solidFill>
                  <a:srgbClr val="FFFF00"/>
                </a:solidFill>
              </a:rPr>
              <a:t>module</a:t>
            </a:r>
            <a:r>
              <a:rPr lang="en-US" sz="2800" b="1" dirty="0">
                <a:solidFill>
                  <a:schemeClr val="bg1"/>
                </a:solidFill>
              </a:rPr>
              <a:t> is a </a:t>
            </a:r>
            <a:r>
              <a:rPr lang="en-US" sz="2800" b="1" dirty="0">
                <a:solidFill>
                  <a:srgbClr val="FFFF00"/>
                </a:solidFill>
              </a:rPr>
              <a:t>collection of related functions </a:t>
            </a:r>
            <a:r>
              <a:rPr lang="en-US" sz="2800" b="1" dirty="0">
                <a:solidFill>
                  <a:schemeClr val="bg1"/>
                </a:solidFill>
              </a:rPr>
              <a:t>and other definitions, normally placed in their own file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12" y="2262333"/>
            <a:ext cx="2904762" cy="233333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4113212" y="3276600"/>
            <a:ext cx="7620000" cy="23622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800" b="1" dirty="0">
                <a:solidFill>
                  <a:schemeClr val="bg1"/>
                </a:solidFill>
              </a:rPr>
              <a:t>You can </a:t>
            </a:r>
            <a:r>
              <a:rPr lang="en-US" sz="2800" b="1" dirty="0">
                <a:solidFill>
                  <a:srgbClr val="FFFF00"/>
                </a:solidFill>
              </a:rPr>
              <a:t>use existing modules </a:t>
            </a:r>
            <a:r>
              <a:rPr lang="en-US" sz="2800" b="1" dirty="0">
                <a:solidFill>
                  <a:schemeClr val="bg1"/>
                </a:solidFill>
              </a:rPr>
              <a:t>– like checking out books of code from a library – </a:t>
            </a:r>
            <a:r>
              <a:rPr lang="en-US" sz="2800" b="1" dirty="0">
                <a:solidFill>
                  <a:srgbClr val="FFFF00"/>
                </a:solidFill>
              </a:rPr>
              <a:t>or create your own</a:t>
            </a:r>
          </a:p>
        </p:txBody>
      </p:sp>
    </p:spTree>
    <p:extLst>
      <p:ext uri="{BB962C8B-B14F-4D97-AF65-F5344CB8AC3E}">
        <p14:creationId xmlns:p14="http://schemas.microsoft.com/office/powerpoint/2010/main" val="94664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4212" y="1219200"/>
            <a:ext cx="7620000" cy="1905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800" b="1" dirty="0">
                <a:solidFill>
                  <a:schemeClr val="bg1"/>
                </a:solidFill>
              </a:rPr>
              <a:t>To use a module, </a:t>
            </a:r>
            <a:r>
              <a:rPr lang="en-US" sz="2800" b="1" dirty="0">
                <a:solidFill>
                  <a:srgbClr val="FFFF00"/>
                </a:solidFill>
              </a:rPr>
              <a:t>first include it </a:t>
            </a:r>
            <a:r>
              <a:rPr lang="en-US" sz="2800" b="1" dirty="0">
                <a:solidFill>
                  <a:schemeClr val="bg1"/>
                </a:solidFill>
              </a:rPr>
              <a:t>in your program, - using the </a:t>
            </a:r>
            <a:r>
              <a:rPr lang="en-US" sz="2800" b="1" dirty="0">
                <a:solidFill>
                  <a:srgbClr val="FFFF00"/>
                </a:solidFill>
              </a:rPr>
              <a:t>import</a:t>
            </a:r>
            <a:r>
              <a:rPr lang="en-US" sz="2800" b="1" dirty="0">
                <a:solidFill>
                  <a:schemeClr val="bg1"/>
                </a:solidFill>
              </a:rPr>
              <a:t> keyword – </a:t>
            </a:r>
            <a:r>
              <a:rPr lang="en-US" sz="2800" b="1" dirty="0">
                <a:solidFill>
                  <a:srgbClr val="FFFF00"/>
                </a:solidFill>
              </a:rPr>
              <a:t>then call it </a:t>
            </a:r>
            <a:r>
              <a:rPr lang="en-US" sz="2800" b="1" dirty="0">
                <a:solidFill>
                  <a:schemeClr val="bg1"/>
                </a:solidFill>
              </a:rPr>
              <a:t>from your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12" y="3276600"/>
            <a:ext cx="7620000" cy="23622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800" b="1" dirty="0">
                <a:solidFill>
                  <a:schemeClr val="bg1"/>
                </a:solidFill>
              </a:rPr>
              <a:t>Some useful modules you may want to use: </a:t>
            </a:r>
            <a:r>
              <a:rPr lang="en-US" sz="2800" b="1" dirty="0">
                <a:solidFill>
                  <a:srgbClr val="FFFF00"/>
                </a:solidFill>
              </a:rPr>
              <a:t>math</a:t>
            </a:r>
            <a:r>
              <a:rPr lang="en-US" sz="2800" b="1" dirty="0">
                <a:solidFill>
                  <a:schemeClr val="bg1"/>
                </a:solidFill>
              </a:rPr>
              <a:t>, </a:t>
            </a:r>
            <a:r>
              <a:rPr lang="en-US" sz="2800" b="1" dirty="0">
                <a:solidFill>
                  <a:srgbClr val="FFFF00"/>
                </a:solidFill>
              </a:rPr>
              <a:t>random</a:t>
            </a:r>
            <a:r>
              <a:rPr lang="en-US" sz="2800" b="1" dirty="0">
                <a:solidFill>
                  <a:schemeClr val="bg1"/>
                </a:solidFill>
              </a:rPr>
              <a:t>, </a:t>
            </a:r>
            <a:r>
              <a:rPr lang="en-US" sz="2800" b="1" dirty="0">
                <a:solidFill>
                  <a:srgbClr val="FFFF00"/>
                </a:solidFill>
              </a:rPr>
              <a:t>time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01" y="2005153"/>
            <a:ext cx="3707594" cy="210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143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Modules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61012" y="2491730"/>
            <a:ext cx="6477000" cy="187454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800" b="1" dirty="0">
                <a:solidFill>
                  <a:schemeClr val="bg1"/>
                </a:solidFill>
              </a:rPr>
              <a:t>In this program, we import the </a:t>
            </a:r>
            <a:r>
              <a:rPr lang="en-US" sz="2800" b="1" dirty="0">
                <a:solidFill>
                  <a:srgbClr val="FFFF00"/>
                </a:solidFill>
              </a:rPr>
              <a:t>math</a:t>
            </a:r>
            <a:r>
              <a:rPr lang="en-US" sz="2800" b="1" dirty="0">
                <a:solidFill>
                  <a:schemeClr val="bg1"/>
                </a:solidFill>
              </a:rPr>
              <a:t> module and then use its </a:t>
            </a:r>
            <a:r>
              <a:rPr lang="en-US" sz="2800" b="1" dirty="0">
                <a:solidFill>
                  <a:srgbClr val="FFFF00"/>
                </a:solidFill>
              </a:rPr>
              <a:t>pi</a:t>
            </a:r>
            <a:r>
              <a:rPr lang="en-US" sz="2800" b="1" dirty="0">
                <a:solidFill>
                  <a:schemeClr val="bg1"/>
                </a:solidFill>
              </a:rPr>
              <a:t> function to find the value of </a:t>
            </a:r>
            <a:r>
              <a:rPr lang="en-US" sz="2800" b="1" dirty="0">
                <a:solidFill>
                  <a:srgbClr val="FFFF00"/>
                </a:solidFill>
              </a:rPr>
              <a:t>pi</a:t>
            </a:r>
          </a:p>
        </p:txBody>
      </p:sp>
      <p:sp>
        <p:nvSpPr>
          <p:cNvPr id="7" name="Rectangle 6"/>
          <p:cNvSpPr/>
          <p:nvPr/>
        </p:nvSpPr>
        <p:spPr>
          <a:xfrm>
            <a:off x="1598612" y="815975"/>
            <a:ext cx="5144390" cy="1538883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#import math</a:t>
            </a:r>
          </a:p>
          <a:p>
            <a:r>
              <a:rPr lang="en-US" sz="2000" dirty="0"/>
              <a:t>import math</a:t>
            </a:r>
          </a:p>
          <a:p>
            <a:endParaRPr lang="en-US" sz="2000" dirty="0"/>
          </a:p>
          <a:p>
            <a:r>
              <a:rPr lang="en-US" sz="2000" dirty="0"/>
              <a:t>print('The value of pi is ', math.pi)</a:t>
            </a:r>
          </a:p>
          <a:p>
            <a:endParaRPr lang="en-US" sz="1400" dirty="0"/>
          </a:p>
        </p:txBody>
      </p:sp>
      <p:sp>
        <p:nvSpPr>
          <p:cNvPr id="11" name="Rectangle 10"/>
          <p:cNvSpPr/>
          <p:nvPr/>
        </p:nvSpPr>
        <p:spPr>
          <a:xfrm>
            <a:off x="5561012" y="4572000"/>
            <a:ext cx="6324600" cy="149354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800" b="1" dirty="0">
                <a:solidFill>
                  <a:schemeClr val="bg1"/>
                </a:solidFill>
              </a:rPr>
              <a:t>Notice how we </a:t>
            </a:r>
            <a:r>
              <a:rPr lang="en-US" sz="2800" b="1" dirty="0">
                <a:solidFill>
                  <a:srgbClr val="FFFF00"/>
                </a:solidFill>
              </a:rPr>
              <a:t>prefix the call </a:t>
            </a:r>
            <a:r>
              <a:rPr lang="en-US" sz="2800" b="1" dirty="0">
                <a:solidFill>
                  <a:schemeClr val="bg1"/>
                </a:solidFill>
              </a:rPr>
              <a:t>to the function </a:t>
            </a:r>
            <a:r>
              <a:rPr lang="en-US" sz="2800" b="1" dirty="0">
                <a:solidFill>
                  <a:srgbClr val="FFFF00"/>
                </a:solidFill>
              </a:rPr>
              <a:t>with the name of the module</a:t>
            </a:r>
          </a:p>
        </p:txBody>
      </p:sp>
    </p:spTree>
    <p:extLst>
      <p:ext uri="{BB962C8B-B14F-4D97-AF65-F5344CB8AC3E}">
        <p14:creationId xmlns:p14="http://schemas.microsoft.com/office/powerpoint/2010/main" val="1384328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Modules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36712" y="1040884"/>
            <a:ext cx="8915400" cy="126006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800" b="1" dirty="0">
                <a:solidFill>
                  <a:schemeClr val="bg1"/>
                </a:solidFill>
              </a:rPr>
              <a:t>In this program, we import the </a:t>
            </a:r>
            <a:r>
              <a:rPr lang="en-US" sz="2800" b="1" dirty="0">
                <a:solidFill>
                  <a:srgbClr val="FFFF00"/>
                </a:solidFill>
              </a:rPr>
              <a:t>calendar</a:t>
            </a:r>
            <a:r>
              <a:rPr lang="en-US" sz="2800" b="1" dirty="0">
                <a:solidFill>
                  <a:schemeClr val="bg1"/>
                </a:solidFill>
              </a:rPr>
              <a:t> module and then use its </a:t>
            </a:r>
            <a:r>
              <a:rPr lang="en-US" sz="2800" b="1" dirty="0">
                <a:solidFill>
                  <a:srgbClr val="FFFF00"/>
                </a:solidFill>
              </a:rPr>
              <a:t>month</a:t>
            </a:r>
            <a:r>
              <a:rPr lang="en-US" sz="2800" b="1" dirty="0">
                <a:solidFill>
                  <a:schemeClr val="bg1"/>
                </a:solidFill>
              </a:rPr>
              <a:t> function to find the value of </a:t>
            </a:r>
            <a:r>
              <a:rPr lang="en-US" sz="2800" b="1" dirty="0">
                <a:solidFill>
                  <a:srgbClr val="FFFF00"/>
                </a:solidFill>
              </a:rPr>
              <a:t>month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1412" y="3477992"/>
            <a:ext cx="5943600" cy="1231106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import calendar</a:t>
            </a:r>
          </a:p>
          <a:p>
            <a:endParaRPr lang="en-US" sz="2000" dirty="0"/>
          </a:p>
          <a:p>
            <a:r>
              <a:rPr lang="en-US" sz="2000" dirty="0"/>
              <a:t>print('This month calendar ', calendar.month(2017,6))</a:t>
            </a:r>
          </a:p>
          <a:p>
            <a:endParaRPr lang="en-US" sz="1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212" y="2667000"/>
            <a:ext cx="4495800" cy="25908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7749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Modules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36712" y="1040884"/>
            <a:ext cx="8915400" cy="126006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800" b="1" dirty="0">
                <a:solidFill>
                  <a:schemeClr val="bg1"/>
                </a:solidFill>
              </a:rPr>
              <a:t>In this program, we import the </a:t>
            </a:r>
            <a:r>
              <a:rPr lang="en-US" sz="2800" dirty="0">
                <a:solidFill>
                  <a:srgbClr val="FFFF00"/>
                </a:solidFill>
              </a:rPr>
              <a:t>statistics</a:t>
            </a:r>
            <a:r>
              <a:rPr lang="en-US" sz="2800" b="1" dirty="0">
                <a:solidFill>
                  <a:schemeClr val="bg1"/>
                </a:solidFill>
              </a:rPr>
              <a:t> module and then use its </a:t>
            </a:r>
            <a:r>
              <a:rPr lang="en-US" sz="2800" b="1" dirty="0">
                <a:solidFill>
                  <a:srgbClr val="FFFF00"/>
                </a:solidFill>
              </a:rPr>
              <a:t>mode</a:t>
            </a:r>
            <a:r>
              <a:rPr lang="en-US" sz="2800" b="1" dirty="0">
                <a:solidFill>
                  <a:schemeClr val="bg1"/>
                </a:solidFill>
              </a:rPr>
              <a:t> function to find the value of </a:t>
            </a:r>
            <a:r>
              <a:rPr lang="en-US" sz="2800" b="1" dirty="0">
                <a:solidFill>
                  <a:srgbClr val="FFFF00"/>
                </a:solidFill>
              </a:rPr>
              <a:t>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122612" y="3276600"/>
            <a:ext cx="5943600" cy="1231106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import statistics</a:t>
            </a:r>
          </a:p>
          <a:p>
            <a:endParaRPr lang="en-US" sz="2000" dirty="0"/>
          </a:p>
          <a:p>
            <a:r>
              <a:rPr lang="en-US" sz="2000" dirty="0"/>
              <a:t>print('The mode is ', statistics.mode([1,1,2,1,3]))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38346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Modules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36712" y="1040884"/>
            <a:ext cx="8915400" cy="126006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800" b="1" dirty="0">
                <a:solidFill>
                  <a:schemeClr val="bg1"/>
                </a:solidFill>
              </a:rPr>
              <a:t>In this program, we import the </a:t>
            </a:r>
            <a:r>
              <a:rPr lang="en-US" sz="2800" b="1" dirty="0">
                <a:solidFill>
                  <a:srgbClr val="FFFF00"/>
                </a:solidFill>
              </a:rPr>
              <a:t>random</a:t>
            </a:r>
            <a:r>
              <a:rPr lang="en-US" sz="2800" b="1" dirty="0">
                <a:solidFill>
                  <a:schemeClr val="bg1"/>
                </a:solidFill>
              </a:rPr>
              <a:t> module and then use its </a:t>
            </a:r>
            <a:r>
              <a:rPr lang="en-US" sz="2800" b="1" dirty="0">
                <a:solidFill>
                  <a:srgbClr val="FFFF00"/>
                </a:solidFill>
              </a:rPr>
              <a:t>randinit</a:t>
            </a:r>
            <a:r>
              <a:rPr lang="en-US" sz="2800" b="1" dirty="0">
                <a:solidFill>
                  <a:schemeClr val="bg1"/>
                </a:solidFill>
              </a:rPr>
              <a:t> function to generate a random integer between 1 and 6</a:t>
            </a:r>
            <a:endParaRPr lang="en-US" sz="2800" b="1" dirty="0">
              <a:solidFill>
                <a:srgbClr val="FFFF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70212" y="2819400"/>
            <a:ext cx="5334000" cy="1538883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import random</a:t>
            </a:r>
          </a:p>
          <a:p>
            <a:endParaRPr lang="en-US" sz="2000" dirty="0"/>
          </a:p>
          <a:p>
            <a:r>
              <a:rPr lang="en-US" sz="2000" dirty="0"/>
              <a:t>number = random.randint(1,6)</a:t>
            </a:r>
          </a:p>
          <a:p>
            <a:r>
              <a:rPr lang="en-US" sz="2000" dirty="0"/>
              <a:t>print('An integer between 1 and 6 is ' ,number)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40749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Modules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1612" y="1143000"/>
            <a:ext cx="7391400" cy="1846659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# This program will toss a coin</a:t>
            </a:r>
          </a:p>
          <a:p>
            <a:r>
              <a:rPr lang="en-US" sz="2000" dirty="0"/>
              <a:t>import random</a:t>
            </a:r>
          </a:p>
          <a:p>
            <a:endParaRPr lang="en-US" sz="2000" dirty="0"/>
          </a:p>
          <a:p>
            <a:r>
              <a:rPr lang="en-US" sz="2000" dirty="0"/>
              <a:t>coinToss = random.randint(0, 1)</a:t>
            </a:r>
          </a:p>
          <a:p>
            <a:r>
              <a:rPr lang="en-US" sz="2000" dirty="0"/>
              <a:t>print('1 is for head; 0 is for tail;  And I got' ,coinToss)</a:t>
            </a:r>
          </a:p>
          <a:p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2741612" y="3505200"/>
            <a:ext cx="7391400" cy="2462213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# This program will find the hypotenuse of a right triangle</a:t>
            </a:r>
          </a:p>
          <a:p>
            <a:r>
              <a:rPr lang="en-US" sz="2000" dirty="0"/>
              <a:t>import math</a:t>
            </a:r>
          </a:p>
          <a:p>
            <a:endParaRPr lang="en-US" sz="2000" dirty="0"/>
          </a:p>
          <a:p>
            <a:r>
              <a:rPr lang="en-US" sz="2000" dirty="0"/>
              <a:t>a = 3</a:t>
            </a:r>
          </a:p>
          <a:p>
            <a:r>
              <a:rPr lang="en-US" sz="2000" dirty="0"/>
              <a:t>b = 4</a:t>
            </a:r>
          </a:p>
          <a:p>
            <a:r>
              <a:rPr lang="en-US" sz="2000" dirty="0"/>
              <a:t>c = math.hypot(a, b)</a:t>
            </a:r>
          </a:p>
          <a:p>
            <a:r>
              <a:rPr lang="en-US" sz="2000" dirty="0"/>
              <a:t>print('The hypotenuse is ' , c)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1901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Locating </a:t>
            </a:r>
            <a:r>
              <a:rPr lang="en-US" dirty="0">
                <a:solidFill>
                  <a:srgbClr val="FF0000"/>
                </a:solidFill>
              </a:rPr>
              <a:t>Modules</a:t>
            </a:r>
          </a:p>
        </p:txBody>
      </p:sp>
      <p:graphicFrame>
        <p:nvGraphicFramePr>
          <p:cNvPr id="4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81365688"/>
              </p:ext>
            </p:extLst>
          </p:nvPr>
        </p:nvGraphicFramePr>
        <p:xfrm>
          <a:off x="1293812" y="787400"/>
          <a:ext cx="10820400" cy="55610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6447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Modules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1612" y="1143000"/>
            <a:ext cx="7391400" cy="1938992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# This will a module created by me</a:t>
            </a:r>
          </a:p>
          <a:p>
            <a:r>
              <a:rPr lang="en-US" sz="2000" dirty="0"/>
              <a:t># it finds the cube of a number</a:t>
            </a:r>
          </a:p>
          <a:p>
            <a:endParaRPr lang="en-US" sz="2000" dirty="0"/>
          </a:p>
          <a:p>
            <a:r>
              <a:rPr lang="en-US" sz="2000" dirty="0"/>
              <a:t>def cube(number):</a:t>
            </a:r>
          </a:p>
          <a:p>
            <a:r>
              <a:rPr lang="en-US" sz="2000" dirty="0"/>
              <a:t>    return number * number * number</a:t>
            </a:r>
          </a:p>
          <a:p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2741612" y="3505200"/>
            <a:ext cx="7391400" cy="1846659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# This program will import my own module</a:t>
            </a:r>
          </a:p>
          <a:p>
            <a:r>
              <a:rPr lang="en-US" sz="2000" dirty="0"/>
              <a:t>import cubeModule</a:t>
            </a:r>
          </a:p>
          <a:p>
            <a:endParaRPr lang="en-US" sz="2000" dirty="0"/>
          </a:p>
          <a:p>
            <a:r>
              <a:rPr lang="en-US" sz="2000" dirty="0"/>
              <a:t>value = cubeModule.cube(2)</a:t>
            </a:r>
          </a:p>
          <a:p>
            <a:r>
              <a:rPr lang="en-US" sz="2000" dirty="0"/>
              <a:t>print('The cube of 2 is ' , value)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11370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Scope of </a:t>
            </a:r>
            <a:r>
              <a:rPr lang="en-US" dirty="0">
                <a:solidFill>
                  <a:srgbClr val="FF0000"/>
                </a:solidFill>
              </a:rPr>
              <a:t>Variables</a:t>
            </a:r>
          </a:p>
        </p:txBody>
      </p:sp>
      <p:graphicFrame>
        <p:nvGraphicFramePr>
          <p:cNvPr id="7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84544818"/>
              </p:ext>
            </p:extLst>
          </p:nvPr>
        </p:nvGraphicFramePr>
        <p:xfrm>
          <a:off x="1141412" y="685800"/>
          <a:ext cx="109728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231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Scope of </a:t>
            </a:r>
            <a:r>
              <a:rPr lang="en-US" dirty="0">
                <a:solidFill>
                  <a:srgbClr val="FF0000"/>
                </a:solidFill>
              </a:rPr>
              <a:t>Variables</a:t>
            </a:r>
          </a:p>
        </p:txBody>
      </p:sp>
      <p:graphicFrame>
        <p:nvGraphicFramePr>
          <p:cNvPr id="7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02098934"/>
              </p:ext>
            </p:extLst>
          </p:nvPr>
        </p:nvGraphicFramePr>
        <p:xfrm>
          <a:off x="1243012" y="787400"/>
          <a:ext cx="109728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10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Scope of </a:t>
            </a:r>
            <a:r>
              <a:rPr lang="en-US" dirty="0">
                <a:solidFill>
                  <a:srgbClr val="FF0000"/>
                </a:solidFill>
              </a:rPr>
              <a:t>Variables</a:t>
            </a:r>
          </a:p>
        </p:txBody>
      </p:sp>
      <p:graphicFrame>
        <p:nvGraphicFramePr>
          <p:cNvPr id="7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42760505"/>
              </p:ext>
            </p:extLst>
          </p:nvPr>
        </p:nvGraphicFramePr>
        <p:xfrm>
          <a:off x="1216025" y="787400"/>
          <a:ext cx="109728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9890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Scope of </a:t>
            </a:r>
            <a:r>
              <a:rPr lang="en-US" dirty="0">
                <a:solidFill>
                  <a:srgbClr val="FF0000"/>
                </a:solidFill>
              </a:rPr>
              <a:t>Variables</a:t>
            </a:r>
          </a:p>
        </p:txBody>
      </p:sp>
      <p:graphicFrame>
        <p:nvGraphicFramePr>
          <p:cNvPr id="7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00526097"/>
              </p:ext>
            </p:extLst>
          </p:nvPr>
        </p:nvGraphicFramePr>
        <p:xfrm>
          <a:off x="1214437" y="812800"/>
          <a:ext cx="109728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5089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Scope of </a:t>
            </a:r>
            <a:r>
              <a:rPr lang="en-US" dirty="0">
                <a:solidFill>
                  <a:srgbClr val="FF0000"/>
                </a:solidFill>
              </a:rPr>
              <a:t>Variables</a:t>
            </a:r>
          </a:p>
        </p:txBody>
      </p:sp>
      <p:graphicFrame>
        <p:nvGraphicFramePr>
          <p:cNvPr id="7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0705906"/>
              </p:ext>
            </p:extLst>
          </p:nvPr>
        </p:nvGraphicFramePr>
        <p:xfrm>
          <a:off x="1216025" y="812800"/>
          <a:ext cx="109728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1668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dirty="0"/>
              <a:t>Scope of </a:t>
            </a:r>
            <a:r>
              <a:rPr lang="en-US" dirty="0">
                <a:solidFill>
                  <a:srgbClr val="FF0000"/>
                </a:solidFill>
              </a:rPr>
              <a:t>Variables</a:t>
            </a:r>
          </a:p>
        </p:txBody>
      </p:sp>
      <p:graphicFrame>
        <p:nvGraphicFramePr>
          <p:cNvPr id="7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87820636"/>
              </p:ext>
            </p:extLst>
          </p:nvPr>
        </p:nvGraphicFramePr>
        <p:xfrm>
          <a:off x="1522412" y="709453"/>
          <a:ext cx="7315200" cy="684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3694112" y="1550986"/>
            <a:ext cx="4800600" cy="2585323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MONEY = 1</a:t>
            </a:r>
          </a:p>
          <a:p>
            <a:endParaRPr lang="en-US" dirty="0"/>
          </a:p>
          <a:p>
            <a:r>
              <a:rPr lang="en-US" dirty="0"/>
              <a:t>def addMoney():</a:t>
            </a:r>
          </a:p>
          <a:p>
            <a:r>
              <a:rPr lang="en-US" dirty="0"/>
              <a:t>    global MONEY</a:t>
            </a:r>
          </a:p>
          <a:p>
            <a:r>
              <a:rPr lang="en-US" dirty="0"/>
              <a:t>    MONEY = MONEY + 1</a:t>
            </a:r>
          </a:p>
          <a:p>
            <a:endParaRPr lang="en-US" dirty="0"/>
          </a:p>
          <a:p>
            <a:r>
              <a:rPr lang="en-US" dirty="0"/>
              <a:t>print ("Before function is called", MONEY)</a:t>
            </a:r>
          </a:p>
          <a:p>
            <a:r>
              <a:rPr lang="en-US" dirty="0"/>
              <a:t>addMoney()</a:t>
            </a:r>
          </a:p>
          <a:p>
            <a:r>
              <a:rPr lang="en-US" dirty="0"/>
              <a:t>print ("After function is called", MONEY)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69333" y="4800600"/>
          <a:ext cx="5105400" cy="100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3511403943"/>
                    </a:ext>
                  </a:extLst>
                </a:gridCol>
              </a:tblGrid>
              <a:tr h="14382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Screen Display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A8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379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Before function is called 1</a:t>
                      </a:r>
                    </a:p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After function is called 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4584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471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altLang="en-US" dirty="0"/>
              <a:t>Designing to </a:t>
            </a:r>
            <a:r>
              <a:rPr lang="en-US" altLang="en-US" dirty="0">
                <a:solidFill>
                  <a:srgbClr val="FF0000"/>
                </a:solidFill>
              </a:rPr>
              <a:t>Use Functions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7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89480681"/>
              </p:ext>
            </p:extLst>
          </p:nvPr>
        </p:nvGraphicFramePr>
        <p:xfrm>
          <a:off x="1204934" y="787400"/>
          <a:ext cx="109728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5580041" y="3244334"/>
            <a:ext cx="1028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Python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300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- </a:t>
            </a:r>
            <a:r>
              <a:rPr lang="en-US" altLang="en-US" dirty="0"/>
              <a:t>Designing Program to </a:t>
            </a:r>
            <a:r>
              <a:rPr lang="en-US" altLang="en-US" dirty="0">
                <a:solidFill>
                  <a:srgbClr val="FF0000"/>
                </a:solidFill>
              </a:rPr>
              <a:t>Use Functions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779" y="2528910"/>
            <a:ext cx="4343267" cy="180018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8959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Flow Chart </a:t>
            </a:r>
            <a:r>
              <a:rPr lang="en-US" altLang="en-US" dirty="0">
                <a:solidFill>
                  <a:srgbClr val="FF0000"/>
                </a:solidFill>
              </a:rPr>
              <a:t>for Program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498" y="1182010"/>
            <a:ext cx="6433829" cy="449398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3753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Hierarchy Chart </a:t>
            </a:r>
            <a:r>
              <a:rPr lang="en-US" altLang="en-US" dirty="0">
                <a:solidFill>
                  <a:srgbClr val="FF0000"/>
                </a:solidFill>
              </a:rPr>
              <a:t>for Program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7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64727360"/>
              </p:ext>
            </p:extLst>
          </p:nvPr>
        </p:nvGraphicFramePr>
        <p:xfrm>
          <a:off x="1216025" y="787400"/>
          <a:ext cx="109728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9908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Hierarchy Chart </a:t>
            </a:r>
            <a:r>
              <a:rPr lang="en-US" altLang="en-US" dirty="0">
                <a:solidFill>
                  <a:srgbClr val="FF0000"/>
                </a:solidFill>
              </a:rPr>
              <a:t>for Program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212" y="1938391"/>
            <a:ext cx="5762400" cy="298121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5393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Hierarchy Chart </a:t>
            </a:r>
            <a:r>
              <a:rPr lang="en-US" altLang="en-US" dirty="0">
                <a:solidFill>
                  <a:srgbClr val="FF0000"/>
                </a:solidFill>
              </a:rPr>
              <a:t>for Program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612" y="1524000"/>
            <a:ext cx="8991600" cy="3810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5561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Hierarchy Chart </a:t>
            </a:r>
            <a:r>
              <a:rPr lang="en-US" altLang="en-US" dirty="0">
                <a:solidFill>
                  <a:srgbClr val="FF0000"/>
                </a:solidFill>
              </a:rPr>
              <a:t>for Program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212" y="1219200"/>
            <a:ext cx="9905999" cy="44196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09444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1345039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The bookstacks present on most slides  make this a good choice for students, teachers, reading enthusiasts, and others in education. This presentation template contains multiple slide layouts in widescreen format (16x9) and includes a sample table and chart that you can easily  modify.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2011-11-26T00:00:00+00:00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TP102787939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694216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BBB5C329-08A6-4E5E-AEF1-A97828C874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01D382-32B0-43EE-932C-28906AF37617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purl.org/dc/elements/1.1/"/>
    <ds:schemaRef ds:uri="http://purl.org/dc/terms/"/>
    <ds:schemaRef ds:uri="http://www.w3.org/XML/1998/namespace"/>
    <ds:schemaRef ds:uri="4873beb7-5857-4685-be1f-d57550cc96cc"/>
  </ds:schemaRefs>
</ds:datastoreItem>
</file>

<file path=customXml/itemProps3.xml><?xml version="1.0" encoding="utf-8"?>
<ds:datastoreItem xmlns:ds="http://schemas.openxmlformats.org/officeDocument/2006/customXml" ds:itemID="{E1B558C7-619B-49BE-9097-7FCBDADD4E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8866</TotalTime>
  <Words>3794</Words>
  <Application>Microsoft Office PowerPoint</Application>
  <PresentationFormat>Custom</PresentationFormat>
  <Paragraphs>580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0" baseType="lpstr">
      <vt:lpstr>Arial</vt:lpstr>
      <vt:lpstr>Calibri</vt:lpstr>
      <vt:lpstr>Century Gothic</vt:lpstr>
      <vt:lpstr>Corbel</vt:lpstr>
      <vt:lpstr>Courier New</vt:lpstr>
      <vt:lpstr>Wingdings</vt:lpstr>
      <vt:lpstr>Parallax</vt:lpstr>
      <vt:lpstr>PowerPoint Presentation</vt:lpstr>
      <vt:lpstr>Why Reinvent The Wheel?</vt:lpstr>
      <vt:lpstr>Philosophy Of Reuse</vt:lpstr>
      <vt:lpstr>Python Functions</vt:lpstr>
      <vt:lpstr>Python Functions</vt:lpstr>
      <vt:lpstr>Python Functions</vt:lpstr>
      <vt:lpstr>Python Functions</vt:lpstr>
      <vt:lpstr>Python Functions – How to Write</vt:lpstr>
      <vt:lpstr>Python Functions – Naming</vt:lpstr>
      <vt:lpstr>Python Functions – Blocks/Suite</vt:lpstr>
      <vt:lpstr>Python Functions – Parameters</vt:lpstr>
      <vt:lpstr>Python Functions – Syntax</vt:lpstr>
      <vt:lpstr>Python Functions – Example</vt:lpstr>
      <vt:lpstr>Python Functions – How to say</vt:lpstr>
      <vt:lpstr>Python Functions – Example</vt:lpstr>
      <vt:lpstr>Python Functions – Example</vt:lpstr>
      <vt:lpstr>Python Functions – Example</vt:lpstr>
      <vt:lpstr>Python Functions – Example</vt:lpstr>
      <vt:lpstr>Python Functions – Example</vt:lpstr>
      <vt:lpstr>Python Functions – Indentation</vt:lpstr>
      <vt:lpstr>Python - Function Arguments (Parameters)</vt:lpstr>
      <vt:lpstr>Python - Function Arguments</vt:lpstr>
      <vt:lpstr>Python - Function Arguments</vt:lpstr>
      <vt:lpstr>Python - Function Arguments</vt:lpstr>
      <vt:lpstr>Python - Function Arguments</vt:lpstr>
      <vt:lpstr>Python - Function Arguments</vt:lpstr>
      <vt:lpstr>Python - Function Arguments</vt:lpstr>
      <vt:lpstr>Python - Function Types</vt:lpstr>
      <vt:lpstr>Python – Arguments - Pass by value</vt:lpstr>
      <vt:lpstr>Python – Arguments - Pass by value</vt:lpstr>
      <vt:lpstr>Python – Arguments - Pass by value</vt:lpstr>
      <vt:lpstr>Python – Arguments - Pass by Reference</vt:lpstr>
      <vt:lpstr>Python – Arguments - Pass by Reference</vt:lpstr>
      <vt:lpstr>Python – Return statement</vt:lpstr>
      <vt:lpstr>Python – Return statement</vt:lpstr>
      <vt:lpstr>Python – Multiple Return statement</vt:lpstr>
      <vt:lpstr>Python – Multiple Functions for same operation</vt:lpstr>
      <vt:lpstr>Python – One Function for same operation</vt:lpstr>
      <vt:lpstr>Python – Function for calculation</vt:lpstr>
      <vt:lpstr>Python – Function for calculation</vt:lpstr>
      <vt:lpstr>Python – Function for calculation</vt:lpstr>
      <vt:lpstr>Python - Modules</vt:lpstr>
      <vt:lpstr>Python - Modules</vt:lpstr>
      <vt:lpstr>Python - Modules</vt:lpstr>
      <vt:lpstr>Python - Modules</vt:lpstr>
      <vt:lpstr>Python - Modules</vt:lpstr>
      <vt:lpstr>Python - Modules</vt:lpstr>
      <vt:lpstr>Python - Modules</vt:lpstr>
      <vt:lpstr>Python - Locating Modules</vt:lpstr>
      <vt:lpstr>Python - Modules</vt:lpstr>
      <vt:lpstr>Python - Scope of Variables</vt:lpstr>
      <vt:lpstr>Python - Scope of Variables</vt:lpstr>
      <vt:lpstr>Python - Scope of Variables</vt:lpstr>
      <vt:lpstr>Python - Scope of Variables</vt:lpstr>
      <vt:lpstr>Python - Scope of Variables</vt:lpstr>
      <vt:lpstr>Python - Scope of Variables</vt:lpstr>
      <vt:lpstr>Python - Designing to Use Functions</vt:lpstr>
      <vt:lpstr>Python - Designing Program to Use Functions</vt:lpstr>
      <vt:lpstr>Python – Flow Chart for Program</vt:lpstr>
      <vt:lpstr>Python – Hierarchy Chart for Program</vt:lpstr>
      <vt:lpstr>Python – Hierarchy Chart for Program</vt:lpstr>
      <vt:lpstr>Python – Hierarchy Chart for Program</vt:lpstr>
      <vt:lpstr>Python – Hierarchy Chart for Program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Ally,Murtaza (HHSC)</dc:creator>
  <cp:lastModifiedBy>Murtaza Ally</cp:lastModifiedBy>
  <cp:revision>377</cp:revision>
  <dcterms:created xsi:type="dcterms:W3CDTF">2017-05-16T14:09:04Z</dcterms:created>
  <dcterms:modified xsi:type="dcterms:W3CDTF">2022-01-09T07:39:56Z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