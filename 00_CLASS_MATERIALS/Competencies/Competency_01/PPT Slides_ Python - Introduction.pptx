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95"/>
  </p:notesMasterIdLst>
  <p:handoutMasterIdLst>
    <p:handoutMasterId r:id="rId96"/>
  </p:handoutMasterIdLst>
  <p:sldIdLst>
    <p:sldId id="362" r:id="rId5"/>
    <p:sldId id="368" r:id="rId6"/>
    <p:sldId id="371" r:id="rId7"/>
    <p:sldId id="370" r:id="rId8"/>
    <p:sldId id="372" r:id="rId9"/>
    <p:sldId id="373" r:id="rId10"/>
    <p:sldId id="374" r:id="rId11"/>
    <p:sldId id="375" r:id="rId12"/>
    <p:sldId id="376" r:id="rId13"/>
    <p:sldId id="378" r:id="rId14"/>
    <p:sldId id="379" r:id="rId15"/>
    <p:sldId id="382" r:id="rId16"/>
    <p:sldId id="380" r:id="rId17"/>
    <p:sldId id="381" r:id="rId18"/>
    <p:sldId id="384" r:id="rId19"/>
    <p:sldId id="385" r:id="rId20"/>
    <p:sldId id="386" r:id="rId21"/>
    <p:sldId id="387" r:id="rId22"/>
    <p:sldId id="388" r:id="rId23"/>
    <p:sldId id="389" r:id="rId24"/>
    <p:sldId id="390"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7" r:id="rId39"/>
    <p:sldId id="411" r:id="rId40"/>
    <p:sldId id="405" r:id="rId41"/>
    <p:sldId id="408" r:id="rId42"/>
    <p:sldId id="409" r:id="rId43"/>
    <p:sldId id="410" r:id="rId44"/>
    <p:sldId id="412" r:id="rId45"/>
    <p:sldId id="420" r:id="rId46"/>
    <p:sldId id="421" r:id="rId47"/>
    <p:sldId id="422" r:id="rId48"/>
    <p:sldId id="423" r:id="rId49"/>
    <p:sldId id="424" r:id="rId50"/>
    <p:sldId id="425" r:id="rId51"/>
    <p:sldId id="426" r:id="rId52"/>
    <p:sldId id="427" r:id="rId53"/>
    <p:sldId id="464" r:id="rId54"/>
    <p:sldId id="466" r:id="rId55"/>
    <p:sldId id="429" r:id="rId56"/>
    <p:sldId id="467" r:id="rId57"/>
    <p:sldId id="468" r:id="rId58"/>
    <p:sldId id="469" r:id="rId59"/>
    <p:sldId id="470" r:id="rId60"/>
    <p:sldId id="471" r:id="rId61"/>
    <p:sldId id="465" r:id="rId62"/>
    <p:sldId id="430" r:id="rId63"/>
    <p:sldId id="431" r:id="rId64"/>
    <p:sldId id="432" r:id="rId65"/>
    <p:sldId id="473" r:id="rId66"/>
    <p:sldId id="474" r:id="rId67"/>
    <p:sldId id="472" r:id="rId68"/>
    <p:sldId id="433" r:id="rId69"/>
    <p:sldId id="434" r:id="rId70"/>
    <p:sldId id="435" r:id="rId71"/>
    <p:sldId id="436" r:id="rId72"/>
    <p:sldId id="475" r:id="rId73"/>
    <p:sldId id="476" r:id="rId74"/>
    <p:sldId id="477" r:id="rId75"/>
    <p:sldId id="478" r:id="rId76"/>
    <p:sldId id="479" r:id="rId77"/>
    <p:sldId id="442" r:id="rId78"/>
    <p:sldId id="480" r:id="rId79"/>
    <p:sldId id="481" r:id="rId80"/>
    <p:sldId id="482" r:id="rId81"/>
    <p:sldId id="483" r:id="rId82"/>
    <p:sldId id="484" r:id="rId83"/>
    <p:sldId id="485" r:id="rId84"/>
    <p:sldId id="486" r:id="rId85"/>
    <p:sldId id="487" r:id="rId86"/>
    <p:sldId id="488" r:id="rId87"/>
    <p:sldId id="491" r:id="rId88"/>
    <p:sldId id="489" r:id="rId89"/>
    <p:sldId id="490" r:id="rId90"/>
    <p:sldId id="492" r:id="rId91"/>
    <p:sldId id="493" r:id="rId92"/>
    <p:sldId id="494" r:id="rId93"/>
    <p:sldId id="495" r:id="rId9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ly,Murtaza (HHSC)" initials="A(" lastIdx="1" clrIdx="0">
    <p:extLst>
      <p:ext uri="{19B8F6BF-5375-455C-9EA6-DF929625EA0E}">
        <p15:presenceInfo xmlns:p15="http://schemas.microsoft.com/office/powerpoint/2012/main" userId="S::Murtaza.Ally@hhs.texas.gov::3053b341-1a97-470e-bbea-aefd65255fe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E42"/>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50" autoAdjust="0"/>
    <p:restoredTop sz="94280" autoAdjust="0"/>
  </p:normalViewPr>
  <p:slideViewPr>
    <p:cSldViewPr showGuides="1">
      <p:cViewPr varScale="1">
        <p:scale>
          <a:sx n="67" d="100"/>
          <a:sy n="67" d="100"/>
        </p:scale>
        <p:origin x="884" y="52"/>
      </p:cViewPr>
      <p:guideLst>
        <p:guide pos="3839"/>
        <p:guide orient="horz" pos="2160"/>
      </p:guideLst>
    </p:cSldViewPr>
  </p:slideViewPr>
  <p:notesTextViewPr>
    <p:cViewPr>
      <p:scale>
        <a:sx n="3" d="2"/>
        <a:sy n="3" d="2"/>
      </p:scale>
      <p:origin x="0" y="0"/>
    </p:cViewPr>
  </p:notesTextViewPr>
  <p:notesViewPr>
    <p:cSldViewPr>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presProps" Target="presProps.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111C18A-FD96-4E63-821A-54D70D8DC65F}">
      <dgm:prSet phldrT="[Text]"/>
      <dgm:spPr/>
      <dgm:t>
        <a:bodyPr/>
        <a:lstStyle/>
        <a:p>
          <a:r>
            <a:rPr lang="en-US" b="0" i="0" dirty="0"/>
            <a:t>Python is designed to be highly </a:t>
          </a:r>
          <a:r>
            <a:rPr lang="en-US" b="0" i="0" dirty="0">
              <a:solidFill>
                <a:srgbClr val="FF0000"/>
              </a:solidFill>
            </a:rPr>
            <a:t>readable</a:t>
          </a:r>
          <a:r>
            <a:rPr lang="en-US" b="0" i="0" dirty="0"/>
            <a:t>.</a:t>
          </a:r>
          <a:endParaRPr lang="en-US" dirty="0">
            <a:solidFill>
              <a:schemeClr val="bg1"/>
            </a:solidFill>
          </a:endParaRPr>
        </a:p>
      </dgm:t>
    </dgm:pt>
    <dgm:pt modelId="{83BE74EF-FAB4-45A2-BBED-7CD5259AB210}" type="parTrans" cxnId="{FFD8B471-C98F-4DB5-8DE3-2AB7E896ADD5}">
      <dgm:prSet/>
      <dgm:spPr/>
      <dgm:t>
        <a:bodyPr/>
        <a:lstStyle/>
        <a:p>
          <a:endParaRPr lang="en-US"/>
        </a:p>
      </dgm:t>
    </dgm:pt>
    <dgm:pt modelId="{B4F34DE2-2DAE-4F88-8C78-BD8892EBF4FF}" type="sibTrans" cxnId="{FFD8B471-C98F-4DB5-8DE3-2AB7E896ADD5}">
      <dgm:prSet/>
      <dgm:spPr/>
      <dgm:t>
        <a:bodyPr/>
        <a:lstStyle/>
        <a:p>
          <a:endParaRPr lang="en-US"/>
        </a:p>
      </dgm:t>
    </dgm:pt>
    <dgm:pt modelId="{94565062-5BD8-4788-9DCE-6B3B33B5BA48}">
      <dgm:prSet phldrT="[Text]"/>
      <dgm:spPr/>
      <dgm:t>
        <a:bodyPr/>
        <a:lstStyle/>
        <a:p>
          <a:r>
            <a:rPr lang="en-US" b="0" i="0" dirty="0"/>
            <a:t>It uses </a:t>
          </a:r>
          <a:r>
            <a:rPr lang="en-US" b="0" i="0" dirty="0">
              <a:solidFill>
                <a:srgbClr val="FF0000"/>
              </a:solidFill>
            </a:rPr>
            <a:t>English keywords </a:t>
          </a:r>
          <a:r>
            <a:rPr lang="en-US" b="0" i="0" dirty="0"/>
            <a:t>frequently where as other languages use punctuation.</a:t>
          </a:r>
          <a:endParaRPr lang="en-US" dirty="0">
            <a:solidFill>
              <a:schemeClr val="bg1"/>
            </a:solidFill>
          </a:endParaRPr>
        </a:p>
      </dgm:t>
    </dgm:pt>
    <dgm:pt modelId="{57007308-5D87-478C-B691-9A22AB4900EE}" type="parTrans" cxnId="{C8DEC103-6F05-466E-9160-8F115E5A8E71}">
      <dgm:prSet/>
      <dgm:spPr/>
      <dgm:t>
        <a:bodyPr/>
        <a:lstStyle/>
        <a:p>
          <a:endParaRPr lang="en-US"/>
        </a:p>
      </dgm:t>
    </dgm:pt>
    <dgm:pt modelId="{BEE22188-7773-4880-8C89-B3B2D7486B6B}" type="sibTrans" cxnId="{C8DEC103-6F05-466E-9160-8F115E5A8E71}">
      <dgm:prSet/>
      <dgm:spPr/>
      <dgm:t>
        <a:bodyPr/>
        <a:lstStyle/>
        <a:p>
          <a:endParaRPr lang="en-US"/>
        </a:p>
      </dgm:t>
    </dgm:pt>
    <dgm:pt modelId="{9D2DF11E-B1CB-4092-9621-8D475DE4E20E}">
      <dgm:prSet phldrT="[Text]"/>
      <dgm:spPr/>
      <dgm:t>
        <a:bodyPr/>
        <a:lstStyle/>
        <a:p>
          <a:r>
            <a:rPr lang="en-US" b="0" i="0" dirty="0"/>
            <a:t>It has fewer </a:t>
          </a:r>
          <a:r>
            <a:rPr lang="en-US" b="0" i="0" dirty="0">
              <a:solidFill>
                <a:srgbClr val="FF0000"/>
              </a:solidFill>
            </a:rPr>
            <a:t>syntactical</a:t>
          </a:r>
          <a:r>
            <a:rPr lang="en-US" b="0" i="0" dirty="0"/>
            <a:t> constructions than other languages.</a:t>
          </a:r>
          <a:endParaRPr lang="en-US" dirty="0">
            <a:solidFill>
              <a:schemeClr val="bg1"/>
            </a:solidFill>
          </a:endParaRPr>
        </a:p>
      </dgm:t>
    </dgm:pt>
    <dgm:pt modelId="{A4623B2F-D5A6-42CC-BBFA-13D6AA6DFC91}" type="parTrans" cxnId="{C6E5ACDB-3818-4608-800F-B7F81C5F8E7C}">
      <dgm:prSet/>
      <dgm:spPr/>
      <dgm:t>
        <a:bodyPr/>
        <a:lstStyle/>
        <a:p>
          <a:endParaRPr lang="en-US"/>
        </a:p>
      </dgm:t>
    </dgm:pt>
    <dgm:pt modelId="{D047618F-528D-4068-A3D1-F03C85B31C12}" type="sibTrans" cxnId="{C6E5ACDB-3818-4608-800F-B7F81C5F8E7C}">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E75D4F1A-E54E-4DDB-A374-BC9037A6551C}" type="pres">
      <dgm:prSet presAssocID="{C111C18A-FD96-4E63-821A-54D70D8DC65F}" presName="parentText" presStyleLbl="node1" presStyleIdx="0" presStyleCnt="3" custLinFactNeighborX="-1471" custLinFactNeighborY="-2828">
        <dgm:presLayoutVars>
          <dgm:chMax val="0"/>
          <dgm:bulletEnabled val="1"/>
        </dgm:presLayoutVars>
      </dgm:prSet>
      <dgm:spPr/>
    </dgm:pt>
    <dgm:pt modelId="{492EB66F-8844-40B3-B674-332154F2F6C4}" type="pres">
      <dgm:prSet presAssocID="{B4F34DE2-2DAE-4F88-8C78-BD8892EBF4FF}" presName="spacer" presStyleCnt="0"/>
      <dgm:spPr/>
    </dgm:pt>
    <dgm:pt modelId="{67861FEF-F2DF-434D-9A07-36A4952DD9A2}" type="pres">
      <dgm:prSet presAssocID="{94565062-5BD8-4788-9DCE-6B3B33B5BA48}" presName="parentText" presStyleLbl="node1" presStyleIdx="1" presStyleCnt="3">
        <dgm:presLayoutVars>
          <dgm:chMax val="0"/>
          <dgm:bulletEnabled val="1"/>
        </dgm:presLayoutVars>
      </dgm:prSet>
      <dgm:spPr/>
    </dgm:pt>
    <dgm:pt modelId="{24449335-00CA-43E8-9DE7-32ED6EF30C42}" type="pres">
      <dgm:prSet presAssocID="{BEE22188-7773-4880-8C89-B3B2D7486B6B}" presName="spacer" presStyleCnt="0"/>
      <dgm:spPr/>
    </dgm:pt>
    <dgm:pt modelId="{115AF37A-9FA4-4872-950A-F6C6A8380FBC}" type="pres">
      <dgm:prSet presAssocID="{9D2DF11E-B1CB-4092-9621-8D475DE4E20E}" presName="parentText" presStyleLbl="node1" presStyleIdx="2" presStyleCnt="3">
        <dgm:presLayoutVars>
          <dgm:chMax val="0"/>
          <dgm:bulletEnabled val="1"/>
        </dgm:presLayoutVars>
      </dgm:prSet>
      <dgm:spPr/>
    </dgm:pt>
  </dgm:ptLst>
  <dgm:cxnLst>
    <dgm:cxn modelId="{42875A03-F93A-4DC6-B983-7B0F51C49563}" type="presOf" srcId="{9D2DF11E-B1CB-4092-9621-8D475DE4E20E}" destId="{115AF37A-9FA4-4872-950A-F6C6A8380FBC}" srcOrd="0" destOrd="0" presId="urn:microsoft.com/office/officeart/2005/8/layout/vList2"/>
    <dgm:cxn modelId="{C8DEC103-6F05-466E-9160-8F115E5A8E71}" srcId="{90119837-5B71-4D44-BB01-DB0B084933C8}" destId="{94565062-5BD8-4788-9DCE-6B3B33B5BA48}" srcOrd="1" destOrd="0" parTransId="{57007308-5D87-478C-B691-9A22AB4900EE}" sibTransId="{BEE22188-7773-4880-8C89-B3B2D7486B6B}"/>
    <dgm:cxn modelId="{FF74F246-E808-44A5-BF10-7BEFF3499F23}" type="presOf" srcId="{94565062-5BD8-4788-9DCE-6B3B33B5BA48}" destId="{67861FEF-F2DF-434D-9A07-36A4952DD9A2}" srcOrd="0" destOrd="0" presId="urn:microsoft.com/office/officeart/2005/8/layout/vList2"/>
    <dgm:cxn modelId="{FFD8B471-C98F-4DB5-8DE3-2AB7E896ADD5}" srcId="{90119837-5B71-4D44-BB01-DB0B084933C8}" destId="{C111C18A-FD96-4E63-821A-54D70D8DC65F}" srcOrd="0" destOrd="0" parTransId="{83BE74EF-FAB4-45A2-BBED-7CD5259AB210}" sibTransId="{B4F34DE2-2DAE-4F88-8C78-BD8892EBF4FF}"/>
    <dgm:cxn modelId="{F6FAA6A4-9452-4F73-B55B-B2FF2C71D9E3}" type="presOf" srcId="{C111C18A-FD96-4E63-821A-54D70D8DC65F}" destId="{E75D4F1A-E54E-4DDB-A374-BC9037A6551C}" srcOrd="0" destOrd="0" presId="urn:microsoft.com/office/officeart/2005/8/layout/vList2"/>
    <dgm:cxn modelId="{C6E5ACDB-3818-4608-800F-B7F81C5F8E7C}" srcId="{90119837-5B71-4D44-BB01-DB0B084933C8}" destId="{9D2DF11E-B1CB-4092-9621-8D475DE4E20E}" srcOrd="2" destOrd="0" parTransId="{A4623B2F-D5A6-42CC-BBFA-13D6AA6DFC91}" sibTransId="{D047618F-528D-4068-A3D1-F03C85B31C12}"/>
    <dgm:cxn modelId="{758B1DE3-BF76-4EB5-86A2-6590BF5D20CB}" type="presOf" srcId="{90119837-5B71-4D44-BB01-DB0B084933C8}" destId="{ED5DCCC5-BCA8-4491-AA37-BAF153ECA184}" srcOrd="0" destOrd="0" presId="urn:microsoft.com/office/officeart/2005/8/layout/vList2"/>
    <dgm:cxn modelId="{56C72E8C-3909-409E-A2FD-888B1C542CBC}" type="presParOf" srcId="{ED5DCCC5-BCA8-4491-AA37-BAF153ECA184}" destId="{E75D4F1A-E54E-4DDB-A374-BC9037A6551C}" srcOrd="0" destOrd="0" presId="urn:microsoft.com/office/officeart/2005/8/layout/vList2"/>
    <dgm:cxn modelId="{D36AA460-53DF-4E3C-BD47-CAB7B1C9DB76}" type="presParOf" srcId="{ED5DCCC5-BCA8-4491-AA37-BAF153ECA184}" destId="{492EB66F-8844-40B3-B674-332154F2F6C4}" srcOrd="1" destOrd="0" presId="urn:microsoft.com/office/officeart/2005/8/layout/vList2"/>
    <dgm:cxn modelId="{CDADE31B-E713-47F1-9286-40C1F7B83EE4}" type="presParOf" srcId="{ED5DCCC5-BCA8-4491-AA37-BAF153ECA184}" destId="{67861FEF-F2DF-434D-9A07-36A4952DD9A2}" srcOrd="2" destOrd="0" presId="urn:microsoft.com/office/officeart/2005/8/layout/vList2"/>
    <dgm:cxn modelId="{8D93C723-4733-4BCD-B80D-7F97D5C0A84B}" type="presParOf" srcId="{ED5DCCC5-BCA8-4491-AA37-BAF153ECA184}" destId="{24449335-00CA-43E8-9DE7-32ED6EF30C42}" srcOrd="3" destOrd="0" presId="urn:microsoft.com/office/officeart/2005/8/layout/vList2"/>
    <dgm:cxn modelId="{292BC466-2407-453D-9E48-0A63F405652C}" type="presParOf" srcId="{ED5DCCC5-BCA8-4491-AA37-BAF153ECA184}" destId="{115AF37A-9FA4-4872-950A-F6C6A8380FB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111C18A-FD96-4E63-821A-54D70D8DC65F}">
      <dgm:prSet phldrT="[Text]"/>
      <dgm:spPr/>
      <dgm:t>
        <a:bodyPr/>
        <a:lstStyle/>
        <a:p>
          <a:r>
            <a:rPr lang="en-US" b="0" i="0" dirty="0"/>
            <a:t>Python was developed by </a:t>
          </a:r>
          <a:r>
            <a:rPr lang="en-US" b="0" i="0" dirty="0">
              <a:solidFill>
                <a:srgbClr val="FF0000"/>
              </a:solidFill>
            </a:rPr>
            <a:t>Guido van Rossum </a:t>
          </a:r>
          <a:r>
            <a:rPr lang="en-US" b="0" i="0" dirty="0"/>
            <a:t>in the late eighties and early nineties at the National Research Institute for Mathematics and Computer Science in the Netherlands.</a:t>
          </a:r>
          <a:endParaRPr lang="en-US" dirty="0">
            <a:solidFill>
              <a:schemeClr val="bg1"/>
            </a:solidFill>
          </a:endParaRPr>
        </a:p>
      </dgm:t>
    </dgm:pt>
    <dgm:pt modelId="{83BE74EF-FAB4-45A2-BBED-7CD5259AB210}" type="parTrans" cxnId="{FFD8B471-C98F-4DB5-8DE3-2AB7E896ADD5}">
      <dgm:prSet/>
      <dgm:spPr/>
      <dgm:t>
        <a:bodyPr/>
        <a:lstStyle/>
        <a:p>
          <a:endParaRPr lang="en-US"/>
        </a:p>
      </dgm:t>
    </dgm:pt>
    <dgm:pt modelId="{B4F34DE2-2DAE-4F88-8C78-BD8892EBF4FF}" type="sibTrans" cxnId="{FFD8B471-C98F-4DB5-8DE3-2AB7E896ADD5}">
      <dgm:prSet/>
      <dgm:spPr/>
      <dgm:t>
        <a:bodyPr/>
        <a:lstStyle/>
        <a:p>
          <a:endParaRPr lang="en-US"/>
        </a:p>
      </dgm:t>
    </dgm:pt>
    <dgm:pt modelId="{FCB010D7-1937-43B3-90B3-B8861D75A295}">
      <dgm:prSet/>
      <dgm:spPr/>
      <dgm:t>
        <a:bodyPr/>
        <a:lstStyle/>
        <a:p>
          <a:r>
            <a:rPr lang="en-US" b="0" i="0" dirty="0"/>
            <a:t>Python is derived from many other languages, including ABC, Modula-3, C, C++, Algol-68, SmallTalk, and Unix shell and other scripting languages.</a:t>
          </a:r>
        </a:p>
      </dgm:t>
    </dgm:pt>
    <dgm:pt modelId="{96A049CA-C954-4E5D-A9E7-96D9935DF876}" type="parTrans" cxnId="{4904A044-5A34-4709-BB86-249F43C4467A}">
      <dgm:prSet/>
      <dgm:spPr/>
      <dgm:t>
        <a:bodyPr/>
        <a:lstStyle/>
        <a:p>
          <a:endParaRPr lang="en-US"/>
        </a:p>
      </dgm:t>
    </dgm:pt>
    <dgm:pt modelId="{EF9CEE15-F17E-4621-A371-1287A1C94990}" type="sibTrans" cxnId="{4904A044-5A34-4709-BB86-249F43C4467A}">
      <dgm:prSet/>
      <dgm:spPr/>
      <dgm:t>
        <a:bodyPr/>
        <a:lstStyle/>
        <a:p>
          <a:endParaRPr lang="en-US"/>
        </a:p>
      </dgm:t>
    </dgm:pt>
    <dgm:pt modelId="{804246B8-688D-467F-B943-E8E74B1F74A6}">
      <dgm:prSet/>
      <dgm:spPr/>
      <dgm:t>
        <a:bodyPr/>
        <a:lstStyle/>
        <a:p>
          <a:r>
            <a:rPr lang="en-US" b="0" i="0" dirty="0"/>
            <a:t>Python is </a:t>
          </a:r>
          <a:r>
            <a:rPr lang="en-US" b="0" i="0" dirty="0">
              <a:solidFill>
                <a:srgbClr val="FF0000"/>
              </a:solidFill>
            </a:rPr>
            <a:t>copyrighted</a:t>
          </a:r>
          <a:r>
            <a:rPr lang="en-US" b="0" i="0" dirty="0"/>
            <a:t>. Like Perl, Python source code is now available under the GNU General Public License (GPL).</a:t>
          </a:r>
        </a:p>
      </dgm:t>
    </dgm:pt>
    <dgm:pt modelId="{26E693E1-EAB1-4E62-9C0D-DB908A438FF5}" type="parTrans" cxnId="{69576086-17E0-4F32-A2D5-DA10E0EF7DC5}">
      <dgm:prSet/>
      <dgm:spPr/>
      <dgm:t>
        <a:bodyPr/>
        <a:lstStyle/>
        <a:p>
          <a:endParaRPr lang="en-US"/>
        </a:p>
      </dgm:t>
    </dgm:pt>
    <dgm:pt modelId="{D8748930-A0E2-4E88-A4A0-29D432306BB6}" type="sibTrans" cxnId="{69576086-17E0-4F32-A2D5-DA10E0EF7DC5}">
      <dgm:prSet/>
      <dgm:spPr/>
      <dgm:t>
        <a:bodyPr/>
        <a:lstStyle/>
        <a:p>
          <a:endParaRPr lang="en-US"/>
        </a:p>
      </dgm:t>
    </dgm:pt>
    <dgm:pt modelId="{793DD38D-7202-4227-A338-E498D5A1F59F}">
      <dgm:prSet/>
      <dgm:spPr/>
      <dgm:t>
        <a:bodyPr/>
        <a:lstStyle/>
        <a:p>
          <a:r>
            <a:rPr lang="en-US" b="0" i="0" dirty="0"/>
            <a:t>Python is now maintained by a </a:t>
          </a:r>
          <a:r>
            <a:rPr lang="en-US" b="0" i="0" dirty="0">
              <a:solidFill>
                <a:srgbClr val="FF0000"/>
              </a:solidFill>
            </a:rPr>
            <a:t>core</a:t>
          </a:r>
          <a:r>
            <a:rPr lang="en-US" b="0" i="0" dirty="0"/>
            <a:t> development team at the institute, although Guido van Rossum still holds a vital role in directing its progress.</a:t>
          </a:r>
        </a:p>
      </dgm:t>
    </dgm:pt>
    <dgm:pt modelId="{4C7EA8D7-5A75-450B-81C2-17F0120B0A97}" type="parTrans" cxnId="{D4C805B3-7FEA-4B60-8A76-8E5DED290DE7}">
      <dgm:prSet/>
      <dgm:spPr/>
      <dgm:t>
        <a:bodyPr/>
        <a:lstStyle/>
        <a:p>
          <a:endParaRPr lang="en-US"/>
        </a:p>
      </dgm:t>
    </dgm:pt>
    <dgm:pt modelId="{35ED0132-12F5-4590-85F6-FA9C41262EF0}" type="sibTrans" cxnId="{D4C805B3-7FEA-4B60-8A76-8E5DED290DE7}">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E75D4F1A-E54E-4DDB-A374-BC9037A6551C}" type="pres">
      <dgm:prSet presAssocID="{C111C18A-FD96-4E63-821A-54D70D8DC65F}" presName="parentText" presStyleLbl="node1" presStyleIdx="0" presStyleCnt="4" custLinFactNeighborX="-1471" custLinFactNeighborY="-2828">
        <dgm:presLayoutVars>
          <dgm:chMax val="0"/>
          <dgm:bulletEnabled val="1"/>
        </dgm:presLayoutVars>
      </dgm:prSet>
      <dgm:spPr/>
    </dgm:pt>
    <dgm:pt modelId="{492EB66F-8844-40B3-B674-332154F2F6C4}" type="pres">
      <dgm:prSet presAssocID="{B4F34DE2-2DAE-4F88-8C78-BD8892EBF4FF}" presName="spacer" presStyleCnt="0"/>
      <dgm:spPr/>
    </dgm:pt>
    <dgm:pt modelId="{2A0AF8F8-916B-45C3-9B31-6E743222158C}" type="pres">
      <dgm:prSet presAssocID="{FCB010D7-1937-43B3-90B3-B8861D75A295}" presName="parentText" presStyleLbl="node1" presStyleIdx="1" presStyleCnt="4">
        <dgm:presLayoutVars>
          <dgm:chMax val="0"/>
          <dgm:bulletEnabled val="1"/>
        </dgm:presLayoutVars>
      </dgm:prSet>
      <dgm:spPr/>
    </dgm:pt>
    <dgm:pt modelId="{FF870F39-0CB4-450D-B98A-1B4D0DC4AFC2}" type="pres">
      <dgm:prSet presAssocID="{EF9CEE15-F17E-4621-A371-1287A1C94990}" presName="spacer" presStyleCnt="0"/>
      <dgm:spPr/>
    </dgm:pt>
    <dgm:pt modelId="{AF712734-387E-45AD-B744-3173EACFDB60}" type="pres">
      <dgm:prSet presAssocID="{804246B8-688D-467F-B943-E8E74B1F74A6}" presName="parentText" presStyleLbl="node1" presStyleIdx="2" presStyleCnt="4">
        <dgm:presLayoutVars>
          <dgm:chMax val="0"/>
          <dgm:bulletEnabled val="1"/>
        </dgm:presLayoutVars>
      </dgm:prSet>
      <dgm:spPr/>
    </dgm:pt>
    <dgm:pt modelId="{315EB746-3567-483E-9451-9100EE044C83}" type="pres">
      <dgm:prSet presAssocID="{D8748930-A0E2-4E88-A4A0-29D432306BB6}" presName="spacer" presStyleCnt="0"/>
      <dgm:spPr/>
    </dgm:pt>
    <dgm:pt modelId="{6EE82979-45AD-46F1-9E90-60469EA5DA33}" type="pres">
      <dgm:prSet presAssocID="{793DD38D-7202-4227-A338-E498D5A1F59F}" presName="parentText" presStyleLbl="node1" presStyleIdx="3" presStyleCnt="4">
        <dgm:presLayoutVars>
          <dgm:chMax val="0"/>
          <dgm:bulletEnabled val="1"/>
        </dgm:presLayoutVars>
      </dgm:prSet>
      <dgm:spPr/>
    </dgm:pt>
  </dgm:ptLst>
  <dgm:cxnLst>
    <dgm:cxn modelId="{45AB5305-0F26-45A6-B664-9A666FD16FD4}" type="presOf" srcId="{90119837-5B71-4D44-BB01-DB0B084933C8}" destId="{ED5DCCC5-BCA8-4491-AA37-BAF153ECA184}" srcOrd="0" destOrd="0" presId="urn:microsoft.com/office/officeart/2005/8/layout/vList2"/>
    <dgm:cxn modelId="{AAF2FC13-FAD3-45C8-9BF2-DF6D99A7AA2A}" type="presOf" srcId="{793DD38D-7202-4227-A338-E498D5A1F59F}" destId="{6EE82979-45AD-46F1-9E90-60469EA5DA33}" srcOrd="0" destOrd="0" presId="urn:microsoft.com/office/officeart/2005/8/layout/vList2"/>
    <dgm:cxn modelId="{F321965C-B92D-4E07-BFE4-105B7B4F3393}" type="presOf" srcId="{C111C18A-FD96-4E63-821A-54D70D8DC65F}" destId="{E75D4F1A-E54E-4DDB-A374-BC9037A6551C}" srcOrd="0" destOrd="0" presId="urn:microsoft.com/office/officeart/2005/8/layout/vList2"/>
    <dgm:cxn modelId="{4904A044-5A34-4709-BB86-249F43C4467A}" srcId="{90119837-5B71-4D44-BB01-DB0B084933C8}" destId="{FCB010D7-1937-43B3-90B3-B8861D75A295}" srcOrd="1" destOrd="0" parTransId="{96A049CA-C954-4E5D-A9E7-96D9935DF876}" sibTransId="{EF9CEE15-F17E-4621-A371-1287A1C94990}"/>
    <dgm:cxn modelId="{FFD8B471-C98F-4DB5-8DE3-2AB7E896ADD5}" srcId="{90119837-5B71-4D44-BB01-DB0B084933C8}" destId="{C111C18A-FD96-4E63-821A-54D70D8DC65F}" srcOrd="0" destOrd="0" parTransId="{83BE74EF-FAB4-45A2-BBED-7CD5259AB210}" sibTransId="{B4F34DE2-2DAE-4F88-8C78-BD8892EBF4FF}"/>
    <dgm:cxn modelId="{160DD757-BE34-449F-888F-06419AA60A9B}" type="presOf" srcId="{FCB010D7-1937-43B3-90B3-B8861D75A295}" destId="{2A0AF8F8-916B-45C3-9B31-6E743222158C}" srcOrd="0" destOrd="0" presId="urn:microsoft.com/office/officeart/2005/8/layout/vList2"/>
    <dgm:cxn modelId="{69576086-17E0-4F32-A2D5-DA10E0EF7DC5}" srcId="{90119837-5B71-4D44-BB01-DB0B084933C8}" destId="{804246B8-688D-467F-B943-E8E74B1F74A6}" srcOrd="2" destOrd="0" parTransId="{26E693E1-EAB1-4E62-9C0D-DB908A438FF5}" sibTransId="{D8748930-A0E2-4E88-A4A0-29D432306BB6}"/>
    <dgm:cxn modelId="{D4C805B3-7FEA-4B60-8A76-8E5DED290DE7}" srcId="{90119837-5B71-4D44-BB01-DB0B084933C8}" destId="{793DD38D-7202-4227-A338-E498D5A1F59F}" srcOrd="3" destOrd="0" parTransId="{4C7EA8D7-5A75-450B-81C2-17F0120B0A97}" sibTransId="{35ED0132-12F5-4590-85F6-FA9C41262EF0}"/>
    <dgm:cxn modelId="{88D2EDC6-21EF-4EA6-8A81-D639C16D5507}" type="presOf" srcId="{804246B8-688D-467F-B943-E8E74B1F74A6}" destId="{AF712734-387E-45AD-B744-3173EACFDB60}" srcOrd="0" destOrd="0" presId="urn:microsoft.com/office/officeart/2005/8/layout/vList2"/>
    <dgm:cxn modelId="{A1D0457E-0639-4C1F-9278-307131830419}" type="presParOf" srcId="{ED5DCCC5-BCA8-4491-AA37-BAF153ECA184}" destId="{E75D4F1A-E54E-4DDB-A374-BC9037A6551C}" srcOrd="0" destOrd="0" presId="urn:microsoft.com/office/officeart/2005/8/layout/vList2"/>
    <dgm:cxn modelId="{4A984CCD-305D-4B3E-9397-A314B1196453}" type="presParOf" srcId="{ED5DCCC5-BCA8-4491-AA37-BAF153ECA184}" destId="{492EB66F-8844-40B3-B674-332154F2F6C4}" srcOrd="1" destOrd="0" presId="urn:microsoft.com/office/officeart/2005/8/layout/vList2"/>
    <dgm:cxn modelId="{C90EE9B6-FF7C-4748-95FD-98AD4160BD15}" type="presParOf" srcId="{ED5DCCC5-BCA8-4491-AA37-BAF153ECA184}" destId="{2A0AF8F8-916B-45C3-9B31-6E743222158C}" srcOrd="2" destOrd="0" presId="urn:microsoft.com/office/officeart/2005/8/layout/vList2"/>
    <dgm:cxn modelId="{D3CDCB85-5D25-47D9-9AA7-2F08C217102C}" type="presParOf" srcId="{ED5DCCC5-BCA8-4491-AA37-BAF153ECA184}" destId="{FF870F39-0CB4-450D-B98A-1B4D0DC4AFC2}" srcOrd="3" destOrd="0" presId="urn:microsoft.com/office/officeart/2005/8/layout/vList2"/>
    <dgm:cxn modelId="{0FE95E32-74E5-4FF7-85F2-1C7696D7F0E7}" type="presParOf" srcId="{ED5DCCC5-BCA8-4491-AA37-BAF153ECA184}" destId="{AF712734-387E-45AD-B744-3173EACFDB60}" srcOrd="4" destOrd="0" presId="urn:microsoft.com/office/officeart/2005/8/layout/vList2"/>
    <dgm:cxn modelId="{95CDFD89-99DA-4705-98A8-FBE44218C0FC}" type="presParOf" srcId="{ED5DCCC5-BCA8-4491-AA37-BAF153ECA184}" destId="{315EB746-3567-483E-9451-9100EE044C83}" srcOrd="5" destOrd="0" presId="urn:microsoft.com/office/officeart/2005/8/layout/vList2"/>
    <dgm:cxn modelId="{A8A6CAA7-DA6F-4F45-A7DF-8F7BB8E42DF3}" type="presParOf" srcId="{ED5DCCC5-BCA8-4491-AA37-BAF153ECA184}" destId="{6EE82979-45AD-46F1-9E90-60469EA5DA3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111C18A-FD96-4E63-821A-54D70D8DC65F}">
      <dgm:prSet phldrT="[Text]"/>
      <dgm:spPr/>
      <dgm:t>
        <a:bodyPr/>
        <a:lstStyle/>
        <a:p>
          <a:r>
            <a:rPr lang="en-US" b="1" i="0" dirty="0"/>
            <a:t>Easy-to-learn</a:t>
          </a:r>
          <a:endParaRPr lang="en-US" dirty="0">
            <a:solidFill>
              <a:schemeClr val="bg1"/>
            </a:solidFill>
          </a:endParaRPr>
        </a:p>
      </dgm:t>
    </dgm:pt>
    <dgm:pt modelId="{83BE74EF-FAB4-45A2-BBED-7CD5259AB210}" type="parTrans" cxnId="{FFD8B471-C98F-4DB5-8DE3-2AB7E896ADD5}">
      <dgm:prSet/>
      <dgm:spPr/>
      <dgm:t>
        <a:bodyPr/>
        <a:lstStyle/>
        <a:p>
          <a:endParaRPr lang="en-US"/>
        </a:p>
      </dgm:t>
    </dgm:pt>
    <dgm:pt modelId="{B4F34DE2-2DAE-4F88-8C78-BD8892EBF4FF}" type="sibTrans" cxnId="{FFD8B471-C98F-4DB5-8DE3-2AB7E896ADD5}">
      <dgm:prSet/>
      <dgm:spPr/>
      <dgm:t>
        <a:bodyPr/>
        <a:lstStyle/>
        <a:p>
          <a:endParaRPr lang="en-US"/>
        </a:p>
      </dgm:t>
    </dgm:pt>
    <dgm:pt modelId="{D57755BF-4E95-4858-80F6-380BC1610C7D}">
      <dgm:prSet/>
      <dgm:spPr/>
      <dgm:t>
        <a:bodyPr/>
        <a:lstStyle/>
        <a:p>
          <a:r>
            <a:rPr lang="en-US" b="1" i="0" dirty="0"/>
            <a:t>Easy-to-read</a:t>
          </a:r>
          <a:endParaRPr lang="en-US" b="0" i="0" dirty="0"/>
        </a:p>
      </dgm:t>
    </dgm:pt>
    <dgm:pt modelId="{2993D5C1-F1EA-44C7-85E8-30DB458D4A1A}" type="parTrans" cxnId="{325BF82A-8866-4B7A-B3FB-83A69F4D458F}">
      <dgm:prSet/>
      <dgm:spPr/>
      <dgm:t>
        <a:bodyPr/>
        <a:lstStyle/>
        <a:p>
          <a:endParaRPr lang="en-US"/>
        </a:p>
      </dgm:t>
    </dgm:pt>
    <dgm:pt modelId="{B0EE02D0-5A76-4F60-A7CE-D124C6B480C8}" type="sibTrans" cxnId="{325BF82A-8866-4B7A-B3FB-83A69F4D458F}">
      <dgm:prSet/>
      <dgm:spPr/>
      <dgm:t>
        <a:bodyPr/>
        <a:lstStyle/>
        <a:p>
          <a:endParaRPr lang="en-US"/>
        </a:p>
      </dgm:t>
    </dgm:pt>
    <dgm:pt modelId="{A596C87E-FC19-459E-ADDF-EDE722AD5B91}">
      <dgm:prSet/>
      <dgm:spPr/>
      <dgm:t>
        <a:bodyPr/>
        <a:lstStyle/>
        <a:p>
          <a:r>
            <a:rPr lang="en-US" b="1" i="0" dirty="0"/>
            <a:t>Easy-to-maintain</a:t>
          </a:r>
          <a:endParaRPr lang="en-US" b="0" i="0" dirty="0"/>
        </a:p>
      </dgm:t>
    </dgm:pt>
    <dgm:pt modelId="{483D4C45-D8EF-4A60-A786-45581AE1F04A}" type="parTrans" cxnId="{FD7C486A-A1CC-4257-ACF1-6A65B528C1B1}">
      <dgm:prSet/>
      <dgm:spPr/>
      <dgm:t>
        <a:bodyPr/>
        <a:lstStyle/>
        <a:p>
          <a:endParaRPr lang="en-US"/>
        </a:p>
      </dgm:t>
    </dgm:pt>
    <dgm:pt modelId="{8DFCCFD2-EE38-448B-AF0B-3A561378BFC7}" type="sibTrans" cxnId="{FD7C486A-A1CC-4257-ACF1-6A65B528C1B1}">
      <dgm:prSet/>
      <dgm:spPr/>
      <dgm:t>
        <a:bodyPr/>
        <a:lstStyle/>
        <a:p>
          <a:endParaRPr lang="en-US"/>
        </a:p>
      </dgm:t>
    </dgm:pt>
    <dgm:pt modelId="{1BAA3C04-9B21-4860-8C2A-F1374B8B715C}">
      <dgm:prSet/>
      <dgm:spPr/>
      <dgm:t>
        <a:bodyPr/>
        <a:lstStyle/>
        <a:p>
          <a:r>
            <a:rPr lang="en-US" b="1" i="0" dirty="0"/>
            <a:t>A broad standard library</a:t>
          </a:r>
          <a:endParaRPr lang="en-US" b="0" i="0" dirty="0"/>
        </a:p>
      </dgm:t>
    </dgm:pt>
    <dgm:pt modelId="{8CDC1D37-7850-4DA8-9294-72C4B82C79F8}" type="parTrans" cxnId="{F6B5D241-4743-415F-A6AF-2E738DE790F0}">
      <dgm:prSet/>
      <dgm:spPr/>
      <dgm:t>
        <a:bodyPr/>
        <a:lstStyle/>
        <a:p>
          <a:endParaRPr lang="en-US"/>
        </a:p>
      </dgm:t>
    </dgm:pt>
    <dgm:pt modelId="{91669F40-BE68-448B-80F4-C9E7EC975093}" type="sibTrans" cxnId="{F6B5D241-4743-415F-A6AF-2E738DE790F0}">
      <dgm:prSet/>
      <dgm:spPr/>
      <dgm:t>
        <a:bodyPr/>
        <a:lstStyle/>
        <a:p>
          <a:endParaRPr lang="en-US"/>
        </a:p>
      </dgm:t>
    </dgm:pt>
    <dgm:pt modelId="{12BB3E7E-063B-4116-B768-CC51E8438D10}">
      <dgm:prSet/>
      <dgm:spPr/>
      <dgm:t>
        <a:bodyPr/>
        <a:lstStyle/>
        <a:p>
          <a:r>
            <a:rPr lang="en-US" b="1" i="0" dirty="0"/>
            <a:t>Interactive Mode</a:t>
          </a:r>
          <a:endParaRPr lang="en-US" b="0" i="0" dirty="0"/>
        </a:p>
      </dgm:t>
    </dgm:pt>
    <dgm:pt modelId="{77AB7602-9C2A-41E6-86D3-138747D54453}" type="parTrans" cxnId="{305FC100-2415-4079-A2E2-D878F053B808}">
      <dgm:prSet/>
      <dgm:spPr/>
      <dgm:t>
        <a:bodyPr/>
        <a:lstStyle/>
        <a:p>
          <a:endParaRPr lang="en-US"/>
        </a:p>
      </dgm:t>
    </dgm:pt>
    <dgm:pt modelId="{71B8ABB7-60FA-405B-9D2A-E0E3A7211C38}" type="sibTrans" cxnId="{305FC100-2415-4079-A2E2-D878F053B808}">
      <dgm:prSet/>
      <dgm:spPr/>
      <dgm:t>
        <a:bodyPr/>
        <a:lstStyle/>
        <a:p>
          <a:endParaRPr lang="en-US"/>
        </a:p>
      </dgm:t>
    </dgm:pt>
    <dgm:pt modelId="{DF567B38-82C3-4E03-9276-7A7AFE12A772}">
      <dgm:prSet phldrT="[Text]"/>
      <dgm:spPr/>
      <dgm:t>
        <a:bodyPr/>
        <a:lstStyle/>
        <a:p>
          <a:r>
            <a:rPr lang="en-US" b="0" i="0" dirty="0"/>
            <a:t>Python has </a:t>
          </a:r>
          <a:r>
            <a:rPr lang="en-US" b="0" i="0" dirty="0">
              <a:solidFill>
                <a:srgbClr val="FF0000"/>
              </a:solidFill>
            </a:rPr>
            <a:t>few</a:t>
          </a:r>
          <a:r>
            <a:rPr lang="en-US" b="0" i="0" dirty="0"/>
            <a:t> keywords, simple structure, and a clearly defined syntax.</a:t>
          </a:r>
          <a:endParaRPr lang="en-US" dirty="0">
            <a:solidFill>
              <a:schemeClr val="bg1"/>
            </a:solidFill>
          </a:endParaRPr>
        </a:p>
      </dgm:t>
    </dgm:pt>
    <dgm:pt modelId="{333CEC48-D57B-45D2-B2A5-B6BCDB47DE1A}" type="parTrans" cxnId="{792C04D7-1EC9-4780-9FDB-D061D281CC30}">
      <dgm:prSet/>
      <dgm:spPr/>
      <dgm:t>
        <a:bodyPr/>
        <a:lstStyle/>
        <a:p>
          <a:endParaRPr lang="en-US"/>
        </a:p>
      </dgm:t>
    </dgm:pt>
    <dgm:pt modelId="{4283D291-E4E8-4A0C-9098-2F419B9B76CE}" type="sibTrans" cxnId="{792C04D7-1EC9-4780-9FDB-D061D281CC30}">
      <dgm:prSet/>
      <dgm:spPr/>
      <dgm:t>
        <a:bodyPr/>
        <a:lstStyle/>
        <a:p>
          <a:endParaRPr lang="en-US"/>
        </a:p>
      </dgm:t>
    </dgm:pt>
    <dgm:pt modelId="{3D30A841-C8D2-4172-B488-6F4BB0D9D29A}">
      <dgm:prSet phldrT="[Text]"/>
      <dgm:spPr/>
      <dgm:t>
        <a:bodyPr/>
        <a:lstStyle/>
        <a:p>
          <a:r>
            <a:rPr lang="en-US" b="0" i="0" dirty="0"/>
            <a:t>This allows the student to pick up the language quickly.</a:t>
          </a:r>
          <a:endParaRPr lang="en-US" dirty="0">
            <a:solidFill>
              <a:schemeClr val="bg1"/>
            </a:solidFill>
          </a:endParaRPr>
        </a:p>
      </dgm:t>
    </dgm:pt>
    <dgm:pt modelId="{6CBC1EA7-4689-4179-BE94-CDE00E716707}" type="parTrans" cxnId="{80A44030-4AAF-4795-8966-D637588D3067}">
      <dgm:prSet/>
      <dgm:spPr/>
      <dgm:t>
        <a:bodyPr/>
        <a:lstStyle/>
        <a:p>
          <a:endParaRPr lang="en-US"/>
        </a:p>
      </dgm:t>
    </dgm:pt>
    <dgm:pt modelId="{EAE0CA75-64FD-450B-9DEE-159763C6AB51}" type="sibTrans" cxnId="{80A44030-4AAF-4795-8966-D637588D3067}">
      <dgm:prSet/>
      <dgm:spPr/>
      <dgm:t>
        <a:bodyPr/>
        <a:lstStyle/>
        <a:p>
          <a:endParaRPr lang="en-US"/>
        </a:p>
      </dgm:t>
    </dgm:pt>
    <dgm:pt modelId="{BF24F2C6-0489-4A09-9788-4833328FA054}">
      <dgm:prSet/>
      <dgm:spPr/>
      <dgm:t>
        <a:bodyPr/>
        <a:lstStyle/>
        <a:p>
          <a:r>
            <a:rPr lang="en-US" b="0" i="0" dirty="0"/>
            <a:t>Python code is more </a:t>
          </a:r>
          <a:r>
            <a:rPr lang="en-US" b="0" i="0" dirty="0">
              <a:solidFill>
                <a:srgbClr val="FF0000"/>
              </a:solidFill>
            </a:rPr>
            <a:t>clearly</a:t>
          </a:r>
          <a:r>
            <a:rPr lang="en-US" b="0" i="0" dirty="0"/>
            <a:t> defined and visible to the eyes.</a:t>
          </a:r>
        </a:p>
      </dgm:t>
    </dgm:pt>
    <dgm:pt modelId="{A06A3A1B-D4BF-451D-9FB4-0F82F1204B16}" type="parTrans" cxnId="{4217FC17-FE4C-4A4D-8B5E-A645986F8EB6}">
      <dgm:prSet/>
      <dgm:spPr/>
      <dgm:t>
        <a:bodyPr/>
        <a:lstStyle/>
        <a:p>
          <a:endParaRPr lang="en-US"/>
        </a:p>
      </dgm:t>
    </dgm:pt>
    <dgm:pt modelId="{286B2F7E-B449-44DE-8EB3-BD2DC8098CCD}" type="sibTrans" cxnId="{4217FC17-FE4C-4A4D-8B5E-A645986F8EB6}">
      <dgm:prSet/>
      <dgm:spPr/>
      <dgm:t>
        <a:bodyPr/>
        <a:lstStyle/>
        <a:p>
          <a:endParaRPr lang="en-US"/>
        </a:p>
      </dgm:t>
    </dgm:pt>
    <dgm:pt modelId="{610DF906-8D85-4C71-A59C-1DC4DC74AD07}">
      <dgm:prSet/>
      <dgm:spPr/>
      <dgm:t>
        <a:bodyPr/>
        <a:lstStyle/>
        <a:p>
          <a:r>
            <a:rPr lang="en-US" b="0" i="0" dirty="0"/>
            <a:t>Python's source code is fairly </a:t>
          </a:r>
          <a:r>
            <a:rPr lang="en-US" b="0" i="0" dirty="0">
              <a:solidFill>
                <a:srgbClr val="FF0000"/>
              </a:solidFill>
            </a:rPr>
            <a:t>easy-to-maintain</a:t>
          </a:r>
          <a:r>
            <a:rPr lang="en-US" b="0" i="0" dirty="0"/>
            <a:t>.</a:t>
          </a:r>
        </a:p>
      </dgm:t>
    </dgm:pt>
    <dgm:pt modelId="{306B4FF0-F252-4791-9587-F8B5C9953972}" type="parTrans" cxnId="{636C457B-E5C1-4FAB-90D1-6AE4C2B071AD}">
      <dgm:prSet/>
      <dgm:spPr/>
      <dgm:t>
        <a:bodyPr/>
        <a:lstStyle/>
        <a:p>
          <a:endParaRPr lang="en-US"/>
        </a:p>
      </dgm:t>
    </dgm:pt>
    <dgm:pt modelId="{81976B2E-616C-4C0F-BFCD-F3F0AC9E22FD}" type="sibTrans" cxnId="{636C457B-E5C1-4FAB-90D1-6AE4C2B071AD}">
      <dgm:prSet/>
      <dgm:spPr/>
      <dgm:t>
        <a:bodyPr/>
        <a:lstStyle/>
        <a:p>
          <a:endParaRPr lang="en-US"/>
        </a:p>
      </dgm:t>
    </dgm:pt>
    <dgm:pt modelId="{CD1D362F-E756-4573-ACAE-D56E03B8AD8C}">
      <dgm:prSet/>
      <dgm:spPr/>
      <dgm:t>
        <a:bodyPr/>
        <a:lstStyle/>
        <a:p>
          <a:r>
            <a:rPr lang="en-US" b="0" i="0" dirty="0"/>
            <a:t>Python's </a:t>
          </a:r>
          <a:r>
            <a:rPr lang="en-US" b="0" i="0" dirty="0">
              <a:solidFill>
                <a:srgbClr val="FF0000"/>
              </a:solidFill>
            </a:rPr>
            <a:t>bulk of the library </a:t>
          </a:r>
          <a:r>
            <a:rPr lang="en-US" b="0" i="0" dirty="0"/>
            <a:t>is very portable and cross-platform compatible on UNIX, Windows, and Macintosh.</a:t>
          </a:r>
        </a:p>
      </dgm:t>
    </dgm:pt>
    <dgm:pt modelId="{BCDC1207-97C5-43B2-9E6E-2FC5E32590F8}" type="parTrans" cxnId="{916BC97A-8229-4DEB-8056-639E0F3F3086}">
      <dgm:prSet/>
      <dgm:spPr/>
      <dgm:t>
        <a:bodyPr/>
        <a:lstStyle/>
        <a:p>
          <a:endParaRPr lang="en-US"/>
        </a:p>
      </dgm:t>
    </dgm:pt>
    <dgm:pt modelId="{4F1AEB85-8947-44C3-AF59-8779DC91F117}" type="sibTrans" cxnId="{916BC97A-8229-4DEB-8056-639E0F3F3086}">
      <dgm:prSet/>
      <dgm:spPr/>
      <dgm:t>
        <a:bodyPr/>
        <a:lstStyle/>
        <a:p>
          <a:endParaRPr lang="en-US"/>
        </a:p>
      </dgm:t>
    </dgm:pt>
    <dgm:pt modelId="{5CB5D9F4-4205-4617-88FD-45F72F7CCD52}">
      <dgm:prSet/>
      <dgm:spPr/>
      <dgm:t>
        <a:bodyPr/>
        <a:lstStyle/>
        <a:p>
          <a:r>
            <a:rPr lang="en-US" b="0" i="0" dirty="0"/>
            <a:t>Python has support for an </a:t>
          </a:r>
          <a:r>
            <a:rPr lang="en-US" b="0" i="0" dirty="0">
              <a:solidFill>
                <a:srgbClr val="FF0000"/>
              </a:solidFill>
            </a:rPr>
            <a:t>interactive mode </a:t>
          </a:r>
          <a:r>
            <a:rPr lang="en-US" b="0" i="0" dirty="0"/>
            <a:t>which allows interactive testing and debugging of snippets of code.</a:t>
          </a:r>
        </a:p>
      </dgm:t>
    </dgm:pt>
    <dgm:pt modelId="{6E9AE842-87D8-4102-8700-F2DF0486DD62}" type="parTrans" cxnId="{197266F4-1535-472C-9BA0-20A6901CC2BC}">
      <dgm:prSet/>
      <dgm:spPr/>
      <dgm:t>
        <a:bodyPr/>
        <a:lstStyle/>
        <a:p>
          <a:endParaRPr lang="en-US"/>
        </a:p>
      </dgm:t>
    </dgm:pt>
    <dgm:pt modelId="{8916F9EE-7B27-4517-9528-8F2D86961C8D}" type="sibTrans" cxnId="{197266F4-1535-472C-9BA0-20A6901CC2BC}">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E75D4F1A-E54E-4DDB-A374-BC9037A6551C}" type="pres">
      <dgm:prSet presAssocID="{C111C18A-FD96-4E63-821A-54D70D8DC65F}" presName="parentText" presStyleLbl="node1" presStyleIdx="0" presStyleCnt="5" custLinFactNeighborX="-1471" custLinFactNeighborY="-2828">
        <dgm:presLayoutVars>
          <dgm:chMax val="0"/>
          <dgm:bulletEnabled val="1"/>
        </dgm:presLayoutVars>
      </dgm:prSet>
      <dgm:spPr/>
    </dgm:pt>
    <dgm:pt modelId="{8906AB09-5EEF-49FC-806A-706CE51CB198}" type="pres">
      <dgm:prSet presAssocID="{C111C18A-FD96-4E63-821A-54D70D8DC65F}" presName="childText" presStyleLbl="revTx" presStyleIdx="0" presStyleCnt="5">
        <dgm:presLayoutVars>
          <dgm:bulletEnabled val="1"/>
        </dgm:presLayoutVars>
      </dgm:prSet>
      <dgm:spPr/>
    </dgm:pt>
    <dgm:pt modelId="{386DCEB2-0401-43D6-BBA8-2F6F2281B870}" type="pres">
      <dgm:prSet presAssocID="{D57755BF-4E95-4858-80F6-380BC1610C7D}" presName="parentText" presStyleLbl="node1" presStyleIdx="1" presStyleCnt="5">
        <dgm:presLayoutVars>
          <dgm:chMax val="0"/>
          <dgm:bulletEnabled val="1"/>
        </dgm:presLayoutVars>
      </dgm:prSet>
      <dgm:spPr/>
    </dgm:pt>
    <dgm:pt modelId="{FA231B1E-409C-4853-8509-35DD626BFCB1}" type="pres">
      <dgm:prSet presAssocID="{D57755BF-4E95-4858-80F6-380BC1610C7D}" presName="childText" presStyleLbl="revTx" presStyleIdx="1" presStyleCnt="5">
        <dgm:presLayoutVars>
          <dgm:bulletEnabled val="1"/>
        </dgm:presLayoutVars>
      </dgm:prSet>
      <dgm:spPr/>
    </dgm:pt>
    <dgm:pt modelId="{034DEBC5-4529-4BE9-9F41-16298B9D0E6F}" type="pres">
      <dgm:prSet presAssocID="{A596C87E-FC19-459E-ADDF-EDE722AD5B91}" presName="parentText" presStyleLbl="node1" presStyleIdx="2" presStyleCnt="5">
        <dgm:presLayoutVars>
          <dgm:chMax val="0"/>
          <dgm:bulletEnabled val="1"/>
        </dgm:presLayoutVars>
      </dgm:prSet>
      <dgm:spPr/>
    </dgm:pt>
    <dgm:pt modelId="{9B747B72-BF04-410B-9338-10114A0AFEE2}" type="pres">
      <dgm:prSet presAssocID="{A596C87E-FC19-459E-ADDF-EDE722AD5B91}" presName="childText" presStyleLbl="revTx" presStyleIdx="2" presStyleCnt="5">
        <dgm:presLayoutVars>
          <dgm:bulletEnabled val="1"/>
        </dgm:presLayoutVars>
      </dgm:prSet>
      <dgm:spPr/>
    </dgm:pt>
    <dgm:pt modelId="{454AFC11-8783-486C-BA0E-D456FD19D038}" type="pres">
      <dgm:prSet presAssocID="{1BAA3C04-9B21-4860-8C2A-F1374B8B715C}" presName="parentText" presStyleLbl="node1" presStyleIdx="3" presStyleCnt="5">
        <dgm:presLayoutVars>
          <dgm:chMax val="0"/>
          <dgm:bulletEnabled val="1"/>
        </dgm:presLayoutVars>
      </dgm:prSet>
      <dgm:spPr/>
    </dgm:pt>
    <dgm:pt modelId="{A555AF5D-DF82-4305-BBBE-37C79D1BBAB2}" type="pres">
      <dgm:prSet presAssocID="{1BAA3C04-9B21-4860-8C2A-F1374B8B715C}" presName="childText" presStyleLbl="revTx" presStyleIdx="3" presStyleCnt="5">
        <dgm:presLayoutVars>
          <dgm:bulletEnabled val="1"/>
        </dgm:presLayoutVars>
      </dgm:prSet>
      <dgm:spPr/>
    </dgm:pt>
    <dgm:pt modelId="{9FB6B61E-D45E-4BD9-B82B-96A2179606FC}" type="pres">
      <dgm:prSet presAssocID="{12BB3E7E-063B-4116-B768-CC51E8438D10}" presName="parentText" presStyleLbl="node1" presStyleIdx="4" presStyleCnt="5">
        <dgm:presLayoutVars>
          <dgm:chMax val="0"/>
          <dgm:bulletEnabled val="1"/>
        </dgm:presLayoutVars>
      </dgm:prSet>
      <dgm:spPr/>
    </dgm:pt>
    <dgm:pt modelId="{F8525B06-98A3-4A96-B0E1-9CD4431A92E4}" type="pres">
      <dgm:prSet presAssocID="{12BB3E7E-063B-4116-B768-CC51E8438D10}" presName="childText" presStyleLbl="revTx" presStyleIdx="4" presStyleCnt="5">
        <dgm:presLayoutVars>
          <dgm:bulletEnabled val="1"/>
        </dgm:presLayoutVars>
      </dgm:prSet>
      <dgm:spPr/>
    </dgm:pt>
  </dgm:ptLst>
  <dgm:cxnLst>
    <dgm:cxn modelId="{305FC100-2415-4079-A2E2-D878F053B808}" srcId="{90119837-5B71-4D44-BB01-DB0B084933C8}" destId="{12BB3E7E-063B-4116-B768-CC51E8438D10}" srcOrd="4" destOrd="0" parTransId="{77AB7602-9C2A-41E6-86D3-138747D54453}" sibTransId="{71B8ABB7-60FA-405B-9D2A-E0E3A7211C38}"/>
    <dgm:cxn modelId="{4217FC17-FE4C-4A4D-8B5E-A645986F8EB6}" srcId="{D57755BF-4E95-4858-80F6-380BC1610C7D}" destId="{BF24F2C6-0489-4A09-9788-4833328FA054}" srcOrd="0" destOrd="0" parTransId="{A06A3A1B-D4BF-451D-9FB4-0F82F1204B16}" sibTransId="{286B2F7E-B449-44DE-8EB3-BD2DC8098CCD}"/>
    <dgm:cxn modelId="{EBFF9729-F471-4691-A389-7930B9C0C3E9}" type="presOf" srcId="{90119837-5B71-4D44-BB01-DB0B084933C8}" destId="{ED5DCCC5-BCA8-4491-AA37-BAF153ECA184}" srcOrd="0" destOrd="0" presId="urn:microsoft.com/office/officeart/2005/8/layout/vList2"/>
    <dgm:cxn modelId="{325BF82A-8866-4B7A-B3FB-83A69F4D458F}" srcId="{90119837-5B71-4D44-BB01-DB0B084933C8}" destId="{D57755BF-4E95-4858-80F6-380BC1610C7D}" srcOrd="1" destOrd="0" parTransId="{2993D5C1-F1EA-44C7-85E8-30DB458D4A1A}" sibTransId="{B0EE02D0-5A76-4F60-A7CE-D124C6B480C8}"/>
    <dgm:cxn modelId="{80A44030-4AAF-4795-8966-D637588D3067}" srcId="{C111C18A-FD96-4E63-821A-54D70D8DC65F}" destId="{3D30A841-C8D2-4172-B488-6F4BB0D9D29A}" srcOrd="1" destOrd="0" parTransId="{6CBC1EA7-4689-4179-BE94-CDE00E716707}" sibTransId="{EAE0CA75-64FD-450B-9DEE-159763C6AB51}"/>
    <dgm:cxn modelId="{31A63136-9CD6-4CAD-A29B-BF5B5F2C9D5C}" type="presOf" srcId="{DF567B38-82C3-4E03-9276-7A7AFE12A772}" destId="{8906AB09-5EEF-49FC-806A-706CE51CB198}" srcOrd="0" destOrd="0" presId="urn:microsoft.com/office/officeart/2005/8/layout/vList2"/>
    <dgm:cxn modelId="{6D26D536-D89F-4C45-BFB4-D6F16A7BAA0E}" type="presOf" srcId="{CD1D362F-E756-4573-ACAE-D56E03B8AD8C}" destId="{A555AF5D-DF82-4305-BBBE-37C79D1BBAB2}" srcOrd="0" destOrd="0" presId="urn:microsoft.com/office/officeart/2005/8/layout/vList2"/>
    <dgm:cxn modelId="{FEE7543E-C0DA-4E4C-BE07-E0C7522FF8C5}" type="presOf" srcId="{12BB3E7E-063B-4116-B768-CC51E8438D10}" destId="{9FB6B61E-D45E-4BD9-B82B-96A2179606FC}" srcOrd="0" destOrd="0" presId="urn:microsoft.com/office/officeart/2005/8/layout/vList2"/>
    <dgm:cxn modelId="{F6B5D241-4743-415F-A6AF-2E738DE790F0}" srcId="{90119837-5B71-4D44-BB01-DB0B084933C8}" destId="{1BAA3C04-9B21-4860-8C2A-F1374B8B715C}" srcOrd="3" destOrd="0" parTransId="{8CDC1D37-7850-4DA8-9294-72C4B82C79F8}" sibTransId="{91669F40-BE68-448B-80F4-C9E7EC975093}"/>
    <dgm:cxn modelId="{84AF0C48-4028-484B-88C0-1060470F3CE5}" type="presOf" srcId="{D57755BF-4E95-4858-80F6-380BC1610C7D}" destId="{386DCEB2-0401-43D6-BBA8-2F6F2281B870}" srcOrd="0" destOrd="0" presId="urn:microsoft.com/office/officeart/2005/8/layout/vList2"/>
    <dgm:cxn modelId="{FD7C486A-A1CC-4257-ACF1-6A65B528C1B1}" srcId="{90119837-5B71-4D44-BB01-DB0B084933C8}" destId="{A596C87E-FC19-459E-ADDF-EDE722AD5B91}" srcOrd="2" destOrd="0" parTransId="{483D4C45-D8EF-4A60-A786-45581AE1F04A}" sibTransId="{8DFCCFD2-EE38-448B-AF0B-3A561378BFC7}"/>
    <dgm:cxn modelId="{8AA6944D-1AAB-4BF4-805C-346625CD59D1}" type="presOf" srcId="{1BAA3C04-9B21-4860-8C2A-F1374B8B715C}" destId="{454AFC11-8783-486C-BA0E-D456FD19D038}" srcOrd="0" destOrd="0" presId="urn:microsoft.com/office/officeart/2005/8/layout/vList2"/>
    <dgm:cxn modelId="{FFD8B471-C98F-4DB5-8DE3-2AB7E896ADD5}" srcId="{90119837-5B71-4D44-BB01-DB0B084933C8}" destId="{C111C18A-FD96-4E63-821A-54D70D8DC65F}" srcOrd="0" destOrd="0" parTransId="{83BE74EF-FAB4-45A2-BBED-7CD5259AB210}" sibTransId="{B4F34DE2-2DAE-4F88-8C78-BD8892EBF4FF}"/>
    <dgm:cxn modelId="{916BC97A-8229-4DEB-8056-639E0F3F3086}" srcId="{1BAA3C04-9B21-4860-8C2A-F1374B8B715C}" destId="{CD1D362F-E756-4573-ACAE-D56E03B8AD8C}" srcOrd="0" destOrd="0" parTransId="{BCDC1207-97C5-43B2-9E6E-2FC5E32590F8}" sibTransId="{4F1AEB85-8947-44C3-AF59-8779DC91F117}"/>
    <dgm:cxn modelId="{636C457B-E5C1-4FAB-90D1-6AE4C2B071AD}" srcId="{A596C87E-FC19-459E-ADDF-EDE722AD5B91}" destId="{610DF906-8D85-4C71-A59C-1DC4DC74AD07}" srcOrd="0" destOrd="0" parTransId="{306B4FF0-F252-4791-9587-F8B5C9953972}" sibTransId="{81976B2E-616C-4C0F-BFCD-F3F0AC9E22FD}"/>
    <dgm:cxn modelId="{8D368099-C7A1-4CF2-AE05-ACFC49E70D31}" type="presOf" srcId="{A596C87E-FC19-459E-ADDF-EDE722AD5B91}" destId="{034DEBC5-4529-4BE9-9F41-16298B9D0E6F}" srcOrd="0" destOrd="0" presId="urn:microsoft.com/office/officeart/2005/8/layout/vList2"/>
    <dgm:cxn modelId="{F8E0C4B7-B7A8-45C1-B06F-4B31D57FE90C}" type="presOf" srcId="{BF24F2C6-0489-4A09-9788-4833328FA054}" destId="{FA231B1E-409C-4853-8509-35DD626BFCB1}" srcOrd="0" destOrd="0" presId="urn:microsoft.com/office/officeart/2005/8/layout/vList2"/>
    <dgm:cxn modelId="{CD3EF3CF-0F11-4A78-8AAE-113C60F772BE}" type="presOf" srcId="{C111C18A-FD96-4E63-821A-54D70D8DC65F}" destId="{E75D4F1A-E54E-4DDB-A374-BC9037A6551C}" srcOrd="0" destOrd="0" presId="urn:microsoft.com/office/officeart/2005/8/layout/vList2"/>
    <dgm:cxn modelId="{A5442BD0-2B7A-4A92-A679-0D830A5F1B58}" type="presOf" srcId="{5CB5D9F4-4205-4617-88FD-45F72F7CCD52}" destId="{F8525B06-98A3-4A96-B0E1-9CD4431A92E4}" srcOrd="0" destOrd="0" presId="urn:microsoft.com/office/officeart/2005/8/layout/vList2"/>
    <dgm:cxn modelId="{ADB81FD3-8390-4558-9845-E49766346B08}" type="presOf" srcId="{3D30A841-C8D2-4172-B488-6F4BB0D9D29A}" destId="{8906AB09-5EEF-49FC-806A-706CE51CB198}" srcOrd="0" destOrd="1" presId="urn:microsoft.com/office/officeart/2005/8/layout/vList2"/>
    <dgm:cxn modelId="{792C04D7-1EC9-4780-9FDB-D061D281CC30}" srcId="{C111C18A-FD96-4E63-821A-54D70D8DC65F}" destId="{DF567B38-82C3-4E03-9276-7A7AFE12A772}" srcOrd="0" destOrd="0" parTransId="{333CEC48-D57B-45D2-B2A5-B6BCDB47DE1A}" sibTransId="{4283D291-E4E8-4A0C-9098-2F419B9B76CE}"/>
    <dgm:cxn modelId="{197266F4-1535-472C-9BA0-20A6901CC2BC}" srcId="{12BB3E7E-063B-4116-B768-CC51E8438D10}" destId="{5CB5D9F4-4205-4617-88FD-45F72F7CCD52}" srcOrd="0" destOrd="0" parTransId="{6E9AE842-87D8-4102-8700-F2DF0486DD62}" sibTransId="{8916F9EE-7B27-4517-9528-8F2D86961C8D}"/>
    <dgm:cxn modelId="{5B2566F5-287F-419D-A163-87BE9777FAD1}" type="presOf" srcId="{610DF906-8D85-4C71-A59C-1DC4DC74AD07}" destId="{9B747B72-BF04-410B-9338-10114A0AFEE2}" srcOrd="0" destOrd="0" presId="urn:microsoft.com/office/officeart/2005/8/layout/vList2"/>
    <dgm:cxn modelId="{254AA9D6-4527-4709-A712-C5E92367AE55}" type="presParOf" srcId="{ED5DCCC5-BCA8-4491-AA37-BAF153ECA184}" destId="{E75D4F1A-E54E-4DDB-A374-BC9037A6551C}" srcOrd="0" destOrd="0" presId="urn:microsoft.com/office/officeart/2005/8/layout/vList2"/>
    <dgm:cxn modelId="{2630DFA5-62C3-4DEE-B105-BB67710D3D47}" type="presParOf" srcId="{ED5DCCC5-BCA8-4491-AA37-BAF153ECA184}" destId="{8906AB09-5EEF-49FC-806A-706CE51CB198}" srcOrd="1" destOrd="0" presId="urn:microsoft.com/office/officeart/2005/8/layout/vList2"/>
    <dgm:cxn modelId="{575332B1-A27D-4BC4-AB56-AA40AF9EF6C2}" type="presParOf" srcId="{ED5DCCC5-BCA8-4491-AA37-BAF153ECA184}" destId="{386DCEB2-0401-43D6-BBA8-2F6F2281B870}" srcOrd="2" destOrd="0" presId="urn:microsoft.com/office/officeart/2005/8/layout/vList2"/>
    <dgm:cxn modelId="{0D5F904C-DD54-47ED-B83F-9C96FB18F4E1}" type="presParOf" srcId="{ED5DCCC5-BCA8-4491-AA37-BAF153ECA184}" destId="{FA231B1E-409C-4853-8509-35DD626BFCB1}" srcOrd="3" destOrd="0" presId="urn:microsoft.com/office/officeart/2005/8/layout/vList2"/>
    <dgm:cxn modelId="{089D0EB5-9000-430C-9A90-8FC6CC547F1B}" type="presParOf" srcId="{ED5DCCC5-BCA8-4491-AA37-BAF153ECA184}" destId="{034DEBC5-4529-4BE9-9F41-16298B9D0E6F}" srcOrd="4" destOrd="0" presId="urn:microsoft.com/office/officeart/2005/8/layout/vList2"/>
    <dgm:cxn modelId="{8EEEB29C-7BAB-4DA3-BFFC-C2060458D85F}" type="presParOf" srcId="{ED5DCCC5-BCA8-4491-AA37-BAF153ECA184}" destId="{9B747B72-BF04-410B-9338-10114A0AFEE2}" srcOrd="5" destOrd="0" presId="urn:microsoft.com/office/officeart/2005/8/layout/vList2"/>
    <dgm:cxn modelId="{26DF56F4-244B-4179-A4C8-1CCB1F724426}" type="presParOf" srcId="{ED5DCCC5-BCA8-4491-AA37-BAF153ECA184}" destId="{454AFC11-8783-486C-BA0E-D456FD19D038}" srcOrd="6" destOrd="0" presId="urn:microsoft.com/office/officeart/2005/8/layout/vList2"/>
    <dgm:cxn modelId="{D2FA993D-776F-48D5-ACEF-BC576F3F1AA9}" type="presParOf" srcId="{ED5DCCC5-BCA8-4491-AA37-BAF153ECA184}" destId="{A555AF5D-DF82-4305-BBBE-37C79D1BBAB2}" srcOrd="7" destOrd="0" presId="urn:microsoft.com/office/officeart/2005/8/layout/vList2"/>
    <dgm:cxn modelId="{93D486BE-22CE-4A66-80E8-C4A2B1A19503}" type="presParOf" srcId="{ED5DCCC5-BCA8-4491-AA37-BAF153ECA184}" destId="{9FB6B61E-D45E-4BD9-B82B-96A2179606FC}" srcOrd="8" destOrd="0" presId="urn:microsoft.com/office/officeart/2005/8/layout/vList2"/>
    <dgm:cxn modelId="{0A0B37AF-4DEF-4871-8376-ABBCBFAAEB81}" type="presParOf" srcId="{ED5DCCC5-BCA8-4491-AA37-BAF153ECA184}" destId="{F8525B06-98A3-4A96-B0E1-9CD4431A92E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r>
            <a:rPr lang="en-US" b="1" i="0" dirty="0"/>
            <a:t>Portable</a:t>
          </a:r>
          <a:endParaRPr lang="en-US" b="0" i="0" dirty="0"/>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62A02D19-8584-4BF2-982A-3A3F6EA3D17A}">
      <dgm:prSet/>
      <dgm:spPr/>
      <dgm:t>
        <a:bodyPr/>
        <a:lstStyle/>
        <a:p>
          <a:r>
            <a:rPr lang="en-US" b="1" i="0" dirty="0"/>
            <a:t>Extendable</a:t>
          </a:r>
          <a:endParaRPr lang="en-US" b="0" i="0" dirty="0"/>
        </a:p>
      </dgm:t>
    </dgm:pt>
    <dgm:pt modelId="{612FAF10-1679-44A0-9060-1FA8EFBC80AD}" type="parTrans" cxnId="{0A96E1D0-6F53-4520-9536-1F4BF1292295}">
      <dgm:prSet/>
      <dgm:spPr/>
      <dgm:t>
        <a:bodyPr/>
        <a:lstStyle/>
        <a:p>
          <a:endParaRPr lang="en-US"/>
        </a:p>
      </dgm:t>
    </dgm:pt>
    <dgm:pt modelId="{DAA20457-16AC-4268-B3ED-7A4814275D17}" type="sibTrans" cxnId="{0A96E1D0-6F53-4520-9536-1F4BF1292295}">
      <dgm:prSet/>
      <dgm:spPr/>
      <dgm:t>
        <a:bodyPr/>
        <a:lstStyle/>
        <a:p>
          <a:endParaRPr lang="en-US"/>
        </a:p>
      </dgm:t>
    </dgm:pt>
    <dgm:pt modelId="{DC89E7D0-CFA5-4D2F-8004-199DA5E51B6F}">
      <dgm:prSet/>
      <dgm:spPr/>
      <dgm:t>
        <a:bodyPr/>
        <a:lstStyle/>
        <a:p>
          <a:r>
            <a:rPr lang="en-US" b="1" i="0" dirty="0"/>
            <a:t>Databases</a:t>
          </a:r>
          <a:endParaRPr lang="en-US" b="0" i="0" dirty="0"/>
        </a:p>
      </dgm:t>
    </dgm:pt>
    <dgm:pt modelId="{597C4DD6-D8A0-4916-AFAB-719CECB074E2}" type="parTrans" cxnId="{1DD8566C-382C-4F6A-941A-EC147B0C9CE9}">
      <dgm:prSet/>
      <dgm:spPr/>
      <dgm:t>
        <a:bodyPr/>
        <a:lstStyle/>
        <a:p>
          <a:endParaRPr lang="en-US"/>
        </a:p>
      </dgm:t>
    </dgm:pt>
    <dgm:pt modelId="{D42F3ABE-2457-4872-A9EA-9B25495F61A8}" type="sibTrans" cxnId="{1DD8566C-382C-4F6A-941A-EC147B0C9CE9}">
      <dgm:prSet/>
      <dgm:spPr/>
      <dgm:t>
        <a:bodyPr/>
        <a:lstStyle/>
        <a:p>
          <a:endParaRPr lang="en-US"/>
        </a:p>
      </dgm:t>
    </dgm:pt>
    <dgm:pt modelId="{6DCAF0A4-DA19-4985-AF5D-AEC97E8604C8}">
      <dgm:prSet/>
      <dgm:spPr/>
      <dgm:t>
        <a:bodyPr/>
        <a:lstStyle/>
        <a:p>
          <a:r>
            <a:rPr lang="en-US" b="1" i="0" dirty="0"/>
            <a:t>GUI Programming</a:t>
          </a:r>
          <a:endParaRPr lang="en-US" b="0" i="0" dirty="0"/>
        </a:p>
      </dgm:t>
    </dgm:pt>
    <dgm:pt modelId="{5DDB2E62-F4F8-48FE-8A33-7395833E1F4C}" type="parTrans" cxnId="{3A4E0C03-6CF8-4DDC-AEEB-910712D0C66B}">
      <dgm:prSet/>
      <dgm:spPr/>
      <dgm:t>
        <a:bodyPr/>
        <a:lstStyle/>
        <a:p>
          <a:endParaRPr lang="en-US"/>
        </a:p>
      </dgm:t>
    </dgm:pt>
    <dgm:pt modelId="{4AAA00D2-0FF0-4C8C-B76C-94D72B085352}" type="sibTrans" cxnId="{3A4E0C03-6CF8-4DDC-AEEB-910712D0C66B}">
      <dgm:prSet/>
      <dgm:spPr/>
      <dgm:t>
        <a:bodyPr/>
        <a:lstStyle/>
        <a:p>
          <a:endParaRPr lang="en-US"/>
        </a:p>
      </dgm:t>
    </dgm:pt>
    <dgm:pt modelId="{C3F6BBE4-95F7-4AF1-A040-FE9135FE698F}">
      <dgm:prSet/>
      <dgm:spPr/>
      <dgm:t>
        <a:bodyPr/>
        <a:lstStyle/>
        <a:p>
          <a:r>
            <a:rPr lang="en-US" b="1" i="0" dirty="0"/>
            <a:t>Scalable</a:t>
          </a:r>
          <a:endParaRPr lang="en-US" b="0" i="0" dirty="0"/>
        </a:p>
      </dgm:t>
    </dgm:pt>
    <dgm:pt modelId="{DAC71962-01AD-4BA5-AA3E-C04B666C3DC8}" type="parTrans" cxnId="{00976F42-EC63-44AE-A240-92F18E43C4AB}">
      <dgm:prSet/>
      <dgm:spPr/>
      <dgm:t>
        <a:bodyPr/>
        <a:lstStyle/>
        <a:p>
          <a:endParaRPr lang="en-US"/>
        </a:p>
      </dgm:t>
    </dgm:pt>
    <dgm:pt modelId="{95E30029-C986-47A1-AB16-7097A8FE9871}" type="sibTrans" cxnId="{00976F42-EC63-44AE-A240-92F18E43C4AB}">
      <dgm:prSet/>
      <dgm:spPr/>
      <dgm:t>
        <a:bodyPr/>
        <a:lstStyle/>
        <a:p>
          <a:endParaRPr lang="en-US"/>
        </a:p>
      </dgm:t>
    </dgm:pt>
    <dgm:pt modelId="{8FBFB4FF-BC30-43AB-96C2-7DFEC7631A03}">
      <dgm:prSet/>
      <dgm:spPr/>
      <dgm:t>
        <a:bodyPr/>
        <a:lstStyle/>
        <a:p>
          <a:r>
            <a:rPr lang="en-US" b="0" i="0" dirty="0"/>
            <a:t>Python can run on a wide variety of </a:t>
          </a:r>
          <a:r>
            <a:rPr lang="en-US" b="0" i="0" dirty="0">
              <a:solidFill>
                <a:srgbClr val="FF0000"/>
              </a:solidFill>
            </a:rPr>
            <a:t>hardware platforms </a:t>
          </a:r>
          <a:r>
            <a:rPr lang="en-US" b="0" i="0" dirty="0"/>
            <a:t>and has the same interface on all platforms.</a:t>
          </a:r>
        </a:p>
      </dgm:t>
    </dgm:pt>
    <dgm:pt modelId="{A24266C2-2075-4E20-9EE2-FBEF294BE0B4}" type="parTrans" cxnId="{42E6EDFD-11BB-4734-A879-FA495C19A66D}">
      <dgm:prSet/>
      <dgm:spPr/>
      <dgm:t>
        <a:bodyPr/>
        <a:lstStyle/>
        <a:p>
          <a:endParaRPr lang="en-US"/>
        </a:p>
      </dgm:t>
    </dgm:pt>
    <dgm:pt modelId="{C0828A11-C5FB-4787-90E0-BB90400022AB}" type="sibTrans" cxnId="{42E6EDFD-11BB-4734-A879-FA495C19A66D}">
      <dgm:prSet/>
      <dgm:spPr/>
      <dgm:t>
        <a:bodyPr/>
        <a:lstStyle/>
        <a:p>
          <a:endParaRPr lang="en-US"/>
        </a:p>
      </dgm:t>
    </dgm:pt>
    <dgm:pt modelId="{A28B4F07-0671-45BF-B8C6-527539110A34}">
      <dgm:prSet/>
      <dgm:spPr/>
      <dgm:t>
        <a:bodyPr/>
        <a:lstStyle/>
        <a:p>
          <a:r>
            <a:rPr lang="en-US" b="0" i="0" dirty="0"/>
            <a:t>You can add </a:t>
          </a:r>
          <a:r>
            <a:rPr lang="en-US" b="0" i="0" dirty="0">
              <a:solidFill>
                <a:srgbClr val="FF0000"/>
              </a:solidFill>
            </a:rPr>
            <a:t>low-level modules </a:t>
          </a:r>
          <a:r>
            <a:rPr lang="en-US" b="0" i="0" dirty="0"/>
            <a:t>to the Python interpreter. </a:t>
          </a:r>
        </a:p>
      </dgm:t>
    </dgm:pt>
    <dgm:pt modelId="{09035545-FF53-4DED-BB7B-B9448233D8E3}" type="parTrans" cxnId="{0DB3E570-BDB8-4B04-A79F-37198E94E3A3}">
      <dgm:prSet/>
      <dgm:spPr/>
      <dgm:t>
        <a:bodyPr/>
        <a:lstStyle/>
        <a:p>
          <a:endParaRPr lang="en-US"/>
        </a:p>
      </dgm:t>
    </dgm:pt>
    <dgm:pt modelId="{FB2256A3-D659-482B-914C-C14A2848CB86}" type="sibTrans" cxnId="{0DB3E570-BDB8-4B04-A79F-37198E94E3A3}">
      <dgm:prSet/>
      <dgm:spPr/>
      <dgm:t>
        <a:bodyPr/>
        <a:lstStyle/>
        <a:p>
          <a:endParaRPr lang="en-US"/>
        </a:p>
      </dgm:t>
    </dgm:pt>
    <dgm:pt modelId="{303C4CFE-FC65-435C-AD02-D42301AFF680}">
      <dgm:prSet/>
      <dgm:spPr/>
      <dgm:t>
        <a:bodyPr/>
        <a:lstStyle/>
        <a:p>
          <a:r>
            <a:rPr lang="en-US" b="0" i="0" dirty="0"/>
            <a:t>These modules enable programmers to add to or customize their tools to be more efficient.</a:t>
          </a:r>
        </a:p>
      </dgm:t>
    </dgm:pt>
    <dgm:pt modelId="{813F4104-7778-44C2-AD0C-5DA69918ABE3}" type="parTrans" cxnId="{387DC638-4F71-497F-BCB8-55532917463F}">
      <dgm:prSet/>
      <dgm:spPr/>
      <dgm:t>
        <a:bodyPr/>
        <a:lstStyle/>
        <a:p>
          <a:endParaRPr lang="en-US"/>
        </a:p>
      </dgm:t>
    </dgm:pt>
    <dgm:pt modelId="{C1C879BF-4A9E-434B-9A6F-CAB6EDF74A91}" type="sibTrans" cxnId="{387DC638-4F71-497F-BCB8-55532917463F}">
      <dgm:prSet/>
      <dgm:spPr/>
      <dgm:t>
        <a:bodyPr/>
        <a:lstStyle/>
        <a:p>
          <a:endParaRPr lang="en-US"/>
        </a:p>
      </dgm:t>
    </dgm:pt>
    <dgm:pt modelId="{4ED6CA08-3B7E-48C5-9978-BE91831F6FE8}">
      <dgm:prSet/>
      <dgm:spPr/>
      <dgm:t>
        <a:bodyPr/>
        <a:lstStyle/>
        <a:p>
          <a:r>
            <a:rPr lang="en-US" b="0" i="0" dirty="0"/>
            <a:t>Python provides interfaces to all major commercial </a:t>
          </a:r>
          <a:r>
            <a:rPr lang="en-US" b="0" i="0" dirty="0">
              <a:solidFill>
                <a:srgbClr val="FF0000"/>
              </a:solidFill>
            </a:rPr>
            <a:t>databases</a:t>
          </a:r>
          <a:r>
            <a:rPr lang="en-US" b="0" i="0" dirty="0"/>
            <a:t>.</a:t>
          </a:r>
        </a:p>
      </dgm:t>
    </dgm:pt>
    <dgm:pt modelId="{DF39D7D1-7953-487D-BC36-CC1B3EFCFB66}" type="parTrans" cxnId="{DCA993BB-5750-46F3-B1F6-D7539ED53999}">
      <dgm:prSet/>
      <dgm:spPr/>
      <dgm:t>
        <a:bodyPr/>
        <a:lstStyle/>
        <a:p>
          <a:endParaRPr lang="en-US"/>
        </a:p>
      </dgm:t>
    </dgm:pt>
    <dgm:pt modelId="{EECD72ED-765C-4ECD-8EF9-14195229451F}" type="sibTrans" cxnId="{DCA993BB-5750-46F3-B1F6-D7539ED53999}">
      <dgm:prSet/>
      <dgm:spPr/>
      <dgm:t>
        <a:bodyPr/>
        <a:lstStyle/>
        <a:p>
          <a:endParaRPr lang="en-US"/>
        </a:p>
      </dgm:t>
    </dgm:pt>
    <dgm:pt modelId="{8DD6203C-ECE7-45D0-BC90-C5DCA5C6548C}">
      <dgm:prSet/>
      <dgm:spPr/>
      <dgm:t>
        <a:bodyPr/>
        <a:lstStyle/>
        <a:p>
          <a:r>
            <a:rPr lang="en-US" b="0" i="0" dirty="0"/>
            <a:t>Python supports </a:t>
          </a:r>
          <a:r>
            <a:rPr lang="en-US" b="0" i="0" dirty="0">
              <a:solidFill>
                <a:srgbClr val="FF0000"/>
              </a:solidFill>
            </a:rPr>
            <a:t>GUI applications </a:t>
          </a:r>
          <a:r>
            <a:rPr lang="en-US" b="0" i="0" dirty="0"/>
            <a:t>that can be created and ported to many system calls, libraries and windows systems, such as Windows MFC, Macintosh, and the X Window system of Unix.</a:t>
          </a:r>
        </a:p>
      </dgm:t>
    </dgm:pt>
    <dgm:pt modelId="{38079F61-6948-4D9B-8F2B-9B4AA406E2B7}" type="parTrans" cxnId="{8C9CB989-71AD-441F-8C4F-982A65B74FFA}">
      <dgm:prSet/>
      <dgm:spPr/>
      <dgm:t>
        <a:bodyPr/>
        <a:lstStyle/>
        <a:p>
          <a:endParaRPr lang="en-US"/>
        </a:p>
      </dgm:t>
    </dgm:pt>
    <dgm:pt modelId="{BF95CBBF-E00F-4B52-860A-C0777D156E07}" type="sibTrans" cxnId="{8C9CB989-71AD-441F-8C4F-982A65B74FFA}">
      <dgm:prSet/>
      <dgm:spPr/>
      <dgm:t>
        <a:bodyPr/>
        <a:lstStyle/>
        <a:p>
          <a:endParaRPr lang="en-US"/>
        </a:p>
      </dgm:t>
    </dgm:pt>
    <dgm:pt modelId="{26A1D931-CBAC-4333-BC5B-D1E88B178195}">
      <dgm:prSet/>
      <dgm:spPr/>
      <dgm:t>
        <a:bodyPr/>
        <a:lstStyle/>
        <a:p>
          <a:r>
            <a:rPr lang="en-US" b="0" i="0" dirty="0"/>
            <a:t>Python provides a better structure and support for large programs than </a:t>
          </a:r>
          <a:r>
            <a:rPr lang="en-US" b="0" i="0" dirty="0">
              <a:solidFill>
                <a:srgbClr val="FF0000"/>
              </a:solidFill>
            </a:rPr>
            <a:t>shell scripting</a:t>
          </a:r>
          <a:r>
            <a:rPr lang="en-US" b="0" i="0" dirty="0"/>
            <a:t>.</a:t>
          </a:r>
        </a:p>
      </dgm:t>
    </dgm:pt>
    <dgm:pt modelId="{3A96A38B-9EAC-4DF1-BE3B-148AC182395B}" type="parTrans" cxnId="{905CAB7C-C617-4831-A32A-AB274DB1BAE4}">
      <dgm:prSet/>
      <dgm:spPr/>
      <dgm:t>
        <a:bodyPr/>
        <a:lstStyle/>
        <a:p>
          <a:endParaRPr lang="en-US"/>
        </a:p>
      </dgm:t>
    </dgm:pt>
    <dgm:pt modelId="{620F001D-7E97-4BD3-9735-77A9032882D1}" type="sibTrans" cxnId="{905CAB7C-C617-4831-A32A-AB274DB1BAE4}">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5">
        <dgm:presLayoutVars>
          <dgm:chMax val="0"/>
          <dgm:bulletEnabled val="1"/>
        </dgm:presLayoutVars>
      </dgm:prSet>
      <dgm:spPr/>
    </dgm:pt>
    <dgm:pt modelId="{87DCE046-34FC-46CD-8653-51A3F88BDDC1}" type="pres">
      <dgm:prSet presAssocID="{2CBB1260-D8FE-49D1-91F8-2368D4BF3AA4}" presName="childText" presStyleLbl="revTx" presStyleIdx="0" presStyleCnt="5">
        <dgm:presLayoutVars>
          <dgm:bulletEnabled val="1"/>
        </dgm:presLayoutVars>
      </dgm:prSet>
      <dgm:spPr/>
    </dgm:pt>
    <dgm:pt modelId="{6551446E-13BB-4A03-B0D3-A89F67F243FF}" type="pres">
      <dgm:prSet presAssocID="{62A02D19-8584-4BF2-982A-3A3F6EA3D17A}" presName="parentText" presStyleLbl="node1" presStyleIdx="1" presStyleCnt="5">
        <dgm:presLayoutVars>
          <dgm:chMax val="0"/>
          <dgm:bulletEnabled val="1"/>
        </dgm:presLayoutVars>
      </dgm:prSet>
      <dgm:spPr/>
    </dgm:pt>
    <dgm:pt modelId="{A0C9D9E9-676F-4CF7-B099-B2158EB84367}" type="pres">
      <dgm:prSet presAssocID="{62A02D19-8584-4BF2-982A-3A3F6EA3D17A}" presName="childText" presStyleLbl="revTx" presStyleIdx="1" presStyleCnt="5">
        <dgm:presLayoutVars>
          <dgm:bulletEnabled val="1"/>
        </dgm:presLayoutVars>
      </dgm:prSet>
      <dgm:spPr/>
    </dgm:pt>
    <dgm:pt modelId="{FEDE84CA-23F3-4202-93EA-ABFBCDEA862A}" type="pres">
      <dgm:prSet presAssocID="{DC89E7D0-CFA5-4D2F-8004-199DA5E51B6F}" presName="parentText" presStyleLbl="node1" presStyleIdx="2" presStyleCnt="5">
        <dgm:presLayoutVars>
          <dgm:chMax val="0"/>
          <dgm:bulletEnabled val="1"/>
        </dgm:presLayoutVars>
      </dgm:prSet>
      <dgm:spPr/>
    </dgm:pt>
    <dgm:pt modelId="{BE403CF4-E1DF-4D94-A48B-0536972E24D4}" type="pres">
      <dgm:prSet presAssocID="{DC89E7D0-CFA5-4D2F-8004-199DA5E51B6F}" presName="childText" presStyleLbl="revTx" presStyleIdx="2" presStyleCnt="5">
        <dgm:presLayoutVars>
          <dgm:bulletEnabled val="1"/>
        </dgm:presLayoutVars>
      </dgm:prSet>
      <dgm:spPr/>
    </dgm:pt>
    <dgm:pt modelId="{73C41DA6-1874-4838-BC45-9BF67EBB9133}" type="pres">
      <dgm:prSet presAssocID="{6DCAF0A4-DA19-4985-AF5D-AEC97E8604C8}" presName="parentText" presStyleLbl="node1" presStyleIdx="3" presStyleCnt="5">
        <dgm:presLayoutVars>
          <dgm:chMax val="0"/>
          <dgm:bulletEnabled val="1"/>
        </dgm:presLayoutVars>
      </dgm:prSet>
      <dgm:spPr/>
    </dgm:pt>
    <dgm:pt modelId="{007E17F3-AB40-4A3F-84A1-C0A8AF4E9E71}" type="pres">
      <dgm:prSet presAssocID="{6DCAF0A4-DA19-4985-AF5D-AEC97E8604C8}" presName="childText" presStyleLbl="revTx" presStyleIdx="3" presStyleCnt="5">
        <dgm:presLayoutVars>
          <dgm:bulletEnabled val="1"/>
        </dgm:presLayoutVars>
      </dgm:prSet>
      <dgm:spPr/>
    </dgm:pt>
    <dgm:pt modelId="{90ACD8D2-D568-4DE2-8751-836EB8EDA3EC}" type="pres">
      <dgm:prSet presAssocID="{C3F6BBE4-95F7-4AF1-A040-FE9135FE698F}" presName="parentText" presStyleLbl="node1" presStyleIdx="4" presStyleCnt="5">
        <dgm:presLayoutVars>
          <dgm:chMax val="0"/>
          <dgm:bulletEnabled val="1"/>
        </dgm:presLayoutVars>
      </dgm:prSet>
      <dgm:spPr/>
    </dgm:pt>
    <dgm:pt modelId="{9B5FC27B-7F1A-438F-B427-F69CD1CAA53C}" type="pres">
      <dgm:prSet presAssocID="{C3F6BBE4-95F7-4AF1-A040-FE9135FE698F}" presName="childText" presStyleLbl="revTx" presStyleIdx="4" presStyleCnt="5">
        <dgm:presLayoutVars>
          <dgm:bulletEnabled val="1"/>
        </dgm:presLayoutVars>
      </dgm:prSet>
      <dgm:spPr/>
    </dgm:pt>
  </dgm:ptLst>
  <dgm:cxnLst>
    <dgm:cxn modelId="{3A4E0C03-6CF8-4DDC-AEEB-910712D0C66B}" srcId="{90119837-5B71-4D44-BB01-DB0B084933C8}" destId="{6DCAF0A4-DA19-4985-AF5D-AEC97E8604C8}" srcOrd="3" destOrd="0" parTransId="{5DDB2E62-F4F8-48FE-8A33-7395833E1F4C}" sibTransId="{4AAA00D2-0FF0-4C8C-B76C-94D72B085352}"/>
    <dgm:cxn modelId="{D200C106-50BF-4215-B033-E5D783B26793}" type="presOf" srcId="{90119837-5B71-4D44-BB01-DB0B084933C8}" destId="{ED5DCCC5-BCA8-4491-AA37-BAF153ECA184}" srcOrd="0" destOrd="0" presId="urn:microsoft.com/office/officeart/2005/8/layout/vList2"/>
    <dgm:cxn modelId="{5D969E15-8818-4FE1-A793-D9559FA6709C}" type="presOf" srcId="{2CBB1260-D8FE-49D1-91F8-2368D4BF3AA4}" destId="{0F85B9CE-83AF-4C2C-A715-EB76C089A2C7}" srcOrd="0" destOrd="0" presId="urn:microsoft.com/office/officeart/2005/8/layout/vList2"/>
    <dgm:cxn modelId="{B10FF521-8E36-4F15-9804-673A8A2FE7AB}" type="presOf" srcId="{6DCAF0A4-DA19-4985-AF5D-AEC97E8604C8}" destId="{73C41DA6-1874-4838-BC45-9BF67EBB9133}" srcOrd="0" destOrd="0" presId="urn:microsoft.com/office/officeart/2005/8/layout/vList2"/>
    <dgm:cxn modelId="{387DC638-4F71-497F-BCB8-55532917463F}" srcId="{62A02D19-8584-4BF2-982A-3A3F6EA3D17A}" destId="{303C4CFE-FC65-435C-AD02-D42301AFF680}" srcOrd="1" destOrd="0" parTransId="{813F4104-7778-44C2-AD0C-5DA69918ABE3}" sibTransId="{C1C879BF-4A9E-434B-9A6F-CAB6EDF74A91}"/>
    <dgm:cxn modelId="{F4252A40-6857-447E-A892-F4D6F148A93E}" type="presOf" srcId="{4ED6CA08-3B7E-48C5-9978-BE91831F6FE8}" destId="{BE403CF4-E1DF-4D94-A48B-0536972E24D4}" srcOrd="0" destOrd="0" presId="urn:microsoft.com/office/officeart/2005/8/layout/vList2"/>
    <dgm:cxn modelId="{EA27965F-AA9A-4233-AC08-CEF1164C75B2}" type="presOf" srcId="{8FBFB4FF-BC30-43AB-96C2-7DFEC7631A03}" destId="{87DCE046-34FC-46CD-8653-51A3F88BDDC1}" srcOrd="0" destOrd="0" presId="urn:microsoft.com/office/officeart/2005/8/layout/vList2"/>
    <dgm:cxn modelId="{00976F42-EC63-44AE-A240-92F18E43C4AB}" srcId="{90119837-5B71-4D44-BB01-DB0B084933C8}" destId="{C3F6BBE4-95F7-4AF1-A040-FE9135FE698F}" srcOrd="4" destOrd="0" parTransId="{DAC71962-01AD-4BA5-AA3E-C04B666C3DC8}" sibTransId="{95E30029-C986-47A1-AB16-7097A8FE9871}"/>
    <dgm:cxn modelId="{4874436B-9762-4056-907F-AEFA43AD3F42}" type="presOf" srcId="{8DD6203C-ECE7-45D0-BC90-C5DCA5C6548C}" destId="{007E17F3-AB40-4A3F-84A1-C0A8AF4E9E71}" srcOrd="0" destOrd="0" presId="urn:microsoft.com/office/officeart/2005/8/layout/vList2"/>
    <dgm:cxn modelId="{1DD8566C-382C-4F6A-941A-EC147B0C9CE9}" srcId="{90119837-5B71-4D44-BB01-DB0B084933C8}" destId="{DC89E7D0-CFA5-4D2F-8004-199DA5E51B6F}" srcOrd="2" destOrd="0" parTransId="{597C4DD6-D8A0-4916-AFAB-719CECB074E2}" sibTransId="{D42F3ABE-2457-4872-A9EA-9B25495F61A8}"/>
    <dgm:cxn modelId="{0DB3E570-BDB8-4B04-A79F-37198E94E3A3}" srcId="{62A02D19-8584-4BF2-982A-3A3F6EA3D17A}" destId="{A28B4F07-0671-45BF-B8C6-527539110A34}" srcOrd="0" destOrd="0" parTransId="{09035545-FF53-4DED-BB7B-B9448233D8E3}" sibTransId="{FB2256A3-D659-482B-914C-C14A2848CB86}"/>
    <dgm:cxn modelId="{905CAB7C-C617-4831-A32A-AB274DB1BAE4}" srcId="{C3F6BBE4-95F7-4AF1-A040-FE9135FE698F}" destId="{26A1D931-CBAC-4333-BC5B-D1E88B178195}" srcOrd="0" destOrd="0" parTransId="{3A96A38B-9EAC-4DF1-BE3B-148AC182395B}" sibTransId="{620F001D-7E97-4BD3-9735-77A9032882D1}"/>
    <dgm:cxn modelId="{8C9CB989-71AD-441F-8C4F-982A65B74FFA}" srcId="{6DCAF0A4-DA19-4985-AF5D-AEC97E8604C8}" destId="{8DD6203C-ECE7-45D0-BC90-C5DCA5C6548C}" srcOrd="0" destOrd="0" parTransId="{38079F61-6948-4D9B-8F2B-9B4AA406E2B7}" sibTransId="{BF95CBBF-E00F-4B52-860A-C0777D156E07}"/>
    <dgm:cxn modelId="{5A7D838F-2C5D-4BA1-BAC5-25EB5729A119}" type="presOf" srcId="{62A02D19-8584-4BF2-982A-3A3F6EA3D17A}" destId="{6551446E-13BB-4A03-B0D3-A89F67F243FF}" srcOrd="0" destOrd="0" presId="urn:microsoft.com/office/officeart/2005/8/layout/vList2"/>
    <dgm:cxn modelId="{D1D22E9E-84AA-41B5-8BF0-C964A95298DC}" type="presOf" srcId="{303C4CFE-FC65-435C-AD02-D42301AFF680}" destId="{A0C9D9E9-676F-4CF7-B099-B2158EB84367}" srcOrd="0" destOrd="1" presId="urn:microsoft.com/office/officeart/2005/8/layout/vList2"/>
    <dgm:cxn modelId="{9BA4D39F-0E42-4E91-8B1E-725B0361EF81}" type="presOf" srcId="{DC89E7D0-CFA5-4D2F-8004-199DA5E51B6F}" destId="{FEDE84CA-23F3-4202-93EA-ABFBCDEA862A}" srcOrd="0" destOrd="0" presId="urn:microsoft.com/office/officeart/2005/8/layout/vList2"/>
    <dgm:cxn modelId="{DCA993BB-5750-46F3-B1F6-D7539ED53999}" srcId="{DC89E7D0-CFA5-4D2F-8004-199DA5E51B6F}" destId="{4ED6CA08-3B7E-48C5-9978-BE91831F6FE8}" srcOrd="0" destOrd="0" parTransId="{DF39D7D1-7953-487D-BC36-CC1B3EFCFB66}" sibTransId="{EECD72ED-765C-4ECD-8EF9-14195229451F}"/>
    <dgm:cxn modelId="{0A96E1D0-6F53-4520-9536-1F4BF1292295}" srcId="{90119837-5B71-4D44-BB01-DB0B084933C8}" destId="{62A02D19-8584-4BF2-982A-3A3F6EA3D17A}" srcOrd="1" destOrd="0" parTransId="{612FAF10-1679-44A0-9060-1FA8EFBC80AD}" sibTransId="{DAA20457-16AC-4268-B3ED-7A4814275D17}"/>
    <dgm:cxn modelId="{49950ED4-03CB-457A-A144-3D137CE042E3}" type="presOf" srcId="{C3F6BBE4-95F7-4AF1-A040-FE9135FE698F}" destId="{90ACD8D2-D568-4DE2-8751-836EB8EDA3EC}" srcOrd="0" destOrd="0" presId="urn:microsoft.com/office/officeart/2005/8/layout/vList2"/>
    <dgm:cxn modelId="{B7AF53D6-A3DF-47ED-8E47-6D5ACB0982D1}" srcId="{90119837-5B71-4D44-BB01-DB0B084933C8}" destId="{2CBB1260-D8FE-49D1-91F8-2368D4BF3AA4}" srcOrd="0" destOrd="0" parTransId="{DC6A60F1-7249-49B2-867A-B2C79A82B20E}" sibTransId="{61B7A06B-26C0-4F01-9536-9C02714BEED7}"/>
    <dgm:cxn modelId="{C402E8DB-AE61-4923-A7D1-9B1AD4B78BEF}" type="presOf" srcId="{26A1D931-CBAC-4333-BC5B-D1E88B178195}" destId="{9B5FC27B-7F1A-438F-B427-F69CD1CAA53C}" srcOrd="0" destOrd="0" presId="urn:microsoft.com/office/officeart/2005/8/layout/vList2"/>
    <dgm:cxn modelId="{493C5BEE-52BA-4589-A9E1-5B5D8308FFF0}" type="presOf" srcId="{A28B4F07-0671-45BF-B8C6-527539110A34}" destId="{A0C9D9E9-676F-4CF7-B099-B2158EB84367}" srcOrd="0" destOrd="0" presId="urn:microsoft.com/office/officeart/2005/8/layout/vList2"/>
    <dgm:cxn modelId="{42E6EDFD-11BB-4734-A879-FA495C19A66D}" srcId="{2CBB1260-D8FE-49D1-91F8-2368D4BF3AA4}" destId="{8FBFB4FF-BC30-43AB-96C2-7DFEC7631A03}" srcOrd="0" destOrd="0" parTransId="{A24266C2-2075-4E20-9EE2-FBEF294BE0B4}" sibTransId="{C0828A11-C5FB-4787-90E0-BB90400022AB}"/>
    <dgm:cxn modelId="{EDDBF3F1-282E-4929-A728-E42991F92EC5}" type="presParOf" srcId="{ED5DCCC5-BCA8-4491-AA37-BAF153ECA184}" destId="{0F85B9CE-83AF-4C2C-A715-EB76C089A2C7}" srcOrd="0" destOrd="0" presId="urn:microsoft.com/office/officeart/2005/8/layout/vList2"/>
    <dgm:cxn modelId="{35C8F385-0F07-4DAF-8D31-7DBAEB3E05CC}" type="presParOf" srcId="{ED5DCCC5-BCA8-4491-AA37-BAF153ECA184}" destId="{87DCE046-34FC-46CD-8653-51A3F88BDDC1}" srcOrd="1" destOrd="0" presId="urn:microsoft.com/office/officeart/2005/8/layout/vList2"/>
    <dgm:cxn modelId="{21AC9F88-A406-48D9-984D-2F2D5E1F9A28}" type="presParOf" srcId="{ED5DCCC5-BCA8-4491-AA37-BAF153ECA184}" destId="{6551446E-13BB-4A03-B0D3-A89F67F243FF}" srcOrd="2" destOrd="0" presId="urn:microsoft.com/office/officeart/2005/8/layout/vList2"/>
    <dgm:cxn modelId="{D49B4411-727B-40DB-ACEE-95FE7AE40F96}" type="presParOf" srcId="{ED5DCCC5-BCA8-4491-AA37-BAF153ECA184}" destId="{A0C9D9E9-676F-4CF7-B099-B2158EB84367}" srcOrd="3" destOrd="0" presId="urn:microsoft.com/office/officeart/2005/8/layout/vList2"/>
    <dgm:cxn modelId="{BD7DC7B3-6C99-4110-B653-9EB47BD5A573}" type="presParOf" srcId="{ED5DCCC5-BCA8-4491-AA37-BAF153ECA184}" destId="{FEDE84CA-23F3-4202-93EA-ABFBCDEA862A}" srcOrd="4" destOrd="0" presId="urn:microsoft.com/office/officeart/2005/8/layout/vList2"/>
    <dgm:cxn modelId="{BEA3A4E2-2278-48C9-ADEA-071FA339C1DB}" type="presParOf" srcId="{ED5DCCC5-BCA8-4491-AA37-BAF153ECA184}" destId="{BE403CF4-E1DF-4D94-A48B-0536972E24D4}" srcOrd="5" destOrd="0" presId="urn:microsoft.com/office/officeart/2005/8/layout/vList2"/>
    <dgm:cxn modelId="{E10EFF36-055E-4CC8-92A8-7C75AD677046}" type="presParOf" srcId="{ED5DCCC5-BCA8-4491-AA37-BAF153ECA184}" destId="{73C41DA6-1874-4838-BC45-9BF67EBB9133}" srcOrd="6" destOrd="0" presId="urn:microsoft.com/office/officeart/2005/8/layout/vList2"/>
    <dgm:cxn modelId="{0B9570BC-69A3-4D4E-957C-3058D66ABFC5}" type="presParOf" srcId="{ED5DCCC5-BCA8-4491-AA37-BAF153ECA184}" destId="{007E17F3-AB40-4A3F-84A1-C0A8AF4E9E71}" srcOrd="7" destOrd="0" presId="urn:microsoft.com/office/officeart/2005/8/layout/vList2"/>
    <dgm:cxn modelId="{609D99A0-C1F1-4EA8-A5BE-25904EB675EF}" type="presParOf" srcId="{ED5DCCC5-BCA8-4491-AA37-BAF153ECA184}" destId="{90ACD8D2-D568-4DE2-8751-836EB8EDA3EC}" srcOrd="8" destOrd="0" presId="urn:microsoft.com/office/officeart/2005/8/layout/vList2"/>
    <dgm:cxn modelId="{6258A06E-5F1D-4035-9648-925CC35EE004}" type="presParOf" srcId="{ED5DCCC5-BCA8-4491-AA37-BAF153ECA184}" destId="{9B5FC27B-7F1A-438F-B427-F69CD1CAA53C}"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r>
            <a:rPr lang="en-US" b="0" i="0" dirty="0"/>
            <a:t>It supports functional and structured programming methods as well as </a:t>
          </a:r>
          <a:r>
            <a:rPr lang="en-US" b="0" i="0" dirty="0">
              <a:solidFill>
                <a:srgbClr val="FF0000"/>
              </a:solidFill>
            </a:rPr>
            <a:t>OOP</a:t>
          </a:r>
          <a:r>
            <a:rPr lang="en-US" b="0" i="0" dirty="0"/>
            <a:t>.</a:t>
          </a:r>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AD7127E3-81F4-4AF8-A023-B1245EF68AD8}">
      <dgm:prSet/>
      <dgm:spPr/>
      <dgm:t>
        <a:bodyPr/>
        <a:lstStyle/>
        <a:p>
          <a:r>
            <a:rPr lang="en-US" b="0" i="0" dirty="0"/>
            <a:t>It can be used as a </a:t>
          </a:r>
          <a:r>
            <a:rPr lang="en-US" b="0" i="0" dirty="0">
              <a:solidFill>
                <a:srgbClr val="FF0000"/>
              </a:solidFill>
            </a:rPr>
            <a:t>scripting</a:t>
          </a:r>
          <a:r>
            <a:rPr lang="en-US" b="0" i="0" dirty="0"/>
            <a:t> language or can be compiled to byte-code for building large applications.</a:t>
          </a:r>
        </a:p>
      </dgm:t>
    </dgm:pt>
    <dgm:pt modelId="{057201FC-CF7F-4280-ACF3-2A21B9C08E58}" type="parTrans" cxnId="{B55F0665-467F-4EAA-9CDB-667E8EE43B31}">
      <dgm:prSet/>
      <dgm:spPr/>
      <dgm:t>
        <a:bodyPr/>
        <a:lstStyle/>
        <a:p>
          <a:endParaRPr lang="en-US"/>
        </a:p>
      </dgm:t>
    </dgm:pt>
    <dgm:pt modelId="{2964739D-5E00-4667-9533-8B3242DEC806}" type="sibTrans" cxnId="{B55F0665-467F-4EAA-9CDB-667E8EE43B31}">
      <dgm:prSet/>
      <dgm:spPr/>
      <dgm:t>
        <a:bodyPr/>
        <a:lstStyle/>
        <a:p>
          <a:endParaRPr lang="en-US"/>
        </a:p>
      </dgm:t>
    </dgm:pt>
    <dgm:pt modelId="{2100D710-3A5E-4C86-9E90-4F27CACA0245}">
      <dgm:prSet/>
      <dgm:spPr/>
      <dgm:t>
        <a:bodyPr/>
        <a:lstStyle/>
        <a:p>
          <a:r>
            <a:rPr lang="en-US" b="0" i="0" dirty="0"/>
            <a:t>It provides very </a:t>
          </a:r>
          <a:r>
            <a:rPr lang="en-US" b="0" i="0" dirty="0">
              <a:solidFill>
                <a:srgbClr val="FF0000"/>
              </a:solidFill>
            </a:rPr>
            <a:t>high-level dynamic data types </a:t>
          </a:r>
          <a:r>
            <a:rPr lang="en-US" b="0" i="0" dirty="0"/>
            <a:t>and supports dynamic type checking.</a:t>
          </a:r>
        </a:p>
      </dgm:t>
    </dgm:pt>
    <dgm:pt modelId="{533D3C2B-7D03-48BE-B59B-E30CD6E53574}" type="parTrans" cxnId="{958F1903-3182-4219-A133-04FD4453D678}">
      <dgm:prSet/>
      <dgm:spPr/>
      <dgm:t>
        <a:bodyPr/>
        <a:lstStyle/>
        <a:p>
          <a:endParaRPr lang="en-US"/>
        </a:p>
      </dgm:t>
    </dgm:pt>
    <dgm:pt modelId="{FC4FF797-A45E-4B2E-B63B-1DA3E47BC583}" type="sibTrans" cxnId="{958F1903-3182-4219-A133-04FD4453D678}">
      <dgm:prSet/>
      <dgm:spPr/>
      <dgm:t>
        <a:bodyPr/>
        <a:lstStyle/>
        <a:p>
          <a:endParaRPr lang="en-US"/>
        </a:p>
      </dgm:t>
    </dgm:pt>
    <dgm:pt modelId="{B3BCD3D5-B42E-4BD5-AA7D-8B8B6FA3604D}">
      <dgm:prSet/>
      <dgm:spPr/>
      <dgm:t>
        <a:bodyPr/>
        <a:lstStyle/>
        <a:p>
          <a:r>
            <a:rPr lang="en-US" b="0" i="0" dirty="0"/>
            <a:t>It supports </a:t>
          </a:r>
          <a:r>
            <a:rPr lang="en-US" b="0" i="0" dirty="0">
              <a:solidFill>
                <a:srgbClr val="FF0000"/>
              </a:solidFill>
            </a:rPr>
            <a:t>automatic garbage collection</a:t>
          </a:r>
          <a:r>
            <a:rPr lang="en-US" b="0" i="0" dirty="0"/>
            <a:t>.</a:t>
          </a:r>
        </a:p>
      </dgm:t>
    </dgm:pt>
    <dgm:pt modelId="{93A8708D-D8DA-4EF1-8B8F-B777D2C7DEA7}" type="parTrans" cxnId="{4D90507F-3DCD-4672-9880-D8326C311909}">
      <dgm:prSet/>
      <dgm:spPr/>
      <dgm:t>
        <a:bodyPr/>
        <a:lstStyle/>
        <a:p>
          <a:endParaRPr lang="en-US"/>
        </a:p>
      </dgm:t>
    </dgm:pt>
    <dgm:pt modelId="{8AFA2A5D-723D-471B-B3C7-BCA227657001}" type="sibTrans" cxnId="{4D90507F-3DCD-4672-9880-D8326C311909}">
      <dgm:prSet/>
      <dgm:spPr/>
      <dgm:t>
        <a:bodyPr/>
        <a:lstStyle/>
        <a:p>
          <a:endParaRPr lang="en-US"/>
        </a:p>
      </dgm:t>
    </dgm:pt>
    <dgm:pt modelId="{593C928A-FDBA-483B-AC33-8C076C660307}">
      <dgm:prSet/>
      <dgm:spPr/>
      <dgm:t>
        <a:bodyPr/>
        <a:lstStyle/>
        <a:p>
          <a:r>
            <a:rPr lang="en-US" b="0" i="0" dirty="0"/>
            <a:t>It can be easily </a:t>
          </a:r>
          <a:r>
            <a:rPr lang="en-US" b="0" i="0" dirty="0">
              <a:solidFill>
                <a:srgbClr val="FF0000"/>
              </a:solidFill>
            </a:rPr>
            <a:t>integrated</a:t>
          </a:r>
          <a:r>
            <a:rPr lang="en-US" b="0" i="0" dirty="0"/>
            <a:t> with C, C++, COM, ActiveX, CORBA, and Java.</a:t>
          </a:r>
        </a:p>
      </dgm:t>
    </dgm:pt>
    <dgm:pt modelId="{ADF1BA1F-AFC2-4056-A7C3-0E9C33036B08}" type="parTrans" cxnId="{0A9D7AD3-0A98-4769-B467-D56A5E81BE0A}">
      <dgm:prSet/>
      <dgm:spPr/>
      <dgm:t>
        <a:bodyPr/>
        <a:lstStyle/>
        <a:p>
          <a:endParaRPr lang="en-US"/>
        </a:p>
      </dgm:t>
    </dgm:pt>
    <dgm:pt modelId="{1682CC4C-A9AC-49A1-96B6-395B4C33F921}" type="sibTrans" cxnId="{0A9D7AD3-0A98-4769-B467-D56A5E81BE0A}">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5">
        <dgm:presLayoutVars>
          <dgm:chMax val="0"/>
          <dgm:bulletEnabled val="1"/>
        </dgm:presLayoutVars>
      </dgm:prSet>
      <dgm:spPr/>
    </dgm:pt>
    <dgm:pt modelId="{F6508E13-5705-4CE8-983B-76CB0A025C40}" type="pres">
      <dgm:prSet presAssocID="{61B7A06B-26C0-4F01-9536-9C02714BEED7}" presName="spacer" presStyleCnt="0"/>
      <dgm:spPr/>
    </dgm:pt>
    <dgm:pt modelId="{652F3E0B-3587-4FBD-A8E5-59C5F76B620F}" type="pres">
      <dgm:prSet presAssocID="{AD7127E3-81F4-4AF8-A023-B1245EF68AD8}" presName="parentText" presStyleLbl="node1" presStyleIdx="1" presStyleCnt="5">
        <dgm:presLayoutVars>
          <dgm:chMax val="0"/>
          <dgm:bulletEnabled val="1"/>
        </dgm:presLayoutVars>
      </dgm:prSet>
      <dgm:spPr/>
    </dgm:pt>
    <dgm:pt modelId="{F9894142-3B94-4A18-B934-3B9A9134A797}" type="pres">
      <dgm:prSet presAssocID="{2964739D-5E00-4667-9533-8B3242DEC806}" presName="spacer" presStyleCnt="0"/>
      <dgm:spPr/>
    </dgm:pt>
    <dgm:pt modelId="{808A2D60-B155-46E0-AFA2-8FE0A30D1044}" type="pres">
      <dgm:prSet presAssocID="{2100D710-3A5E-4C86-9E90-4F27CACA0245}" presName="parentText" presStyleLbl="node1" presStyleIdx="2" presStyleCnt="5">
        <dgm:presLayoutVars>
          <dgm:chMax val="0"/>
          <dgm:bulletEnabled val="1"/>
        </dgm:presLayoutVars>
      </dgm:prSet>
      <dgm:spPr/>
    </dgm:pt>
    <dgm:pt modelId="{D90AC2EA-7FC0-4903-B4BD-191F9599B9D7}" type="pres">
      <dgm:prSet presAssocID="{FC4FF797-A45E-4B2E-B63B-1DA3E47BC583}" presName="spacer" presStyleCnt="0"/>
      <dgm:spPr/>
    </dgm:pt>
    <dgm:pt modelId="{2DDE648B-FFD7-4B56-8888-CAEA215859BF}" type="pres">
      <dgm:prSet presAssocID="{B3BCD3D5-B42E-4BD5-AA7D-8B8B6FA3604D}" presName="parentText" presStyleLbl="node1" presStyleIdx="3" presStyleCnt="5">
        <dgm:presLayoutVars>
          <dgm:chMax val="0"/>
          <dgm:bulletEnabled val="1"/>
        </dgm:presLayoutVars>
      </dgm:prSet>
      <dgm:spPr/>
    </dgm:pt>
    <dgm:pt modelId="{80A11FCC-B815-4D49-9A37-ACC118F7325B}" type="pres">
      <dgm:prSet presAssocID="{8AFA2A5D-723D-471B-B3C7-BCA227657001}" presName="spacer" presStyleCnt="0"/>
      <dgm:spPr/>
    </dgm:pt>
    <dgm:pt modelId="{DC56AC0F-7F9A-48EB-9669-C7CE7FC61700}" type="pres">
      <dgm:prSet presAssocID="{593C928A-FDBA-483B-AC33-8C076C660307}" presName="parentText" presStyleLbl="node1" presStyleIdx="4" presStyleCnt="5">
        <dgm:presLayoutVars>
          <dgm:chMax val="0"/>
          <dgm:bulletEnabled val="1"/>
        </dgm:presLayoutVars>
      </dgm:prSet>
      <dgm:spPr/>
    </dgm:pt>
  </dgm:ptLst>
  <dgm:cxnLst>
    <dgm:cxn modelId="{958F1903-3182-4219-A133-04FD4453D678}" srcId="{90119837-5B71-4D44-BB01-DB0B084933C8}" destId="{2100D710-3A5E-4C86-9E90-4F27CACA0245}" srcOrd="2" destOrd="0" parTransId="{533D3C2B-7D03-48BE-B59B-E30CD6E53574}" sibTransId="{FC4FF797-A45E-4B2E-B63B-1DA3E47BC583}"/>
    <dgm:cxn modelId="{F1434F06-8D1E-4289-BA96-35503BDB4BE1}" type="presOf" srcId="{AD7127E3-81F4-4AF8-A023-B1245EF68AD8}" destId="{652F3E0B-3587-4FBD-A8E5-59C5F76B620F}" srcOrd="0" destOrd="0" presId="urn:microsoft.com/office/officeart/2005/8/layout/vList2"/>
    <dgm:cxn modelId="{B55F0665-467F-4EAA-9CDB-667E8EE43B31}" srcId="{90119837-5B71-4D44-BB01-DB0B084933C8}" destId="{AD7127E3-81F4-4AF8-A023-B1245EF68AD8}" srcOrd="1" destOrd="0" parTransId="{057201FC-CF7F-4280-ACF3-2A21B9C08E58}" sibTransId="{2964739D-5E00-4667-9533-8B3242DEC806}"/>
    <dgm:cxn modelId="{6667367E-D75F-426E-9615-2E3CD893D829}" type="presOf" srcId="{593C928A-FDBA-483B-AC33-8C076C660307}" destId="{DC56AC0F-7F9A-48EB-9669-C7CE7FC61700}" srcOrd="0" destOrd="0" presId="urn:microsoft.com/office/officeart/2005/8/layout/vList2"/>
    <dgm:cxn modelId="{4D90507F-3DCD-4672-9880-D8326C311909}" srcId="{90119837-5B71-4D44-BB01-DB0B084933C8}" destId="{B3BCD3D5-B42E-4BD5-AA7D-8B8B6FA3604D}" srcOrd="3" destOrd="0" parTransId="{93A8708D-D8DA-4EF1-8B8F-B777D2C7DEA7}" sibTransId="{8AFA2A5D-723D-471B-B3C7-BCA227657001}"/>
    <dgm:cxn modelId="{958115A3-0812-4D8E-A32C-6804E303F4FD}" type="presOf" srcId="{90119837-5B71-4D44-BB01-DB0B084933C8}" destId="{ED5DCCC5-BCA8-4491-AA37-BAF153ECA184}" srcOrd="0" destOrd="0" presId="urn:microsoft.com/office/officeart/2005/8/layout/vList2"/>
    <dgm:cxn modelId="{D0685ECF-B268-496E-9025-9DDFCF600231}" type="presOf" srcId="{2100D710-3A5E-4C86-9E90-4F27CACA0245}" destId="{808A2D60-B155-46E0-AFA2-8FE0A30D1044}" srcOrd="0" destOrd="0" presId="urn:microsoft.com/office/officeart/2005/8/layout/vList2"/>
    <dgm:cxn modelId="{0A9D7AD3-0A98-4769-B467-D56A5E81BE0A}" srcId="{90119837-5B71-4D44-BB01-DB0B084933C8}" destId="{593C928A-FDBA-483B-AC33-8C076C660307}" srcOrd="4" destOrd="0" parTransId="{ADF1BA1F-AFC2-4056-A7C3-0E9C33036B08}" sibTransId="{1682CC4C-A9AC-49A1-96B6-395B4C33F921}"/>
    <dgm:cxn modelId="{B7AF53D6-A3DF-47ED-8E47-6D5ACB0982D1}" srcId="{90119837-5B71-4D44-BB01-DB0B084933C8}" destId="{2CBB1260-D8FE-49D1-91F8-2368D4BF3AA4}" srcOrd="0" destOrd="0" parTransId="{DC6A60F1-7249-49B2-867A-B2C79A82B20E}" sibTransId="{61B7A06B-26C0-4F01-9536-9C02714BEED7}"/>
    <dgm:cxn modelId="{8C4F40DE-BEA5-4E9F-A1C9-8DC3548D5B4C}" type="presOf" srcId="{B3BCD3D5-B42E-4BD5-AA7D-8B8B6FA3604D}" destId="{2DDE648B-FFD7-4B56-8888-CAEA215859BF}" srcOrd="0" destOrd="0" presId="urn:microsoft.com/office/officeart/2005/8/layout/vList2"/>
    <dgm:cxn modelId="{2FE9E0E2-D791-4DEF-826C-6D98CF5BD156}" type="presOf" srcId="{2CBB1260-D8FE-49D1-91F8-2368D4BF3AA4}" destId="{0F85B9CE-83AF-4C2C-A715-EB76C089A2C7}" srcOrd="0" destOrd="0" presId="urn:microsoft.com/office/officeart/2005/8/layout/vList2"/>
    <dgm:cxn modelId="{60CEB2C1-7915-4CAE-BF80-C7987FF73F02}" type="presParOf" srcId="{ED5DCCC5-BCA8-4491-AA37-BAF153ECA184}" destId="{0F85B9CE-83AF-4C2C-A715-EB76C089A2C7}" srcOrd="0" destOrd="0" presId="urn:microsoft.com/office/officeart/2005/8/layout/vList2"/>
    <dgm:cxn modelId="{747B7160-2B5B-44EC-A9F6-93DF43DD84EB}" type="presParOf" srcId="{ED5DCCC5-BCA8-4491-AA37-BAF153ECA184}" destId="{F6508E13-5705-4CE8-983B-76CB0A025C40}" srcOrd="1" destOrd="0" presId="urn:microsoft.com/office/officeart/2005/8/layout/vList2"/>
    <dgm:cxn modelId="{B694F0C2-DC8B-4247-9ABC-DAFB56864525}" type="presParOf" srcId="{ED5DCCC5-BCA8-4491-AA37-BAF153ECA184}" destId="{652F3E0B-3587-4FBD-A8E5-59C5F76B620F}" srcOrd="2" destOrd="0" presId="urn:microsoft.com/office/officeart/2005/8/layout/vList2"/>
    <dgm:cxn modelId="{E9ECCAFD-A090-49D4-9896-284C844E74FA}" type="presParOf" srcId="{ED5DCCC5-BCA8-4491-AA37-BAF153ECA184}" destId="{F9894142-3B94-4A18-B934-3B9A9134A797}" srcOrd="3" destOrd="0" presId="urn:microsoft.com/office/officeart/2005/8/layout/vList2"/>
    <dgm:cxn modelId="{4B2F9EA6-0EF7-4405-A954-B9B6CEA190D9}" type="presParOf" srcId="{ED5DCCC5-BCA8-4491-AA37-BAF153ECA184}" destId="{808A2D60-B155-46E0-AFA2-8FE0A30D1044}" srcOrd="4" destOrd="0" presId="urn:microsoft.com/office/officeart/2005/8/layout/vList2"/>
    <dgm:cxn modelId="{73C846A0-BC59-49FE-AE9B-3BBD95B3CE2F}" type="presParOf" srcId="{ED5DCCC5-BCA8-4491-AA37-BAF153ECA184}" destId="{D90AC2EA-7FC0-4903-B4BD-191F9599B9D7}" srcOrd="5" destOrd="0" presId="urn:microsoft.com/office/officeart/2005/8/layout/vList2"/>
    <dgm:cxn modelId="{F9813064-CD48-46FA-BD40-7EED4096A1FE}" type="presParOf" srcId="{ED5DCCC5-BCA8-4491-AA37-BAF153ECA184}" destId="{2DDE648B-FFD7-4B56-8888-CAEA215859BF}" srcOrd="6" destOrd="0" presId="urn:microsoft.com/office/officeart/2005/8/layout/vList2"/>
    <dgm:cxn modelId="{DB18ECF0-30E8-4796-9CF9-F7ACE2712A11}" type="presParOf" srcId="{ED5DCCC5-BCA8-4491-AA37-BAF153ECA184}" destId="{80A11FCC-B815-4D49-9A37-ACC118F7325B}" srcOrd="7" destOrd="0" presId="urn:microsoft.com/office/officeart/2005/8/layout/vList2"/>
    <dgm:cxn modelId="{DDFDB3E7-C141-4374-BEEA-B3F405162434}" type="presParOf" srcId="{ED5DCCC5-BCA8-4491-AA37-BAF153ECA184}" destId="{DC56AC0F-7F9A-48EB-9669-C7CE7FC6170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pPr algn="ctr"/>
          <a:r>
            <a:rPr lang="en-US" b="0" i="0" dirty="0"/>
            <a:t>Identifier </a:t>
          </a:r>
        </a:p>
        <a:p>
          <a:pPr algn="ctr"/>
          <a:r>
            <a:rPr lang="en-US" b="0" i="0" dirty="0"/>
            <a:t>a name used to </a:t>
          </a:r>
          <a:r>
            <a:rPr lang="en-US" b="0" i="0" dirty="0">
              <a:solidFill>
                <a:srgbClr val="FF0000"/>
              </a:solidFill>
            </a:rPr>
            <a:t>identify</a:t>
          </a:r>
          <a:r>
            <a:rPr lang="en-US" b="0" i="0" dirty="0"/>
            <a:t> a variable, function, class, module or other object. </a:t>
          </a:r>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1">
        <dgm:presLayoutVars>
          <dgm:chMax val="0"/>
          <dgm:bulletEnabled val="1"/>
        </dgm:presLayoutVars>
      </dgm:prSet>
      <dgm:spPr/>
    </dgm:pt>
  </dgm:ptLst>
  <dgm:cxnLst>
    <dgm:cxn modelId="{740B203A-F786-43B4-AD13-FACAC4E0357C}" type="presOf" srcId="{2CBB1260-D8FE-49D1-91F8-2368D4BF3AA4}" destId="{0F85B9CE-83AF-4C2C-A715-EB76C089A2C7}" srcOrd="0" destOrd="0" presId="urn:microsoft.com/office/officeart/2005/8/layout/vList2"/>
    <dgm:cxn modelId="{B7AF53D6-A3DF-47ED-8E47-6D5ACB0982D1}" srcId="{90119837-5B71-4D44-BB01-DB0B084933C8}" destId="{2CBB1260-D8FE-49D1-91F8-2368D4BF3AA4}" srcOrd="0" destOrd="0" parTransId="{DC6A60F1-7249-49B2-867A-B2C79A82B20E}" sibTransId="{61B7A06B-26C0-4F01-9536-9C02714BEED7}"/>
    <dgm:cxn modelId="{CF0E81F9-0D83-4DC5-896B-60AFD7F22566}" type="presOf" srcId="{90119837-5B71-4D44-BB01-DB0B084933C8}" destId="{ED5DCCC5-BCA8-4491-AA37-BAF153ECA184}" srcOrd="0" destOrd="0" presId="urn:microsoft.com/office/officeart/2005/8/layout/vList2"/>
    <dgm:cxn modelId="{091E16BA-7AA6-434B-9571-65DEEB65E346}" type="presParOf" srcId="{ED5DCCC5-BCA8-4491-AA37-BAF153ECA184}" destId="{0F85B9CE-83AF-4C2C-A715-EB76C089A2C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r>
            <a:rPr lang="en-US" dirty="0"/>
            <a:t>Rules</a:t>
          </a:r>
          <a:endParaRPr lang="en-US" b="0" i="0" dirty="0"/>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C25923DC-185E-44A8-96DE-F793052FB1CF}">
      <dgm:prSet/>
      <dgm:spPr/>
      <dgm:t>
        <a:bodyPr/>
        <a:lstStyle/>
        <a:p>
          <a:r>
            <a:rPr lang="en-US" b="0" i="0" dirty="0"/>
            <a:t>Starts with a letter </a:t>
          </a:r>
          <a:r>
            <a:rPr lang="en-US" b="0" i="0" dirty="0">
              <a:solidFill>
                <a:srgbClr val="FF0000"/>
              </a:solidFill>
            </a:rPr>
            <a:t>A to Z </a:t>
          </a:r>
          <a:r>
            <a:rPr lang="en-US" b="0" i="0" dirty="0"/>
            <a:t>or </a:t>
          </a:r>
          <a:r>
            <a:rPr lang="en-US" b="0" i="0" dirty="0">
              <a:solidFill>
                <a:srgbClr val="FF0000"/>
              </a:solidFill>
            </a:rPr>
            <a:t>a to z </a:t>
          </a:r>
          <a:r>
            <a:rPr lang="en-US" b="0" i="0" dirty="0"/>
            <a:t>or an underscore (</a:t>
          </a:r>
          <a:r>
            <a:rPr lang="en-US" b="0" i="0" dirty="0">
              <a:solidFill>
                <a:srgbClr val="FF0000"/>
              </a:solidFill>
            </a:rPr>
            <a:t>_</a:t>
          </a:r>
          <a:r>
            <a:rPr lang="en-US" b="0" i="0" dirty="0"/>
            <a:t>) followed by zero or more letters, underscores and digits (</a:t>
          </a:r>
          <a:r>
            <a:rPr lang="en-US" b="0" i="0" dirty="0">
              <a:solidFill>
                <a:srgbClr val="FF0000"/>
              </a:solidFill>
            </a:rPr>
            <a:t>0 to 9</a:t>
          </a:r>
          <a:r>
            <a:rPr lang="en-US" b="0" i="0" dirty="0"/>
            <a:t>).</a:t>
          </a:r>
          <a:endParaRPr lang="en-US" dirty="0"/>
        </a:p>
      </dgm:t>
    </dgm:pt>
    <dgm:pt modelId="{3693861D-9F7D-426B-9293-266074474390}" type="parTrans" cxnId="{53102F5E-E873-4C07-AD62-E257086C5164}">
      <dgm:prSet/>
      <dgm:spPr/>
      <dgm:t>
        <a:bodyPr/>
        <a:lstStyle/>
        <a:p>
          <a:endParaRPr lang="en-US"/>
        </a:p>
      </dgm:t>
    </dgm:pt>
    <dgm:pt modelId="{449B214E-BBF1-4C93-A133-27C3EA38DDC2}" type="sibTrans" cxnId="{53102F5E-E873-4C07-AD62-E257086C5164}">
      <dgm:prSet/>
      <dgm:spPr/>
      <dgm:t>
        <a:bodyPr/>
        <a:lstStyle/>
        <a:p>
          <a:endParaRPr lang="en-US"/>
        </a:p>
      </dgm:t>
    </dgm:pt>
    <dgm:pt modelId="{8481EA5E-EA04-44DF-8ED8-4054B11F3235}">
      <dgm:prSet/>
      <dgm:spPr/>
      <dgm:t>
        <a:bodyPr/>
        <a:lstStyle/>
        <a:p>
          <a:r>
            <a:rPr lang="en-US" dirty="0">
              <a:solidFill>
                <a:srgbClr val="FF0000"/>
              </a:solidFill>
            </a:rPr>
            <a:t>Cannot use </a:t>
          </a:r>
          <a:r>
            <a:rPr lang="en-US" dirty="0"/>
            <a:t>a space, period (.), exclamation mark (!), or the special characters @, &amp;, $, # in the name.</a:t>
          </a:r>
        </a:p>
      </dgm:t>
    </dgm:pt>
    <dgm:pt modelId="{650C4633-2296-4DAC-A862-7BB8EEA69F93}" type="parTrans" cxnId="{A6929284-F03F-4375-A8FD-9FF8B57AF45E}">
      <dgm:prSet/>
      <dgm:spPr/>
      <dgm:t>
        <a:bodyPr/>
        <a:lstStyle/>
        <a:p>
          <a:endParaRPr lang="en-US"/>
        </a:p>
      </dgm:t>
    </dgm:pt>
    <dgm:pt modelId="{6D7A81AF-6D69-4DD8-B304-740EC79F0AEA}" type="sibTrans" cxnId="{A6929284-F03F-4375-A8FD-9FF8B57AF45E}">
      <dgm:prSet/>
      <dgm:spPr/>
      <dgm:t>
        <a:bodyPr/>
        <a:lstStyle/>
        <a:p>
          <a:endParaRPr lang="en-US"/>
        </a:p>
      </dgm:t>
    </dgm:pt>
    <dgm:pt modelId="{282148AB-A6E6-408B-ABD7-3CAE998D6035}">
      <dgm:prSet/>
      <dgm:spPr/>
      <dgm:t>
        <a:bodyPr/>
        <a:lstStyle/>
        <a:p>
          <a:r>
            <a:rPr lang="en-US" dirty="0"/>
            <a:t>Cannot exceed 255 characters in length.</a:t>
          </a:r>
        </a:p>
      </dgm:t>
    </dgm:pt>
    <dgm:pt modelId="{37FA8D7C-3C7C-47F4-BCD4-54DA11AA18C7}" type="parTrans" cxnId="{44BCCD10-3836-4DF3-ACF9-4F7863E45ACD}">
      <dgm:prSet/>
      <dgm:spPr/>
      <dgm:t>
        <a:bodyPr/>
        <a:lstStyle/>
        <a:p>
          <a:endParaRPr lang="en-US"/>
        </a:p>
      </dgm:t>
    </dgm:pt>
    <dgm:pt modelId="{AEDED434-2BAF-4B9D-97DD-E5FC964524D5}" type="sibTrans" cxnId="{44BCCD10-3836-4DF3-ACF9-4F7863E45ACD}">
      <dgm:prSet/>
      <dgm:spPr/>
      <dgm:t>
        <a:bodyPr/>
        <a:lstStyle/>
        <a:p>
          <a:endParaRPr lang="en-US"/>
        </a:p>
      </dgm:t>
    </dgm:pt>
    <dgm:pt modelId="{B1EF9595-972F-46D9-AB60-3CDE6DE4C48B}">
      <dgm:prSet/>
      <dgm:spPr/>
      <dgm:t>
        <a:bodyPr/>
        <a:lstStyle/>
        <a:p>
          <a:r>
            <a:rPr lang="en-US" b="0" i="0" dirty="0">
              <a:solidFill>
                <a:srgbClr val="FF0000"/>
              </a:solidFill>
            </a:rPr>
            <a:t>Case sensitive </a:t>
          </a:r>
          <a:r>
            <a:rPr lang="en-US" b="0" i="0" dirty="0"/>
            <a:t>programming language.</a:t>
          </a:r>
        </a:p>
      </dgm:t>
    </dgm:pt>
    <dgm:pt modelId="{7EB059F5-5614-45C2-B183-0990F64760CE}" type="parTrans" cxnId="{D3D43DDD-C7E4-4753-BC6C-A27E6DF843F6}">
      <dgm:prSet/>
      <dgm:spPr/>
      <dgm:t>
        <a:bodyPr/>
        <a:lstStyle/>
        <a:p>
          <a:endParaRPr lang="en-US"/>
        </a:p>
      </dgm:t>
    </dgm:pt>
    <dgm:pt modelId="{A6925BD1-B90F-425B-B9A7-AAE92C0AF508}" type="sibTrans" cxnId="{D3D43DDD-C7E4-4753-BC6C-A27E6DF843F6}">
      <dgm:prSet/>
      <dgm:spPr/>
      <dgm:t>
        <a:bodyPr/>
        <a:lstStyle/>
        <a:p>
          <a:endParaRPr lang="en-US"/>
        </a:p>
      </dgm:t>
    </dgm:pt>
    <dgm:pt modelId="{FC60BCCD-036A-46E3-8FCC-B795C201C59E}">
      <dgm:prSet/>
      <dgm:spPr/>
      <dgm:t>
        <a:bodyPr/>
        <a:lstStyle/>
        <a:p>
          <a:r>
            <a:rPr lang="en-US" b="1" i="0" dirty="0"/>
            <a:t>Manpower</a:t>
          </a:r>
          <a:r>
            <a:rPr lang="en-US" b="0" i="0" dirty="0"/>
            <a:t> and </a:t>
          </a:r>
          <a:r>
            <a:rPr lang="en-US" b="1" i="0" dirty="0"/>
            <a:t>manpower</a:t>
          </a:r>
          <a:r>
            <a:rPr lang="en-US" b="0" i="0" dirty="0"/>
            <a:t> are two different identifiers.</a:t>
          </a:r>
        </a:p>
      </dgm:t>
    </dgm:pt>
    <dgm:pt modelId="{A39A656F-09AA-45BC-9CC1-F426D4E76FD1}" type="parTrans" cxnId="{7891765F-62DF-4F5A-B95D-93BFBC9F938D}">
      <dgm:prSet/>
      <dgm:spPr/>
      <dgm:t>
        <a:bodyPr/>
        <a:lstStyle/>
        <a:p>
          <a:endParaRPr lang="en-US"/>
        </a:p>
      </dgm:t>
    </dgm:pt>
    <dgm:pt modelId="{0F9021F4-41EE-4C7B-8A88-9DEDE12FFB5A}" type="sibTrans" cxnId="{7891765F-62DF-4F5A-B95D-93BFBC9F938D}">
      <dgm:prSet/>
      <dgm:spPr/>
      <dgm:t>
        <a:bodyPr/>
        <a:lstStyle/>
        <a:p>
          <a:endParaRPr lang="en-US"/>
        </a:p>
      </dgm:t>
    </dgm:pt>
    <dgm:pt modelId="{1296A8D1-6529-467C-80F5-9CDEF9A24511}">
      <dgm:prSet/>
      <dgm:spPr/>
      <dgm:t>
        <a:bodyPr/>
        <a:lstStyle/>
        <a:p>
          <a:r>
            <a:rPr lang="en-US" altLang="en-US" dirty="0"/>
            <a:t>Identifier name cannot be a Python </a:t>
          </a:r>
          <a:r>
            <a:rPr lang="en-US" altLang="en-US" dirty="0">
              <a:solidFill>
                <a:srgbClr val="FF0000"/>
              </a:solidFill>
            </a:rPr>
            <a:t>key word.</a:t>
          </a:r>
          <a:endParaRPr lang="en-US" b="0" i="0" dirty="0">
            <a:solidFill>
              <a:srgbClr val="FF0000"/>
            </a:solidFill>
          </a:endParaRPr>
        </a:p>
      </dgm:t>
    </dgm:pt>
    <dgm:pt modelId="{8A61B3F7-B4A6-4DAA-8547-B67C0D5212F9}" type="parTrans" cxnId="{7013C1F0-7EE9-4CF3-8CDF-6C15E038F9BC}">
      <dgm:prSet/>
      <dgm:spPr/>
      <dgm:t>
        <a:bodyPr/>
        <a:lstStyle/>
        <a:p>
          <a:endParaRPr lang="en-US"/>
        </a:p>
      </dgm:t>
    </dgm:pt>
    <dgm:pt modelId="{DAC49CCA-1327-449D-94FE-9F08FC5140A3}" type="sibTrans" cxnId="{7013C1F0-7EE9-4CF3-8CDF-6C15E038F9BC}">
      <dgm:prSet/>
      <dgm:spPr/>
      <dgm:t>
        <a:bodyPr/>
        <a:lstStyle/>
        <a:p>
          <a:endParaRPr lang="en-US"/>
        </a:p>
      </dgm:t>
    </dgm:pt>
    <dgm:pt modelId="{B89259B6-1351-41BE-A529-9DC88CD77732}">
      <dgm:prSet/>
      <dgm:spPr/>
      <dgm:t>
        <a:bodyPr/>
        <a:lstStyle/>
        <a:p>
          <a:r>
            <a:rPr lang="en-US" altLang="en-US" dirty="0"/>
            <a:t>Identifier name cannot contain </a:t>
          </a:r>
          <a:r>
            <a:rPr lang="en-US" altLang="en-US" dirty="0">
              <a:solidFill>
                <a:srgbClr val="FF0000"/>
              </a:solidFill>
            </a:rPr>
            <a:t>spaces</a:t>
          </a:r>
        </a:p>
      </dgm:t>
    </dgm:pt>
    <dgm:pt modelId="{526674F1-3EF0-4A6B-8F34-409DF14C8A71}" type="parTrans" cxnId="{2F4E1491-2279-4F15-9036-9DCEE1EF4B6D}">
      <dgm:prSet/>
      <dgm:spPr/>
      <dgm:t>
        <a:bodyPr/>
        <a:lstStyle/>
        <a:p>
          <a:endParaRPr lang="en-US"/>
        </a:p>
      </dgm:t>
    </dgm:pt>
    <dgm:pt modelId="{5E26C30D-4DC8-4313-9372-F3DE33B2A453}" type="sibTrans" cxnId="{2F4E1491-2279-4F15-9036-9DCEE1EF4B6D}">
      <dgm:prSet/>
      <dgm:spPr/>
      <dgm:t>
        <a:bodyPr/>
        <a:lstStyle/>
        <a:p>
          <a:endParaRPr lang="en-US"/>
        </a:p>
      </dgm:t>
    </dgm:pt>
    <dgm:pt modelId="{2D31EA86-50B6-422B-8D7A-DE045A7E522E}">
      <dgm:prSet/>
      <dgm:spPr/>
      <dgm:t>
        <a:bodyPr/>
        <a:lstStyle/>
        <a:p>
          <a:r>
            <a:rPr lang="en-US" altLang="en-US" dirty="0"/>
            <a:t>Suggestion: Variable name should </a:t>
          </a:r>
          <a:r>
            <a:rPr lang="en-US" altLang="en-US" dirty="0">
              <a:solidFill>
                <a:srgbClr val="FF0000"/>
              </a:solidFill>
            </a:rPr>
            <a:t>reflect</a:t>
          </a:r>
          <a:r>
            <a:rPr lang="en-US" altLang="en-US" dirty="0"/>
            <a:t> its use</a:t>
          </a:r>
        </a:p>
      </dgm:t>
    </dgm:pt>
    <dgm:pt modelId="{758EFD6E-107E-4DE8-AE4B-284001FC753F}" type="parTrans" cxnId="{2C90B88F-382C-49AF-BF58-CA87C898BA7C}">
      <dgm:prSet/>
      <dgm:spPr/>
      <dgm:t>
        <a:bodyPr/>
        <a:lstStyle/>
        <a:p>
          <a:endParaRPr lang="en-US"/>
        </a:p>
      </dgm:t>
    </dgm:pt>
    <dgm:pt modelId="{F22CD65F-8B72-4BFE-92C5-81716CD630DC}" type="sibTrans" cxnId="{2C90B88F-382C-49AF-BF58-CA87C898BA7C}">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1">
        <dgm:presLayoutVars>
          <dgm:chMax val="0"/>
          <dgm:bulletEnabled val="1"/>
        </dgm:presLayoutVars>
      </dgm:prSet>
      <dgm:spPr/>
    </dgm:pt>
    <dgm:pt modelId="{87DCE046-34FC-46CD-8653-51A3F88BDDC1}" type="pres">
      <dgm:prSet presAssocID="{2CBB1260-D8FE-49D1-91F8-2368D4BF3AA4}" presName="childText" presStyleLbl="revTx" presStyleIdx="0" presStyleCnt="1">
        <dgm:presLayoutVars>
          <dgm:bulletEnabled val="1"/>
        </dgm:presLayoutVars>
      </dgm:prSet>
      <dgm:spPr/>
    </dgm:pt>
  </dgm:ptLst>
  <dgm:cxnLst>
    <dgm:cxn modelId="{44BCCD10-3836-4DF3-ACF9-4F7863E45ACD}" srcId="{2CBB1260-D8FE-49D1-91F8-2368D4BF3AA4}" destId="{282148AB-A6E6-408B-ABD7-3CAE998D6035}" srcOrd="2" destOrd="0" parTransId="{37FA8D7C-3C7C-47F4-BCD4-54DA11AA18C7}" sibTransId="{AEDED434-2BAF-4B9D-97DD-E5FC964524D5}"/>
    <dgm:cxn modelId="{DE7A4B1C-D404-4E3D-A5B6-CF00E6ECA122}" type="presOf" srcId="{B1EF9595-972F-46D9-AB60-3CDE6DE4C48B}" destId="{87DCE046-34FC-46CD-8653-51A3F88BDDC1}" srcOrd="0" destOrd="3" presId="urn:microsoft.com/office/officeart/2005/8/layout/vList2"/>
    <dgm:cxn modelId="{08B02E1F-474A-4D59-BBDF-A81641011941}" type="presOf" srcId="{2D31EA86-50B6-422B-8D7A-DE045A7E522E}" destId="{87DCE046-34FC-46CD-8653-51A3F88BDDC1}" srcOrd="0" destOrd="7" presId="urn:microsoft.com/office/officeart/2005/8/layout/vList2"/>
    <dgm:cxn modelId="{D3433D30-E5A0-42CB-8984-36D822108CAE}" type="presOf" srcId="{282148AB-A6E6-408B-ABD7-3CAE998D6035}" destId="{87DCE046-34FC-46CD-8653-51A3F88BDDC1}" srcOrd="0" destOrd="2" presId="urn:microsoft.com/office/officeart/2005/8/layout/vList2"/>
    <dgm:cxn modelId="{53102F5E-E873-4C07-AD62-E257086C5164}" srcId="{2CBB1260-D8FE-49D1-91F8-2368D4BF3AA4}" destId="{C25923DC-185E-44A8-96DE-F793052FB1CF}" srcOrd="0" destOrd="0" parTransId="{3693861D-9F7D-426B-9293-266074474390}" sibTransId="{449B214E-BBF1-4C93-A133-27C3EA38DDC2}"/>
    <dgm:cxn modelId="{7891765F-62DF-4F5A-B95D-93BFBC9F938D}" srcId="{2CBB1260-D8FE-49D1-91F8-2368D4BF3AA4}" destId="{FC60BCCD-036A-46E3-8FCC-B795C201C59E}" srcOrd="4" destOrd="0" parTransId="{A39A656F-09AA-45BC-9CC1-F426D4E76FD1}" sibTransId="{0F9021F4-41EE-4C7B-8A88-9DEDE12FFB5A}"/>
    <dgm:cxn modelId="{65883866-8094-4530-9636-D8B052A667DC}" type="presOf" srcId="{1296A8D1-6529-467C-80F5-9CDEF9A24511}" destId="{87DCE046-34FC-46CD-8653-51A3F88BDDC1}" srcOrd="0" destOrd="5" presId="urn:microsoft.com/office/officeart/2005/8/layout/vList2"/>
    <dgm:cxn modelId="{35A52370-983C-4CB6-A8DF-B9495E107D0D}" type="presOf" srcId="{C25923DC-185E-44A8-96DE-F793052FB1CF}" destId="{87DCE046-34FC-46CD-8653-51A3F88BDDC1}" srcOrd="0" destOrd="0" presId="urn:microsoft.com/office/officeart/2005/8/layout/vList2"/>
    <dgm:cxn modelId="{A6929284-F03F-4375-A8FD-9FF8B57AF45E}" srcId="{2CBB1260-D8FE-49D1-91F8-2368D4BF3AA4}" destId="{8481EA5E-EA04-44DF-8ED8-4054B11F3235}" srcOrd="1" destOrd="0" parTransId="{650C4633-2296-4DAC-A862-7BB8EEA69F93}" sibTransId="{6D7A81AF-6D69-4DD8-B304-740EC79F0AEA}"/>
    <dgm:cxn modelId="{3C357C8E-97A6-4AC1-AA9F-920FFB920F94}" type="presOf" srcId="{90119837-5B71-4D44-BB01-DB0B084933C8}" destId="{ED5DCCC5-BCA8-4491-AA37-BAF153ECA184}" srcOrd="0" destOrd="0" presId="urn:microsoft.com/office/officeart/2005/8/layout/vList2"/>
    <dgm:cxn modelId="{2C90B88F-382C-49AF-BF58-CA87C898BA7C}" srcId="{2CBB1260-D8FE-49D1-91F8-2368D4BF3AA4}" destId="{2D31EA86-50B6-422B-8D7A-DE045A7E522E}" srcOrd="7" destOrd="0" parTransId="{758EFD6E-107E-4DE8-AE4B-284001FC753F}" sibTransId="{F22CD65F-8B72-4BFE-92C5-81716CD630DC}"/>
    <dgm:cxn modelId="{2F4E1491-2279-4F15-9036-9DCEE1EF4B6D}" srcId="{2CBB1260-D8FE-49D1-91F8-2368D4BF3AA4}" destId="{B89259B6-1351-41BE-A529-9DC88CD77732}" srcOrd="6" destOrd="0" parTransId="{526674F1-3EF0-4A6B-8F34-409DF14C8A71}" sibTransId="{5E26C30D-4DC8-4313-9372-F3DE33B2A453}"/>
    <dgm:cxn modelId="{32D651A7-9F20-4A3D-A087-B1A2BD2FC490}" type="presOf" srcId="{8481EA5E-EA04-44DF-8ED8-4054B11F3235}" destId="{87DCE046-34FC-46CD-8653-51A3F88BDDC1}" srcOrd="0" destOrd="1" presId="urn:microsoft.com/office/officeart/2005/8/layout/vList2"/>
    <dgm:cxn modelId="{D860ECB1-A88F-4B88-8074-4654725979BC}" type="presOf" srcId="{2CBB1260-D8FE-49D1-91F8-2368D4BF3AA4}" destId="{0F85B9CE-83AF-4C2C-A715-EB76C089A2C7}" srcOrd="0" destOrd="0" presId="urn:microsoft.com/office/officeart/2005/8/layout/vList2"/>
    <dgm:cxn modelId="{8365DCBA-7CBA-4406-A121-189698928D35}" type="presOf" srcId="{FC60BCCD-036A-46E3-8FCC-B795C201C59E}" destId="{87DCE046-34FC-46CD-8653-51A3F88BDDC1}" srcOrd="0" destOrd="4" presId="urn:microsoft.com/office/officeart/2005/8/layout/vList2"/>
    <dgm:cxn modelId="{B7AF53D6-A3DF-47ED-8E47-6D5ACB0982D1}" srcId="{90119837-5B71-4D44-BB01-DB0B084933C8}" destId="{2CBB1260-D8FE-49D1-91F8-2368D4BF3AA4}" srcOrd="0" destOrd="0" parTransId="{DC6A60F1-7249-49B2-867A-B2C79A82B20E}" sibTransId="{61B7A06B-26C0-4F01-9536-9C02714BEED7}"/>
    <dgm:cxn modelId="{D3D43DDD-C7E4-4753-BC6C-A27E6DF843F6}" srcId="{2CBB1260-D8FE-49D1-91F8-2368D4BF3AA4}" destId="{B1EF9595-972F-46D9-AB60-3CDE6DE4C48B}" srcOrd="3" destOrd="0" parTransId="{7EB059F5-5614-45C2-B183-0990F64760CE}" sibTransId="{A6925BD1-B90F-425B-B9A7-AAE92C0AF508}"/>
    <dgm:cxn modelId="{7013C1F0-7EE9-4CF3-8CDF-6C15E038F9BC}" srcId="{2CBB1260-D8FE-49D1-91F8-2368D4BF3AA4}" destId="{1296A8D1-6529-467C-80F5-9CDEF9A24511}" srcOrd="5" destOrd="0" parTransId="{8A61B3F7-B4A6-4DAA-8547-B67C0D5212F9}" sibTransId="{DAC49CCA-1327-449D-94FE-9F08FC5140A3}"/>
    <dgm:cxn modelId="{314E5AF1-0B87-4F39-8246-D63860105454}" type="presOf" srcId="{B89259B6-1351-41BE-A529-9DC88CD77732}" destId="{87DCE046-34FC-46CD-8653-51A3F88BDDC1}" srcOrd="0" destOrd="6" presId="urn:microsoft.com/office/officeart/2005/8/layout/vList2"/>
    <dgm:cxn modelId="{F5E07713-F82D-4DD1-9BD9-A629E55C58EB}" type="presParOf" srcId="{ED5DCCC5-BCA8-4491-AA37-BAF153ECA184}" destId="{0F85B9CE-83AF-4C2C-A715-EB76C089A2C7}" srcOrd="0" destOrd="0" presId="urn:microsoft.com/office/officeart/2005/8/layout/vList2"/>
    <dgm:cxn modelId="{EA45919C-6F4D-465E-8CDA-07E74F0FB28B}" type="presParOf" srcId="{ED5DCCC5-BCA8-4491-AA37-BAF153ECA184}" destId="{87DCE046-34FC-46CD-8653-51A3F88BDD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r>
            <a:rPr lang="en-US" b="0" i="0" dirty="0"/>
            <a:t>Naming conventions</a:t>
          </a:r>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5C0C9294-7710-4970-8CD9-3A2224818DED}">
      <dgm:prSet/>
      <dgm:spPr/>
      <dgm:t>
        <a:bodyPr/>
        <a:lstStyle/>
        <a:p>
          <a:r>
            <a:rPr lang="en-US" b="0" i="0" dirty="0"/>
            <a:t>Class names start with an </a:t>
          </a:r>
          <a:r>
            <a:rPr lang="en-US" b="0" i="0" dirty="0">
              <a:solidFill>
                <a:srgbClr val="FF0000"/>
              </a:solidFill>
            </a:rPr>
            <a:t>uppercase</a:t>
          </a:r>
          <a:r>
            <a:rPr lang="en-US" b="0" i="0" dirty="0"/>
            <a:t> letter. </a:t>
          </a:r>
        </a:p>
      </dgm:t>
    </dgm:pt>
    <dgm:pt modelId="{8AED4D5A-17B8-492E-AA8D-DCCACE42323C}" type="parTrans" cxnId="{259E077F-9EDE-4256-A583-BAB8CAC74354}">
      <dgm:prSet/>
      <dgm:spPr/>
      <dgm:t>
        <a:bodyPr/>
        <a:lstStyle/>
        <a:p>
          <a:endParaRPr lang="en-US"/>
        </a:p>
      </dgm:t>
    </dgm:pt>
    <dgm:pt modelId="{FB727462-3B2A-4D7A-8075-22BFC4084F6E}" type="sibTrans" cxnId="{259E077F-9EDE-4256-A583-BAB8CAC74354}">
      <dgm:prSet/>
      <dgm:spPr/>
      <dgm:t>
        <a:bodyPr/>
        <a:lstStyle/>
        <a:p>
          <a:endParaRPr lang="en-US"/>
        </a:p>
      </dgm:t>
    </dgm:pt>
    <dgm:pt modelId="{542D4464-37AA-4499-B729-5517187B5ED0}">
      <dgm:prSet/>
      <dgm:spPr/>
      <dgm:t>
        <a:bodyPr/>
        <a:lstStyle/>
        <a:p>
          <a:r>
            <a:rPr lang="en-US" b="0" i="0" dirty="0"/>
            <a:t>Starting an identifier with a </a:t>
          </a:r>
          <a:r>
            <a:rPr lang="en-US" b="0" i="0" dirty="0">
              <a:solidFill>
                <a:srgbClr val="FF0000"/>
              </a:solidFill>
            </a:rPr>
            <a:t>single leading underscore</a:t>
          </a:r>
          <a:r>
            <a:rPr lang="en-US" b="0" i="0" dirty="0"/>
            <a:t> indicates that the identifier is </a:t>
          </a:r>
          <a:r>
            <a:rPr lang="en-US" b="0" i="0" dirty="0">
              <a:solidFill>
                <a:srgbClr val="FF0000"/>
              </a:solidFill>
            </a:rPr>
            <a:t>private</a:t>
          </a:r>
          <a:r>
            <a:rPr lang="en-US" b="0" i="0" dirty="0"/>
            <a:t>.</a:t>
          </a:r>
        </a:p>
      </dgm:t>
    </dgm:pt>
    <dgm:pt modelId="{BD81EB86-F786-4450-9033-2B357B3E2289}" type="parTrans" cxnId="{F7F53DA2-3AC2-4961-BE3E-141DFC11ED20}">
      <dgm:prSet/>
      <dgm:spPr/>
      <dgm:t>
        <a:bodyPr/>
        <a:lstStyle/>
        <a:p>
          <a:endParaRPr lang="en-US"/>
        </a:p>
      </dgm:t>
    </dgm:pt>
    <dgm:pt modelId="{E01A2ECE-3B91-4FA6-8109-922472F661A2}" type="sibTrans" cxnId="{F7F53DA2-3AC2-4961-BE3E-141DFC11ED20}">
      <dgm:prSet/>
      <dgm:spPr/>
      <dgm:t>
        <a:bodyPr/>
        <a:lstStyle/>
        <a:p>
          <a:endParaRPr lang="en-US"/>
        </a:p>
      </dgm:t>
    </dgm:pt>
    <dgm:pt modelId="{8437AD3C-12E0-4586-A3AD-8AB427FF2FA2}">
      <dgm:prSet/>
      <dgm:spPr/>
      <dgm:t>
        <a:bodyPr/>
        <a:lstStyle/>
        <a:p>
          <a:r>
            <a:rPr lang="en-US" b="0" i="0" dirty="0"/>
            <a:t>Starting an identifier with </a:t>
          </a:r>
          <a:r>
            <a:rPr lang="en-US" b="0" i="0" dirty="0">
              <a:solidFill>
                <a:srgbClr val="FF0000"/>
              </a:solidFill>
            </a:rPr>
            <a:t>two leading underscores</a:t>
          </a:r>
          <a:r>
            <a:rPr lang="en-US" b="0" i="0" dirty="0"/>
            <a:t> indicates a </a:t>
          </a:r>
          <a:r>
            <a:rPr lang="en-US" b="0" i="0" dirty="0">
              <a:solidFill>
                <a:srgbClr val="FF0000"/>
              </a:solidFill>
            </a:rPr>
            <a:t>strongly private </a:t>
          </a:r>
          <a:r>
            <a:rPr lang="en-US" b="0" i="0" dirty="0"/>
            <a:t>identifier.</a:t>
          </a:r>
        </a:p>
      </dgm:t>
    </dgm:pt>
    <dgm:pt modelId="{9D23F555-B587-4E9A-B260-4AE0184DFD79}" type="parTrans" cxnId="{BE8CA46C-3F21-4F9B-ADA4-8E25ACF9BE3A}">
      <dgm:prSet/>
      <dgm:spPr/>
      <dgm:t>
        <a:bodyPr/>
        <a:lstStyle/>
        <a:p>
          <a:endParaRPr lang="en-US"/>
        </a:p>
      </dgm:t>
    </dgm:pt>
    <dgm:pt modelId="{84FD1E8C-421C-4C70-B379-113F0301C2D7}" type="sibTrans" cxnId="{BE8CA46C-3F21-4F9B-ADA4-8E25ACF9BE3A}">
      <dgm:prSet/>
      <dgm:spPr/>
      <dgm:t>
        <a:bodyPr/>
        <a:lstStyle/>
        <a:p>
          <a:endParaRPr lang="en-US"/>
        </a:p>
      </dgm:t>
    </dgm:pt>
    <dgm:pt modelId="{CF1B266C-01EE-4882-AD87-21A7E7EC0403}">
      <dgm:prSet/>
      <dgm:spPr/>
      <dgm:t>
        <a:bodyPr/>
        <a:lstStyle/>
        <a:p>
          <a:r>
            <a:rPr lang="en-US" b="0" i="0" dirty="0"/>
            <a:t>If the identifier ends with </a:t>
          </a:r>
          <a:r>
            <a:rPr lang="en-US" b="0" i="0" dirty="0">
              <a:solidFill>
                <a:srgbClr val="FF0000"/>
              </a:solidFill>
            </a:rPr>
            <a:t>two trailing underscores</a:t>
          </a:r>
          <a:r>
            <a:rPr lang="en-US" b="0" i="0" dirty="0"/>
            <a:t>, the identifier is a </a:t>
          </a:r>
          <a:r>
            <a:rPr lang="en-US" b="0" i="0" dirty="0">
              <a:solidFill>
                <a:srgbClr val="FF0000"/>
              </a:solidFill>
            </a:rPr>
            <a:t>language-defined special name</a:t>
          </a:r>
          <a:r>
            <a:rPr lang="en-US" b="0" i="0" dirty="0"/>
            <a:t>.</a:t>
          </a:r>
        </a:p>
      </dgm:t>
    </dgm:pt>
    <dgm:pt modelId="{4B6E1BAE-2289-4A3E-B3E5-93FEFE72DB0B}" type="parTrans" cxnId="{4308E76E-F5ED-425D-8BD2-17662B25808B}">
      <dgm:prSet/>
      <dgm:spPr/>
      <dgm:t>
        <a:bodyPr/>
        <a:lstStyle/>
        <a:p>
          <a:endParaRPr lang="en-US"/>
        </a:p>
      </dgm:t>
    </dgm:pt>
    <dgm:pt modelId="{E35F5494-2574-4616-A86C-905A7D7E3523}" type="sibTrans" cxnId="{4308E76E-F5ED-425D-8BD2-17662B25808B}">
      <dgm:prSet/>
      <dgm:spPr/>
      <dgm:t>
        <a:bodyPr/>
        <a:lstStyle/>
        <a:p>
          <a:endParaRPr lang="en-US"/>
        </a:p>
      </dgm:t>
    </dgm:pt>
    <dgm:pt modelId="{C19AAE5C-E236-474B-A52B-BA302FB9694C}">
      <dgm:prSet/>
      <dgm:spPr/>
      <dgm:t>
        <a:bodyPr/>
        <a:lstStyle/>
        <a:p>
          <a:r>
            <a:rPr lang="en-US" b="0" i="0" dirty="0"/>
            <a:t>All other identifiers start with a lowercase letter.</a:t>
          </a:r>
        </a:p>
      </dgm:t>
    </dgm:pt>
    <dgm:pt modelId="{06B9121E-9F13-4152-A046-2B0DB86DD2CB}" type="parTrans" cxnId="{BDC0D40E-CE91-4AC1-86FF-072490A014E8}">
      <dgm:prSet/>
      <dgm:spPr/>
      <dgm:t>
        <a:bodyPr/>
        <a:lstStyle/>
        <a:p>
          <a:endParaRPr lang="en-US"/>
        </a:p>
      </dgm:t>
    </dgm:pt>
    <dgm:pt modelId="{B5CE61A8-B473-4794-9B37-78EF28AD2E03}" type="sibTrans" cxnId="{BDC0D40E-CE91-4AC1-86FF-072490A014E8}">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1">
        <dgm:presLayoutVars>
          <dgm:chMax val="0"/>
          <dgm:bulletEnabled val="1"/>
        </dgm:presLayoutVars>
      </dgm:prSet>
      <dgm:spPr/>
    </dgm:pt>
    <dgm:pt modelId="{87DCE046-34FC-46CD-8653-51A3F88BDDC1}" type="pres">
      <dgm:prSet presAssocID="{2CBB1260-D8FE-49D1-91F8-2368D4BF3AA4}" presName="childText" presStyleLbl="revTx" presStyleIdx="0" presStyleCnt="1">
        <dgm:presLayoutVars>
          <dgm:bulletEnabled val="1"/>
        </dgm:presLayoutVars>
      </dgm:prSet>
      <dgm:spPr/>
    </dgm:pt>
  </dgm:ptLst>
  <dgm:cxnLst>
    <dgm:cxn modelId="{BDC0D40E-CE91-4AC1-86FF-072490A014E8}" srcId="{2CBB1260-D8FE-49D1-91F8-2368D4BF3AA4}" destId="{C19AAE5C-E236-474B-A52B-BA302FB9694C}" srcOrd="1" destOrd="0" parTransId="{06B9121E-9F13-4152-A046-2B0DB86DD2CB}" sibTransId="{B5CE61A8-B473-4794-9B37-78EF28AD2E03}"/>
    <dgm:cxn modelId="{BE8CA46C-3F21-4F9B-ADA4-8E25ACF9BE3A}" srcId="{2CBB1260-D8FE-49D1-91F8-2368D4BF3AA4}" destId="{8437AD3C-12E0-4586-A3AD-8AB427FF2FA2}" srcOrd="3" destOrd="0" parTransId="{9D23F555-B587-4E9A-B260-4AE0184DFD79}" sibTransId="{84FD1E8C-421C-4C70-B379-113F0301C2D7}"/>
    <dgm:cxn modelId="{4308E76E-F5ED-425D-8BD2-17662B25808B}" srcId="{2CBB1260-D8FE-49D1-91F8-2368D4BF3AA4}" destId="{CF1B266C-01EE-4882-AD87-21A7E7EC0403}" srcOrd="4" destOrd="0" parTransId="{4B6E1BAE-2289-4A3E-B3E5-93FEFE72DB0B}" sibTransId="{E35F5494-2574-4616-A86C-905A7D7E3523}"/>
    <dgm:cxn modelId="{F58DCB56-B336-4A0D-A247-539A41D0A204}" type="presOf" srcId="{90119837-5B71-4D44-BB01-DB0B084933C8}" destId="{ED5DCCC5-BCA8-4491-AA37-BAF153ECA184}" srcOrd="0" destOrd="0" presId="urn:microsoft.com/office/officeart/2005/8/layout/vList2"/>
    <dgm:cxn modelId="{75D38457-B812-45C9-9E32-7DCABCC5B1C6}" type="presOf" srcId="{CF1B266C-01EE-4882-AD87-21A7E7EC0403}" destId="{87DCE046-34FC-46CD-8653-51A3F88BDDC1}" srcOrd="0" destOrd="4" presId="urn:microsoft.com/office/officeart/2005/8/layout/vList2"/>
    <dgm:cxn modelId="{259E077F-9EDE-4256-A583-BAB8CAC74354}" srcId="{2CBB1260-D8FE-49D1-91F8-2368D4BF3AA4}" destId="{5C0C9294-7710-4970-8CD9-3A2224818DED}" srcOrd="0" destOrd="0" parTransId="{8AED4D5A-17B8-492E-AA8D-DCCACE42323C}" sibTransId="{FB727462-3B2A-4D7A-8075-22BFC4084F6E}"/>
    <dgm:cxn modelId="{D48C9C83-8500-495A-89DE-A053BC09D965}" type="presOf" srcId="{2CBB1260-D8FE-49D1-91F8-2368D4BF3AA4}" destId="{0F85B9CE-83AF-4C2C-A715-EB76C089A2C7}" srcOrd="0" destOrd="0" presId="urn:microsoft.com/office/officeart/2005/8/layout/vList2"/>
    <dgm:cxn modelId="{0E48E187-41E1-4E4D-98E6-B48CC87D4715}" type="presOf" srcId="{8437AD3C-12E0-4586-A3AD-8AB427FF2FA2}" destId="{87DCE046-34FC-46CD-8653-51A3F88BDDC1}" srcOrd="0" destOrd="3" presId="urn:microsoft.com/office/officeart/2005/8/layout/vList2"/>
    <dgm:cxn modelId="{B9693793-303D-4FB4-A7B3-049E2A94EB5F}" type="presOf" srcId="{5C0C9294-7710-4970-8CD9-3A2224818DED}" destId="{87DCE046-34FC-46CD-8653-51A3F88BDDC1}" srcOrd="0" destOrd="0" presId="urn:microsoft.com/office/officeart/2005/8/layout/vList2"/>
    <dgm:cxn modelId="{C658589A-DD0A-4C69-B21C-4C525AB10525}" type="presOf" srcId="{C19AAE5C-E236-474B-A52B-BA302FB9694C}" destId="{87DCE046-34FC-46CD-8653-51A3F88BDDC1}" srcOrd="0" destOrd="1" presId="urn:microsoft.com/office/officeart/2005/8/layout/vList2"/>
    <dgm:cxn modelId="{F7F53DA2-3AC2-4961-BE3E-141DFC11ED20}" srcId="{2CBB1260-D8FE-49D1-91F8-2368D4BF3AA4}" destId="{542D4464-37AA-4499-B729-5517187B5ED0}" srcOrd="2" destOrd="0" parTransId="{BD81EB86-F786-4450-9033-2B357B3E2289}" sibTransId="{E01A2ECE-3B91-4FA6-8109-922472F661A2}"/>
    <dgm:cxn modelId="{8060F1D0-0816-421B-94F1-F7A02B95E390}" type="presOf" srcId="{542D4464-37AA-4499-B729-5517187B5ED0}" destId="{87DCE046-34FC-46CD-8653-51A3F88BDDC1}" srcOrd="0" destOrd="2" presId="urn:microsoft.com/office/officeart/2005/8/layout/vList2"/>
    <dgm:cxn modelId="{B7AF53D6-A3DF-47ED-8E47-6D5ACB0982D1}" srcId="{90119837-5B71-4D44-BB01-DB0B084933C8}" destId="{2CBB1260-D8FE-49D1-91F8-2368D4BF3AA4}" srcOrd="0" destOrd="0" parTransId="{DC6A60F1-7249-49B2-867A-B2C79A82B20E}" sibTransId="{61B7A06B-26C0-4F01-9536-9C02714BEED7}"/>
    <dgm:cxn modelId="{7948089F-5E03-4C29-AD02-44D6F98BA702}" type="presParOf" srcId="{ED5DCCC5-BCA8-4491-AA37-BAF153ECA184}" destId="{0F85B9CE-83AF-4C2C-A715-EB76C089A2C7}" srcOrd="0" destOrd="0" presId="urn:microsoft.com/office/officeart/2005/8/layout/vList2"/>
    <dgm:cxn modelId="{E5027AD4-036C-4E2C-9758-24B23A3B6104}" type="presParOf" srcId="{ED5DCCC5-BCA8-4491-AA37-BAF153ECA184}" destId="{87DCE046-34FC-46CD-8653-51A3F88BDD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CBB1260-D8FE-49D1-91F8-2368D4BF3AA4}">
      <dgm:prSet/>
      <dgm:spPr/>
      <dgm:t>
        <a:bodyPr/>
        <a:lstStyle/>
        <a:p>
          <a:r>
            <a:rPr lang="en-US" b="0" i="0" dirty="0"/>
            <a:t>Definition</a:t>
          </a:r>
        </a:p>
      </dgm:t>
    </dgm:pt>
    <dgm:pt modelId="{DC6A60F1-7249-49B2-867A-B2C79A82B20E}" type="parTrans" cxnId="{B7AF53D6-A3DF-47ED-8E47-6D5ACB0982D1}">
      <dgm:prSet/>
      <dgm:spPr/>
      <dgm:t>
        <a:bodyPr/>
        <a:lstStyle/>
        <a:p>
          <a:endParaRPr lang="en-US"/>
        </a:p>
      </dgm:t>
    </dgm:pt>
    <dgm:pt modelId="{61B7A06B-26C0-4F01-9536-9C02714BEED7}" type="sibTrans" cxnId="{B7AF53D6-A3DF-47ED-8E47-6D5ACB0982D1}">
      <dgm:prSet/>
      <dgm:spPr/>
      <dgm:t>
        <a:bodyPr/>
        <a:lstStyle/>
        <a:p>
          <a:endParaRPr lang="en-US"/>
        </a:p>
      </dgm:t>
    </dgm:pt>
    <dgm:pt modelId="{40578CAE-FAD6-44CF-AEB1-714CE1A54400}">
      <dgm:prSet/>
      <dgm:spPr/>
      <dgm:t>
        <a:bodyPr/>
        <a:lstStyle/>
        <a:p>
          <a:r>
            <a:rPr lang="en-US" dirty="0"/>
            <a:t>Used to access and manipulate </a:t>
          </a:r>
          <a:r>
            <a:rPr lang="en-US" dirty="0">
              <a:solidFill>
                <a:srgbClr val="FF0000"/>
              </a:solidFill>
            </a:rPr>
            <a:t>data</a:t>
          </a:r>
          <a:r>
            <a:rPr lang="en-US" dirty="0"/>
            <a:t> stored in memory.</a:t>
          </a:r>
        </a:p>
      </dgm:t>
    </dgm:pt>
    <dgm:pt modelId="{654B3B2D-42FD-4661-B29F-8FA76EAC1E4B}" type="parTrans" cxnId="{E45EDCCB-E610-429D-A44D-DB3EB60CBE73}">
      <dgm:prSet/>
      <dgm:spPr/>
      <dgm:t>
        <a:bodyPr/>
        <a:lstStyle/>
        <a:p>
          <a:endParaRPr lang="en-US"/>
        </a:p>
      </dgm:t>
    </dgm:pt>
    <dgm:pt modelId="{B8E2F3D2-5C84-428D-A1DC-E37301E7F3E4}" type="sibTrans" cxnId="{E45EDCCB-E610-429D-A44D-DB3EB60CBE73}">
      <dgm:prSet/>
      <dgm:spPr/>
      <dgm:t>
        <a:bodyPr/>
        <a:lstStyle/>
        <a:p>
          <a:endParaRPr lang="en-US"/>
        </a:p>
      </dgm:t>
    </dgm:pt>
    <dgm:pt modelId="{B3D258FA-27AE-417E-888F-0AE0CE585233}">
      <dgm:prSet/>
      <dgm:spPr/>
      <dgm:t>
        <a:bodyPr/>
        <a:lstStyle/>
        <a:p>
          <a:r>
            <a:rPr lang="en-US" dirty="0">
              <a:solidFill>
                <a:srgbClr val="FF0000"/>
              </a:solidFill>
            </a:rPr>
            <a:t>Name</a:t>
          </a:r>
          <a:r>
            <a:rPr lang="en-US" dirty="0"/>
            <a:t> that represents a value stored in the computer memory.</a:t>
          </a:r>
          <a:endParaRPr lang="en-US" b="0" i="0" dirty="0"/>
        </a:p>
      </dgm:t>
    </dgm:pt>
    <dgm:pt modelId="{53CB0B20-97CD-4B4F-BA17-312E15A5976D}" type="parTrans" cxnId="{B3F4705E-C142-4EA7-A66F-1CF041FA7CA4}">
      <dgm:prSet/>
      <dgm:spPr/>
      <dgm:t>
        <a:bodyPr/>
        <a:lstStyle/>
        <a:p>
          <a:endParaRPr lang="en-US"/>
        </a:p>
      </dgm:t>
    </dgm:pt>
    <dgm:pt modelId="{133D1347-1529-4567-956C-A0996456314E}" type="sibTrans" cxnId="{B3F4705E-C142-4EA7-A66F-1CF041FA7CA4}">
      <dgm:prSet/>
      <dgm:spPr/>
      <dgm:t>
        <a:bodyPr/>
        <a:lstStyle/>
        <a:p>
          <a:endParaRPr lang="en-US"/>
        </a:p>
      </dgm:t>
    </dgm:pt>
    <dgm:pt modelId="{56262BB6-585B-4E21-9A34-00B5EDCB10A4}">
      <dgm:prSet/>
      <dgm:spPr/>
      <dgm:t>
        <a:bodyPr/>
        <a:lstStyle/>
        <a:p>
          <a:r>
            <a:rPr lang="en-US" altLang="en-US" dirty="0"/>
            <a:t>Variable name </a:t>
          </a:r>
          <a:r>
            <a:rPr lang="en-US" altLang="en-US" dirty="0">
              <a:solidFill>
                <a:srgbClr val="FF0000"/>
              </a:solidFill>
            </a:rPr>
            <a:t>should not </a:t>
          </a:r>
          <a:r>
            <a:rPr lang="en-US" altLang="en-US" dirty="0"/>
            <a:t>be enclosed in quote marks</a:t>
          </a:r>
        </a:p>
      </dgm:t>
    </dgm:pt>
    <dgm:pt modelId="{A58FBFF1-71AF-4D1B-AD42-037185B555C3}" type="parTrans" cxnId="{7CB5B5E0-982E-4158-A751-3F521D408384}">
      <dgm:prSet/>
      <dgm:spPr/>
      <dgm:t>
        <a:bodyPr/>
        <a:lstStyle/>
        <a:p>
          <a:endParaRPr lang="en-US"/>
        </a:p>
      </dgm:t>
    </dgm:pt>
    <dgm:pt modelId="{B40017A5-7C88-40E0-9B2C-9385793F761A}" type="sibTrans" cxnId="{7CB5B5E0-982E-4158-A751-3F521D408384}">
      <dgm:prSet/>
      <dgm:spPr/>
      <dgm:t>
        <a:bodyPr/>
        <a:lstStyle/>
        <a:p>
          <a:endParaRPr lang="en-US"/>
        </a:p>
      </dgm:t>
    </dgm:pt>
    <dgm:pt modelId="{4E01F3E5-9B81-4D4F-BB36-17ACF739D8FB}">
      <dgm:prSet/>
      <dgm:spPr/>
      <dgm:t>
        <a:bodyPr/>
        <a:lstStyle/>
        <a:p>
          <a:r>
            <a:rPr lang="en-US" altLang="en-US" dirty="0"/>
            <a:t>You can only use a variable if a value is </a:t>
          </a:r>
          <a:r>
            <a:rPr lang="en-US" altLang="en-US" dirty="0">
              <a:solidFill>
                <a:srgbClr val="FF0000"/>
              </a:solidFill>
            </a:rPr>
            <a:t>assigned</a:t>
          </a:r>
          <a:r>
            <a:rPr lang="en-US" altLang="en-US" dirty="0"/>
            <a:t> to it.</a:t>
          </a:r>
        </a:p>
      </dgm:t>
    </dgm:pt>
    <dgm:pt modelId="{97D09F2B-4C76-495E-B0BF-26484017FB69}" type="parTrans" cxnId="{6233EFB6-B1CA-4D33-8868-4CDEF32D49FC}">
      <dgm:prSet/>
      <dgm:spPr/>
      <dgm:t>
        <a:bodyPr/>
        <a:lstStyle/>
        <a:p>
          <a:endParaRPr lang="en-US"/>
        </a:p>
      </dgm:t>
    </dgm:pt>
    <dgm:pt modelId="{576994D0-5229-40CB-A424-AC2A9E5DCCFB}" type="sibTrans" cxnId="{6233EFB6-B1CA-4D33-8868-4CDEF32D49FC}">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F85B9CE-83AF-4C2C-A715-EB76C089A2C7}" type="pres">
      <dgm:prSet presAssocID="{2CBB1260-D8FE-49D1-91F8-2368D4BF3AA4}" presName="parentText" presStyleLbl="node1" presStyleIdx="0" presStyleCnt="1">
        <dgm:presLayoutVars>
          <dgm:chMax val="0"/>
          <dgm:bulletEnabled val="1"/>
        </dgm:presLayoutVars>
      </dgm:prSet>
      <dgm:spPr/>
    </dgm:pt>
    <dgm:pt modelId="{87DCE046-34FC-46CD-8653-51A3F88BDDC1}" type="pres">
      <dgm:prSet presAssocID="{2CBB1260-D8FE-49D1-91F8-2368D4BF3AA4}" presName="childText" presStyleLbl="revTx" presStyleIdx="0" presStyleCnt="1" custScaleY="125215">
        <dgm:presLayoutVars>
          <dgm:bulletEnabled val="1"/>
        </dgm:presLayoutVars>
      </dgm:prSet>
      <dgm:spPr/>
    </dgm:pt>
  </dgm:ptLst>
  <dgm:cxnLst>
    <dgm:cxn modelId="{F6872E2C-5F58-4648-9CFA-4363AAC8B55B}" type="presOf" srcId="{4E01F3E5-9B81-4D4F-BB36-17ACF739D8FB}" destId="{87DCE046-34FC-46CD-8653-51A3F88BDDC1}" srcOrd="0" destOrd="3" presId="urn:microsoft.com/office/officeart/2005/8/layout/vList2"/>
    <dgm:cxn modelId="{B3F4705E-C142-4EA7-A66F-1CF041FA7CA4}" srcId="{2CBB1260-D8FE-49D1-91F8-2368D4BF3AA4}" destId="{B3D258FA-27AE-417E-888F-0AE0CE585233}" srcOrd="0" destOrd="0" parTransId="{53CB0B20-97CD-4B4F-BA17-312E15A5976D}" sibTransId="{133D1347-1529-4567-956C-A0996456314E}"/>
    <dgm:cxn modelId="{23853F66-6097-40EB-8080-19FE97F5AFAC}" type="presOf" srcId="{40578CAE-FAD6-44CF-AEB1-714CE1A54400}" destId="{87DCE046-34FC-46CD-8653-51A3F88BDDC1}" srcOrd="0" destOrd="1" presId="urn:microsoft.com/office/officeart/2005/8/layout/vList2"/>
    <dgm:cxn modelId="{C5264D88-B41A-4E6F-A95D-A4D5CC139035}" type="presOf" srcId="{56262BB6-585B-4E21-9A34-00B5EDCB10A4}" destId="{87DCE046-34FC-46CD-8653-51A3F88BDDC1}" srcOrd="0" destOrd="2" presId="urn:microsoft.com/office/officeart/2005/8/layout/vList2"/>
    <dgm:cxn modelId="{E7F4D7AD-7E8F-435A-9E34-2F07DA89EA1F}" type="presOf" srcId="{2CBB1260-D8FE-49D1-91F8-2368D4BF3AA4}" destId="{0F85B9CE-83AF-4C2C-A715-EB76C089A2C7}" srcOrd="0" destOrd="0" presId="urn:microsoft.com/office/officeart/2005/8/layout/vList2"/>
    <dgm:cxn modelId="{6233EFB6-B1CA-4D33-8868-4CDEF32D49FC}" srcId="{2CBB1260-D8FE-49D1-91F8-2368D4BF3AA4}" destId="{4E01F3E5-9B81-4D4F-BB36-17ACF739D8FB}" srcOrd="3" destOrd="0" parTransId="{97D09F2B-4C76-495E-B0BF-26484017FB69}" sibTransId="{576994D0-5229-40CB-A424-AC2A9E5DCCFB}"/>
    <dgm:cxn modelId="{E45EDCCB-E610-429D-A44D-DB3EB60CBE73}" srcId="{2CBB1260-D8FE-49D1-91F8-2368D4BF3AA4}" destId="{40578CAE-FAD6-44CF-AEB1-714CE1A54400}" srcOrd="1" destOrd="0" parTransId="{654B3B2D-42FD-4661-B29F-8FA76EAC1E4B}" sibTransId="{B8E2F3D2-5C84-428D-A1DC-E37301E7F3E4}"/>
    <dgm:cxn modelId="{53882DD1-09EB-47CC-93F0-42E88C2E41C5}" type="presOf" srcId="{90119837-5B71-4D44-BB01-DB0B084933C8}" destId="{ED5DCCC5-BCA8-4491-AA37-BAF153ECA184}" srcOrd="0" destOrd="0" presId="urn:microsoft.com/office/officeart/2005/8/layout/vList2"/>
    <dgm:cxn modelId="{B7AF53D6-A3DF-47ED-8E47-6D5ACB0982D1}" srcId="{90119837-5B71-4D44-BB01-DB0B084933C8}" destId="{2CBB1260-D8FE-49D1-91F8-2368D4BF3AA4}" srcOrd="0" destOrd="0" parTransId="{DC6A60F1-7249-49B2-867A-B2C79A82B20E}" sibTransId="{61B7A06B-26C0-4F01-9536-9C02714BEED7}"/>
    <dgm:cxn modelId="{7CB5B5E0-982E-4158-A751-3F521D408384}" srcId="{2CBB1260-D8FE-49D1-91F8-2368D4BF3AA4}" destId="{56262BB6-585B-4E21-9A34-00B5EDCB10A4}" srcOrd="2" destOrd="0" parTransId="{A58FBFF1-71AF-4D1B-AD42-037185B555C3}" sibTransId="{B40017A5-7C88-40E0-9B2C-9385793F761A}"/>
    <dgm:cxn modelId="{FA1721EB-0D90-4CFE-973A-0324A3E8B287}" type="presOf" srcId="{B3D258FA-27AE-417E-888F-0AE0CE585233}" destId="{87DCE046-34FC-46CD-8653-51A3F88BDDC1}" srcOrd="0" destOrd="0" presId="urn:microsoft.com/office/officeart/2005/8/layout/vList2"/>
    <dgm:cxn modelId="{8371484A-AFA5-46AF-9539-0640E45E3082}" type="presParOf" srcId="{ED5DCCC5-BCA8-4491-AA37-BAF153ECA184}" destId="{0F85B9CE-83AF-4C2C-A715-EB76C089A2C7}" srcOrd="0" destOrd="0" presId="urn:microsoft.com/office/officeart/2005/8/layout/vList2"/>
    <dgm:cxn modelId="{6CB0E9B9-D852-4DE6-A9B1-F14BA7E134E6}" type="presParOf" srcId="{ED5DCCC5-BCA8-4491-AA37-BAF153ECA184}" destId="{87DCE046-34FC-46CD-8653-51A3F88BDD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2735228-C946-422F-A250-105DE7C057E8}">
      <dgm:prSet/>
      <dgm:spPr/>
      <dgm:t>
        <a:bodyPr/>
        <a:lstStyle/>
        <a:p>
          <a:r>
            <a:rPr lang="en-US" dirty="0"/>
            <a:t>Valid variables</a:t>
          </a:r>
        </a:p>
      </dgm:t>
    </dgm:pt>
    <dgm:pt modelId="{DAB2D874-0885-4157-858D-F57D01555F2E}" type="parTrans" cxnId="{2F26DED2-D598-48E4-8EB0-4A5F32755CC9}">
      <dgm:prSet/>
      <dgm:spPr/>
      <dgm:t>
        <a:bodyPr/>
        <a:lstStyle/>
        <a:p>
          <a:endParaRPr lang="en-US"/>
        </a:p>
      </dgm:t>
    </dgm:pt>
    <dgm:pt modelId="{AC472298-830A-4C33-87ED-7C575725BFB1}" type="sibTrans" cxnId="{2F26DED2-D598-48E4-8EB0-4A5F32755CC9}">
      <dgm:prSet/>
      <dgm:spPr/>
      <dgm:t>
        <a:bodyPr/>
        <a:lstStyle/>
        <a:p>
          <a:endParaRPr lang="en-US"/>
        </a:p>
      </dgm:t>
    </dgm:pt>
    <dgm:pt modelId="{45D2EF38-B20C-4183-952C-865B6AA01B59}">
      <dgm:prSet/>
      <dgm:spPr/>
      <dgm:t>
        <a:bodyPr/>
        <a:lstStyle/>
        <a:p>
          <a:r>
            <a:rPr lang="en-US" b="1" dirty="0">
              <a:solidFill>
                <a:srgbClr val="0000FF"/>
              </a:solidFill>
              <a:latin typeface="Courier New" panose="02070309020205020404" pitchFamily="49" charset="0"/>
              <a:cs typeface="Courier New" panose="02070309020205020404" pitchFamily="49" charset="0"/>
            </a:rPr>
            <a:t>int </a:t>
          </a:r>
          <a:r>
            <a:rPr lang="en-US" dirty="0">
              <a:solidFill>
                <a:srgbClr val="000000"/>
              </a:solidFill>
              <a:latin typeface="Courier New" panose="02070309020205020404" pitchFamily="49" charset="0"/>
              <a:cs typeface="Courier New" panose="02070309020205020404" pitchFamily="49" charset="0"/>
            </a:rPr>
            <a:t>myVariable;</a:t>
          </a:r>
        </a:p>
      </dgm:t>
    </dgm:pt>
    <dgm:pt modelId="{47BFF095-2667-4EDD-A434-CC76099E7091}" type="parTrans" cxnId="{EA7495CD-86E2-4886-8AE5-6A0885377D22}">
      <dgm:prSet/>
      <dgm:spPr/>
      <dgm:t>
        <a:bodyPr/>
        <a:lstStyle/>
        <a:p>
          <a:endParaRPr lang="en-US"/>
        </a:p>
      </dgm:t>
    </dgm:pt>
    <dgm:pt modelId="{8321DB9C-9AE9-4C42-957F-AE1FFB7BE9C6}" type="sibTrans" cxnId="{EA7495CD-86E2-4886-8AE5-6A0885377D22}">
      <dgm:prSet/>
      <dgm:spPr/>
      <dgm:t>
        <a:bodyPr/>
        <a:lstStyle/>
        <a:p>
          <a:endParaRPr lang="en-US"/>
        </a:p>
      </dgm:t>
    </dgm:pt>
    <dgm:pt modelId="{D6A0AB62-BF0E-4354-A2B8-04E18E3E3BD6}">
      <dgm:prSet/>
      <dgm:spPr/>
      <dgm:t>
        <a:bodyPr/>
        <a:lstStyle/>
        <a:p>
          <a:r>
            <a:rPr lang="en-US" b="1" dirty="0">
              <a:solidFill>
                <a:srgbClr val="0000FF"/>
              </a:solidFill>
              <a:latin typeface="Courier New" panose="02070309020205020404" pitchFamily="49" charset="0"/>
              <a:cs typeface="Courier New" panose="02070309020205020404" pitchFamily="49" charset="0"/>
            </a:rPr>
            <a:t>int </a:t>
          </a:r>
          <a:r>
            <a:rPr lang="en-US" dirty="0">
              <a:solidFill>
                <a:srgbClr val="000000"/>
              </a:solidFill>
              <a:latin typeface="Courier New" panose="02070309020205020404" pitchFamily="49" charset="0"/>
              <a:cs typeface="Courier New" panose="02070309020205020404" pitchFamily="49" charset="0"/>
            </a:rPr>
            <a:t>myVariable2;</a:t>
          </a:r>
        </a:p>
      </dgm:t>
    </dgm:pt>
    <dgm:pt modelId="{1745D692-5435-4812-9699-1E3CFD486092}" type="parTrans" cxnId="{F2BF92C4-B2F3-4476-829B-7FD9CAD0432B}">
      <dgm:prSet/>
      <dgm:spPr/>
      <dgm:t>
        <a:bodyPr/>
        <a:lstStyle/>
        <a:p>
          <a:endParaRPr lang="en-US"/>
        </a:p>
      </dgm:t>
    </dgm:pt>
    <dgm:pt modelId="{BD2061FE-FA91-4ECF-A650-335242E1A3A2}" type="sibTrans" cxnId="{F2BF92C4-B2F3-4476-829B-7FD9CAD0432B}">
      <dgm:prSet/>
      <dgm:spPr/>
      <dgm:t>
        <a:bodyPr/>
        <a:lstStyle/>
        <a:p>
          <a:endParaRPr lang="en-US"/>
        </a:p>
      </dgm:t>
    </dgm:pt>
    <dgm:pt modelId="{25286B9A-2B70-4F33-BBEB-90C5590D6742}">
      <dgm:prSet/>
      <dgm:spPr/>
      <dgm:t>
        <a:bodyPr/>
        <a:lstStyle/>
        <a:p>
          <a:r>
            <a:rPr lang="en-US" b="1" dirty="0">
              <a:solidFill>
                <a:srgbClr val="0000FF"/>
              </a:solidFill>
              <a:latin typeface="Courier New" panose="02070309020205020404" pitchFamily="49" charset="0"/>
              <a:cs typeface="Courier New" panose="02070309020205020404" pitchFamily="49" charset="0"/>
            </a:rPr>
            <a:t>int </a:t>
          </a:r>
          <a:r>
            <a:rPr lang="en-US" dirty="0">
              <a:solidFill>
                <a:srgbClr val="000000"/>
              </a:solidFill>
              <a:latin typeface="Courier New" panose="02070309020205020404" pitchFamily="49" charset="0"/>
              <a:cs typeface="Courier New" panose="02070309020205020404" pitchFamily="49" charset="0"/>
            </a:rPr>
            <a:t>_myVariable;</a:t>
          </a:r>
        </a:p>
      </dgm:t>
    </dgm:pt>
    <dgm:pt modelId="{6D5E40FD-083D-4B63-B740-5BE272CD9B8D}" type="parTrans" cxnId="{9B16E275-9BD9-4393-969A-9287CF0DEC29}">
      <dgm:prSet/>
      <dgm:spPr/>
      <dgm:t>
        <a:bodyPr/>
        <a:lstStyle/>
        <a:p>
          <a:endParaRPr lang="en-US"/>
        </a:p>
      </dgm:t>
    </dgm:pt>
    <dgm:pt modelId="{769C9882-1182-4B67-833E-62DA9EF2EA35}" type="sibTrans" cxnId="{9B16E275-9BD9-4393-969A-9287CF0DEC29}">
      <dgm:prSet/>
      <dgm:spPr/>
      <dgm:t>
        <a:bodyPr/>
        <a:lstStyle/>
        <a:p>
          <a:endParaRPr lang="en-US"/>
        </a:p>
      </dgm:t>
    </dgm:pt>
    <dgm:pt modelId="{25351524-1FF8-4A75-91CC-780E8B111D17}">
      <dgm:prSet/>
      <dgm:spPr/>
      <dgm:t>
        <a:bodyPr/>
        <a:lstStyle/>
        <a:p>
          <a:r>
            <a:rPr lang="en-US" b="1" dirty="0">
              <a:solidFill>
                <a:srgbClr val="0000FF"/>
              </a:solidFill>
              <a:latin typeface="Courier New" panose="02070309020205020404" pitchFamily="49" charset="0"/>
              <a:cs typeface="Courier New" panose="02070309020205020404" pitchFamily="49" charset="0"/>
            </a:rPr>
            <a:t>int </a:t>
          </a:r>
          <a:r>
            <a:rPr lang="en-US" dirty="0">
              <a:solidFill>
                <a:srgbClr val="000000"/>
              </a:solidFill>
              <a:latin typeface="Courier New" panose="02070309020205020404" pitchFamily="49" charset="0"/>
              <a:cs typeface="Courier New" panose="02070309020205020404" pitchFamily="49" charset="0"/>
            </a:rPr>
            <a:t>my_variable;</a:t>
          </a:r>
        </a:p>
      </dgm:t>
    </dgm:pt>
    <dgm:pt modelId="{4D7BFB99-E53A-4A94-AE9C-41BEBAD3AF4C}" type="parTrans" cxnId="{C0C70F1A-0EEA-420A-AC81-DA0510C951A8}">
      <dgm:prSet/>
      <dgm:spPr/>
      <dgm:t>
        <a:bodyPr/>
        <a:lstStyle/>
        <a:p>
          <a:endParaRPr lang="en-US"/>
        </a:p>
      </dgm:t>
    </dgm:pt>
    <dgm:pt modelId="{12238674-B0A4-47DC-ABBA-F8F20F44816F}" type="sibTrans" cxnId="{C0C70F1A-0EEA-420A-AC81-DA0510C951A8}">
      <dgm:prSet/>
      <dgm:spPr/>
      <dgm:t>
        <a:bodyPr/>
        <a:lstStyle/>
        <a:p>
          <a:endParaRPr lang="en-US"/>
        </a:p>
      </dgm:t>
    </dgm:pt>
    <dgm:pt modelId="{4C591907-55B3-4357-A7F2-BFA82E2F3FAB}">
      <dgm:prSet/>
      <dgm:spPr/>
      <dgm:t>
        <a:bodyPr/>
        <a:lstStyle/>
        <a:p>
          <a:r>
            <a:rPr lang="en-US" dirty="0"/>
            <a:t>Invalid variables</a:t>
          </a:r>
        </a:p>
      </dgm:t>
    </dgm:pt>
    <dgm:pt modelId="{2B95077D-D97F-4075-AAE8-BE0480F15C5B}" type="parTrans" cxnId="{37F91191-26AF-4DE0-82D7-2CFBEDB1D45A}">
      <dgm:prSet/>
      <dgm:spPr/>
      <dgm:t>
        <a:bodyPr/>
        <a:lstStyle/>
        <a:p>
          <a:endParaRPr lang="en-US"/>
        </a:p>
      </dgm:t>
    </dgm:pt>
    <dgm:pt modelId="{2374D7D1-880F-404E-9E43-551EDC945B13}" type="sibTrans" cxnId="{37F91191-26AF-4DE0-82D7-2CFBEDB1D45A}">
      <dgm:prSet/>
      <dgm:spPr/>
      <dgm:t>
        <a:bodyPr/>
        <a:lstStyle/>
        <a:p>
          <a:endParaRPr lang="en-US"/>
        </a:p>
      </dgm:t>
    </dgm:pt>
    <dgm:pt modelId="{CCE528D6-F660-4452-AB5A-09B037AA664A}">
      <dgm:prSet/>
      <dgm:spPr/>
      <dgm:t>
        <a:bodyPr/>
        <a:lstStyle/>
        <a:p>
          <a:r>
            <a:rPr lang="en-US" altLang="en-US" b="1" dirty="0">
              <a:solidFill>
                <a:srgbClr val="0000FF"/>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123;</a:t>
          </a:r>
          <a:endParaRPr lang="en-US" altLang="en-US" dirty="0"/>
        </a:p>
      </dgm:t>
    </dgm:pt>
    <dgm:pt modelId="{9D10A83E-814E-4D17-A02E-C4AC92EA6746}" type="parTrans" cxnId="{F090F773-2C42-4F99-9456-D309D57409ED}">
      <dgm:prSet/>
      <dgm:spPr/>
      <dgm:t>
        <a:bodyPr/>
        <a:lstStyle/>
        <a:p>
          <a:endParaRPr lang="en-US"/>
        </a:p>
      </dgm:t>
    </dgm:pt>
    <dgm:pt modelId="{049495EB-56F6-46C0-97D4-33DFDF507E31}" type="sibTrans" cxnId="{F090F773-2C42-4F99-9456-D309D57409ED}">
      <dgm:prSet/>
      <dgm:spPr/>
      <dgm:t>
        <a:bodyPr/>
        <a:lstStyle/>
        <a:p>
          <a:endParaRPr lang="en-US"/>
        </a:p>
      </dgm:t>
    </dgm:pt>
    <dgm:pt modelId="{3D5822DA-5289-4FE4-BAC1-0240386A2014}">
      <dgm:prSet/>
      <dgm:spPr/>
      <dgm:t>
        <a:bodyPr/>
        <a:lstStyle/>
        <a:p>
          <a:r>
            <a:rPr lang="en-US" altLang="en-US" b="1" dirty="0">
              <a:solidFill>
                <a:srgbClr val="0000FF"/>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1Variable;</a:t>
          </a:r>
          <a:endParaRPr lang="en-US" altLang="en-US" dirty="0"/>
        </a:p>
      </dgm:t>
    </dgm:pt>
    <dgm:pt modelId="{74E2429D-8ABB-4B1D-BBE3-02B2A9CD4423}" type="parTrans" cxnId="{6A353563-5CA9-4901-A5E1-B2D9381BB8EE}">
      <dgm:prSet/>
      <dgm:spPr/>
      <dgm:t>
        <a:bodyPr/>
        <a:lstStyle/>
        <a:p>
          <a:endParaRPr lang="en-US"/>
        </a:p>
      </dgm:t>
    </dgm:pt>
    <dgm:pt modelId="{D11D8B55-3BC5-4243-B408-718E9C05F5EF}" type="sibTrans" cxnId="{6A353563-5CA9-4901-A5E1-B2D9381BB8EE}">
      <dgm:prSet/>
      <dgm:spPr/>
      <dgm:t>
        <a:bodyPr/>
        <a:lstStyle/>
        <a:p>
          <a:endParaRPr lang="en-US"/>
        </a:p>
      </dgm:t>
    </dgm:pt>
    <dgm:pt modelId="{47D38608-D315-4471-822D-932EE1B4D915}">
      <dgm:prSet/>
      <dgm:spPr/>
      <dgm:t>
        <a:bodyPr/>
        <a:lstStyle/>
        <a:p>
          <a:r>
            <a:rPr lang="en-US" altLang="en-US" b="1" dirty="0">
              <a:solidFill>
                <a:srgbClr val="0000FF"/>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_myVariable$;</a:t>
          </a:r>
          <a:endParaRPr lang="en-US" altLang="en-US" dirty="0"/>
        </a:p>
      </dgm:t>
    </dgm:pt>
    <dgm:pt modelId="{BA182CC4-856A-4436-82DB-8945A5B8D209}" type="parTrans" cxnId="{9978BD8D-FF7A-414C-9537-E34A9B0DBA11}">
      <dgm:prSet/>
      <dgm:spPr/>
      <dgm:t>
        <a:bodyPr/>
        <a:lstStyle/>
        <a:p>
          <a:endParaRPr lang="en-US"/>
        </a:p>
      </dgm:t>
    </dgm:pt>
    <dgm:pt modelId="{40547A7F-F159-4AA4-AE11-94F97D3C553D}" type="sibTrans" cxnId="{9978BD8D-FF7A-414C-9537-E34A9B0DBA11}">
      <dgm:prSet/>
      <dgm:spPr/>
      <dgm:t>
        <a:bodyPr/>
        <a:lstStyle/>
        <a:p>
          <a:endParaRPr lang="en-US"/>
        </a:p>
      </dgm:t>
    </dgm:pt>
    <dgm:pt modelId="{B917543C-F9F0-41F0-8E3F-EA33B1A522F9}">
      <dgm:prSet/>
      <dgm:spPr/>
      <dgm:t>
        <a:bodyPr/>
        <a:lstStyle/>
        <a:p>
          <a:r>
            <a:rPr lang="en-US" altLang="en-US" b="1" dirty="0">
              <a:solidFill>
                <a:srgbClr val="0000FF"/>
              </a:solidFill>
              <a:latin typeface="Courier New" panose="02070309020205020404" pitchFamily="49" charset="0"/>
              <a:cs typeface="Courier New" panose="02070309020205020404" pitchFamily="49" charset="0"/>
            </a:rPr>
            <a:t>int</a:t>
          </a:r>
          <a:r>
            <a:rPr lang="en-US" altLang="en-US" dirty="0">
              <a:solidFill>
                <a:srgbClr val="000000"/>
              </a:solidFill>
              <a:latin typeface="Courier New" panose="02070309020205020404" pitchFamily="49" charset="0"/>
              <a:cs typeface="Courier New" panose="02070309020205020404" pitchFamily="49" charset="0"/>
            </a:rPr>
            <a:t> print;</a:t>
          </a:r>
          <a:endParaRPr lang="en-US" altLang="en-US" dirty="0">
            <a:latin typeface="Arial" panose="020B0604020202020204" pitchFamily="34" charset="0"/>
          </a:endParaRPr>
        </a:p>
      </dgm:t>
    </dgm:pt>
    <dgm:pt modelId="{83B6E1E1-0EE1-413E-BDBD-23C379930E12}" type="parTrans" cxnId="{A4B9359F-64C0-4C84-B7EE-2FCE3FC9D962}">
      <dgm:prSet/>
      <dgm:spPr/>
      <dgm:t>
        <a:bodyPr/>
        <a:lstStyle/>
        <a:p>
          <a:endParaRPr lang="en-US"/>
        </a:p>
      </dgm:t>
    </dgm:pt>
    <dgm:pt modelId="{E2630A6F-ECA3-4C1E-8D61-D1CF3DBB6EA7}" type="sibTrans" cxnId="{A4B9359F-64C0-4C84-B7EE-2FCE3FC9D962}">
      <dgm:prSet/>
      <dgm:spPr/>
      <dgm:t>
        <a:bodyPr/>
        <a:lstStyle/>
        <a:p>
          <a:endParaRPr lang="en-US"/>
        </a:p>
      </dgm:t>
    </dgm:pt>
    <dgm:pt modelId="{5248FB6A-E5E7-4AB9-823E-E6F7FC8E638B}">
      <dgm:prSet/>
      <dgm:spPr/>
      <dgm:t>
        <a:bodyPr/>
        <a:lstStyle/>
        <a:p>
          <a:r>
            <a:rPr lang="en-US" altLang="en-US" dirty="0"/>
            <a:t>For Naming use one these format:</a:t>
          </a:r>
        </a:p>
      </dgm:t>
    </dgm:pt>
    <dgm:pt modelId="{3AF57631-AA0E-4205-89C3-7E44FBE614CA}" type="parTrans" cxnId="{B48E20F2-7C71-499A-9B59-63C64859A356}">
      <dgm:prSet/>
      <dgm:spPr/>
      <dgm:t>
        <a:bodyPr/>
        <a:lstStyle/>
        <a:p>
          <a:endParaRPr lang="en-US"/>
        </a:p>
      </dgm:t>
    </dgm:pt>
    <dgm:pt modelId="{7B2A6663-9F0B-421F-A673-D4F5A461D421}" type="sibTrans" cxnId="{B48E20F2-7C71-499A-9B59-63C64859A356}">
      <dgm:prSet/>
      <dgm:spPr/>
      <dgm:t>
        <a:bodyPr/>
        <a:lstStyle/>
        <a:p>
          <a:endParaRPr lang="en-US"/>
        </a:p>
      </dgm:t>
    </dgm:pt>
    <dgm:pt modelId="{E37A3236-0337-4CB4-A47D-FAEDAEFEE18C}">
      <dgm:prSet/>
      <dgm:spPr/>
      <dgm:t>
        <a:bodyPr/>
        <a:lstStyle/>
        <a:p>
          <a:r>
            <a:rPr lang="en-US" altLang="en-US" dirty="0"/>
            <a:t>camel</a:t>
          </a:r>
          <a:r>
            <a:rPr lang="en-US" altLang="en-US" dirty="0">
              <a:solidFill>
                <a:srgbClr val="FF0000"/>
              </a:solidFill>
            </a:rPr>
            <a:t>C</a:t>
          </a:r>
          <a:r>
            <a:rPr lang="en-US" altLang="en-US" dirty="0"/>
            <a:t>ase </a:t>
          </a:r>
        </a:p>
      </dgm:t>
    </dgm:pt>
    <dgm:pt modelId="{7B0355C0-AABD-4946-AAE1-A6DEF27ABEDE}" type="parTrans" cxnId="{9518800F-2482-4E2A-95CD-31164C92026B}">
      <dgm:prSet/>
      <dgm:spPr/>
      <dgm:t>
        <a:bodyPr/>
        <a:lstStyle/>
        <a:p>
          <a:endParaRPr lang="en-US"/>
        </a:p>
      </dgm:t>
    </dgm:pt>
    <dgm:pt modelId="{189F798E-80EA-41D5-881D-4CDE426A6422}" type="sibTrans" cxnId="{9518800F-2482-4E2A-95CD-31164C92026B}">
      <dgm:prSet/>
      <dgm:spPr/>
      <dgm:t>
        <a:bodyPr/>
        <a:lstStyle/>
        <a:p>
          <a:endParaRPr lang="en-US"/>
        </a:p>
      </dgm:t>
    </dgm:pt>
    <dgm:pt modelId="{F788F9A2-B958-48B1-BF39-B9F106BCE594}">
      <dgm:prSet/>
      <dgm:spPr/>
      <dgm:t>
        <a:bodyPr/>
        <a:lstStyle/>
        <a:p>
          <a:r>
            <a:rPr lang="en-US" altLang="en-US" dirty="0">
              <a:solidFill>
                <a:srgbClr val="FF0000"/>
              </a:solidFill>
            </a:rPr>
            <a:t>C</a:t>
          </a:r>
          <a:r>
            <a:rPr lang="en-US" altLang="en-US" dirty="0"/>
            <a:t>amel</a:t>
          </a:r>
          <a:r>
            <a:rPr lang="en-US" altLang="en-US" dirty="0">
              <a:solidFill>
                <a:srgbClr val="FF0000"/>
              </a:solidFill>
            </a:rPr>
            <a:t>C</a:t>
          </a:r>
          <a:r>
            <a:rPr lang="en-US" altLang="en-US" dirty="0"/>
            <a:t>ase</a:t>
          </a:r>
        </a:p>
      </dgm:t>
    </dgm:pt>
    <dgm:pt modelId="{F8611338-395C-47E6-BBC4-2EFC4C8EEA16}" type="parTrans" cxnId="{B0AB0B2D-E0C0-4673-BD91-103808A2BA73}">
      <dgm:prSet/>
      <dgm:spPr/>
      <dgm:t>
        <a:bodyPr/>
        <a:lstStyle/>
        <a:p>
          <a:endParaRPr lang="en-US"/>
        </a:p>
      </dgm:t>
    </dgm:pt>
    <dgm:pt modelId="{64F71EE3-5912-468F-8A6B-D485E0C65685}" type="sibTrans" cxnId="{B0AB0B2D-E0C0-4673-BD91-103808A2BA73}">
      <dgm:prSet/>
      <dgm:spPr/>
      <dgm:t>
        <a:bodyPr/>
        <a:lstStyle/>
        <a:p>
          <a:endParaRPr lang="en-US"/>
        </a:p>
      </dgm:t>
    </dgm:pt>
    <dgm:pt modelId="{79B04A7F-5D9B-457C-B1CE-F9C5123B169B}">
      <dgm:prSet/>
      <dgm:spPr/>
      <dgm:t>
        <a:bodyPr/>
        <a:lstStyle/>
        <a:p>
          <a:r>
            <a:rPr lang="en-US" altLang="en-US" dirty="0">
              <a:solidFill>
                <a:srgbClr val="FF0000"/>
              </a:solidFill>
            </a:rPr>
            <a:t>C</a:t>
          </a:r>
          <a:r>
            <a:rPr lang="en-US" altLang="en-US" dirty="0"/>
            <a:t>amel</a:t>
          </a:r>
          <a:r>
            <a:rPr lang="en-US" altLang="en-US" dirty="0">
              <a:solidFill>
                <a:srgbClr val="FF0000"/>
              </a:solidFill>
            </a:rPr>
            <a:t>_</a:t>
          </a:r>
          <a:r>
            <a:rPr lang="en-US" altLang="en-US" dirty="0"/>
            <a:t>case</a:t>
          </a:r>
        </a:p>
      </dgm:t>
    </dgm:pt>
    <dgm:pt modelId="{A38617F0-A0DF-4E76-A1D3-FFCDA128872C}" type="parTrans" cxnId="{0D5007DF-E727-4440-9DCC-061D2C29A67F}">
      <dgm:prSet/>
      <dgm:spPr/>
      <dgm:t>
        <a:bodyPr/>
        <a:lstStyle/>
        <a:p>
          <a:endParaRPr lang="en-US"/>
        </a:p>
      </dgm:t>
    </dgm:pt>
    <dgm:pt modelId="{6D27FB1C-3D82-49AC-905A-A3B87B8D4452}" type="sibTrans" cxnId="{0D5007DF-E727-4440-9DCC-061D2C29A67F}">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A84D1460-0812-43C4-943A-3597D1EABB45}" type="pres">
      <dgm:prSet presAssocID="{A2735228-C946-422F-A250-105DE7C057E8}" presName="parentText" presStyleLbl="node1" presStyleIdx="0" presStyleCnt="3">
        <dgm:presLayoutVars>
          <dgm:chMax val="0"/>
          <dgm:bulletEnabled val="1"/>
        </dgm:presLayoutVars>
      </dgm:prSet>
      <dgm:spPr/>
    </dgm:pt>
    <dgm:pt modelId="{4E230471-9414-4D4C-A6B8-216CA17AF4FB}" type="pres">
      <dgm:prSet presAssocID="{A2735228-C946-422F-A250-105DE7C057E8}" presName="childText" presStyleLbl="revTx" presStyleIdx="0" presStyleCnt="3">
        <dgm:presLayoutVars>
          <dgm:bulletEnabled val="1"/>
        </dgm:presLayoutVars>
      </dgm:prSet>
      <dgm:spPr/>
    </dgm:pt>
    <dgm:pt modelId="{CF9BDE73-312D-4F46-880F-581764CA22E4}" type="pres">
      <dgm:prSet presAssocID="{4C591907-55B3-4357-A7F2-BFA82E2F3FAB}" presName="parentText" presStyleLbl="node1" presStyleIdx="1" presStyleCnt="3">
        <dgm:presLayoutVars>
          <dgm:chMax val="0"/>
          <dgm:bulletEnabled val="1"/>
        </dgm:presLayoutVars>
      </dgm:prSet>
      <dgm:spPr/>
    </dgm:pt>
    <dgm:pt modelId="{1562084C-40E1-4232-B370-285736AB9586}" type="pres">
      <dgm:prSet presAssocID="{4C591907-55B3-4357-A7F2-BFA82E2F3FAB}" presName="childText" presStyleLbl="revTx" presStyleIdx="1" presStyleCnt="3">
        <dgm:presLayoutVars>
          <dgm:bulletEnabled val="1"/>
        </dgm:presLayoutVars>
      </dgm:prSet>
      <dgm:spPr/>
    </dgm:pt>
    <dgm:pt modelId="{D41DEA13-E95E-4C6A-B935-583596E36081}" type="pres">
      <dgm:prSet presAssocID="{5248FB6A-E5E7-4AB9-823E-E6F7FC8E638B}" presName="parentText" presStyleLbl="node1" presStyleIdx="2" presStyleCnt="3">
        <dgm:presLayoutVars>
          <dgm:chMax val="0"/>
          <dgm:bulletEnabled val="1"/>
        </dgm:presLayoutVars>
      </dgm:prSet>
      <dgm:spPr/>
    </dgm:pt>
    <dgm:pt modelId="{4EA88C70-002A-410D-A91B-030B6D41B52B}" type="pres">
      <dgm:prSet presAssocID="{5248FB6A-E5E7-4AB9-823E-E6F7FC8E638B}" presName="childText" presStyleLbl="revTx" presStyleIdx="2" presStyleCnt="3">
        <dgm:presLayoutVars>
          <dgm:bulletEnabled val="1"/>
        </dgm:presLayoutVars>
      </dgm:prSet>
      <dgm:spPr/>
    </dgm:pt>
  </dgm:ptLst>
  <dgm:cxnLst>
    <dgm:cxn modelId="{557A150C-B8F6-4FA6-8007-7C08E2C12806}" type="presOf" srcId="{A2735228-C946-422F-A250-105DE7C057E8}" destId="{A84D1460-0812-43C4-943A-3597D1EABB45}" srcOrd="0" destOrd="0" presId="urn:microsoft.com/office/officeart/2005/8/layout/vList2"/>
    <dgm:cxn modelId="{9518800F-2482-4E2A-95CD-31164C92026B}" srcId="{5248FB6A-E5E7-4AB9-823E-E6F7FC8E638B}" destId="{E37A3236-0337-4CB4-A47D-FAEDAEFEE18C}" srcOrd="0" destOrd="0" parTransId="{7B0355C0-AABD-4946-AAE1-A6DEF27ABEDE}" sibTransId="{189F798E-80EA-41D5-881D-4CDE426A6422}"/>
    <dgm:cxn modelId="{73733412-36DF-4780-85BC-D6F4DB2E09E7}" type="presOf" srcId="{4C591907-55B3-4357-A7F2-BFA82E2F3FAB}" destId="{CF9BDE73-312D-4F46-880F-581764CA22E4}" srcOrd="0" destOrd="0" presId="urn:microsoft.com/office/officeart/2005/8/layout/vList2"/>
    <dgm:cxn modelId="{C0C70F1A-0EEA-420A-AC81-DA0510C951A8}" srcId="{A2735228-C946-422F-A250-105DE7C057E8}" destId="{25351524-1FF8-4A75-91CC-780E8B111D17}" srcOrd="3" destOrd="0" parTransId="{4D7BFB99-E53A-4A94-AE9C-41BEBAD3AF4C}" sibTransId="{12238674-B0A4-47DC-ABBA-F8F20F44816F}"/>
    <dgm:cxn modelId="{5C273B1D-0D8C-4B51-AD6F-34D6C0A2D5B0}" type="presOf" srcId="{5248FB6A-E5E7-4AB9-823E-E6F7FC8E638B}" destId="{D41DEA13-E95E-4C6A-B935-583596E36081}" srcOrd="0" destOrd="0" presId="urn:microsoft.com/office/officeart/2005/8/layout/vList2"/>
    <dgm:cxn modelId="{B0AB0B2D-E0C0-4673-BD91-103808A2BA73}" srcId="{5248FB6A-E5E7-4AB9-823E-E6F7FC8E638B}" destId="{F788F9A2-B958-48B1-BF39-B9F106BCE594}" srcOrd="1" destOrd="0" parTransId="{F8611338-395C-47E6-BBC4-2EFC4C8EEA16}" sibTransId="{64F71EE3-5912-468F-8A6B-D485E0C65685}"/>
    <dgm:cxn modelId="{CF499E30-1A30-4F9E-87AB-63AC6F830FE7}" type="presOf" srcId="{79B04A7F-5D9B-457C-B1CE-F9C5123B169B}" destId="{4EA88C70-002A-410D-A91B-030B6D41B52B}" srcOrd="0" destOrd="2" presId="urn:microsoft.com/office/officeart/2005/8/layout/vList2"/>
    <dgm:cxn modelId="{7143E438-AF31-4F4E-BB2E-7EA03FA993F8}" type="presOf" srcId="{E37A3236-0337-4CB4-A47D-FAEDAEFEE18C}" destId="{4EA88C70-002A-410D-A91B-030B6D41B52B}" srcOrd="0" destOrd="0" presId="urn:microsoft.com/office/officeart/2005/8/layout/vList2"/>
    <dgm:cxn modelId="{E3FDB23D-E2B3-4E35-97F9-AFE6BAF28CB1}" type="presOf" srcId="{B917543C-F9F0-41F0-8E3F-EA33B1A522F9}" destId="{1562084C-40E1-4232-B370-285736AB9586}" srcOrd="0" destOrd="3" presId="urn:microsoft.com/office/officeart/2005/8/layout/vList2"/>
    <dgm:cxn modelId="{58717042-01DA-4668-BCC3-F89C12C91598}" type="presOf" srcId="{D6A0AB62-BF0E-4354-A2B8-04E18E3E3BD6}" destId="{4E230471-9414-4D4C-A6B8-216CA17AF4FB}" srcOrd="0" destOrd="1" presId="urn:microsoft.com/office/officeart/2005/8/layout/vList2"/>
    <dgm:cxn modelId="{1F1C1663-6E83-4229-9C46-595C5879EB70}" type="presOf" srcId="{47D38608-D315-4471-822D-932EE1B4D915}" destId="{1562084C-40E1-4232-B370-285736AB9586}" srcOrd="0" destOrd="2" presId="urn:microsoft.com/office/officeart/2005/8/layout/vList2"/>
    <dgm:cxn modelId="{6A353563-5CA9-4901-A5E1-B2D9381BB8EE}" srcId="{4C591907-55B3-4357-A7F2-BFA82E2F3FAB}" destId="{3D5822DA-5289-4FE4-BAC1-0240386A2014}" srcOrd="1" destOrd="0" parTransId="{74E2429D-8ABB-4B1D-BBE3-02B2A9CD4423}" sibTransId="{D11D8B55-3BC5-4243-B408-718E9C05F5EF}"/>
    <dgm:cxn modelId="{9E3D9B4D-1023-4A2A-AF5F-E3027731E134}" type="presOf" srcId="{90119837-5B71-4D44-BB01-DB0B084933C8}" destId="{ED5DCCC5-BCA8-4491-AA37-BAF153ECA184}" srcOrd="0" destOrd="0" presId="urn:microsoft.com/office/officeart/2005/8/layout/vList2"/>
    <dgm:cxn modelId="{F090F773-2C42-4F99-9456-D309D57409ED}" srcId="{4C591907-55B3-4357-A7F2-BFA82E2F3FAB}" destId="{CCE528D6-F660-4452-AB5A-09B037AA664A}" srcOrd="0" destOrd="0" parTransId="{9D10A83E-814E-4D17-A02E-C4AC92EA6746}" sibTransId="{049495EB-56F6-46C0-97D4-33DFDF507E31}"/>
    <dgm:cxn modelId="{31840974-DF98-4666-A40A-81F0365D1C5F}" type="presOf" srcId="{25286B9A-2B70-4F33-BBEB-90C5590D6742}" destId="{4E230471-9414-4D4C-A6B8-216CA17AF4FB}" srcOrd="0" destOrd="2" presId="urn:microsoft.com/office/officeart/2005/8/layout/vList2"/>
    <dgm:cxn modelId="{9B16E275-9BD9-4393-969A-9287CF0DEC29}" srcId="{A2735228-C946-422F-A250-105DE7C057E8}" destId="{25286B9A-2B70-4F33-BBEB-90C5590D6742}" srcOrd="2" destOrd="0" parTransId="{6D5E40FD-083D-4B63-B740-5BE272CD9B8D}" sibTransId="{769C9882-1182-4B67-833E-62DA9EF2EA35}"/>
    <dgm:cxn modelId="{CE286C80-8747-460D-AA61-A302CC9172AF}" type="presOf" srcId="{25351524-1FF8-4A75-91CC-780E8B111D17}" destId="{4E230471-9414-4D4C-A6B8-216CA17AF4FB}" srcOrd="0" destOrd="3" presId="urn:microsoft.com/office/officeart/2005/8/layout/vList2"/>
    <dgm:cxn modelId="{9978BD8D-FF7A-414C-9537-E34A9B0DBA11}" srcId="{4C591907-55B3-4357-A7F2-BFA82E2F3FAB}" destId="{47D38608-D315-4471-822D-932EE1B4D915}" srcOrd="2" destOrd="0" parTransId="{BA182CC4-856A-4436-82DB-8945A5B8D209}" sibTransId="{40547A7F-F159-4AA4-AE11-94F97D3C553D}"/>
    <dgm:cxn modelId="{37F91191-26AF-4DE0-82D7-2CFBEDB1D45A}" srcId="{90119837-5B71-4D44-BB01-DB0B084933C8}" destId="{4C591907-55B3-4357-A7F2-BFA82E2F3FAB}" srcOrd="1" destOrd="0" parTransId="{2B95077D-D97F-4075-AAE8-BE0480F15C5B}" sibTransId="{2374D7D1-880F-404E-9E43-551EDC945B13}"/>
    <dgm:cxn modelId="{AB6EC394-ACB0-4353-9358-099C8B362577}" type="presOf" srcId="{CCE528D6-F660-4452-AB5A-09B037AA664A}" destId="{1562084C-40E1-4232-B370-285736AB9586}" srcOrd="0" destOrd="0" presId="urn:microsoft.com/office/officeart/2005/8/layout/vList2"/>
    <dgm:cxn modelId="{A4B9359F-64C0-4C84-B7EE-2FCE3FC9D962}" srcId="{4C591907-55B3-4357-A7F2-BFA82E2F3FAB}" destId="{B917543C-F9F0-41F0-8E3F-EA33B1A522F9}" srcOrd="3" destOrd="0" parTransId="{83B6E1E1-0EE1-413E-BDBD-23C379930E12}" sibTransId="{E2630A6F-ECA3-4C1E-8D61-D1CF3DBB6EA7}"/>
    <dgm:cxn modelId="{246972A0-614E-441C-B9F3-7D64AFD35AF3}" type="presOf" srcId="{F788F9A2-B958-48B1-BF39-B9F106BCE594}" destId="{4EA88C70-002A-410D-A91B-030B6D41B52B}" srcOrd="0" destOrd="1" presId="urn:microsoft.com/office/officeart/2005/8/layout/vList2"/>
    <dgm:cxn modelId="{039E8AA3-1CC2-4853-A18B-4F6CC3E6376D}" type="presOf" srcId="{45D2EF38-B20C-4183-952C-865B6AA01B59}" destId="{4E230471-9414-4D4C-A6B8-216CA17AF4FB}" srcOrd="0" destOrd="0" presId="urn:microsoft.com/office/officeart/2005/8/layout/vList2"/>
    <dgm:cxn modelId="{F2BF92C4-B2F3-4476-829B-7FD9CAD0432B}" srcId="{A2735228-C946-422F-A250-105DE7C057E8}" destId="{D6A0AB62-BF0E-4354-A2B8-04E18E3E3BD6}" srcOrd="1" destOrd="0" parTransId="{1745D692-5435-4812-9699-1E3CFD486092}" sibTransId="{BD2061FE-FA91-4ECF-A650-335242E1A3A2}"/>
    <dgm:cxn modelId="{EA7495CD-86E2-4886-8AE5-6A0885377D22}" srcId="{A2735228-C946-422F-A250-105DE7C057E8}" destId="{45D2EF38-B20C-4183-952C-865B6AA01B59}" srcOrd="0" destOrd="0" parTransId="{47BFF095-2667-4EDD-A434-CC76099E7091}" sibTransId="{8321DB9C-9AE9-4C42-957F-AE1FFB7BE9C6}"/>
    <dgm:cxn modelId="{2F26DED2-D598-48E4-8EB0-4A5F32755CC9}" srcId="{90119837-5B71-4D44-BB01-DB0B084933C8}" destId="{A2735228-C946-422F-A250-105DE7C057E8}" srcOrd="0" destOrd="0" parTransId="{DAB2D874-0885-4157-858D-F57D01555F2E}" sibTransId="{AC472298-830A-4C33-87ED-7C575725BFB1}"/>
    <dgm:cxn modelId="{0D5007DF-E727-4440-9DCC-061D2C29A67F}" srcId="{5248FB6A-E5E7-4AB9-823E-E6F7FC8E638B}" destId="{79B04A7F-5D9B-457C-B1CE-F9C5123B169B}" srcOrd="2" destOrd="0" parTransId="{A38617F0-A0DF-4E76-A1D3-FFCDA128872C}" sibTransId="{6D27FB1C-3D82-49AC-905A-A3B87B8D4452}"/>
    <dgm:cxn modelId="{B48E20F2-7C71-499A-9B59-63C64859A356}" srcId="{90119837-5B71-4D44-BB01-DB0B084933C8}" destId="{5248FB6A-E5E7-4AB9-823E-E6F7FC8E638B}" srcOrd="2" destOrd="0" parTransId="{3AF57631-AA0E-4205-89C3-7E44FBE614CA}" sibTransId="{7B2A6663-9F0B-421F-A673-D4F5A461D421}"/>
    <dgm:cxn modelId="{A970A2F3-E008-4349-9285-25D26194CB9D}" type="presOf" srcId="{3D5822DA-5289-4FE4-BAC1-0240386A2014}" destId="{1562084C-40E1-4232-B370-285736AB9586}" srcOrd="0" destOrd="1" presId="urn:microsoft.com/office/officeart/2005/8/layout/vList2"/>
    <dgm:cxn modelId="{8BE8598E-46CD-4FC7-AE3B-9355C822C9C4}" type="presParOf" srcId="{ED5DCCC5-BCA8-4491-AA37-BAF153ECA184}" destId="{A84D1460-0812-43C4-943A-3597D1EABB45}" srcOrd="0" destOrd="0" presId="urn:microsoft.com/office/officeart/2005/8/layout/vList2"/>
    <dgm:cxn modelId="{A8469A42-0C77-40B6-A44F-EBED807727DE}" type="presParOf" srcId="{ED5DCCC5-BCA8-4491-AA37-BAF153ECA184}" destId="{4E230471-9414-4D4C-A6B8-216CA17AF4FB}" srcOrd="1" destOrd="0" presId="urn:microsoft.com/office/officeart/2005/8/layout/vList2"/>
    <dgm:cxn modelId="{C70BC7AA-B3B7-498F-852E-E7FC4DC6EA00}" type="presParOf" srcId="{ED5DCCC5-BCA8-4491-AA37-BAF153ECA184}" destId="{CF9BDE73-312D-4F46-880F-581764CA22E4}" srcOrd="2" destOrd="0" presId="urn:microsoft.com/office/officeart/2005/8/layout/vList2"/>
    <dgm:cxn modelId="{D06CC48F-6034-4694-BD3D-1CAE7D0B3E1E}" type="presParOf" srcId="{ED5DCCC5-BCA8-4491-AA37-BAF153ECA184}" destId="{1562084C-40E1-4232-B370-285736AB9586}" srcOrd="3" destOrd="0" presId="urn:microsoft.com/office/officeart/2005/8/layout/vList2"/>
    <dgm:cxn modelId="{EECB4609-A994-4C0A-BFDC-F4E4DD8501C5}" type="presParOf" srcId="{ED5DCCC5-BCA8-4491-AA37-BAF153ECA184}" destId="{D41DEA13-E95E-4C6A-B935-583596E36081}" srcOrd="4" destOrd="0" presId="urn:microsoft.com/office/officeart/2005/8/layout/vList2"/>
    <dgm:cxn modelId="{FA789420-79DB-473B-AD5D-7856A5BEFCCC}" type="presParOf" srcId="{ED5DCCC5-BCA8-4491-AA37-BAF153ECA184}" destId="{4EA88C70-002A-410D-A91B-030B6D41B52B}"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9D5B7B-F37C-49B9-BF51-0B9510396805}">
      <dgm:prSet/>
      <dgm:spPr/>
      <dgm:t>
        <a:bodyPr/>
        <a:lstStyle/>
        <a:p>
          <a:r>
            <a:rPr lang="en-US" u="none" dirty="0"/>
            <a:t>Definition</a:t>
          </a:r>
        </a:p>
      </dgm:t>
    </dgm:pt>
    <dgm:pt modelId="{7386A505-AAB7-4873-8418-958FAFBF7C34}" type="parTrans" cxnId="{4B0D9525-5940-45B3-AFDF-35C02B7981FE}">
      <dgm:prSet/>
      <dgm:spPr/>
      <dgm:t>
        <a:bodyPr/>
        <a:lstStyle/>
        <a:p>
          <a:endParaRPr lang="en-US"/>
        </a:p>
      </dgm:t>
    </dgm:pt>
    <dgm:pt modelId="{01C548DB-0EA5-41B7-89F2-14F70538CE37}" type="sibTrans" cxnId="{4B0D9525-5940-45B3-AFDF-35C02B7981FE}">
      <dgm:prSet/>
      <dgm:spPr/>
      <dgm:t>
        <a:bodyPr/>
        <a:lstStyle/>
        <a:p>
          <a:endParaRPr lang="en-US"/>
        </a:p>
      </dgm:t>
    </dgm:pt>
    <dgm:pt modelId="{A9FD8DFF-3E9D-40C1-B6CF-FCD9CAAA4390}">
      <dgm:prSet/>
      <dgm:spPr/>
      <dgm:t>
        <a:bodyPr/>
        <a:lstStyle/>
        <a:p>
          <a:r>
            <a:rPr lang="en-US" dirty="0"/>
            <a:t>General format is </a:t>
          </a:r>
          <a:r>
            <a:rPr lang="en-US" dirty="0">
              <a:latin typeface="Courier New" pitchFamily="49" charset="0"/>
              <a:cs typeface="Courier New" pitchFamily="49" charset="0"/>
            </a:rPr>
            <a:t>variable = expression</a:t>
          </a:r>
        </a:p>
      </dgm:t>
    </dgm:pt>
    <dgm:pt modelId="{46E6A636-E234-4DF3-BA1F-84BFF72FBE61}" type="parTrans" cxnId="{18212BC1-9AD7-4557-BA11-0139F680DBF7}">
      <dgm:prSet/>
      <dgm:spPr/>
      <dgm:t>
        <a:bodyPr/>
        <a:lstStyle/>
        <a:p>
          <a:endParaRPr lang="en-US"/>
        </a:p>
      </dgm:t>
    </dgm:pt>
    <dgm:pt modelId="{B277B496-818B-42A4-B17D-2E6579267A45}" type="sibTrans" cxnId="{18212BC1-9AD7-4557-BA11-0139F680DBF7}">
      <dgm:prSet/>
      <dgm:spPr/>
      <dgm:t>
        <a:bodyPr/>
        <a:lstStyle/>
        <a:p>
          <a:endParaRPr lang="en-US"/>
        </a:p>
      </dgm:t>
    </dgm:pt>
    <dgm:pt modelId="{FF0D7A22-FA9E-402D-BE75-AE0F43D9037B}">
      <dgm:prSet/>
      <dgm:spPr/>
      <dgm:t>
        <a:bodyPr/>
        <a:lstStyle/>
        <a:p>
          <a:r>
            <a:rPr lang="en-US" dirty="0"/>
            <a:t>Example:</a:t>
          </a:r>
          <a:endParaRPr lang="en-US" dirty="0">
            <a:latin typeface="Courier New" pitchFamily="49" charset="0"/>
            <a:cs typeface="Courier New" pitchFamily="49" charset="0"/>
          </a:endParaRPr>
        </a:p>
      </dgm:t>
    </dgm:pt>
    <dgm:pt modelId="{86C7C7E6-1ECE-4BC1-B67F-DCD7BB191F73}" type="parTrans" cxnId="{7660AE90-8C64-4572-98C5-FD235ED64F61}">
      <dgm:prSet/>
      <dgm:spPr/>
      <dgm:t>
        <a:bodyPr/>
        <a:lstStyle/>
        <a:p>
          <a:endParaRPr lang="en-US"/>
        </a:p>
      </dgm:t>
    </dgm:pt>
    <dgm:pt modelId="{0D723DE2-7A02-4B01-BB54-443879461763}" type="sibTrans" cxnId="{7660AE90-8C64-4572-98C5-FD235ED64F61}">
      <dgm:prSet/>
      <dgm:spPr/>
      <dgm:t>
        <a:bodyPr/>
        <a:lstStyle/>
        <a:p>
          <a:endParaRPr lang="en-US"/>
        </a:p>
      </dgm:t>
    </dgm:pt>
    <dgm:pt modelId="{D714F126-07B3-4915-8BB8-396C1DCBAA54}">
      <dgm:prSet/>
      <dgm:spPr/>
      <dgm:t>
        <a:bodyPr/>
        <a:lstStyle/>
        <a:p>
          <a:r>
            <a:rPr lang="en-US" dirty="0"/>
            <a:t>Used to create a variable and make it reference data</a:t>
          </a:r>
        </a:p>
      </dgm:t>
    </dgm:pt>
    <dgm:pt modelId="{C3AD6223-5BBC-43E9-9858-300CD1593D4B}" type="parTrans" cxnId="{E75BB745-9452-4CD1-8E52-7BC3F40D5A58}">
      <dgm:prSet/>
      <dgm:spPr/>
      <dgm:t>
        <a:bodyPr/>
        <a:lstStyle/>
        <a:p>
          <a:endParaRPr lang="en-US"/>
        </a:p>
      </dgm:t>
    </dgm:pt>
    <dgm:pt modelId="{669F1A46-F258-4FBF-805B-61F100B013B4}" type="sibTrans" cxnId="{E75BB745-9452-4CD1-8E52-7BC3F40D5A58}">
      <dgm:prSet/>
      <dgm:spPr/>
      <dgm:t>
        <a:bodyPr/>
        <a:lstStyle/>
        <a:p>
          <a:endParaRPr lang="en-US"/>
        </a:p>
      </dgm:t>
    </dgm:pt>
    <dgm:pt modelId="{C2DBF7A7-9056-471B-9A44-D79B7DD308B2}">
      <dgm:prSet/>
      <dgm:spPr/>
      <dgm:t>
        <a:bodyPr/>
        <a:lstStyle/>
        <a:p>
          <a:r>
            <a:rPr lang="en-US" altLang="en-US" dirty="0"/>
            <a:t>In assignment statement, variable receiving value must be on </a:t>
          </a:r>
          <a:r>
            <a:rPr lang="en-US" altLang="en-US" dirty="0">
              <a:solidFill>
                <a:srgbClr val="FF0000"/>
              </a:solidFill>
            </a:rPr>
            <a:t>left</a:t>
          </a:r>
          <a:r>
            <a:rPr lang="en-US" altLang="en-US" dirty="0"/>
            <a:t> side</a:t>
          </a:r>
          <a:endParaRPr lang="he-IL" dirty="0">
            <a:latin typeface="+mj-lt"/>
            <a:cs typeface="Courier New" pitchFamily="49" charset="0"/>
          </a:endParaRPr>
        </a:p>
      </dgm:t>
    </dgm:pt>
    <dgm:pt modelId="{DC5D2059-3C3B-478F-B129-DAF9559E3880}" type="parTrans" cxnId="{629997E9-2912-4B90-BE49-43E0640FD0A7}">
      <dgm:prSet/>
      <dgm:spPr/>
      <dgm:t>
        <a:bodyPr/>
        <a:lstStyle/>
        <a:p>
          <a:endParaRPr lang="en-US"/>
        </a:p>
      </dgm:t>
    </dgm:pt>
    <dgm:pt modelId="{83F3FC12-3FA9-48EE-B2EC-27BA02C16547}" type="sibTrans" cxnId="{629997E9-2912-4B90-BE49-43E0640FD0A7}">
      <dgm:prSet/>
      <dgm:spPr/>
      <dgm:t>
        <a:bodyPr/>
        <a:lstStyle/>
        <a:p>
          <a:endParaRPr lang="en-US"/>
        </a:p>
      </dgm:t>
    </dgm:pt>
    <dgm:pt modelId="{64FB0EA4-FC98-4FD8-B75C-6FB3DDE07855}">
      <dgm:prSet/>
      <dgm:spPr/>
      <dgm:t>
        <a:bodyPr/>
        <a:lstStyle/>
        <a:p>
          <a:r>
            <a:rPr lang="en-US" altLang="en-US" b="0" dirty="0"/>
            <a:t>A variable in Python can refer to items of any </a:t>
          </a:r>
          <a:r>
            <a:rPr lang="en-US" altLang="en-US" b="0" dirty="0">
              <a:solidFill>
                <a:srgbClr val="FF0000"/>
              </a:solidFill>
            </a:rPr>
            <a:t>data</a:t>
          </a:r>
          <a:r>
            <a:rPr lang="en-US" altLang="en-US" b="0" dirty="0"/>
            <a:t> type</a:t>
          </a:r>
          <a:endParaRPr lang="he-IL" dirty="0">
            <a:latin typeface="+mj-lt"/>
            <a:cs typeface="Courier New" pitchFamily="49" charset="0"/>
          </a:endParaRPr>
        </a:p>
      </dgm:t>
    </dgm:pt>
    <dgm:pt modelId="{32B8E027-ABC7-496C-8CF9-83C37F28DB44}" type="parTrans" cxnId="{369EC746-56CA-4ABC-9CF4-DE4704C2DB38}">
      <dgm:prSet/>
      <dgm:spPr/>
      <dgm:t>
        <a:bodyPr/>
        <a:lstStyle/>
        <a:p>
          <a:endParaRPr lang="en-US"/>
        </a:p>
      </dgm:t>
    </dgm:pt>
    <dgm:pt modelId="{6BCE403E-007E-4EA2-8054-3496928A1EC0}" type="sibTrans" cxnId="{369EC746-56CA-4ABC-9CF4-DE4704C2DB38}">
      <dgm:prSet/>
      <dgm:spPr/>
      <dgm:t>
        <a:bodyPr/>
        <a:lstStyle/>
        <a:p>
          <a:endParaRPr lang="en-US"/>
        </a:p>
      </dgm:t>
    </dgm:pt>
    <dgm:pt modelId="{042A9643-AD17-4D94-AE86-DFD56AD784B2}">
      <dgm:prSet/>
      <dgm:spPr/>
      <dgm:t>
        <a:bodyPr/>
        <a:lstStyle/>
        <a:p>
          <a:r>
            <a:rPr lang="en-US" dirty="0"/>
            <a:t>counter </a:t>
          </a:r>
          <a:r>
            <a:rPr lang="en-US" dirty="0">
              <a:solidFill>
                <a:srgbClr val="FF0000"/>
              </a:solidFill>
            </a:rPr>
            <a:t>=</a:t>
          </a:r>
          <a:r>
            <a:rPr lang="en-US" dirty="0"/>
            <a:t> 100 # An integer</a:t>
          </a:r>
          <a:endParaRPr lang="en-US" dirty="0">
            <a:latin typeface="Courier New" pitchFamily="49" charset="0"/>
            <a:cs typeface="Courier New" pitchFamily="49" charset="0"/>
          </a:endParaRPr>
        </a:p>
      </dgm:t>
    </dgm:pt>
    <dgm:pt modelId="{86B4183F-17BF-41DE-B120-A95EEF600633}" type="parTrans" cxnId="{923E25D2-D493-4C29-9591-FF27B76E81F1}">
      <dgm:prSet/>
      <dgm:spPr/>
      <dgm:t>
        <a:bodyPr/>
        <a:lstStyle/>
        <a:p>
          <a:endParaRPr lang="en-US"/>
        </a:p>
      </dgm:t>
    </dgm:pt>
    <dgm:pt modelId="{672910F5-D155-46E3-930E-7854F09836BE}" type="sibTrans" cxnId="{923E25D2-D493-4C29-9591-FF27B76E81F1}">
      <dgm:prSet/>
      <dgm:spPr/>
      <dgm:t>
        <a:bodyPr/>
        <a:lstStyle/>
        <a:p>
          <a:endParaRPr lang="en-US"/>
        </a:p>
      </dgm:t>
    </dgm:pt>
    <dgm:pt modelId="{63F4868F-335C-4927-B9F8-E68A0249BBB0}">
      <dgm:prSet/>
      <dgm:spPr/>
      <dgm:t>
        <a:bodyPr/>
        <a:lstStyle/>
        <a:p>
          <a:r>
            <a:rPr lang="en-US" dirty="0"/>
            <a:t>miles </a:t>
          </a:r>
          <a:r>
            <a:rPr lang="en-US" dirty="0">
              <a:solidFill>
                <a:srgbClr val="FF0000"/>
              </a:solidFill>
            </a:rPr>
            <a:t>=</a:t>
          </a:r>
          <a:r>
            <a:rPr lang="en-US" dirty="0"/>
            <a:t> 1000.0 # A floating point</a:t>
          </a:r>
          <a:endParaRPr lang="en-US" dirty="0">
            <a:latin typeface="Courier New" pitchFamily="49" charset="0"/>
            <a:cs typeface="Courier New" pitchFamily="49" charset="0"/>
          </a:endParaRPr>
        </a:p>
      </dgm:t>
    </dgm:pt>
    <dgm:pt modelId="{76FAA707-C9D0-4D33-BA29-D5C2B8C9EBEA}" type="parTrans" cxnId="{90ED7B03-80E8-4752-BC43-AA9FC1EED85B}">
      <dgm:prSet/>
      <dgm:spPr/>
      <dgm:t>
        <a:bodyPr/>
        <a:lstStyle/>
        <a:p>
          <a:endParaRPr lang="en-US"/>
        </a:p>
      </dgm:t>
    </dgm:pt>
    <dgm:pt modelId="{D6D616C4-8395-4B13-A7D2-3AC762B376BF}" type="sibTrans" cxnId="{90ED7B03-80E8-4752-BC43-AA9FC1EED85B}">
      <dgm:prSet/>
      <dgm:spPr/>
      <dgm:t>
        <a:bodyPr/>
        <a:lstStyle/>
        <a:p>
          <a:endParaRPr lang="en-US"/>
        </a:p>
      </dgm:t>
    </dgm:pt>
    <dgm:pt modelId="{082528A1-1458-4ECF-84E5-8D1C6D2A683D}">
      <dgm:prSet/>
      <dgm:spPr/>
      <dgm:t>
        <a:bodyPr/>
        <a:lstStyle/>
        <a:p>
          <a:r>
            <a:rPr lang="en-US" dirty="0"/>
            <a:t>name </a:t>
          </a:r>
          <a:r>
            <a:rPr lang="en-US" dirty="0">
              <a:solidFill>
                <a:srgbClr val="FF0000"/>
              </a:solidFill>
            </a:rPr>
            <a:t>=</a:t>
          </a:r>
          <a:r>
            <a:rPr lang="en-US" dirty="0"/>
            <a:t> "John" # A string</a:t>
          </a:r>
          <a:endParaRPr lang="en-US" dirty="0">
            <a:latin typeface="Courier New" pitchFamily="49" charset="0"/>
            <a:cs typeface="Courier New" pitchFamily="49" charset="0"/>
          </a:endParaRPr>
        </a:p>
      </dgm:t>
    </dgm:pt>
    <dgm:pt modelId="{067881C4-A05E-49E4-8019-51D563A4740C}" type="parTrans" cxnId="{A4B3DC87-907E-4B13-8C80-7B4822344049}">
      <dgm:prSet/>
      <dgm:spPr/>
      <dgm:t>
        <a:bodyPr/>
        <a:lstStyle/>
        <a:p>
          <a:endParaRPr lang="en-US"/>
        </a:p>
      </dgm:t>
    </dgm:pt>
    <dgm:pt modelId="{EB86666D-5350-437E-A9E2-CEC3B2A7B3F0}" type="sibTrans" cxnId="{A4B3DC87-907E-4B13-8C80-7B4822344049}">
      <dgm:prSet/>
      <dgm:spPr/>
      <dgm:t>
        <a:bodyPr/>
        <a:lstStyle/>
        <a:p>
          <a:endParaRPr lang="en-US"/>
        </a:p>
      </dgm:t>
    </dgm:pt>
    <dgm:pt modelId="{E5CF7A0F-E705-4A73-9ABA-AA3F8FE4BA8F}">
      <dgm:prSet/>
      <dgm:spPr/>
      <dgm:t>
        <a:bodyPr/>
        <a:lstStyle/>
        <a:p>
          <a:r>
            <a:rPr lang="en-US" u="none" dirty="0">
              <a:latin typeface="Courier New" pitchFamily="49" charset="0"/>
              <a:cs typeface="Courier New" pitchFamily="49" charset="0"/>
            </a:rPr>
            <a:t>Assignment operator</a:t>
          </a:r>
          <a:r>
            <a:rPr lang="en-US" dirty="0">
              <a:latin typeface="Courier New" pitchFamily="49" charset="0"/>
              <a:cs typeface="Courier New" pitchFamily="49" charset="0"/>
            </a:rPr>
            <a:t>: the equal sign (</a:t>
          </a:r>
          <a:r>
            <a:rPr lang="en-US" dirty="0">
              <a:solidFill>
                <a:srgbClr val="FF0000"/>
              </a:solidFill>
              <a:latin typeface="Courier New" pitchFamily="49" charset="0"/>
              <a:cs typeface="Courier New" pitchFamily="49" charset="0"/>
            </a:rPr>
            <a:t>=</a:t>
          </a:r>
          <a:r>
            <a:rPr lang="en-US" dirty="0">
              <a:latin typeface="Courier New" pitchFamily="49" charset="0"/>
              <a:cs typeface="Courier New" pitchFamily="49" charset="0"/>
            </a:rPr>
            <a:t>)</a:t>
          </a:r>
        </a:p>
      </dgm:t>
    </dgm:pt>
    <dgm:pt modelId="{9144AE69-3D4A-45D3-AC82-3FC10F91FFA6}" type="parTrans" cxnId="{709F99A2-9E2B-42E2-803E-FB47C618202F}">
      <dgm:prSet/>
      <dgm:spPr/>
      <dgm:t>
        <a:bodyPr/>
        <a:lstStyle/>
        <a:p>
          <a:endParaRPr lang="en-US"/>
        </a:p>
      </dgm:t>
    </dgm:pt>
    <dgm:pt modelId="{F679E6A4-3D30-43CE-8177-86A8853F75B8}" type="sibTrans" cxnId="{709F99A2-9E2B-42E2-803E-FB47C618202F}">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79FA60E-65AD-408F-A5A8-F32F2B7AFA9E}" type="pres">
      <dgm:prSet presAssocID="{BA9D5B7B-F37C-49B9-BF51-0B9510396805}" presName="parentText" presStyleLbl="node1" presStyleIdx="0" presStyleCnt="1">
        <dgm:presLayoutVars>
          <dgm:chMax val="0"/>
          <dgm:bulletEnabled val="1"/>
        </dgm:presLayoutVars>
      </dgm:prSet>
      <dgm:spPr/>
    </dgm:pt>
    <dgm:pt modelId="{BF3DEE7C-A0D1-47AC-AEE1-254DCD98C2B7}" type="pres">
      <dgm:prSet presAssocID="{BA9D5B7B-F37C-49B9-BF51-0B9510396805}" presName="childText" presStyleLbl="revTx" presStyleIdx="0" presStyleCnt="1">
        <dgm:presLayoutVars>
          <dgm:bulletEnabled val="1"/>
        </dgm:presLayoutVars>
      </dgm:prSet>
      <dgm:spPr/>
    </dgm:pt>
  </dgm:ptLst>
  <dgm:cxnLst>
    <dgm:cxn modelId="{90ED7B03-80E8-4752-BC43-AA9FC1EED85B}" srcId="{FF0D7A22-FA9E-402D-BE75-AE0F43D9037B}" destId="{63F4868F-335C-4927-B9F8-E68A0249BBB0}" srcOrd="1" destOrd="0" parTransId="{76FAA707-C9D0-4D33-BA29-D5C2B8C9EBEA}" sibTransId="{D6D616C4-8395-4B13-A7D2-3AC762B376BF}"/>
    <dgm:cxn modelId="{4B0D9525-5940-45B3-AFDF-35C02B7981FE}" srcId="{90119837-5B71-4D44-BB01-DB0B084933C8}" destId="{BA9D5B7B-F37C-49B9-BF51-0B9510396805}" srcOrd="0" destOrd="0" parTransId="{7386A505-AAB7-4873-8418-958FAFBF7C34}" sibTransId="{01C548DB-0EA5-41B7-89F2-14F70538CE37}"/>
    <dgm:cxn modelId="{E6FEA32B-9141-4DFB-B937-FA086D99D472}" type="presOf" srcId="{90119837-5B71-4D44-BB01-DB0B084933C8}" destId="{ED5DCCC5-BCA8-4491-AA37-BAF153ECA184}" srcOrd="0" destOrd="0" presId="urn:microsoft.com/office/officeart/2005/8/layout/vList2"/>
    <dgm:cxn modelId="{5BE3032D-6321-4CFC-AE9D-990B9F8F715C}" type="presOf" srcId="{BA9D5B7B-F37C-49B9-BF51-0B9510396805}" destId="{079FA60E-65AD-408F-A5A8-F32F2B7AFA9E}" srcOrd="0" destOrd="0" presId="urn:microsoft.com/office/officeart/2005/8/layout/vList2"/>
    <dgm:cxn modelId="{5543A45C-D6AC-4354-A59A-9E6944DDEFCB}" type="presOf" srcId="{FF0D7A22-FA9E-402D-BE75-AE0F43D9037B}" destId="{BF3DEE7C-A0D1-47AC-AEE1-254DCD98C2B7}" srcOrd="0" destOrd="3" presId="urn:microsoft.com/office/officeart/2005/8/layout/vList2"/>
    <dgm:cxn modelId="{57303663-0312-4934-B2F0-72BA9627053A}" type="presOf" srcId="{A9FD8DFF-3E9D-40C1-B6CF-FCD9CAAA4390}" destId="{BF3DEE7C-A0D1-47AC-AEE1-254DCD98C2B7}" srcOrd="0" destOrd="1" presId="urn:microsoft.com/office/officeart/2005/8/layout/vList2"/>
    <dgm:cxn modelId="{E75BB745-9452-4CD1-8E52-7BC3F40D5A58}" srcId="{BA9D5B7B-F37C-49B9-BF51-0B9510396805}" destId="{D714F126-07B3-4915-8BB8-396C1DCBAA54}" srcOrd="0" destOrd="0" parTransId="{C3AD6223-5BBC-43E9-9858-300CD1593D4B}" sibTransId="{669F1A46-F258-4FBF-805B-61F100B013B4}"/>
    <dgm:cxn modelId="{369EC746-56CA-4ABC-9CF4-DE4704C2DB38}" srcId="{BA9D5B7B-F37C-49B9-BF51-0B9510396805}" destId="{64FB0EA4-FC98-4FD8-B75C-6FB3DDE07855}" srcOrd="5" destOrd="0" parTransId="{32B8E027-ABC7-496C-8CF9-83C37F28DB44}" sibTransId="{6BCE403E-007E-4EA2-8054-3496928A1EC0}"/>
    <dgm:cxn modelId="{66751B49-B4CF-432E-8F56-C1F1E679E61F}" type="presOf" srcId="{042A9643-AD17-4D94-AE86-DFD56AD784B2}" destId="{BF3DEE7C-A0D1-47AC-AEE1-254DCD98C2B7}" srcOrd="0" destOrd="4" presId="urn:microsoft.com/office/officeart/2005/8/layout/vList2"/>
    <dgm:cxn modelId="{A4B3DC87-907E-4B13-8C80-7B4822344049}" srcId="{FF0D7A22-FA9E-402D-BE75-AE0F43D9037B}" destId="{082528A1-1458-4ECF-84E5-8D1C6D2A683D}" srcOrd="2" destOrd="0" parTransId="{067881C4-A05E-49E4-8019-51D563A4740C}" sibTransId="{EB86666D-5350-437E-A9E2-CEC3B2A7B3F0}"/>
    <dgm:cxn modelId="{F142C48E-834B-47B2-A40F-CB99324EC70B}" type="presOf" srcId="{63F4868F-335C-4927-B9F8-E68A0249BBB0}" destId="{BF3DEE7C-A0D1-47AC-AEE1-254DCD98C2B7}" srcOrd="0" destOrd="5" presId="urn:microsoft.com/office/officeart/2005/8/layout/vList2"/>
    <dgm:cxn modelId="{A7A9D68F-5D60-4756-AF9E-27BED231AA38}" type="presOf" srcId="{082528A1-1458-4ECF-84E5-8D1C6D2A683D}" destId="{BF3DEE7C-A0D1-47AC-AEE1-254DCD98C2B7}" srcOrd="0" destOrd="6" presId="urn:microsoft.com/office/officeart/2005/8/layout/vList2"/>
    <dgm:cxn modelId="{7660AE90-8C64-4572-98C5-FD235ED64F61}" srcId="{BA9D5B7B-F37C-49B9-BF51-0B9510396805}" destId="{FF0D7A22-FA9E-402D-BE75-AE0F43D9037B}" srcOrd="3" destOrd="0" parTransId="{86C7C7E6-1ECE-4BC1-B67F-DCD7BB191F73}" sibTransId="{0D723DE2-7A02-4B01-BB54-443879461763}"/>
    <dgm:cxn modelId="{709F99A2-9E2B-42E2-803E-FB47C618202F}" srcId="{BA9D5B7B-F37C-49B9-BF51-0B9510396805}" destId="{E5CF7A0F-E705-4A73-9ABA-AA3F8FE4BA8F}" srcOrd="2" destOrd="0" parTransId="{9144AE69-3D4A-45D3-AC82-3FC10F91FFA6}" sibTransId="{F679E6A4-3D30-43CE-8177-86A8853F75B8}"/>
    <dgm:cxn modelId="{1E6120A4-4089-4A21-9AB2-D3BAAD806C1A}" type="presOf" srcId="{C2DBF7A7-9056-471B-9A44-D79B7DD308B2}" destId="{BF3DEE7C-A0D1-47AC-AEE1-254DCD98C2B7}" srcOrd="0" destOrd="7" presId="urn:microsoft.com/office/officeart/2005/8/layout/vList2"/>
    <dgm:cxn modelId="{18212BC1-9AD7-4557-BA11-0139F680DBF7}" srcId="{BA9D5B7B-F37C-49B9-BF51-0B9510396805}" destId="{A9FD8DFF-3E9D-40C1-B6CF-FCD9CAAA4390}" srcOrd="1" destOrd="0" parTransId="{46E6A636-E234-4DF3-BA1F-84BFF72FBE61}" sibTransId="{B277B496-818B-42A4-B17D-2E6579267A45}"/>
    <dgm:cxn modelId="{15F68FCB-F7FC-434A-BCE9-24C2061A2BB2}" type="presOf" srcId="{D714F126-07B3-4915-8BB8-396C1DCBAA54}" destId="{BF3DEE7C-A0D1-47AC-AEE1-254DCD98C2B7}" srcOrd="0" destOrd="0" presId="urn:microsoft.com/office/officeart/2005/8/layout/vList2"/>
    <dgm:cxn modelId="{923E25D2-D493-4C29-9591-FF27B76E81F1}" srcId="{FF0D7A22-FA9E-402D-BE75-AE0F43D9037B}" destId="{042A9643-AD17-4D94-AE86-DFD56AD784B2}" srcOrd="0" destOrd="0" parTransId="{86B4183F-17BF-41DE-B120-A95EEF600633}" sibTransId="{672910F5-D155-46E3-930E-7854F09836BE}"/>
    <dgm:cxn modelId="{54926DE4-2C17-4B61-ACFF-D54FFD3925B1}" type="presOf" srcId="{64FB0EA4-FC98-4FD8-B75C-6FB3DDE07855}" destId="{BF3DEE7C-A0D1-47AC-AEE1-254DCD98C2B7}" srcOrd="0" destOrd="8" presId="urn:microsoft.com/office/officeart/2005/8/layout/vList2"/>
    <dgm:cxn modelId="{B82D86E7-3CA5-4D6E-BD8D-1E11ABFDBC48}" type="presOf" srcId="{E5CF7A0F-E705-4A73-9ABA-AA3F8FE4BA8F}" destId="{BF3DEE7C-A0D1-47AC-AEE1-254DCD98C2B7}" srcOrd="0" destOrd="2" presId="urn:microsoft.com/office/officeart/2005/8/layout/vList2"/>
    <dgm:cxn modelId="{629997E9-2912-4B90-BE49-43E0640FD0A7}" srcId="{BA9D5B7B-F37C-49B9-BF51-0B9510396805}" destId="{C2DBF7A7-9056-471B-9A44-D79B7DD308B2}" srcOrd="4" destOrd="0" parTransId="{DC5D2059-3C3B-478F-B129-DAF9559E3880}" sibTransId="{83F3FC12-3FA9-48EE-B2EC-27BA02C16547}"/>
    <dgm:cxn modelId="{4D1F15F6-220D-41FB-931B-939DCFE3FA0D}" type="presParOf" srcId="{ED5DCCC5-BCA8-4491-AA37-BAF153ECA184}" destId="{079FA60E-65AD-408F-A5A8-F32F2B7AFA9E}" srcOrd="0" destOrd="0" presId="urn:microsoft.com/office/officeart/2005/8/layout/vList2"/>
    <dgm:cxn modelId="{4EEE9310-E5C9-4C8C-8D54-54A9CBC407D5}" type="presParOf" srcId="{ED5DCCC5-BCA8-4491-AA37-BAF153ECA184}" destId="{BF3DEE7C-A0D1-47AC-AEE1-254DCD98C2B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9D5B7B-F37C-49B9-BF51-0B9510396805}">
      <dgm:prSet/>
      <dgm:spPr/>
      <dgm:t>
        <a:bodyPr/>
        <a:lstStyle/>
        <a:p>
          <a:r>
            <a:rPr lang="en-US" b="0" i="0" dirty="0"/>
            <a:t>Python accepts </a:t>
          </a:r>
          <a:r>
            <a:rPr lang="en-US" b="0" i="0" dirty="0">
              <a:solidFill>
                <a:srgbClr val="FF0000"/>
              </a:solidFill>
            </a:rPr>
            <a:t>single</a:t>
          </a:r>
          <a:r>
            <a:rPr lang="en-US" b="0" i="0" dirty="0"/>
            <a:t> ('), </a:t>
          </a:r>
          <a:r>
            <a:rPr lang="en-US" b="0" i="0" dirty="0">
              <a:solidFill>
                <a:srgbClr val="FF0000"/>
              </a:solidFill>
            </a:rPr>
            <a:t>double</a:t>
          </a:r>
          <a:r>
            <a:rPr lang="en-US" b="0" i="0" dirty="0"/>
            <a:t> (") and </a:t>
          </a:r>
          <a:r>
            <a:rPr lang="en-US" b="0" i="0" dirty="0">
              <a:solidFill>
                <a:srgbClr val="FF0000"/>
              </a:solidFill>
            </a:rPr>
            <a:t>triple</a:t>
          </a:r>
          <a:r>
            <a:rPr lang="en-US" b="0" i="0" dirty="0"/>
            <a:t> (''' or """) quotes to denote string literals, as long as the same type of quote starts and ends the string.</a:t>
          </a:r>
          <a:endParaRPr lang="en-US" dirty="0"/>
        </a:p>
      </dgm:t>
    </dgm:pt>
    <dgm:pt modelId="{7386A505-AAB7-4873-8418-958FAFBF7C34}" type="parTrans" cxnId="{4B0D9525-5940-45B3-AFDF-35C02B7981FE}">
      <dgm:prSet/>
      <dgm:spPr/>
      <dgm:t>
        <a:bodyPr/>
        <a:lstStyle/>
        <a:p>
          <a:endParaRPr lang="en-US"/>
        </a:p>
      </dgm:t>
    </dgm:pt>
    <dgm:pt modelId="{01C548DB-0EA5-41B7-89F2-14F70538CE37}" type="sibTrans" cxnId="{4B0D9525-5940-45B3-AFDF-35C02B7981FE}">
      <dgm:prSet/>
      <dgm:spPr/>
      <dgm:t>
        <a:bodyPr/>
        <a:lstStyle/>
        <a:p>
          <a:endParaRPr lang="en-US"/>
        </a:p>
      </dgm:t>
    </dgm:pt>
    <dgm:pt modelId="{D2A9957B-AC02-49D2-AA90-29D7E93392CB}">
      <dgm:prSet/>
      <dgm:spPr/>
      <dgm:t>
        <a:bodyPr/>
        <a:lstStyle/>
        <a:p>
          <a:r>
            <a:rPr lang="en-US" b="0" i="0" dirty="0"/>
            <a:t>The triple quotes are used to span the string across multiple lines. </a:t>
          </a:r>
        </a:p>
      </dgm:t>
    </dgm:pt>
    <dgm:pt modelId="{BE8D65B2-3E17-44D3-A2B4-8E318607BA26}" type="parTrans" cxnId="{79FC72A2-098B-4ED9-B0F0-D5CF3D782EC2}">
      <dgm:prSet/>
      <dgm:spPr/>
      <dgm:t>
        <a:bodyPr/>
        <a:lstStyle/>
        <a:p>
          <a:endParaRPr lang="en-US"/>
        </a:p>
      </dgm:t>
    </dgm:pt>
    <dgm:pt modelId="{ADFC8E42-369F-445F-8739-741D3D78956A}" type="sibTrans" cxnId="{79FC72A2-098B-4ED9-B0F0-D5CF3D782EC2}">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79FA60E-65AD-408F-A5A8-F32F2B7AFA9E}" type="pres">
      <dgm:prSet presAssocID="{BA9D5B7B-F37C-49B9-BF51-0B9510396805}" presName="parentText" presStyleLbl="node1" presStyleIdx="0" presStyleCnt="2">
        <dgm:presLayoutVars>
          <dgm:chMax val="0"/>
          <dgm:bulletEnabled val="1"/>
        </dgm:presLayoutVars>
      </dgm:prSet>
      <dgm:spPr/>
    </dgm:pt>
    <dgm:pt modelId="{8B8D8169-BB00-4518-B05E-80D76305261F}" type="pres">
      <dgm:prSet presAssocID="{01C548DB-0EA5-41B7-89F2-14F70538CE37}" presName="spacer" presStyleCnt="0"/>
      <dgm:spPr/>
    </dgm:pt>
    <dgm:pt modelId="{45EC5E61-89C9-405F-82EA-CC6A7CC7793A}" type="pres">
      <dgm:prSet presAssocID="{D2A9957B-AC02-49D2-AA90-29D7E93392CB}" presName="parentText" presStyleLbl="node1" presStyleIdx="1" presStyleCnt="2">
        <dgm:presLayoutVars>
          <dgm:chMax val="0"/>
          <dgm:bulletEnabled val="1"/>
        </dgm:presLayoutVars>
      </dgm:prSet>
      <dgm:spPr/>
    </dgm:pt>
  </dgm:ptLst>
  <dgm:cxnLst>
    <dgm:cxn modelId="{FD773500-CBBF-4B25-AA43-769BB9CAF6B6}" type="presOf" srcId="{BA9D5B7B-F37C-49B9-BF51-0B9510396805}" destId="{079FA60E-65AD-408F-A5A8-F32F2B7AFA9E}" srcOrd="0" destOrd="0" presId="urn:microsoft.com/office/officeart/2005/8/layout/vList2"/>
    <dgm:cxn modelId="{A18FF903-FC4E-46DF-BEC0-23E5EA27E418}" type="presOf" srcId="{D2A9957B-AC02-49D2-AA90-29D7E93392CB}" destId="{45EC5E61-89C9-405F-82EA-CC6A7CC7793A}" srcOrd="0" destOrd="0" presId="urn:microsoft.com/office/officeart/2005/8/layout/vList2"/>
    <dgm:cxn modelId="{4B0D9525-5940-45B3-AFDF-35C02B7981FE}" srcId="{90119837-5B71-4D44-BB01-DB0B084933C8}" destId="{BA9D5B7B-F37C-49B9-BF51-0B9510396805}" srcOrd="0" destOrd="0" parTransId="{7386A505-AAB7-4873-8418-958FAFBF7C34}" sibTransId="{01C548DB-0EA5-41B7-89F2-14F70538CE37}"/>
    <dgm:cxn modelId="{4D8F1663-1782-4421-B78F-C30FB19002C2}" type="presOf" srcId="{90119837-5B71-4D44-BB01-DB0B084933C8}" destId="{ED5DCCC5-BCA8-4491-AA37-BAF153ECA184}" srcOrd="0" destOrd="0" presId="urn:microsoft.com/office/officeart/2005/8/layout/vList2"/>
    <dgm:cxn modelId="{79FC72A2-098B-4ED9-B0F0-D5CF3D782EC2}" srcId="{90119837-5B71-4D44-BB01-DB0B084933C8}" destId="{D2A9957B-AC02-49D2-AA90-29D7E93392CB}" srcOrd="1" destOrd="0" parTransId="{BE8D65B2-3E17-44D3-A2B4-8E318607BA26}" sibTransId="{ADFC8E42-369F-445F-8739-741D3D78956A}"/>
    <dgm:cxn modelId="{27458529-4896-45AC-A4F1-70E46B1899D4}" type="presParOf" srcId="{ED5DCCC5-BCA8-4491-AA37-BAF153ECA184}" destId="{079FA60E-65AD-408F-A5A8-F32F2B7AFA9E}" srcOrd="0" destOrd="0" presId="urn:microsoft.com/office/officeart/2005/8/layout/vList2"/>
    <dgm:cxn modelId="{7F145021-A370-4614-AD77-2D1D4E1FEE41}" type="presParOf" srcId="{ED5DCCC5-BCA8-4491-AA37-BAF153ECA184}" destId="{8B8D8169-BB00-4518-B05E-80D76305261F}" srcOrd="1" destOrd="0" presId="urn:microsoft.com/office/officeart/2005/8/layout/vList2"/>
    <dgm:cxn modelId="{3F307C7F-4EE0-44E7-B05A-6FE27C418528}" type="presParOf" srcId="{ED5DCCC5-BCA8-4491-AA37-BAF153ECA184}" destId="{45EC5E61-89C9-405F-82EA-CC6A7CC7793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9D5B7B-F37C-49B9-BF51-0B9510396805}">
      <dgm:prSet/>
      <dgm:spPr/>
      <dgm:t>
        <a:bodyPr/>
        <a:lstStyle/>
        <a:p>
          <a:r>
            <a:rPr lang="en-US" altLang="en-US" dirty="0">
              <a:solidFill>
                <a:srgbClr val="FF0000"/>
              </a:solidFill>
            </a:rPr>
            <a:t>Notes</a:t>
          </a:r>
          <a:r>
            <a:rPr lang="en-US" altLang="en-US" dirty="0"/>
            <a:t> of explanation within a program</a:t>
          </a:r>
          <a:endParaRPr lang="en-US" dirty="0"/>
        </a:p>
      </dgm:t>
    </dgm:pt>
    <dgm:pt modelId="{7386A505-AAB7-4873-8418-958FAFBF7C34}" type="parTrans" cxnId="{4B0D9525-5940-45B3-AFDF-35C02B7981FE}">
      <dgm:prSet/>
      <dgm:spPr/>
      <dgm:t>
        <a:bodyPr/>
        <a:lstStyle/>
        <a:p>
          <a:endParaRPr lang="en-US"/>
        </a:p>
      </dgm:t>
    </dgm:pt>
    <dgm:pt modelId="{01C548DB-0EA5-41B7-89F2-14F70538CE37}" type="sibTrans" cxnId="{4B0D9525-5940-45B3-AFDF-35C02B7981FE}">
      <dgm:prSet/>
      <dgm:spPr/>
      <dgm:t>
        <a:bodyPr/>
        <a:lstStyle/>
        <a:p>
          <a:endParaRPr lang="en-US"/>
        </a:p>
      </dgm:t>
    </dgm:pt>
    <dgm:pt modelId="{D8451284-A595-4836-8A98-B8EC9C3E05C8}">
      <dgm:prSet/>
      <dgm:spPr/>
      <dgm:t>
        <a:bodyPr/>
        <a:lstStyle/>
        <a:p>
          <a:r>
            <a:rPr lang="en-US" altLang="en-US" dirty="0"/>
            <a:t>Typically explains the purpose of that line</a:t>
          </a:r>
        </a:p>
      </dgm:t>
    </dgm:pt>
    <dgm:pt modelId="{0DB8D251-DA98-483F-BE2E-17068D4C1DD2}" type="parTrans" cxnId="{F6F96AD2-A584-41D6-8508-A40F4FE5E821}">
      <dgm:prSet/>
      <dgm:spPr/>
      <dgm:t>
        <a:bodyPr/>
        <a:lstStyle/>
        <a:p>
          <a:endParaRPr lang="en-US"/>
        </a:p>
      </dgm:t>
    </dgm:pt>
    <dgm:pt modelId="{BD37F977-E79D-44F5-935D-E234BC858D34}" type="sibTrans" cxnId="{F6F96AD2-A584-41D6-8508-A40F4FE5E821}">
      <dgm:prSet/>
      <dgm:spPr/>
      <dgm:t>
        <a:bodyPr/>
        <a:lstStyle/>
        <a:p>
          <a:endParaRPr lang="en-US"/>
        </a:p>
      </dgm:t>
    </dgm:pt>
    <dgm:pt modelId="{15EDCA99-C83B-4AF5-8680-6B997F74DDF5}">
      <dgm:prSet/>
      <dgm:spPr/>
      <dgm:t>
        <a:bodyPr/>
        <a:lstStyle/>
        <a:p>
          <a:r>
            <a:rPr lang="en-US" altLang="en-US" dirty="0">
              <a:solidFill>
                <a:srgbClr val="FF0000"/>
              </a:solidFill>
            </a:rPr>
            <a:t>Ignored</a:t>
          </a:r>
          <a:r>
            <a:rPr lang="en-US" altLang="en-US" dirty="0"/>
            <a:t> by Python interpreter</a:t>
          </a:r>
        </a:p>
      </dgm:t>
    </dgm:pt>
    <dgm:pt modelId="{9AD37513-E191-49B9-BB19-83B01B7B1AA6}" type="parTrans" cxnId="{5EB2BFD1-E286-4216-A57A-DDE3F5C4C4CC}">
      <dgm:prSet/>
      <dgm:spPr/>
      <dgm:t>
        <a:bodyPr/>
        <a:lstStyle/>
        <a:p>
          <a:endParaRPr lang="en-US"/>
        </a:p>
      </dgm:t>
    </dgm:pt>
    <dgm:pt modelId="{5D10AAF3-2AD4-403C-979A-122E944FC94A}" type="sibTrans" cxnId="{5EB2BFD1-E286-4216-A57A-DDE3F5C4C4CC}">
      <dgm:prSet/>
      <dgm:spPr/>
      <dgm:t>
        <a:bodyPr/>
        <a:lstStyle/>
        <a:p>
          <a:endParaRPr lang="en-US"/>
        </a:p>
      </dgm:t>
    </dgm:pt>
    <dgm:pt modelId="{885AD5C7-5B97-446E-8FC8-E508682C75A7}">
      <dgm:prSet/>
      <dgm:spPr/>
      <dgm:t>
        <a:bodyPr/>
        <a:lstStyle/>
        <a:p>
          <a:r>
            <a:rPr lang="en-US" b="0" i="0" dirty="0"/>
            <a:t>A hash sign (</a:t>
          </a:r>
          <a:r>
            <a:rPr lang="en-US" b="0" i="0" dirty="0">
              <a:solidFill>
                <a:srgbClr val="FF0000"/>
              </a:solidFill>
            </a:rPr>
            <a:t>#</a:t>
          </a:r>
          <a:r>
            <a:rPr lang="en-US" b="0" i="0" dirty="0"/>
            <a:t>) that is not inside a string literal begins a comment. </a:t>
          </a:r>
          <a:endParaRPr lang="en-US" dirty="0"/>
        </a:p>
      </dgm:t>
    </dgm:pt>
    <dgm:pt modelId="{C09ED3DA-A6E1-495C-92C0-34DDA8F60638}" type="parTrans" cxnId="{AE0BDBCE-1BB5-4634-A25C-F89BD259FADA}">
      <dgm:prSet/>
      <dgm:spPr/>
      <dgm:t>
        <a:bodyPr/>
        <a:lstStyle/>
        <a:p>
          <a:endParaRPr lang="en-US"/>
        </a:p>
      </dgm:t>
    </dgm:pt>
    <dgm:pt modelId="{DA19AB89-9CE2-48A2-A7ED-737030772100}" type="sibTrans" cxnId="{AE0BDBCE-1BB5-4634-A25C-F89BD259FADA}">
      <dgm:prSet/>
      <dgm:spPr/>
      <dgm:t>
        <a:bodyPr/>
        <a:lstStyle/>
        <a:p>
          <a:endParaRPr lang="en-US"/>
        </a:p>
      </dgm:t>
    </dgm:pt>
    <dgm:pt modelId="{46449D72-2A17-4D12-8297-A51B835D896A}">
      <dgm:prSet/>
      <dgm:spPr/>
      <dgm:t>
        <a:bodyPr/>
        <a:lstStyle/>
        <a:p>
          <a:r>
            <a:rPr lang="en-US" b="0" i="0" dirty="0"/>
            <a:t>All characters </a:t>
          </a:r>
          <a:r>
            <a:rPr lang="en-US" b="0" i="0" dirty="0">
              <a:solidFill>
                <a:srgbClr val="FF0000"/>
              </a:solidFill>
            </a:rPr>
            <a:t>after the # and up to the end of the physical line </a:t>
          </a:r>
          <a:r>
            <a:rPr lang="en-US" b="0" i="0" dirty="0"/>
            <a:t>are part of the comment</a:t>
          </a:r>
          <a:endParaRPr lang="en-US" dirty="0"/>
        </a:p>
      </dgm:t>
    </dgm:pt>
    <dgm:pt modelId="{91B9E786-B104-4439-8C36-D818F22F5B68}" type="parTrans" cxnId="{52161CEB-6BAA-4200-86F4-27F3E1205D0C}">
      <dgm:prSet/>
      <dgm:spPr/>
      <dgm:t>
        <a:bodyPr/>
        <a:lstStyle/>
        <a:p>
          <a:endParaRPr lang="en-US"/>
        </a:p>
      </dgm:t>
    </dgm:pt>
    <dgm:pt modelId="{5A65BD10-0FFE-4D7A-9D1E-092A5636C6C4}" type="sibTrans" cxnId="{52161CEB-6BAA-4200-86F4-27F3E1205D0C}">
      <dgm:prSet/>
      <dgm:spPr/>
      <dgm:t>
        <a:bodyPr/>
        <a:lstStyle/>
        <a:p>
          <a:endParaRPr lang="en-US"/>
        </a:p>
      </dgm:t>
    </dgm:pt>
    <dgm:pt modelId="{6F7B6192-1267-40C2-9798-CCC00C9F3E29}">
      <dgm:prSet/>
      <dgm:spPr/>
      <dgm:t>
        <a:bodyPr/>
        <a:lstStyle/>
        <a:p>
          <a:r>
            <a:rPr lang="en-US" altLang="en-US" dirty="0">
              <a:solidFill>
                <a:srgbClr val="FF0000"/>
              </a:solidFill>
            </a:rPr>
            <a:t>Intended</a:t>
          </a:r>
          <a:r>
            <a:rPr lang="en-US" altLang="en-US" dirty="0"/>
            <a:t> for a person reading the program’s code</a:t>
          </a:r>
        </a:p>
      </dgm:t>
    </dgm:pt>
    <dgm:pt modelId="{74524896-C1A9-48DE-89E5-7F2DB92B91FB}" type="sibTrans" cxnId="{CB9E527A-821D-4862-9443-E53C478495E6}">
      <dgm:prSet/>
      <dgm:spPr/>
      <dgm:t>
        <a:bodyPr/>
        <a:lstStyle/>
        <a:p>
          <a:endParaRPr lang="en-US"/>
        </a:p>
      </dgm:t>
    </dgm:pt>
    <dgm:pt modelId="{1E906742-FD4E-4CB8-A2A5-AB25B442D4B6}" type="parTrans" cxnId="{CB9E527A-821D-4862-9443-E53C478495E6}">
      <dgm:prSet/>
      <dgm:spPr/>
      <dgm:t>
        <a:bodyPr/>
        <a:lstStyle/>
        <a:p>
          <a:endParaRPr lang="en-US"/>
        </a:p>
      </dgm:t>
    </dgm:pt>
    <dgm:pt modelId="{2A1886CE-A5B0-4064-8389-20142B508810}">
      <dgm:prSet/>
      <dgm:spPr/>
      <dgm:t>
        <a:bodyPr/>
        <a:lstStyle/>
        <a:p>
          <a:r>
            <a:rPr lang="en-US" altLang="en-US" u="none" dirty="0"/>
            <a:t>End-line comment </a:t>
          </a:r>
          <a:r>
            <a:rPr lang="en-US" altLang="en-US" dirty="0"/>
            <a:t>appears at the end of a line of code</a:t>
          </a:r>
        </a:p>
      </dgm:t>
    </dgm:pt>
    <dgm:pt modelId="{7122BD10-6E2F-42BB-B2A8-92C5958ADE03}" type="sibTrans" cxnId="{DBB75A07-876C-422E-84CA-ED780E133924}">
      <dgm:prSet/>
      <dgm:spPr/>
      <dgm:t>
        <a:bodyPr/>
        <a:lstStyle/>
        <a:p>
          <a:endParaRPr lang="en-US"/>
        </a:p>
      </dgm:t>
    </dgm:pt>
    <dgm:pt modelId="{C5112204-9BBE-4A23-A204-CE3A6B213F10}" type="parTrans" cxnId="{DBB75A07-876C-422E-84CA-ED780E133924}">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79FA60E-65AD-408F-A5A8-F32F2B7AFA9E}" type="pres">
      <dgm:prSet presAssocID="{BA9D5B7B-F37C-49B9-BF51-0B9510396805}" presName="parentText" presStyleLbl="node1" presStyleIdx="0" presStyleCnt="7">
        <dgm:presLayoutVars>
          <dgm:chMax val="0"/>
          <dgm:bulletEnabled val="1"/>
        </dgm:presLayoutVars>
      </dgm:prSet>
      <dgm:spPr/>
    </dgm:pt>
    <dgm:pt modelId="{8B8D8169-BB00-4518-B05E-80D76305261F}" type="pres">
      <dgm:prSet presAssocID="{01C548DB-0EA5-41B7-89F2-14F70538CE37}" presName="spacer" presStyleCnt="0"/>
      <dgm:spPr/>
    </dgm:pt>
    <dgm:pt modelId="{394C8E15-C264-4CB8-A7A3-9F86E9B0850E}" type="pres">
      <dgm:prSet presAssocID="{15EDCA99-C83B-4AF5-8680-6B997F74DDF5}" presName="parentText" presStyleLbl="node1" presStyleIdx="1" presStyleCnt="7">
        <dgm:presLayoutVars>
          <dgm:chMax val="0"/>
          <dgm:bulletEnabled val="1"/>
        </dgm:presLayoutVars>
      </dgm:prSet>
      <dgm:spPr/>
    </dgm:pt>
    <dgm:pt modelId="{B2424C6B-5A76-49CA-B47F-74ABC179F1F9}" type="pres">
      <dgm:prSet presAssocID="{5D10AAF3-2AD4-403C-979A-122E944FC94A}" presName="spacer" presStyleCnt="0"/>
      <dgm:spPr/>
    </dgm:pt>
    <dgm:pt modelId="{25B639C7-62A6-4963-8232-D74C9E99EE92}" type="pres">
      <dgm:prSet presAssocID="{6F7B6192-1267-40C2-9798-CCC00C9F3E29}" presName="parentText" presStyleLbl="node1" presStyleIdx="2" presStyleCnt="7">
        <dgm:presLayoutVars>
          <dgm:chMax val="0"/>
          <dgm:bulletEnabled val="1"/>
        </dgm:presLayoutVars>
      </dgm:prSet>
      <dgm:spPr/>
    </dgm:pt>
    <dgm:pt modelId="{1BF5D279-595B-4C63-A549-BC269274263D}" type="pres">
      <dgm:prSet presAssocID="{74524896-C1A9-48DE-89E5-7F2DB92B91FB}" presName="spacer" presStyleCnt="0"/>
      <dgm:spPr/>
    </dgm:pt>
    <dgm:pt modelId="{820631E9-0D5E-4584-B982-338530191B00}" type="pres">
      <dgm:prSet presAssocID="{885AD5C7-5B97-446E-8FC8-E508682C75A7}" presName="parentText" presStyleLbl="node1" presStyleIdx="3" presStyleCnt="7">
        <dgm:presLayoutVars>
          <dgm:chMax val="0"/>
          <dgm:bulletEnabled val="1"/>
        </dgm:presLayoutVars>
      </dgm:prSet>
      <dgm:spPr/>
    </dgm:pt>
    <dgm:pt modelId="{2CD09FFC-EB8F-447E-8D13-A3586171FDD0}" type="pres">
      <dgm:prSet presAssocID="{DA19AB89-9CE2-48A2-A7ED-737030772100}" presName="spacer" presStyleCnt="0"/>
      <dgm:spPr/>
    </dgm:pt>
    <dgm:pt modelId="{FDC02683-AFCD-4E9C-BDCA-A8954832AF74}" type="pres">
      <dgm:prSet presAssocID="{46449D72-2A17-4D12-8297-A51B835D896A}" presName="parentText" presStyleLbl="node1" presStyleIdx="4" presStyleCnt="7">
        <dgm:presLayoutVars>
          <dgm:chMax val="0"/>
          <dgm:bulletEnabled val="1"/>
        </dgm:presLayoutVars>
      </dgm:prSet>
      <dgm:spPr/>
    </dgm:pt>
    <dgm:pt modelId="{065C824C-F3A2-4B33-A97F-03EDED0A63C3}" type="pres">
      <dgm:prSet presAssocID="{5A65BD10-0FFE-4D7A-9D1E-092A5636C6C4}" presName="spacer" presStyleCnt="0"/>
      <dgm:spPr/>
    </dgm:pt>
    <dgm:pt modelId="{81AAA790-6069-427F-B313-50263C155E98}" type="pres">
      <dgm:prSet presAssocID="{2A1886CE-A5B0-4064-8389-20142B508810}" presName="parentText" presStyleLbl="node1" presStyleIdx="5" presStyleCnt="7">
        <dgm:presLayoutVars>
          <dgm:chMax val="0"/>
          <dgm:bulletEnabled val="1"/>
        </dgm:presLayoutVars>
      </dgm:prSet>
      <dgm:spPr/>
    </dgm:pt>
    <dgm:pt modelId="{1AAEE1E2-CEE0-4ED3-B0B9-142AEFD7ACED}" type="pres">
      <dgm:prSet presAssocID="{7122BD10-6E2F-42BB-B2A8-92C5958ADE03}" presName="spacer" presStyleCnt="0"/>
      <dgm:spPr/>
    </dgm:pt>
    <dgm:pt modelId="{6DAE1B0A-5E46-48BB-BD95-68AD2E3A6472}" type="pres">
      <dgm:prSet presAssocID="{D8451284-A595-4836-8A98-B8EC9C3E05C8}" presName="parentText" presStyleLbl="node1" presStyleIdx="6" presStyleCnt="7">
        <dgm:presLayoutVars>
          <dgm:chMax val="0"/>
          <dgm:bulletEnabled val="1"/>
        </dgm:presLayoutVars>
      </dgm:prSet>
      <dgm:spPr/>
    </dgm:pt>
  </dgm:ptLst>
  <dgm:cxnLst>
    <dgm:cxn modelId="{DBB75A07-876C-422E-84CA-ED780E133924}" srcId="{90119837-5B71-4D44-BB01-DB0B084933C8}" destId="{2A1886CE-A5B0-4064-8389-20142B508810}" srcOrd="5" destOrd="0" parTransId="{C5112204-9BBE-4A23-A204-CE3A6B213F10}" sibTransId="{7122BD10-6E2F-42BB-B2A8-92C5958ADE03}"/>
    <dgm:cxn modelId="{C892E910-ED81-42E9-8EB3-889F4D7BA6E3}" type="presOf" srcId="{90119837-5B71-4D44-BB01-DB0B084933C8}" destId="{ED5DCCC5-BCA8-4491-AA37-BAF153ECA184}" srcOrd="0" destOrd="0" presId="urn:microsoft.com/office/officeart/2005/8/layout/vList2"/>
    <dgm:cxn modelId="{0C3DF522-B56D-42FC-9D29-B7BA45808C36}" type="presOf" srcId="{15EDCA99-C83B-4AF5-8680-6B997F74DDF5}" destId="{394C8E15-C264-4CB8-A7A3-9F86E9B0850E}" srcOrd="0" destOrd="0" presId="urn:microsoft.com/office/officeart/2005/8/layout/vList2"/>
    <dgm:cxn modelId="{4B0D9525-5940-45B3-AFDF-35C02B7981FE}" srcId="{90119837-5B71-4D44-BB01-DB0B084933C8}" destId="{BA9D5B7B-F37C-49B9-BF51-0B9510396805}" srcOrd="0" destOrd="0" parTransId="{7386A505-AAB7-4873-8418-958FAFBF7C34}" sibTransId="{01C548DB-0EA5-41B7-89F2-14F70538CE37}"/>
    <dgm:cxn modelId="{071AE244-7BB4-41EF-AB5E-52DFF28B3C05}" type="presOf" srcId="{885AD5C7-5B97-446E-8FC8-E508682C75A7}" destId="{820631E9-0D5E-4584-B982-338530191B00}" srcOrd="0" destOrd="0" presId="urn:microsoft.com/office/officeart/2005/8/layout/vList2"/>
    <dgm:cxn modelId="{1D0C2365-0930-47BB-8B2D-0DA75EAA2DD1}" type="presOf" srcId="{46449D72-2A17-4D12-8297-A51B835D896A}" destId="{FDC02683-AFCD-4E9C-BDCA-A8954832AF74}" srcOrd="0" destOrd="0" presId="urn:microsoft.com/office/officeart/2005/8/layout/vList2"/>
    <dgm:cxn modelId="{CB9E527A-821D-4862-9443-E53C478495E6}" srcId="{90119837-5B71-4D44-BB01-DB0B084933C8}" destId="{6F7B6192-1267-40C2-9798-CCC00C9F3E29}" srcOrd="2" destOrd="0" parTransId="{1E906742-FD4E-4CB8-A2A5-AB25B442D4B6}" sibTransId="{74524896-C1A9-48DE-89E5-7F2DB92B91FB}"/>
    <dgm:cxn modelId="{92CBCC82-D05B-48A8-9CCB-F216DCBBA82F}" type="presOf" srcId="{2A1886CE-A5B0-4064-8389-20142B508810}" destId="{81AAA790-6069-427F-B313-50263C155E98}" srcOrd="0" destOrd="0" presId="urn:microsoft.com/office/officeart/2005/8/layout/vList2"/>
    <dgm:cxn modelId="{AE0BDBCE-1BB5-4634-A25C-F89BD259FADA}" srcId="{90119837-5B71-4D44-BB01-DB0B084933C8}" destId="{885AD5C7-5B97-446E-8FC8-E508682C75A7}" srcOrd="3" destOrd="0" parTransId="{C09ED3DA-A6E1-495C-92C0-34DDA8F60638}" sibTransId="{DA19AB89-9CE2-48A2-A7ED-737030772100}"/>
    <dgm:cxn modelId="{5EB2BFD1-E286-4216-A57A-DDE3F5C4C4CC}" srcId="{90119837-5B71-4D44-BB01-DB0B084933C8}" destId="{15EDCA99-C83B-4AF5-8680-6B997F74DDF5}" srcOrd="1" destOrd="0" parTransId="{9AD37513-E191-49B9-BB19-83B01B7B1AA6}" sibTransId="{5D10AAF3-2AD4-403C-979A-122E944FC94A}"/>
    <dgm:cxn modelId="{F6F96AD2-A584-41D6-8508-A40F4FE5E821}" srcId="{90119837-5B71-4D44-BB01-DB0B084933C8}" destId="{D8451284-A595-4836-8A98-B8EC9C3E05C8}" srcOrd="6" destOrd="0" parTransId="{0DB8D251-DA98-483F-BE2E-17068D4C1DD2}" sibTransId="{BD37F977-E79D-44F5-935D-E234BC858D34}"/>
    <dgm:cxn modelId="{F0656ED7-379D-4832-9B84-DC46959E2677}" type="presOf" srcId="{6F7B6192-1267-40C2-9798-CCC00C9F3E29}" destId="{25B639C7-62A6-4963-8232-D74C9E99EE92}" srcOrd="0" destOrd="0" presId="urn:microsoft.com/office/officeart/2005/8/layout/vList2"/>
    <dgm:cxn modelId="{52161CEB-6BAA-4200-86F4-27F3E1205D0C}" srcId="{90119837-5B71-4D44-BB01-DB0B084933C8}" destId="{46449D72-2A17-4D12-8297-A51B835D896A}" srcOrd="4" destOrd="0" parTransId="{91B9E786-B104-4439-8C36-D818F22F5B68}" sibTransId="{5A65BD10-0FFE-4D7A-9D1E-092A5636C6C4}"/>
    <dgm:cxn modelId="{AC1880F5-B680-4C7A-A09F-1C5405435DF4}" type="presOf" srcId="{D8451284-A595-4836-8A98-B8EC9C3E05C8}" destId="{6DAE1B0A-5E46-48BB-BD95-68AD2E3A6472}" srcOrd="0" destOrd="0" presId="urn:microsoft.com/office/officeart/2005/8/layout/vList2"/>
    <dgm:cxn modelId="{8DF04AF9-F920-4FF1-A5C6-681B31FB6F46}" type="presOf" srcId="{BA9D5B7B-F37C-49B9-BF51-0B9510396805}" destId="{079FA60E-65AD-408F-A5A8-F32F2B7AFA9E}" srcOrd="0" destOrd="0" presId="urn:microsoft.com/office/officeart/2005/8/layout/vList2"/>
    <dgm:cxn modelId="{FFBD24D9-CBCD-44A2-8F7A-BC888F098EDF}" type="presParOf" srcId="{ED5DCCC5-BCA8-4491-AA37-BAF153ECA184}" destId="{079FA60E-65AD-408F-A5A8-F32F2B7AFA9E}" srcOrd="0" destOrd="0" presId="urn:microsoft.com/office/officeart/2005/8/layout/vList2"/>
    <dgm:cxn modelId="{85D4BEB6-44EB-453D-B495-9779A9A7F7EB}" type="presParOf" srcId="{ED5DCCC5-BCA8-4491-AA37-BAF153ECA184}" destId="{8B8D8169-BB00-4518-B05E-80D76305261F}" srcOrd="1" destOrd="0" presId="urn:microsoft.com/office/officeart/2005/8/layout/vList2"/>
    <dgm:cxn modelId="{FA4D4176-855E-4A02-AF30-D543EFB61773}" type="presParOf" srcId="{ED5DCCC5-BCA8-4491-AA37-BAF153ECA184}" destId="{394C8E15-C264-4CB8-A7A3-9F86E9B0850E}" srcOrd="2" destOrd="0" presId="urn:microsoft.com/office/officeart/2005/8/layout/vList2"/>
    <dgm:cxn modelId="{E15114A8-B492-4479-B337-F9E655A3E2F9}" type="presParOf" srcId="{ED5DCCC5-BCA8-4491-AA37-BAF153ECA184}" destId="{B2424C6B-5A76-49CA-B47F-74ABC179F1F9}" srcOrd="3" destOrd="0" presId="urn:microsoft.com/office/officeart/2005/8/layout/vList2"/>
    <dgm:cxn modelId="{D8ED12F9-6A16-40A2-A36A-599077C70BF6}" type="presParOf" srcId="{ED5DCCC5-BCA8-4491-AA37-BAF153ECA184}" destId="{25B639C7-62A6-4963-8232-D74C9E99EE92}" srcOrd="4" destOrd="0" presId="urn:microsoft.com/office/officeart/2005/8/layout/vList2"/>
    <dgm:cxn modelId="{C6ECDE29-413E-4DFF-B804-771BD26CFE5A}" type="presParOf" srcId="{ED5DCCC5-BCA8-4491-AA37-BAF153ECA184}" destId="{1BF5D279-595B-4C63-A549-BC269274263D}" srcOrd="5" destOrd="0" presId="urn:microsoft.com/office/officeart/2005/8/layout/vList2"/>
    <dgm:cxn modelId="{38CC1182-A59A-4AD8-8222-0CD162C44E9C}" type="presParOf" srcId="{ED5DCCC5-BCA8-4491-AA37-BAF153ECA184}" destId="{820631E9-0D5E-4584-B982-338530191B00}" srcOrd="6" destOrd="0" presId="urn:microsoft.com/office/officeart/2005/8/layout/vList2"/>
    <dgm:cxn modelId="{80ED5846-A0D9-4528-8DDA-808303DD1E24}" type="presParOf" srcId="{ED5DCCC5-BCA8-4491-AA37-BAF153ECA184}" destId="{2CD09FFC-EB8F-447E-8D13-A3586171FDD0}" srcOrd="7" destOrd="0" presId="urn:microsoft.com/office/officeart/2005/8/layout/vList2"/>
    <dgm:cxn modelId="{AC291193-DD76-44C6-A3B2-0D1C8B2F44C4}" type="presParOf" srcId="{ED5DCCC5-BCA8-4491-AA37-BAF153ECA184}" destId="{FDC02683-AFCD-4E9C-BDCA-A8954832AF74}" srcOrd="8" destOrd="0" presId="urn:microsoft.com/office/officeart/2005/8/layout/vList2"/>
    <dgm:cxn modelId="{AFB5E85A-1055-40C6-B02B-E778076AD283}" type="presParOf" srcId="{ED5DCCC5-BCA8-4491-AA37-BAF153ECA184}" destId="{065C824C-F3A2-4B33-A97F-03EDED0A63C3}" srcOrd="9" destOrd="0" presId="urn:microsoft.com/office/officeart/2005/8/layout/vList2"/>
    <dgm:cxn modelId="{8937B49A-7818-4132-BDDC-08408491DE9C}" type="presParOf" srcId="{ED5DCCC5-BCA8-4491-AA37-BAF153ECA184}" destId="{81AAA790-6069-427F-B313-50263C155E98}" srcOrd="10" destOrd="0" presId="urn:microsoft.com/office/officeart/2005/8/layout/vList2"/>
    <dgm:cxn modelId="{20E2F86B-2758-4B92-B375-AABAE8D6EB09}" type="presParOf" srcId="{ED5DCCC5-BCA8-4491-AA37-BAF153ECA184}" destId="{1AAEE1E2-CEE0-4ED3-B0B9-142AEFD7ACED}" srcOrd="11" destOrd="0" presId="urn:microsoft.com/office/officeart/2005/8/layout/vList2"/>
    <dgm:cxn modelId="{F1CC7F03-9BA3-401E-9D34-74A9079EB55B}" type="presParOf" srcId="{ED5DCCC5-BCA8-4491-AA37-BAF153ECA184}" destId="{6DAE1B0A-5E46-48BB-BD95-68AD2E3A647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9D5B7B-F37C-49B9-BF51-0B9510396805}">
      <dgm:prSet/>
      <dgm:spPr/>
      <dgm:t>
        <a:bodyPr/>
        <a:lstStyle/>
        <a:p>
          <a:r>
            <a:rPr lang="en-US" b="0" i="0" dirty="0"/>
            <a:t>Python provides no braces to indicate </a:t>
          </a:r>
          <a:r>
            <a:rPr lang="en-US" b="0" i="0" dirty="0">
              <a:solidFill>
                <a:srgbClr val="FF0000"/>
              </a:solidFill>
            </a:rPr>
            <a:t>blocks</a:t>
          </a:r>
          <a:r>
            <a:rPr lang="en-US" b="0" i="0" dirty="0"/>
            <a:t> of code for class and function definitions or flow control. </a:t>
          </a:r>
          <a:endParaRPr lang="en-US" dirty="0"/>
        </a:p>
      </dgm:t>
    </dgm:pt>
    <dgm:pt modelId="{7386A505-AAB7-4873-8418-958FAFBF7C34}" type="parTrans" cxnId="{4B0D9525-5940-45B3-AFDF-35C02B7981FE}">
      <dgm:prSet/>
      <dgm:spPr/>
      <dgm:t>
        <a:bodyPr/>
        <a:lstStyle/>
        <a:p>
          <a:endParaRPr lang="en-US"/>
        </a:p>
      </dgm:t>
    </dgm:pt>
    <dgm:pt modelId="{01C548DB-0EA5-41B7-89F2-14F70538CE37}" type="sibTrans" cxnId="{4B0D9525-5940-45B3-AFDF-35C02B7981FE}">
      <dgm:prSet/>
      <dgm:spPr/>
      <dgm:t>
        <a:bodyPr/>
        <a:lstStyle/>
        <a:p>
          <a:endParaRPr lang="en-US"/>
        </a:p>
      </dgm:t>
    </dgm:pt>
    <dgm:pt modelId="{5E793571-B2A8-4F80-BF34-C2A84AE51525}">
      <dgm:prSet/>
      <dgm:spPr/>
      <dgm:t>
        <a:bodyPr/>
        <a:lstStyle/>
        <a:p>
          <a:r>
            <a:rPr lang="en-US" b="0" i="0" dirty="0"/>
            <a:t>The number of spaces in the </a:t>
          </a:r>
          <a:r>
            <a:rPr lang="en-US" b="0" i="0" dirty="0">
              <a:solidFill>
                <a:srgbClr val="FF0000"/>
              </a:solidFill>
            </a:rPr>
            <a:t>indentation</a:t>
          </a:r>
          <a:r>
            <a:rPr lang="en-US" b="0" i="0" dirty="0"/>
            <a:t> is variable, but all statements within the </a:t>
          </a:r>
          <a:r>
            <a:rPr lang="en-US" b="0" i="0" dirty="0">
              <a:solidFill>
                <a:srgbClr val="FF0000"/>
              </a:solidFill>
            </a:rPr>
            <a:t>block</a:t>
          </a:r>
          <a:r>
            <a:rPr lang="en-US" b="0" i="0" dirty="0"/>
            <a:t> must be indented the same amount</a:t>
          </a:r>
        </a:p>
      </dgm:t>
    </dgm:pt>
    <dgm:pt modelId="{C6C4724B-D471-4094-ACE0-0ACFFE22DFAF}" type="parTrans" cxnId="{D1C1E16A-D308-42B3-86AD-A3EF4DF73567}">
      <dgm:prSet/>
      <dgm:spPr/>
      <dgm:t>
        <a:bodyPr/>
        <a:lstStyle/>
        <a:p>
          <a:endParaRPr lang="en-US"/>
        </a:p>
      </dgm:t>
    </dgm:pt>
    <dgm:pt modelId="{5E2E0859-9119-4FE8-8DE3-EBF8D4837C2B}" type="sibTrans" cxnId="{D1C1E16A-D308-42B3-86AD-A3EF4DF73567}">
      <dgm:prSet/>
      <dgm:spPr/>
      <dgm:t>
        <a:bodyPr/>
        <a:lstStyle/>
        <a:p>
          <a:endParaRPr lang="en-US"/>
        </a:p>
      </dgm:t>
    </dgm:pt>
    <dgm:pt modelId="{ED4D9D5F-8A8F-46A4-9B7D-59C457DA6DF5}">
      <dgm:prSet/>
      <dgm:spPr/>
      <dgm:t>
        <a:bodyPr/>
        <a:lstStyle/>
        <a:p>
          <a:r>
            <a:rPr lang="en-US" b="0" i="0" dirty="0">
              <a:solidFill>
                <a:srgbClr val="FF0000"/>
              </a:solidFill>
            </a:rPr>
            <a:t>Blocks</a:t>
          </a:r>
          <a:r>
            <a:rPr lang="en-US" b="0" i="0" dirty="0"/>
            <a:t> of code are denoted by line </a:t>
          </a:r>
          <a:r>
            <a:rPr lang="en-US" b="0" i="0" dirty="0">
              <a:solidFill>
                <a:srgbClr val="FF0000"/>
              </a:solidFill>
            </a:rPr>
            <a:t>indentation</a:t>
          </a:r>
          <a:r>
            <a:rPr lang="en-US" b="0" i="0" dirty="0"/>
            <a:t>, which is rigidly enforced.</a:t>
          </a:r>
          <a:endParaRPr lang="en-US" dirty="0"/>
        </a:p>
      </dgm:t>
    </dgm:pt>
    <dgm:pt modelId="{5161A0BE-6EC6-462C-8260-618D2C3DFA25}" type="parTrans" cxnId="{4FD44623-1C2C-4226-BCED-C3A0EDB84D58}">
      <dgm:prSet/>
      <dgm:spPr/>
      <dgm:t>
        <a:bodyPr/>
        <a:lstStyle/>
        <a:p>
          <a:endParaRPr lang="en-US"/>
        </a:p>
      </dgm:t>
    </dgm:pt>
    <dgm:pt modelId="{9EE00742-DDD2-4400-8D62-E0C3CFAF3E88}" type="sibTrans" cxnId="{4FD44623-1C2C-4226-BCED-C3A0EDB84D58}">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79FA60E-65AD-408F-A5A8-F32F2B7AFA9E}" type="pres">
      <dgm:prSet presAssocID="{BA9D5B7B-F37C-49B9-BF51-0B9510396805}" presName="parentText" presStyleLbl="node1" presStyleIdx="0" presStyleCnt="3" custScaleX="100000" custScaleY="109884">
        <dgm:presLayoutVars>
          <dgm:chMax val="0"/>
          <dgm:bulletEnabled val="1"/>
        </dgm:presLayoutVars>
      </dgm:prSet>
      <dgm:spPr/>
    </dgm:pt>
    <dgm:pt modelId="{8B8D8169-BB00-4518-B05E-80D76305261F}" type="pres">
      <dgm:prSet presAssocID="{01C548DB-0EA5-41B7-89F2-14F70538CE37}" presName="spacer" presStyleCnt="0"/>
      <dgm:spPr/>
    </dgm:pt>
    <dgm:pt modelId="{7D692BDD-6994-4D32-9345-19FBF0E25B43}" type="pres">
      <dgm:prSet presAssocID="{ED4D9D5F-8A8F-46A4-9B7D-59C457DA6DF5}" presName="parentText" presStyleLbl="node1" presStyleIdx="1" presStyleCnt="3">
        <dgm:presLayoutVars>
          <dgm:chMax val="0"/>
          <dgm:bulletEnabled val="1"/>
        </dgm:presLayoutVars>
      </dgm:prSet>
      <dgm:spPr/>
    </dgm:pt>
    <dgm:pt modelId="{0F04E17C-5AA9-4B87-8AA4-61D5044612F6}" type="pres">
      <dgm:prSet presAssocID="{9EE00742-DDD2-4400-8D62-E0C3CFAF3E88}" presName="spacer" presStyleCnt="0"/>
      <dgm:spPr/>
    </dgm:pt>
    <dgm:pt modelId="{E59BE8BD-A4E5-4E6E-B2A4-7CD23CC05BB9}" type="pres">
      <dgm:prSet presAssocID="{5E793571-B2A8-4F80-BF34-C2A84AE51525}" presName="parentText" presStyleLbl="node1" presStyleIdx="2" presStyleCnt="3">
        <dgm:presLayoutVars>
          <dgm:chMax val="0"/>
          <dgm:bulletEnabled val="1"/>
        </dgm:presLayoutVars>
      </dgm:prSet>
      <dgm:spPr/>
    </dgm:pt>
  </dgm:ptLst>
  <dgm:cxnLst>
    <dgm:cxn modelId="{FCB38A0A-42F4-4A4D-ADD3-E5EA567B36B9}" type="presOf" srcId="{5E793571-B2A8-4F80-BF34-C2A84AE51525}" destId="{E59BE8BD-A4E5-4E6E-B2A4-7CD23CC05BB9}" srcOrd="0" destOrd="0" presId="urn:microsoft.com/office/officeart/2005/8/layout/vList2"/>
    <dgm:cxn modelId="{4FD44623-1C2C-4226-BCED-C3A0EDB84D58}" srcId="{90119837-5B71-4D44-BB01-DB0B084933C8}" destId="{ED4D9D5F-8A8F-46A4-9B7D-59C457DA6DF5}" srcOrd="1" destOrd="0" parTransId="{5161A0BE-6EC6-462C-8260-618D2C3DFA25}" sibTransId="{9EE00742-DDD2-4400-8D62-E0C3CFAF3E88}"/>
    <dgm:cxn modelId="{4B0D9525-5940-45B3-AFDF-35C02B7981FE}" srcId="{90119837-5B71-4D44-BB01-DB0B084933C8}" destId="{BA9D5B7B-F37C-49B9-BF51-0B9510396805}" srcOrd="0" destOrd="0" parTransId="{7386A505-AAB7-4873-8418-958FAFBF7C34}" sibTransId="{01C548DB-0EA5-41B7-89F2-14F70538CE37}"/>
    <dgm:cxn modelId="{D1C1E16A-D308-42B3-86AD-A3EF4DF73567}" srcId="{90119837-5B71-4D44-BB01-DB0B084933C8}" destId="{5E793571-B2A8-4F80-BF34-C2A84AE51525}" srcOrd="2" destOrd="0" parTransId="{C6C4724B-D471-4094-ACE0-0ACFFE22DFAF}" sibTransId="{5E2E0859-9119-4FE8-8DE3-EBF8D4837C2B}"/>
    <dgm:cxn modelId="{9FF42FBB-EC9B-4B64-9A81-6D39E7FD1A1A}" type="presOf" srcId="{90119837-5B71-4D44-BB01-DB0B084933C8}" destId="{ED5DCCC5-BCA8-4491-AA37-BAF153ECA184}" srcOrd="0" destOrd="0" presId="urn:microsoft.com/office/officeart/2005/8/layout/vList2"/>
    <dgm:cxn modelId="{0D4FC8C4-E1B1-43A2-8369-B44D81475950}" type="presOf" srcId="{ED4D9D5F-8A8F-46A4-9B7D-59C457DA6DF5}" destId="{7D692BDD-6994-4D32-9345-19FBF0E25B43}" srcOrd="0" destOrd="0" presId="urn:microsoft.com/office/officeart/2005/8/layout/vList2"/>
    <dgm:cxn modelId="{A669C5D3-2204-4523-9127-752AE16B8F2D}" type="presOf" srcId="{BA9D5B7B-F37C-49B9-BF51-0B9510396805}" destId="{079FA60E-65AD-408F-A5A8-F32F2B7AFA9E}" srcOrd="0" destOrd="0" presId="urn:microsoft.com/office/officeart/2005/8/layout/vList2"/>
    <dgm:cxn modelId="{FFBC42B6-70AC-4993-B2E4-B20E01B210BC}" type="presParOf" srcId="{ED5DCCC5-BCA8-4491-AA37-BAF153ECA184}" destId="{079FA60E-65AD-408F-A5A8-F32F2B7AFA9E}" srcOrd="0" destOrd="0" presId="urn:microsoft.com/office/officeart/2005/8/layout/vList2"/>
    <dgm:cxn modelId="{9E48D596-C363-4FF1-BEFC-FD243E16534D}" type="presParOf" srcId="{ED5DCCC5-BCA8-4491-AA37-BAF153ECA184}" destId="{8B8D8169-BB00-4518-B05E-80D76305261F}" srcOrd="1" destOrd="0" presId="urn:microsoft.com/office/officeart/2005/8/layout/vList2"/>
    <dgm:cxn modelId="{CEBCA9AB-D7C8-4866-B569-36EAC6C8DB9E}" type="presParOf" srcId="{ED5DCCC5-BCA8-4491-AA37-BAF153ECA184}" destId="{7D692BDD-6994-4D32-9345-19FBF0E25B43}" srcOrd="2" destOrd="0" presId="urn:microsoft.com/office/officeart/2005/8/layout/vList2"/>
    <dgm:cxn modelId="{6B080161-FC6E-47DB-BC04-2AC08CE9C9E1}" type="presParOf" srcId="{ED5DCCC5-BCA8-4491-AA37-BAF153ECA184}" destId="{0F04E17C-5AA9-4B87-8AA4-61D5044612F6}" srcOrd="3" destOrd="0" presId="urn:microsoft.com/office/officeart/2005/8/layout/vList2"/>
    <dgm:cxn modelId="{81C78DCE-6B51-425C-B54D-FA796C35E042}" type="presParOf" srcId="{ED5DCCC5-BCA8-4491-AA37-BAF153ECA184}" destId="{E59BE8BD-A4E5-4E6E-B2A4-7CD23CC05BB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A9D5B7B-F37C-49B9-BF51-0B9510396805}">
      <dgm:prSet/>
      <dgm:spPr/>
      <dgm:t>
        <a:bodyPr/>
        <a:lstStyle/>
        <a:p>
          <a:r>
            <a:rPr lang="en-US" b="0" i="0" dirty="0"/>
            <a:t>Statements in Python typically end with a new line. </a:t>
          </a:r>
          <a:endParaRPr lang="en-US" dirty="0"/>
        </a:p>
      </dgm:t>
    </dgm:pt>
    <dgm:pt modelId="{7386A505-AAB7-4873-8418-958FAFBF7C34}" type="parTrans" cxnId="{4B0D9525-5940-45B3-AFDF-35C02B7981FE}">
      <dgm:prSet/>
      <dgm:spPr/>
      <dgm:t>
        <a:bodyPr/>
        <a:lstStyle/>
        <a:p>
          <a:endParaRPr lang="en-US"/>
        </a:p>
      </dgm:t>
    </dgm:pt>
    <dgm:pt modelId="{01C548DB-0EA5-41B7-89F2-14F70538CE37}" type="sibTrans" cxnId="{4B0D9525-5940-45B3-AFDF-35C02B7981FE}">
      <dgm:prSet/>
      <dgm:spPr/>
      <dgm:t>
        <a:bodyPr/>
        <a:lstStyle/>
        <a:p>
          <a:endParaRPr lang="en-US"/>
        </a:p>
      </dgm:t>
    </dgm:pt>
    <dgm:pt modelId="{76FAD5C7-FFDE-4D4A-8670-C6AF80E43E31}">
      <dgm:prSet/>
      <dgm:spPr/>
      <dgm:t>
        <a:bodyPr/>
        <a:lstStyle/>
        <a:p>
          <a:r>
            <a:rPr lang="en-US" b="0" i="0" dirty="0"/>
            <a:t>Python does, however, allow the use of the line continuation character (</a:t>
          </a:r>
          <a:r>
            <a:rPr lang="en-US" b="0" i="0" dirty="0">
              <a:solidFill>
                <a:srgbClr val="FF0000"/>
              </a:solidFill>
            </a:rPr>
            <a:t>\</a:t>
          </a:r>
          <a:r>
            <a:rPr lang="en-US" b="0" i="0" dirty="0"/>
            <a:t>) to denote that the line should continue.</a:t>
          </a:r>
          <a:endParaRPr lang="en-US" dirty="0"/>
        </a:p>
      </dgm:t>
    </dgm:pt>
    <dgm:pt modelId="{E1A52874-7125-448C-A505-B04951AD234D}" type="parTrans" cxnId="{3CDC496B-A25B-4F8E-93D3-8657E0D889DE}">
      <dgm:prSet/>
      <dgm:spPr/>
      <dgm:t>
        <a:bodyPr/>
        <a:lstStyle/>
        <a:p>
          <a:endParaRPr lang="en-US"/>
        </a:p>
      </dgm:t>
    </dgm:pt>
    <dgm:pt modelId="{AE232530-2E84-419C-9336-BEC932116AB9}" type="sibTrans" cxnId="{3CDC496B-A25B-4F8E-93D3-8657E0D889DE}">
      <dgm:prSet/>
      <dgm:spPr/>
      <dgm:t>
        <a:bodyPr/>
        <a:lstStyle/>
        <a:p>
          <a:endParaRPr lang="en-US"/>
        </a:p>
      </dgm:t>
    </dgm:pt>
    <dgm:pt modelId="{1F509C42-5075-4720-BA26-3D4905001C33}">
      <dgm:prSet/>
      <dgm:spPr/>
      <dgm:t>
        <a:bodyPr/>
        <a:lstStyle/>
        <a:p>
          <a:r>
            <a:rPr lang="en-US" b="0" i="0" dirty="0"/>
            <a:t>Statements contained within the </a:t>
          </a:r>
          <a:r>
            <a:rPr lang="en-US" b="0" i="0" dirty="0">
              <a:solidFill>
                <a:srgbClr val="FF0000"/>
              </a:solidFill>
            </a:rPr>
            <a:t>[]</a:t>
          </a:r>
          <a:r>
            <a:rPr lang="en-US" b="0" i="0" dirty="0"/>
            <a:t>, </a:t>
          </a:r>
          <a:r>
            <a:rPr lang="en-US" b="0" i="0" dirty="0">
              <a:solidFill>
                <a:srgbClr val="FF0000"/>
              </a:solidFill>
            </a:rPr>
            <a:t>{}</a:t>
          </a:r>
          <a:r>
            <a:rPr lang="en-US" b="0" i="0" dirty="0"/>
            <a:t>, or </a:t>
          </a:r>
          <a:r>
            <a:rPr lang="en-US" b="0" i="0" dirty="0">
              <a:solidFill>
                <a:srgbClr val="FF0000"/>
              </a:solidFill>
            </a:rPr>
            <a:t>() </a:t>
          </a:r>
          <a:r>
            <a:rPr lang="en-US" b="0" i="0" dirty="0"/>
            <a:t>brackets do not need to use the line continuation character.</a:t>
          </a:r>
          <a:endParaRPr lang="en-US" dirty="0"/>
        </a:p>
      </dgm:t>
    </dgm:pt>
    <dgm:pt modelId="{441B753E-C8F2-473B-877A-A4E4F603CC34}" type="parTrans" cxnId="{213A23FD-481D-419C-90E6-36193EB05CCB}">
      <dgm:prSet/>
      <dgm:spPr/>
      <dgm:t>
        <a:bodyPr/>
        <a:lstStyle/>
        <a:p>
          <a:endParaRPr lang="en-US"/>
        </a:p>
      </dgm:t>
    </dgm:pt>
    <dgm:pt modelId="{2160B2EB-D664-4902-A523-C2450D15DF8E}" type="sibTrans" cxnId="{213A23FD-481D-419C-90E6-36193EB05CCB}">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079FA60E-65AD-408F-A5A8-F32F2B7AFA9E}" type="pres">
      <dgm:prSet presAssocID="{BA9D5B7B-F37C-49B9-BF51-0B9510396805}" presName="parentText" presStyleLbl="node1" presStyleIdx="0" presStyleCnt="3">
        <dgm:presLayoutVars>
          <dgm:chMax val="0"/>
          <dgm:bulletEnabled val="1"/>
        </dgm:presLayoutVars>
      </dgm:prSet>
      <dgm:spPr/>
    </dgm:pt>
    <dgm:pt modelId="{8B8D8169-BB00-4518-B05E-80D76305261F}" type="pres">
      <dgm:prSet presAssocID="{01C548DB-0EA5-41B7-89F2-14F70538CE37}" presName="spacer" presStyleCnt="0"/>
      <dgm:spPr/>
    </dgm:pt>
    <dgm:pt modelId="{0F1FE80C-6FCF-4D0A-B232-85743C0B9FD3}" type="pres">
      <dgm:prSet presAssocID="{76FAD5C7-FFDE-4D4A-8670-C6AF80E43E31}" presName="parentText" presStyleLbl="node1" presStyleIdx="1" presStyleCnt="3">
        <dgm:presLayoutVars>
          <dgm:chMax val="0"/>
          <dgm:bulletEnabled val="1"/>
        </dgm:presLayoutVars>
      </dgm:prSet>
      <dgm:spPr/>
    </dgm:pt>
    <dgm:pt modelId="{3A75799D-6CAF-4807-99F0-366A2BBB2A0E}" type="pres">
      <dgm:prSet presAssocID="{AE232530-2E84-419C-9336-BEC932116AB9}" presName="spacer" presStyleCnt="0"/>
      <dgm:spPr/>
    </dgm:pt>
    <dgm:pt modelId="{F39CB04E-C88C-4CE1-A788-B6CF6158B130}" type="pres">
      <dgm:prSet presAssocID="{1F509C42-5075-4720-BA26-3D4905001C33}" presName="parentText" presStyleLbl="node1" presStyleIdx="2" presStyleCnt="3">
        <dgm:presLayoutVars>
          <dgm:chMax val="0"/>
          <dgm:bulletEnabled val="1"/>
        </dgm:presLayoutVars>
      </dgm:prSet>
      <dgm:spPr/>
    </dgm:pt>
  </dgm:ptLst>
  <dgm:cxnLst>
    <dgm:cxn modelId="{4B0D9525-5940-45B3-AFDF-35C02B7981FE}" srcId="{90119837-5B71-4D44-BB01-DB0B084933C8}" destId="{BA9D5B7B-F37C-49B9-BF51-0B9510396805}" srcOrd="0" destOrd="0" parTransId="{7386A505-AAB7-4873-8418-958FAFBF7C34}" sibTransId="{01C548DB-0EA5-41B7-89F2-14F70538CE37}"/>
    <dgm:cxn modelId="{5869B135-2CB1-463A-A95C-33AF9FDE9E8E}" type="presOf" srcId="{90119837-5B71-4D44-BB01-DB0B084933C8}" destId="{ED5DCCC5-BCA8-4491-AA37-BAF153ECA184}" srcOrd="0" destOrd="0" presId="urn:microsoft.com/office/officeart/2005/8/layout/vList2"/>
    <dgm:cxn modelId="{3CDC496B-A25B-4F8E-93D3-8657E0D889DE}" srcId="{90119837-5B71-4D44-BB01-DB0B084933C8}" destId="{76FAD5C7-FFDE-4D4A-8670-C6AF80E43E31}" srcOrd="1" destOrd="0" parTransId="{E1A52874-7125-448C-A505-B04951AD234D}" sibTransId="{AE232530-2E84-419C-9336-BEC932116AB9}"/>
    <dgm:cxn modelId="{9AC747E1-542D-4670-8ECE-6CD5954CC9D2}" type="presOf" srcId="{76FAD5C7-FFDE-4D4A-8670-C6AF80E43E31}" destId="{0F1FE80C-6FCF-4D0A-B232-85743C0B9FD3}" srcOrd="0" destOrd="0" presId="urn:microsoft.com/office/officeart/2005/8/layout/vList2"/>
    <dgm:cxn modelId="{95DE77E5-8C92-428E-86B8-F9CE5C3C2D5D}" type="presOf" srcId="{1F509C42-5075-4720-BA26-3D4905001C33}" destId="{F39CB04E-C88C-4CE1-A788-B6CF6158B130}" srcOrd="0" destOrd="0" presId="urn:microsoft.com/office/officeart/2005/8/layout/vList2"/>
    <dgm:cxn modelId="{1EA7F4F4-A22A-444F-ACD5-ED3AD3C0AABF}" type="presOf" srcId="{BA9D5B7B-F37C-49B9-BF51-0B9510396805}" destId="{079FA60E-65AD-408F-A5A8-F32F2B7AFA9E}" srcOrd="0" destOrd="0" presId="urn:microsoft.com/office/officeart/2005/8/layout/vList2"/>
    <dgm:cxn modelId="{213A23FD-481D-419C-90E6-36193EB05CCB}" srcId="{90119837-5B71-4D44-BB01-DB0B084933C8}" destId="{1F509C42-5075-4720-BA26-3D4905001C33}" srcOrd="2" destOrd="0" parTransId="{441B753E-C8F2-473B-877A-A4E4F603CC34}" sibTransId="{2160B2EB-D664-4902-A523-C2450D15DF8E}"/>
    <dgm:cxn modelId="{727F3489-3236-42C8-BF55-EAA334A9CA11}" type="presParOf" srcId="{ED5DCCC5-BCA8-4491-AA37-BAF153ECA184}" destId="{079FA60E-65AD-408F-A5A8-F32F2B7AFA9E}" srcOrd="0" destOrd="0" presId="urn:microsoft.com/office/officeart/2005/8/layout/vList2"/>
    <dgm:cxn modelId="{41A8C757-7A41-4DD1-955E-BD5583C7CB42}" type="presParOf" srcId="{ED5DCCC5-BCA8-4491-AA37-BAF153ECA184}" destId="{8B8D8169-BB00-4518-B05E-80D76305261F}" srcOrd="1" destOrd="0" presId="urn:microsoft.com/office/officeart/2005/8/layout/vList2"/>
    <dgm:cxn modelId="{46B7AEEA-DC18-41B2-B06D-50BEBD581897}" type="presParOf" srcId="{ED5DCCC5-BCA8-4491-AA37-BAF153ECA184}" destId="{0F1FE80C-6FCF-4D0A-B232-85743C0B9FD3}" srcOrd="2" destOrd="0" presId="urn:microsoft.com/office/officeart/2005/8/layout/vList2"/>
    <dgm:cxn modelId="{74F6950C-DA6B-4ECA-AC88-0B8951E4DCFB}" type="presParOf" srcId="{ED5DCCC5-BCA8-4491-AA37-BAF153ECA184}" destId="{3A75799D-6CAF-4807-99F0-366A2BBB2A0E}" srcOrd="3" destOrd="0" presId="urn:microsoft.com/office/officeart/2005/8/layout/vList2"/>
    <dgm:cxn modelId="{0CF9202C-9D1E-44E5-86BC-D03F3FE81D17}" type="presParOf" srcId="{ED5DCCC5-BCA8-4491-AA37-BAF153ECA184}" destId="{F39CB04E-C88C-4CE1-A788-B6CF6158B13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451284-A595-4836-8A98-B8EC9C3E05C8}">
      <dgm:prSet/>
      <dgm:spPr/>
      <dgm:t>
        <a:bodyPr/>
        <a:lstStyle/>
        <a:p>
          <a:r>
            <a:rPr lang="en-US" b="0" i="0" dirty="0"/>
            <a:t>A group of individual statements, which make a single code block are called </a:t>
          </a:r>
          <a:r>
            <a:rPr lang="en-US" b="1" i="0" dirty="0">
              <a:solidFill>
                <a:srgbClr val="FF0000"/>
              </a:solidFill>
            </a:rPr>
            <a:t>suites</a:t>
          </a:r>
          <a:r>
            <a:rPr lang="en-US" b="0" i="0" dirty="0"/>
            <a:t> in Python.</a:t>
          </a:r>
          <a:endParaRPr lang="en-US" altLang="en-US" dirty="0"/>
        </a:p>
      </dgm:t>
    </dgm:pt>
    <dgm:pt modelId="{0DB8D251-DA98-483F-BE2E-17068D4C1DD2}" type="parTrans" cxnId="{F6F96AD2-A584-41D6-8508-A40F4FE5E821}">
      <dgm:prSet/>
      <dgm:spPr/>
      <dgm:t>
        <a:bodyPr/>
        <a:lstStyle/>
        <a:p>
          <a:endParaRPr lang="en-US"/>
        </a:p>
      </dgm:t>
    </dgm:pt>
    <dgm:pt modelId="{BD37F977-E79D-44F5-935D-E234BC858D34}" type="sibTrans" cxnId="{F6F96AD2-A584-41D6-8508-A40F4FE5E821}">
      <dgm:prSet/>
      <dgm:spPr/>
      <dgm:t>
        <a:bodyPr/>
        <a:lstStyle/>
        <a:p>
          <a:endParaRPr lang="en-US"/>
        </a:p>
      </dgm:t>
    </dgm:pt>
    <dgm:pt modelId="{51B5401E-D148-406F-98BD-73DF907E35A0}">
      <dgm:prSet/>
      <dgm:spPr/>
      <dgm:t>
        <a:bodyPr/>
        <a:lstStyle/>
        <a:p>
          <a:r>
            <a:rPr lang="en-US" b="0" i="0" dirty="0"/>
            <a:t>Header lines begin the statement (with the keyword) and terminate with a colon ( </a:t>
          </a:r>
          <a:r>
            <a:rPr lang="en-US" b="0" i="0" dirty="0">
              <a:solidFill>
                <a:srgbClr val="FF0000"/>
              </a:solidFill>
            </a:rPr>
            <a:t>: </a:t>
          </a:r>
          <a:r>
            <a:rPr lang="en-US" b="0" i="0" dirty="0"/>
            <a:t>) and are followed by one or more lines which make up the suite.</a:t>
          </a:r>
        </a:p>
      </dgm:t>
    </dgm:pt>
    <dgm:pt modelId="{62E0E1DA-4D7D-4CD0-B218-227BEB40363E}" type="parTrans" cxnId="{25733950-8354-4312-A351-D10EF341C9DA}">
      <dgm:prSet/>
      <dgm:spPr/>
      <dgm:t>
        <a:bodyPr/>
        <a:lstStyle/>
        <a:p>
          <a:endParaRPr lang="en-US"/>
        </a:p>
      </dgm:t>
    </dgm:pt>
    <dgm:pt modelId="{F564F6D6-0677-4FB4-9F35-C4E3202AFFE8}" type="sibTrans" cxnId="{25733950-8354-4312-A351-D10EF341C9DA}">
      <dgm:prSet/>
      <dgm:spPr/>
      <dgm:t>
        <a:bodyPr/>
        <a:lstStyle/>
        <a:p>
          <a:endParaRPr lang="en-US"/>
        </a:p>
      </dgm:t>
    </dgm:pt>
    <dgm:pt modelId="{B8903317-01C5-4514-A635-75A9D8C0365A}">
      <dgm:prSet/>
      <dgm:spPr/>
      <dgm:t>
        <a:bodyPr/>
        <a:lstStyle/>
        <a:p>
          <a:r>
            <a:rPr lang="en-US" b="0" i="0" dirty="0"/>
            <a:t>Compound or complex statements, such as </a:t>
          </a:r>
          <a:r>
            <a:rPr lang="en-US" b="0" i="0" dirty="0">
              <a:solidFill>
                <a:srgbClr val="FF0000"/>
              </a:solidFill>
            </a:rPr>
            <a:t>if</a:t>
          </a:r>
          <a:r>
            <a:rPr lang="en-US" b="0" i="0" dirty="0"/>
            <a:t>, </a:t>
          </a:r>
          <a:r>
            <a:rPr lang="en-US" b="0" i="0" dirty="0">
              <a:solidFill>
                <a:srgbClr val="FF0000"/>
              </a:solidFill>
            </a:rPr>
            <a:t>while</a:t>
          </a:r>
          <a:r>
            <a:rPr lang="en-US" b="0" i="0" dirty="0"/>
            <a:t>, </a:t>
          </a:r>
          <a:r>
            <a:rPr lang="en-US" b="0" i="0" dirty="0">
              <a:solidFill>
                <a:srgbClr val="FF0000"/>
              </a:solidFill>
            </a:rPr>
            <a:t>def</a:t>
          </a:r>
          <a:r>
            <a:rPr lang="en-US" b="0" i="0" dirty="0"/>
            <a:t>, and </a:t>
          </a:r>
          <a:r>
            <a:rPr lang="en-US" b="0" i="0" dirty="0">
              <a:solidFill>
                <a:srgbClr val="FF0000"/>
              </a:solidFill>
            </a:rPr>
            <a:t>class</a:t>
          </a:r>
          <a:r>
            <a:rPr lang="en-US" b="0" i="0" dirty="0"/>
            <a:t> require a header line and a suite.</a:t>
          </a:r>
          <a:endParaRPr lang="en-US" altLang="en-US" dirty="0"/>
        </a:p>
      </dgm:t>
    </dgm:pt>
    <dgm:pt modelId="{95525F14-682A-45F6-B1ED-A9F3544FB8C2}" type="parTrans" cxnId="{EB8AD9FB-9299-4724-B229-2EF257E72BE1}">
      <dgm:prSet/>
      <dgm:spPr/>
      <dgm:t>
        <a:bodyPr/>
        <a:lstStyle/>
        <a:p>
          <a:endParaRPr lang="en-US"/>
        </a:p>
      </dgm:t>
    </dgm:pt>
    <dgm:pt modelId="{940FDB40-2F1B-4EC4-8E80-45201C55FE99}" type="sibTrans" cxnId="{EB8AD9FB-9299-4724-B229-2EF257E72BE1}">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6DAE1B0A-5E46-48BB-BD95-68AD2E3A6472}" type="pres">
      <dgm:prSet presAssocID="{D8451284-A595-4836-8A98-B8EC9C3E05C8}" presName="parentText" presStyleLbl="node1" presStyleIdx="0" presStyleCnt="3">
        <dgm:presLayoutVars>
          <dgm:chMax val="0"/>
          <dgm:bulletEnabled val="1"/>
        </dgm:presLayoutVars>
      </dgm:prSet>
      <dgm:spPr/>
    </dgm:pt>
    <dgm:pt modelId="{3D23857A-6928-4ECF-B438-30DA7C96BF91}" type="pres">
      <dgm:prSet presAssocID="{BD37F977-E79D-44F5-935D-E234BC858D34}" presName="spacer" presStyleCnt="0"/>
      <dgm:spPr/>
    </dgm:pt>
    <dgm:pt modelId="{32799C96-74AE-415A-99F2-3C088F8067C4}" type="pres">
      <dgm:prSet presAssocID="{B8903317-01C5-4514-A635-75A9D8C0365A}" presName="parentText" presStyleLbl="node1" presStyleIdx="1" presStyleCnt="3">
        <dgm:presLayoutVars>
          <dgm:chMax val="0"/>
          <dgm:bulletEnabled val="1"/>
        </dgm:presLayoutVars>
      </dgm:prSet>
      <dgm:spPr/>
    </dgm:pt>
    <dgm:pt modelId="{3ADF3C39-AE23-49D2-8F7F-91065F35B27F}" type="pres">
      <dgm:prSet presAssocID="{940FDB40-2F1B-4EC4-8E80-45201C55FE99}" presName="spacer" presStyleCnt="0"/>
      <dgm:spPr/>
    </dgm:pt>
    <dgm:pt modelId="{BE0BEA9D-8AB4-45AA-9305-4AF3674BBD3D}" type="pres">
      <dgm:prSet presAssocID="{51B5401E-D148-406F-98BD-73DF907E35A0}" presName="parentText" presStyleLbl="node1" presStyleIdx="2" presStyleCnt="3">
        <dgm:presLayoutVars>
          <dgm:chMax val="0"/>
          <dgm:bulletEnabled val="1"/>
        </dgm:presLayoutVars>
      </dgm:prSet>
      <dgm:spPr/>
    </dgm:pt>
  </dgm:ptLst>
  <dgm:cxnLst>
    <dgm:cxn modelId="{25733950-8354-4312-A351-D10EF341C9DA}" srcId="{90119837-5B71-4D44-BB01-DB0B084933C8}" destId="{51B5401E-D148-406F-98BD-73DF907E35A0}" srcOrd="2" destOrd="0" parTransId="{62E0E1DA-4D7D-4CD0-B218-227BEB40363E}" sibTransId="{F564F6D6-0677-4FB4-9F35-C4E3202AFFE8}"/>
    <dgm:cxn modelId="{7480598E-0A42-420C-8F14-C9773415E1C1}" type="presOf" srcId="{90119837-5B71-4D44-BB01-DB0B084933C8}" destId="{ED5DCCC5-BCA8-4491-AA37-BAF153ECA184}" srcOrd="0" destOrd="0" presId="urn:microsoft.com/office/officeart/2005/8/layout/vList2"/>
    <dgm:cxn modelId="{810AD1D1-B8D6-4D67-81F7-4664320FA1ED}" type="presOf" srcId="{51B5401E-D148-406F-98BD-73DF907E35A0}" destId="{BE0BEA9D-8AB4-45AA-9305-4AF3674BBD3D}" srcOrd="0" destOrd="0" presId="urn:microsoft.com/office/officeart/2005/8/layout/vList2"/>
    <dgm:cxn modelId="{F6F96AD2-A584-41D6-8508-A40F4FE5E821}" srcId="{90119837-5B71-4D44-BB01-DB0B084933C8}" destId="{D8451284-A595-4836-8A98-B8EC9C3E05C8}" srcOrd="0" destOrd="0" parTransId="{0DB8D251-DA98-483F-BE2E-17068D4C1DD2}" sibTransId="{BD37F977-E79D-44F5-935D-E234BC858D34}"/>
    <dgm:cxn modelId="{4F6A25E8-E00F-45B0-A3D7-E2FE92725EE8}" type="presOf" srcId="{D8451284-A595-4836-8A98-B8EC9C3E05C8}" destId="{6DAE1B0A-5E46-48BB-BD95-68AD2E3A6472}" srcOrd="0" destOrd="0" presId="urn:microsoft.com/office/officeart/2005/8/layout/vList2"/>
    <dgm:cxn modelId="{806628FA-9DB9-458B-962B-7C293891998A}" type="presOf" srcId="{B8903317-01C5-4514-A635-75A9D8C0365A}" destId="{32799C96-74AE-415A-99F2-3C088F8067C4}" srcOrd="0" destOrd="0" presId="urn:microsoft.com/office/officeart/2005/8/layout/vList2"/>
    <dgm:cxn modelId="{EB8AD9FB-9299-4724-B229-2EF257E72BE1}" srcId="{90119837-5B71-4D44-BB01-DB0B084933C8}" destId="{B8903317-01C5-4514-A635-75A9D8C0365A}" srcOrd="1" destOrd="0" parTransId="{95525F14-682A-45F6-B1ED-A9F3544FB8C2}" sibTransId="{940FDB40-2F1B-4EC4-8E80-45201C55FE99}"/>
    <dgm:cxn modelId="{B3A1529D-31A6-4166-83C5-C877AC480E3C}" type="presParOf" srcId="{ED5DCCC5-BCA8-4491-AA37-BAF153ECA184}" destId="{6DAE1B0A-5E46-48BB-BD95-68AD2E3A6472}" srcOrd="0" destOrd="0" presId="urn:microsoft.com/office/officeart/2005/8/layout/vList2"/>
    <dgm:cxn modelId="{88411606-AB25-4457-ACBF-9351505E126C}" type="presParOf" srcId="{ED5DCCC5-BCA8-4491-AA37-BAF153ECA184}" destId="{3D23857A-6928-4ECF-B438-30DA7C96BF91}" srcOrd="1" destOrd="0" presId="urn:microsoft.com/office/officeart/2005/8/layout/vList2"/>
    <dgm:cxn modelId="{6E93E41E-598E-4BB9-BF10-C079254E4FCA}" type="presParOf" srcId="{ED5DCCC5-BCA8-4491-AA37-BAF153ECA184}" destId="{32799C96-74AE-415A-99F2-3C088F8067C4}" srcOrd="2" destOrd="0" presId="urn:microsoft.com/office/officeart/2005/8/layout/vList2"/>
    <dgm:cxn modelId="{AE7222A5-494E-4017-9E5A-C527698CD3C3}" type="presParOf" srcId="{ED5DCCC5-BCA8-4491-AA37-BAF153ECA184}" destId="{3ADF3C39-AE23-49D2-8F7F-91065F35B27F}" srcOrd="3" destOrd="0" presId="urn:microsoft.com/office/officeart/2005/8/layout/vList2"/>
    <dgm:cxn modelId="{E6A7A1FA-BE66-4289-8CF7-38F6CA9F6C45}" type="presParOf" srcId="{ED5DCCC5-BCA8-4491-AA37-BAF153ECA184}" destId="{BE0BEA9D-8AB4-45AA-9305-4AF3674BBD3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451284-A595-4836-8A98-B8EC9C3E05C8}">
      <dgm:prSet/>
      <dgm:spPr/>
      <dgm:t>
        <a:bodyPr/>
        <a:lstStyle/>
        <a:p>
          <a:r>
            <a:rPr lang="en-US" b="0" i="0" dirty="0"/>
            <a:t>Conversions between built-in types</a:t>
          </a:r>
          <a:endParaRPr lang="en-US" altLang="en-US" dirty="0"/>
        </a:p>
      </dgm:t>
    </dgm:pt>
    <dgm:pt modelId="{0DB8D251-DA98-483F-BE2E-17068D4C1DD2}" type="parTrans" cxnId="{F6F96AD2-A584-41D6-8508-A40F4FE5E821}">
      <dgm:prSet/>
      <dgm:spPr/>
      <dgm:t>
        <a:bodyPr/>
        <a:lstStyle/>
        <a:p>
          <a:endParaRPr lang="en-US"/>
        </a:p>
      </dgm:t>
    </dgm:pt>
    <dgm:pt modelId="{BD37F977-E79D-44F5-935D-E234BC858D34}" type="sibTrans" cxnId="{F6F96AD2-A584-41D6-8508-A40F4FE5E821}">
      <dgm:prSet/>
      <dgm:spPr/>
      <dgm:t>
        <a:bodyPr/>
        <a:lstStyle/>
        <a:p>
          <a:endParaRPr lang="en-US"/>
        </a:p>
      </dgm:t>
    </dgm:pt>
    <dgm:pt modelId="{77206491-48F9-43F2-8A9D-05A7FB0F510A}">
      <dgm:prSet/>
      <dgm:spPr/>
      <dgm:t>
        <a:bodyPr/>
        <a:lstStyle/>
        <a:p>
          <a:endParaRPr lang="en-US" altLang="en-US" dirty="0"/>
        </a:p>
      </dgm:t>
    </dgm:pt>
    <dgm:pt modelId="{F47E29E8-BD32-405E-B046-CFC5F5F8228F}" type="parTrans" cxnId="{C28DD6CF-47DA-4E65-85BE-20C3F0C3399F}">
      <dgm:prSet/>
      <dgm:spPr/>
      <dgm:t>
        <a:bodyPr/>
        <a:lstStyle/>
        <a:p>
          <a:endParaRPr lang="en-US"/>
        </a:p>
      </dgm:t>
    </dgm:pt>
    <dgm:pt modelId="{8CDA0BFB-F297-4EE8-B23D-551C0152EE09}" type="sibTrans" cxnId="{C28DD6CF-47DA-4E65-85BE-20C3F0C3399F}">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6DAE1B0A-5E46-48BB-BD95-68AD2E3A6472}" type="pres">
      <dgm:prSet presAssocID="{D8451284-A595-4836-8A98-B8EC9C3E05C8}" presName="parentText" presStyleLbl="node1" presStyleIdx="0" presStyleCnt="1">
        <dgm:presLayoutVars>
          <dgm:chMax val="0"/>
          <dgm:bulletEnabled val="1"/>
        </dgm:presLayoutVars>
      </dgm:prSet>
      <dgm:spPr/>
    </dgm:pt>
    <dgm:pt modelId="{1643E9CC-0CDD-4088-8CC6-DFC082F58011}" type="pres">
      <dgm:prSet presAssocID="{D8451284-A595-4836-8A98-B8EC9C3E05C8}" presName="childText" presStyleLbl="revTx" presStyleIdx="0" presStyleCnt="1">
        <dgm:presLayoutVars>
          <dgm:bulletEnabled val="1"/>
        </dgm:presLayoutVars>
      </dgm:prSet>
      <dgm:spPr/>
    </dgm:pt>
  </dgm:ptLst>
  <dgm:cxnLst>
    <dgm:cxn modelId="{9EB36738-2407-471A-8D26-3A2225ABD0B2}" type="presOf" srcId="{90119837-5B71-4D44-BB01-DB0B084933C8}" destId="{ED5DCCC5-BCA8-4491-AA37-BAF153ECA184}" srcOrd="0" destOrd="0" presId="urn:microsoft.com/office/officeart/2005/8/layout/vList2"/>
    <dgm:cxn modelId="{CC7FA062-B635-48B0-ACEF-9E5E904E4F29}" type="presOf" srcId="{77206491-48F9-43F2-8A9D-05A7FB0F510A}" destId="{1643E9CC-0CDD-4088-8CC6-DFC082F58011}" srcOrd="0" destOrd="0" presId="urn:microsoft.com/office/officeart/2005/8/layout/vList2"/>
    <dgm:cxn modelId="{BAF8F566-959D-47EB-AE3E-E3321020769D}" type="presOf" srcId="{D8451284-A595-4836-8A98-B8EC9C3E05C8}" destId="{6DAE1B0A-5E46-48BB-BD95-68AD2E3A6472}" srcOrd="0" destOrd="0" presId="urn:microsoft.com/office/officeart/2005/8/layout/vList2"/>
    <dgm:cxn modelId="{C28DD6CF-47DA-4E65-85BE-20C3F0C3399F}" srcId="{D8451284-A595-4836-8A98-B8EC9C3E05C8}" destId="{77206491-48F9-43F2-8A9D-05A7FB0F510A}" srcOrd="0" destOrd="0" parTransId="{F47E29E8-BD32-405E-B046-CFC5F5F8228F}" sibTransId="{8CDA0BFB-F297-4EE8-B23D-551C0152EE09}"/>
    <dgm:cxn modelId="{F6F96AD2-A584-41D6-8508-A40F4FE5E821}" srcId="{90119837-5B71-4D44-BB01-DB0B084933C8}" destId="{D8451284-A595-4836-8A98-B8EC9C3E05C8}" srcOrd="0" destOrd="0" parTransId="{0DB8D251-DA98-483F-BE2E-17068D4C1DD2}" sibTransId="{BD37F977-E79D-44F5-935D-E234BC858D34}"/>
    <dgm:cxn modelId="{BEC96789-07D9-4EE8-8D9A-832E04AC15E3}" type="presParOf" srcId="{ED5DCCC5-BCA8-4491-AA37-BAF153ECA184}" destId="{6DAE1B0A-5E46-48BB-BD95-68AD2E3A6472}" srcOrd="0" destOrd="0" presId="urn:microsoft.com/office/officeart/2005/8/layout/vList2"/>
    <dgm:cxn modelId="{D695EFF6-07C0-43E2-9EB7-343A58394837}" type="presParOf" srcId="{ED5DCCC5-BCA8-4491-AA37-BAF153ECA184}" destId="{1643E9CC-0CDD-4088-8CC6-DFC082F5801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451284-A595-4836-8A98-B8EC9C3E05C8}">
      <dgm:prSet/>
      <dgm:spPr/>
      <dgm:t>
        <a:bodyPr/>
        <a:lstStyle/>
        <a:p>
          <a:r>
            <a:rPr lang="en-US" altLang="en-US" dirty="0"/>
            <a:t>Data type resulting from math operation depends on data types of operands</a:t>
          </a:r>
        </a:p>
      </dgm:t>
    </dgm:pt>
    <dgm:pt modelId="{0DB8D251-DA98-483F-BE2E-17068D4C1DD2}" type="parTrans" cxnId="{F6F96AD2-A584-41D6-8508-A40F4FE5E821}">
      <dgm:prSet/>
      <dgm:spPr/>
      <dgm:t>
        <a:bodyPr/>
        <a:lstStyle/>
        <a:p>
          <a:endParaRPr lang="en-US"/>
        </a:p>
      </dgm:t>
    </dgm:pt>
    <dgm:pt modelId="{BD37F977-E79D-44F5-935D-E234BC858D34}" type="sibTrans" cxnId="{F6F96AD2-A584-41D6-8508-A40F4FE5E821}">
      <dgm:prSet/>
      <dgm:spPr/>
      <dgm:t>
        <a:bodyPr/>
        <a:lstStyle/>
        <a:p>
          <a:endParaRPr lang="en-US"/>
        </a:p>
      </dgm:t>
    </dgm:pt>
    <dgm:pt modelId="{77206491-48F9-43F2-8A9D-05A7FB0F510A}">
      <dgm:prSet/>
      <dgm:spPr/>
      <dgm:t>
        <a:bodyPr/>
        <a:lstStyle/>
        <a:p>
          <a:r>
            <a:rPr lang="en-US" altLang="en-US" dirty="0"/>
            <a:t>Two </a:t>
          </a:r>
          <a:r>
            <a:rPr lang="en-US" altLang="en-US" dirty="0">
              <a:solidFill>
                <a:srgbClr val="FF0000"/>
              </a:solidFill>
              <a:latin typeface="Courier New" panose="02070309020205020404" pitchFamily="49" charset="0"/>
              <a:cs typeface="Courier New" panose="02070309020205020404" pitchFamily="49" charset="0"/>
            </a:rPr>
            <a:t>int</a:t>
          </a:r>
          <a:r>
            <a:rPr lang="en-US" altLang="en-US" dirty="0"/>
            <a:t> values: result is an </a:t>
          </a:r>
          <a:r>
            <a:rPr lang="en-US" altLang="en-US" dirty="0">
              <a:solidFill>
                <a:srgbClr val="FF0000"/>
              </a:solidFill>
              <a:latin typeface="Courier New" panose="02070309020205020404" pitchFamily="49" charset="0"/>
              <a:cs typeface="Courier New" panose="02070309020205020404" pitchFamily="49" charset="0"/>
            </a:rPr>
            <a:t>int</a:t>
          </a:r>
          <a:endParaRPr lang="en-US" altLang="en-US" dirty="0">
            <a:solidFill>
              <a:srgbClr val="FF0000"/>
            </a:solidFill>
          </a:endParaRPr>
        </a:p>
      </dgm:t>
    </dgm:pt>
    <dgm:pt modelId="{F47E29E8-BD32-405E-B046-CFC5F5F8228F}" type="parTrans" cxnId="{C28DD6CF-47DA-4E65-85BE-20C3F0C3399F}">
      <dgm:prSet/>
      <dgm:spPr/>
      <dgm:t>
        <a:bodyPr/>
        <a:lstStyle/>
        <a:p>
          <a:endParaRPr lang="en-US"/>
        </a:p>
      </dgm:t>
    </dgm:pt>
    <dgm:pt modelId="{8CDA0BFB-F297-4EE8-B23D-551C0152EE09}" type="sibTrans" cxnId="{C28DD6CF-47DA-4E65-85BE-20C3F0C3399F}">
      <dgm:prSet/>
      <dgm:spPr/>
      <dgm:t>
        <a:bodyPr/>
        <a:lstStyle/>
        <a:p>
          <a:endParaRPr lang="en-US"/>
        </a:p>
      </dgm:t>
    </dgm:pt>
    <dgm:pt modelId="{392D61AD-8331-4515-B1A3-1338BE1C0061}">
      <dgm:prSet/>
      <dgm:spPr/>
      <dgm:t>
        <a:bodyPr/>
        <a:lstStyle/>
        <a:p>
          <a:r>
            <a:rPr lang="en-US" altLang="en-US" dirty="0"/>
            <a:t>Two </a:t>
          </a:r>
          <a:r>
            <a:rPr lang="en-US" altLang="en-US" dirty="0">
              <a:solidFill>
                <a:srgbClr val="FF0000"/>
              </a:solidFill>
              <a:latin typeface="Courier New" panose="02070309020205020404" pitchFamily="49" charset="0"/>
              <a:cs typeface="Courier New" panose="02070309020205020404" pitchFamily="49" charset="0"/>
            </a:rPr>
            <a:t>float</a:t>
          </a:r>
          <a:r>
            <a:rPr lang="en-US" altLang="en-US" dirty="0"/>
            <a:t> values: result is a </a:t>
          </a:r>
          <a:r>
            <a:rPr lang="en-US" altLang="en-US" dirty="0">
              <a:solidFill>
                <a:srgbClr val="FF0000"/>
              </a:solidFill>
              <a:latin typeface="Courier New" panose="02070309020205020404" pitchFamily="49" charset="0"/>
              <a:cs typeface="Courier New" panose="02070309020205020404" pitchFamily="49" charset="0"/>
            </a:rPr>
            <a:t>float</a:t>
          </a:r>
        </a:p>
      </dgm:t>
    </dgm:pt>
    <dgm:pt modelId="{58ED54BC-0EBF-4130-8AD5-8054A4BE1F42}" type="parTrans" cxnId="{90B6A7E9-9CBE-42A6-8B4B-DAAD11467A84}">
      <dgm:prSet/>
      <dgm:spPr/>
      <dgm:t>
        <a:bodyPr/>
        <a:lstStyle/>
        <a:p>
          <a:endParaRPr lang="en-US"/>
        </a:p>
      </dgm:t>
    </dgm:pt>
    <dgm:pt modelId="{115E268D-E056-4F08-A225-CB526A0E4C68}" type="sibTrans" cxnId="{90B6A7E9-9CBE-42A6-8B4B-DAAD11467A84}">
      <dgm:prSet/>
      <dgm:spPr/>
      <dgm:t>
        <a:bodyPr/>
        <a:lstStyle/>
        <a:p>
          <a:endParaRPr lang="en-US"/>
        </a:p>
      </dgm:t>
    </dgm:pt>
    <dgm:pt modelId="{BAE110FE-ED58-4E4B-8F48-099D62F359D8}">
      <dgm:prSet/>
      <dgm:spPr/>
      <dgm:t>
        <a:bodyPr/>
        <a:lstStyle/>
        <a:p>
          <a:r>
            <a:rPr lang="en-US" altLang="en-US" dirty="0">
              <a:solidFill>
                <a:srgbClr val="FF0000"/>
              </a:solidFill>
              <a:latin typeface="Courier New" panose="02070309020205020404" pitchFamily="49" charset="0"/>
              <a:cs typeface="Courier New" panose="02070309020205020404" pitchFamily="49" charset="0"/>
            </a:rPr>
            <a:t>int</a:t>
          </a:r>
          <a:r>
            <a:rPr lang="en-US" altLang="en-US" dirty="0"/>
            <a:t> and </a:t>
          </a:r>
          <a:r>
            <a:rPr lang="en-US" altLang="en-US" dirty="0">
              <a:solidFill>
                <a:srgbClr val="FF0000"/>
              </a:solidFill>
              <a:latin typeface="Courier New" panose="02070309020205020404" pitchFamily="49" charset="0"/>
              <a:cs typeface="Courier New" panose="02070309020205020404" pitchFamily="49" charset="0"/>
            </a:rPr>
            <a:t>float</a:t>
          </a:r>
          <a:r>
            <a:rPr lang="en-US" altLang="en-US" dirty="0"/>
            <a:t>: </a:t>
          </a:r>
          <a:r>
            <a:rPr lang="en-US" altLang="en-US" dirty="0">
              <a:latin typeface="Courier New" panose="02070309020205020404" pitchFamily="49" charset="0"/>
              <a:cs typeface="Courier New" panose="02070309020205020404" pitchFamily="49" charset="0"/>
            </a:rPr>
            <a:t>int</a:t>
          </a:r>
          <a:r>
            <a:rPr lang="en-US" altLang="en-US" dirty="0"/>
            <a:t> temporarily converted to </a:t>
          </a:r>
          <a:r>
            <a:rPr lang="en-US" altLang="en-US" dirty="0">
              <a:latin typeface="Courier New" panose="02070309020205020404" pitchFamily="49" charset="0"/>
              <a:cs typeface="Courier New" panose="02070309020205020404" pitchFamily="49" charset="0"/>
            </a:rPr>
            <a:t>float</a:t>
          </a:r>
          <a:r>
            <a:rPr lang="en-US" altLang="en-US" dirty="0"/>
            <a:t>, result of the operation is a </a:t>
          </a:r>
          <a:r>
            <a:rPr lang="en-US" altLang="en-US" dirty="0">
              <a:solidFill>
                <a:srgbClr val="FF0000"/>
              </a:solidFill>
              <a:latin typeface="Courier New" panose="02070309020205020404" pitchFamily="49" charset="0"/>
              <a:cs typeface="Courier New" panose="02070309020205020404" pitchFamily="49" charset="0"/>
            </a:rPr>
            <a:t>float</a:t>
          </a:r>
        </a:p>
      </dgm:t>
    </dgm:pt>
    <dgm:pt modelId="{5E395074-B0FA-44A2-B843-3ACF9861E05E}" type="parTrans" cxnId="{2DA04453-E0CE-43DD-83A6-E12CFA2A906F}">
      <dgm:prSet/>
      <dgm:spPr/>
      <dgm:t>
        <a:bodyPr/>
        <a:lstStyle/>
        <a:p>
          <a:endParaRPr lang="en-US"/>
        </a:p>
      </dgm:t>
    </dgm:pt>
    <dgm:pt modelId="{F7B4E7B8-241A-4B3B-91EF-0F38F610FA59}" type="sibTrans" cxnId="{2DA04453-E0CE-43DD-83A6-E12CFA2A906F}">
      <dgm:prSet/>
      <dgm:spPr/>
      <dgm:t>
        <a:bodyPr/>
        <a:lstStyle/>
        <a:p>
          <a:endParaRPr lang="en-US"/>
        </a:p>
      </dgm:t>
    </dgm:pt>
    <dgm:pt modelId="{643E8589-CD76-475B-B29F-3B7C20B3CF45}">
      <dgm:prSet/>
      <dgm:spPr/>
      <dgm:t>
        <a:bodyPr/>
        <a:lstStyle/>
        <a:p>
          <a:r>
            <a:rPr lang="en-US" altLang="en-US" dirty="0"/>
            <a:t>Type conversion of </a:t>
          </a:r>
          <a:r>
            <a:rPr lang="en-US" altLang="en-US" dirty="0">
              <a:solidFill>
                <a:srgbClr val="FF0000"/>
              </a:solidFill>
              <a:latin typeface="Courier New" panose="02070309020205020404" pitchFamily="49" charset="0"/>
              <a:cs typeface="Courier New" panose="02070309020205020404" pitchFamily="49" charset="0"/>
            </a:rPr>
            <a:t>float</a:t>
          </a:r>
          <a:r>
            <a:rPr lang="en-US" altLang="en-US" dirty="0"/>
            <a:t> to </a:t>
          </a:r>
          <a:r>
            <a:rPr lang="en-US" altLang="en-US" dirty="0">
              <a:solidFill>
                <a:srgbClr val="FF0000"/>
              </a:solidFill>
              <a:latin typeface="Courier New" panose="02070309020205020404" pitchFamily="49" charset="0"/>
              <a:cs typeface="Courier New" panose="02070309020205020404" pitchFamily="49" charset="0"/>
            </a:rPr>
            <a:t>int</a:t>
          </a:r>
          <a:r>
            <a:rPr lang="en-US" altLang="en-US" dirty="0"/>
            <a:t> causes </a:t>
          </a:r>
          <a:r>
            <a:rPr lang="en-US" altLang="en-US" dirty="0">
              <a:solidFill>
                <a:srgbClr val="FF0000"/>
              </a:solidFill>
            </a:rPr>
            <a:t>truncation</a:t>
          </a:r>
          <a:r>
            <a:rPr lang="en-US" altLang="en-US" dirty="0"/>
            <a:t> of fractional part</a:t>
          </a:r>
          <a:endParaRPr lang="he-IL" altLang="en-US" dirty="0"/>
        </a:p>
      </dgm:t>
    </dgm:pt>
    <dgm:pt modelId="{5563EA1A-1449-4888-B5B0-37BBC4FD3050}" type="parTrans" cxnId="{E45FA9F3-4C47-40D8-BB40-9EBB71B37ECB}">
      <dgm:prSet/>
      <dgm:spPr/>
      <dgm:t>
        <a:bodyPr/>
        <a:lstStyle/>
        <a:p>
          <a:endParaRPr lang="en-US"/>
        </a:p>
      </dgm:t>
    </dgm:pt>
    <dgm:pt modelId="{2FA29674-A187-4DCE-A913-7C84F17DCE5E}" type="sibTrans" cxnId="{E45FA9F3-4C47-40D8-BB40-9EBB71B37ECB}">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6DAE1B0A-5E46-48BB-BD95-68AD2E3A6472}" type="pres">
      <dgm:prSet presAssocID="{D8451284-A595-4836-8A98-B8EC9C3E05C8}" presName="parentText" presStyleLbl="node1" presStyleIdx="0" presStyleCnt="1">
        <dgm:presLayoutVars>
          <dgm:chMax val="0"/>
          <dgm:bulletEnabled val="1"/>
        </dgm:presLayoutVars>
      </dgm:prSet>
      <dgm:spPr/>
    </dgm:pt>
    <dgm:pt modelId="{1643E9CC-0CDD-4088-8CC6-DFC082F58011}" type="pres">
      <dgm:prSet presAssocID="{D8451284-A595-4836-8A98-B8EC9C3E05C8}" presName="childText" presStyleLbl="revTx" presStyleIdx="0" presStyleCnt="1">
        <dgm:presLayoutVars>
          <dgm:bulletEnabled val="1"/>
        </dgm:presLayoutVars>
      </dgm:prSet>
      <dgm:spPr/>
    </dgm:pt>
  </dgm:ptLst>
  <dgm:cxnLst>
    <dgm:cxn modelId="{77D3CA0E-8835-45D7-9A3F-E6A5AF53D95A}" type="presOf" srcId="{643E8589-CD76-475B-B29F-3B7C20B3CF45}" destId="{1643E9CC-0CDD-4088-8CC6-DFC082F58011}" srcOrd="0" destOrd="3" presId="urn:microsoft.com/office/officeart/2005/8/layout/vList2"/>
    <dgm:cxn modelId="{67126F15-1DB2-4A08-8E62-ECDDA01BCE20}" type="presOf" srcId="{D8451284-A595-4836-8A98-B8EC9C3E05C8}" destId="{6DAE1B0A-5E46-48BB-BD95-68AD2E3A6472}" srcOrd="0" destOrd="0" presId="urn:microsoft.com/office/officeart/2005/8/layout/vList2"/>
    <dgm:cxn modelId="{2DA04453-E0CE-43DD-83A6-E12CFA2A906F}" srcId="{D8451284-A595-4836-8A98-B8EC9C3E05C8}" destId="{BAE110FE-ED58-4E4B-8F48-099D62F359D8}" srcOrd="2" destOrd="0" parTransId="{5E395074-B0FA-44A2-B843-3ACF9861E05E}" sibTransId="{F7B4E7B8-241A-4B3B-91EF-0F38F610FA59}"/>
    <dgm:cxn modelId="{37E0C982-0AFE-4101-B94D-06FC4343418A}" type="presOf" srcId="{392D61AD-8331-4515-B1A3-1338BE1C0061}" destId="{1643E9CC-0CDD-4088-8CC6-DFC082F58011}" srcOrd="0" destOrd="1" presId="urn:microsoft.com/office/officeart/2005/8/layout/vList2"/>
    <dgm:cxn modelId="{C28DD6CF-47DA-4E65-85BE-20C3F0C3399F}" srcId="{D8451284-A595-4836-8A98-B8EC9C3E05C8}" destId="{77206491-48F9-43F2-8A9D-05A7FB0F510A}" srcOrd="0" destOrd="0" parTransId="{F47E29E8-BD32-405E-B046-CFC5F5F8228F}" sibTransId="{8CDA0BFB-F297-4EE8-B23D-551C0152EE09}"/>
    <dgm:cxn modelId="{2CFA00D1-082D-4E19-941B-F91AB1DD984D}" type="presOf" srcId="{BAE110FE-ED58-4E4B-8F48-099D62F359D8}" destId="{1643E9CC-0CDD-4088-8CC6-DFC082F58011}" srcOrd="0" destOrd="2" presId="urn:microsoft.com/office/officeart/2005/8/layout/vList2"/>
    <dgm:cxn modelId="{F6F96AD2-A584-41D6-8508-A40F4FE5E821}" srcId="{90119837-5B71-4D44-BB01-DB0B084933C8}" destId="{D8451284-A595-4836-8A98-B8EC9C3E05C8}" srcOrd="0" destOrd="0" parTransId="{0DB8D251-DA98-483F-BE2E-17068D4C1DD2}" sibTransId="{BD37F977-E79D-44F5-935D-E234BC858D34}"/>
    <dgm:cxn modelId="{F2C1A5D3-4BEE-4BAB-B82E-E3CD30FFF55E}" type="presOf" srcId="{90119837-5B71-4D44-BB01-DB0B084933C8}" destId="{ED5DCCC5-BCA8-4491-AA37-BAF153ECA184}" srcOrd="0" destOrd="0" presId="urn:microsoft.com/office/officeart/2005/8/layout/vList2"/>
    <dgm:cxn modelId="{90B6A7E9-9CBE-42A6-8B4B-DAAD11467A84}" srcId="{D8451284-A595-4836-8A98-B8EC9C3E05C8}" destId="{392D61AD-8331-4515-B1A3-1338BE1C0061}" srcOrd="1" destOrd="0" parTransId="{58ED54BC-0EBF-4130-8AD5-8054A4BE1F42}" sibTransId="{115E268D-E056-4F08-A225-CB526A0E4C68}"/>
    <dgm:cxn modelId="{14943CF2-3431-4346-B2AC-F90D99F70273}" type="presOf" srcId="{77206491-48F9-43F2-8A9D-05A7FB0F510A}" destId="{1643E9CC-0CDD-4088-8CC6-DFC082F58011}" srcOrd="0" destOrd="0" presId="urn:microsoft.com/office/officeart/2005/8/layout/vList2"/>
    <dgm:cxn modelId="{E45FA9F3-4C47-40D8-BB40-9EBB71B37ECB}" srcId="{D8451284-A595-4836-8A98-B8EC9C3E05C8}" destId="{643E8589-CD76-475B-B29F-3B7C20B3CF45}" srcOrd="3" destOrd="0" parTransId="{5563EA1A-1449-4888-B5B0-37BBC4FD3050}" sibTransId="{2FA29674-A187-4DCE-A913-7C84F17DCE5E}"/>
    <dgm:cxn modelId="{69896805-BE90-45A5-A022-FBB4668781DA}" type="presParOf" srcId="{ED5DCCC5-BCA8-4491-AA37-BAF153ECA184}" destId="{6DAE1B0A-5E46-48BB-BD95-68AD2E3A6472}" srcOrd="0" destOrd="0" presId="urn:microsoft.com/office/officeart/2005/8/layout/vList2"/>
    <dgm:cxn modelId="{550192BD-B6B7-4931-BAFC-7B802215AB89}" type="presParOf" srcId="{ED5DCCC5-BCA8-4491-AA37-BAF153ECA184}" destId="{1643E9CC-0CDD-4088-8CC6-DFC082F5801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125CFB3-FD92-454B-AFFC-D7A94488708A}">
      <dgm:prSet/>
      <dgm:spPr/>
      <dgm:t>
        <a:bodyPr/>
        <a:lstStyle/>
        <a:p>
          <a:r>
            <a:rPr lang="en-US" altLang="en-US" u="none" dirty="0"/>
            <a:t>Function</a:t>
          </a:r>
        </a:p>
      </dgm:t>
    </dgm:pt>
    <dgm:pt modelId="{1A231CD7-CE8F-46AB-B8B4-B87430DC8616}" type="parTrans" cxnId="{DDE2AB26-F340-4F2E-BF46-FF6501281A76}">
      <dgm:prSet/>
      <dgm:spPr/>
      <dgm:t>
        <a:bodyPr/>
        <a:lstStyle/>
        <a:p>
          <a:endParaRPr lang="en-US"/>
        </a:p>
      </dgm:t>
    </dgm:pt>
    <dgm:pt modelId="{3C652665-6422-4257-8B84-25E41611BEBB}" type="sibTrans" cxnId="{DDE2AB26-F340-4F2E-BF46-FF6501281A76}">
      <dgm:prSet/>
      <dgm:spPr/>
      <dgm:t>
        <a:bodyPr/>
        <a:lstStyle/>
        <a:p>
          <a:endParaRPr lang="en-US"/>
        </a:p>
      </dgm:t>
    </dgm:pt>
    <dgm:pt modelId="{43F1D5B3-29C5-4DA2-AD1A-72A95830D544}">
      <dgm:prSet/>
      <dgm:spPr/>
      <dgm:t>
        <a:bodyPr/>
        <a:lstStyle/>
        <a:p>
          <a:r>
            <a:rPr lang="en-US" altLang="en-US" u="none" dirty="0">
              <a:latin typeface="Courier New" panose="02070309020205020404" pitchFamily="49" charset="0"/>
              <a:cs typeface="Courier New" panose="02070309020205020404" pitchFamily="49" charset="0"/>
            </a:rPr>
            <a:t>print</a:t>
          </a:r>
          <a:r>
            <a:rPr lang="en-US" altLang="en-US" u="none" dirty="0"/>
            <a:t> function</a:t>
          </a:r>
        </a:p>
      </dgm:t>
    </dgm:pt>
    <dgm:pt modelId="{AF34C665-DF64-4B61-ADCF-236E86B9C57E}" type="parTrans" cxnId="{F4DBC3B9-A4C1-4DA5-A4A0-CAF9363A968F}">
      <dgm:prSet/>
      <dgm:spPr/>
      <dgm:t>
        <a:bodyPr/>
        <a:lstStyle/>
        <a:p>
          <a:endParaRPr lang="en-US"/>
        </a:p>
      </dgm:t>
    </dgm:pt>
    <dgm:pt modelId="{D338F7DE-9C0F-4BEC-AE54-73E3849C05EE}" type="sibTrans" cxnId="{F4DBC3B9-A4C1-4DA5-A4A0-CAF9363A968F}">
      <dgm:prSet/>
      <dgm:spPr/>
      <dgm:t>
        <a:bodyPr/>
        <a:lstStyle/>
        <a:p>
          <a:endParaRPr lang="en-US"/>
        </a:p>
      </dgm:t>
    </dgm:pt>
    <dgm:pt modelId="{AC1D09D6-326A-4D49-AD8C-56F5B88D7ECE}">
      <dgm:prSet/>
      <dgm:spPr/>
      <dgm:t>
        <a:bodyPr/>
        <a:lstStyle/>
        <a:p>
          <a:r>
            <a:rPr lang="en-US" altLang="en-US" u="none" dirty="0"/>
            <a:t>Argument</a:t>
          </a:r>
        </a:p>
      </dgm:t>
    </dgm:pt>
    <dgm:pt modelId="{DAA0CA55-E976-4E49-AF22-CC39C5EB4BD8}" type="parTrans" cxnId="{B42688F2-473D-466F-8C65-B59BF9F2E2DF}">
      <dgm:prSet/>
      <dgm:spPr/>
      <dgm:t>
        <a:bodyPr/>
        <a:lstStyle/>
        <a:p>
          <a:endParaRPr lang="en-US"/>
        </a:p>
      </dgm:t>
    </dgm:pt>
    <dgm:pt modelId="{BD113E35-AE88-4FE7-96C0-A6D50DD1BF56}" type="sibTrans" cxnId="{B42688F2-473D-466F-8C65-B59BF9F2E2DF}">
      <dgm:prSet/>
      <dgm:spPr/>
      <dgm:t>
        <a:bodyPr/>
        <a:lstStyle/>
        <a:p>
          <a:endParaRPr lang="en-US"/>
        </a:p>
      </dgm:t>
    </dgm:pt>
    <dgm:pt modelId="{59A5C5AA-3D0D-4C31-8D35-6082C65F3E77}">
      <dgm:prSet/>
      <dgm:spPr/>
      <dgm:t>
        <a:bodyPr/>
        <a:lstStyle/>
        <a:p>
          <a:r>
            <a:rPr lang="en-US" altLang="en-US" dirty="0"/>
            <a:t>Example: data that is printed to screen</a:t>
          </a:r>
        </a:p>
      </dgm:t>
    </dgm:pt>
    <dgm:pt modelId="{C6E359A2-9525-491D-96C7-5C3F1315F203}" type="parTrans" cxnId="{CEF92EC2-9289-45A1-BBD2-3A54617DB1BA}">
      <dgm:prSet/>
      <dgm:spPr/>
      <dgm:t>
        <a:bodyPr/>
        <a:lstStyle/>
        <a:p>
          <a:endParaRPr lang="en-US"/>
        </a:p>
      </dgm:t>
    </dgm:pt>
    <dgm:pt modelId="{7B6534BD-519A-4F15-9136-F0C7D53355BD}" type="sibTrans" cxnId="{CEF92EC2-9289-45A1-BBD2-3A54617DB1BA}">
      <dgm:prSet/>
      <dgm:spPr/>
      <dgm:t>
        <a:bodyPr/>
        <a:lstStyle/>
        <a:p>
          <a:endParaRPr lang="en-US"/>
        </a:p>
      </dgm:t>
    </dgm:pt>
    <dgm:pt modelId="{AFA8BA20-5F26-49F8-BACB-E9DB9CAC301E}">
      <dgm:prSet/>
      <dgm:spPr/>
      <dgm:t>
        <a:bodyPr/>
        <a:lstStyle/>
        <a:p>
          <a:r>
            <a:rPr lang="en-US" altLang="en-US" dirty="0"/>
            <a:t>Statements in a program execute in the order that they appear</a:t>
          </a:r>
        </a:p>
      </dgm:t>
    </dgm:pt>
    <dgm:pt modelId="{313524CC-304A-440D-B2E4-B34E72D0046E}" type="parTrans" cxnId="{DBB8DBE4-671C-4D92-BA76-7DD8AC571932}">
      <dgm:prSet/>
      <dgm:spPr/>
      <dgm:t>
        <a:bodyPr/>
        <a:lstStyle/>
        <a:p>
          <a:endParaRPr lang="en-US"/>
        </a:p>
      </dgm:t>
    </dgm:pt>
    <dgm:pt modelId="{B51F5F2B-EF34-4DD9-8B1D-A7112F32C89C}" type="sibTrans" cxnId="{DBB8DBE4-671C-4D92-BA76-7DD8AC571932}">
      <dgm:prSet/>
      <dgm:spPr/>
      <dgm:t>
        <a:bodyPr/>
        <a:lstStyle/>
        <a:p>
          <a:endParaRPr lang="en-US"/>
        </a:p>
      </dgm:t>
    </dgm:pt>
    <dgm:pt modelId="{E2351C26-7C6B-4816-B434-9F1D938678FC}">
      <dgm:prSet/>
      <dgm:spPr/>
      <dgm:t>
        <a:bodyPr/>
        <a:lstStyle/>
        <a:p>
          <a:r>
            <a:rPr lang="en-US" altLang="en-US" dirty="0"/>
            <a:t>From </a:t>
          </a:r>
          <a:r>
            <a:rPr lang="en-US" altLang="en-US" dirty="0">
              <a:solidFill>
                <a:srgbClr val="FF0000"/>
              </a:solidFill>
            </a:rPr>
            <a:t>top</a:t>
          </a:r>
          <a:r>
            <a:rPr lang="en-US" altLang="en-US" dirty="0"/>
            <a:t> to bottom</a:t>
          </a:r>
          <a:endParaRPr lang="he-IL" altLang="en-US" dirty="0"/>
        </a:p>
      </dgm:t>
    </dgm:pt>
    <dgm:pt modelId="{2F1682A3-1B6B-456C-90C4-8FAFE7B4711A}" type="parTrans" cxnId="{67B8D633-C991-4BD9-964F-901CE95782CD}">
      <dgm:prSet/>
      <dgm:spPr/>
      <dgm:t>
        <a:bodyPr/>
        <a:lstStyle/>
        <a:p>
          <a:endParaRPr lang="en-US"/>
        </a:p>
      </dgm:t>
    </dgm:pt>
    <dgm:pt modelId="{C8DF541A-BEE7-493A-B957-1C645BDA0C16}" type="sibTrans" cxnId="{67B8D633-C991-4BD9-964F-901CE95782CD}">
      <dgm:prSet/>
      <dgm:spPr/>
      <dgm:t>
        <a:bodyPr/>
        <a:lstStyle/>
        <a:p>
          <a:endParaRPr lang="en-US"/>
        </a:p>
      </dgm:t>
    </dgm:pt>
    <dgm:pt modelId="{AF32C9CA-DDAF-4EE8-B7F8-909961AA779F}">
      <dgm:prSet/>
      <dgm:spPr/>
      <dgm:t>
        <a:bodyPr/>
        <a:lstStyle/>
        <a:p>
          <a:r>
            <a:rPr lang="en-US" altLang="en-US" dirty="0"/>
            <a:t>piece of </a:t>
          </a:r>
          <a:r>
            <a:rPr lang="en-US" altLang="en-US" dirty="0">
              <a:solidFill>
                <a:srgbClr val="FF0000"/>
              </a:solidFill>
            </a:rPr>
            <a:t>prewritten</a:t>
          </a:r>
          <a:r>
            <a:rPr lang="en-US" altLang="en-US" dirty="0"/>
            <a:t> code that performs an operation</a:t>
          </a:r>
        </a:p>
      </dgm:t>
    </dgm:pt>
    <dgm:pt modelId="{33C7F297-F0F0-49D2-8004-2CE971D067F9}" type="parTrans" cxnId="{B0CCCCE9-FCD2-4112-A379-2200920533AB}">
      <dgm:prSet/>
      <dgm:spPr/>
      <dgm:t>
        <a:bodyPr/>
        <a:lstStyle/>
        <a:p>
          <a:endParaRPr lang="en-US"/>
        </a:p>
      </dgm:t>
    </dgm:pt>
    <dgm:pt modelId="{F55170D6-FA87-4401-A2EA-B2B5D6EC2773}" type="sibTrans" cxnId="{B0CCCCE9-FCD2-4112-A379-2200920533AB}">
      <dgm:prSet/>
      <dgm:spPr/>
      <dgm:t>
        <a:bodyPr/>
        <a:lstStyle/>
        <a:p>
          <a:endParaRPr lang="en-US"/>
        </a:p>
      </dgm:t>
    </dgm:pt>
    <dgm:pt modelId="{3CC91C3B-8AC9-42D5-9520-072D13F9D904}">
      <dgm:prSet/>
      <dgm:spPr/>
      <dgm:t>
        <a:bodyPr/>
        <a:lstStyle/>
        <a:p>
          <a:r>
            <a:rPr lang="en-US" altLang="en-US" dirty="0">
              <a:solidFill>
                <a:srgbClr val="FF0000"/>
              </a:solidFill>
            </a:rPr>
            <a:t>displays</a:t>
          </a:r>
          <a:r>
            <a:rPr lang="en-US" altLang="en-US" dirty="0"/>
            <a:t> output on the screen</a:t>
          </a:r>
        </a:p>
      </dgm:t>
    </dgm:pt>
    <dgm:pt modelId="{A5F2B369-3A6F-4C89-BCBF-07123B54063F}" type="parTrans" cxnId="{40AAF13D-3C39-44DE-B710-A14B86C41694}">
      <dgm:prSet/>
      <dgm:spPr/>
      <dgm:t>
        <a:bodyPr/>
        <a:lstStyle/>
        <a:p>
          <a:endParaRPr lang="en-US"/>
        </a:p>
      </dgm:t>
    </dgm:pt>
    <dgm:pt modelId="{3F4537C3-E26A-4A44-98FE-BC9B90CEB696}" type="sibTrans" cxnId="{40AAF13D-3C39-44DE-B710-A14B86C41694}">
      <dgm:prSet/>
      <dgm:spPr/>
      <dgm:t>
        <a:bodyPr/>
        <a:lstStyle/>
        <a:p>
          <a:endParaRPr lang="en-US"/>
        </a:p>
      </dgm:t>
    </dgm:pt>
    <dgm:pt modelId="{1B239A64-FF22-4B79-AF5D-176BB4F28C0C}">
      <dgm:prSet/>
      <dgm:spPr/>
      <dgm:t>
        <a:bodyPr/>
        <a:lstStyle/>
        <a:p>
          <a:r>
            <a:rPr lang="en-US" altLang="en-US" dirty="0">
              <a:solidFill>
                <a:srgbClr val="FF0000"/>
              </a:solidFill>
            </a:rPr>
            <a:t>data</a:t>
          </a:r>
          <a:r>
            <a:rPr lang="en-US" altLang="en-US" dirty="0"/>
            <a:t> given to a function</a:t>
          </a:r>
        </a:p>
      </dgm:t>
    </dgm:pt>
    <dgm:pt modelId="{DB4E32FC-FD70-4898-8DE0-0B67C0AC2B8E}" type="parTrans" cxnId="{53004CE2-0CC8-4585-9F0D-D146446FB4B6}">
      <dgm:prSet/>
      <dgm:spPr/>
      <dgm:t>
        <a:bodyPr/>
        <a:lstStyle/>
        <a:p>
          <a:endParaRPr lang="en-US"/>
        </a:p>
      </dgm:t>
    </dgm:pt>
    <dgm:pt modelId="{A9226B56-E886-4CCA-B7BD-968F23664002}" type="sibTrans" cxnId="{53004CE2-0CC8-4585-9F0D-D146446FB4B6}">
      <dgm:prSet/>
      <dgm:spPr/>
      <dgm:t>
        <a:bodyPr/>
        <a:lstStyle/>
        <a:p>
          <a:endParaRPr lang="en-US"/>
        </a:p>
      </dgm:t>
    </dgm:pt>
    <dgm:pt modelId="{417BA227-C204-4EB0-A0DA-2AE29D935F93}">
      <dgm:prSet/>
      <dgm:spPr/>
      <dgm:t>
        <a:bodyPr/>
        <a:lstStyle/>
        <a:p>
          <a:r>
            <a:rPr lang="en-US" altLang="en-US" dirty="0"/>
            <a:t>Python allows one to display multiple items with a single call to </a:t>
          </a:r>
          <a:r>
            <a:rPr lang="en-US" altLang="en-US" dirty="0">
              <a:latin typeface="Courier New" panose="02070309020205020404" pitchFamily="49" charset="0"/>
              <a:cs typeface="Courier New" panose="02070309020205020404" pitchFamily="49" charset="0"/>
            </a:rPr>
            <a:t>print</a:t>
          </a:r>
          <a:endParaRPr lang="he-IL" altLang="en-US" dirty="0"/>
        </a:p>
      </dgm:t>
    </dgm:pt>
    <dgm:pt modelId="{A29E89FF-D82D-42ED-B745-238CD290EE25}" type="parTrans" cxnId="{D3E949CC-12A5-4798-9BF3-C095017B8476}">
      <dgm:prSet/>
      <dgm:spPr/>
      <dgm:t>
        <a:bodyPr/>
        <a:lstStyle/>
        <a:p>
          <a:endParaRPr lang="en-US"/>
        </a:p>
      </dgm:t>
    </dgm:pt>
    <dgm:pt modelId="{30E8C5DE-47F1-469A-8D84-96B3B4EA80AF}" type="sibTrans" cxnId="{D3E949CC-12A5-4798-9BF3-C095017B8476}">
      <dgm:prSet/>
      <dgm:spPr/>
      <dgm:t>
        <a:bodyPr/>
        <a:lstStyle/>
        <a:p>
          <a:endParaRPr lang="en-US"/>
        </a:p>
      </dgm:t>
    </dgm:pt>
    <dgm:pt modelId="{89235D4E-CF9E-4BEC-B9B3-11D41202CB79}">
      <dgm:prSet/>
      <dgm:spPr/>
      <dgm:t>
        <a:bodyPr/>
        <a:lstStyle/>
        <a:p>
          <a:r>
            <a:rPr lang="en-US" altLang="en-US" dirty="0"/>
            <a:t>Items are separated by </a:t>
          </a:r>
          <a:r>
            <a:rPr lang="en-US" altLang="en-US" dirty="0">
              <a:solidFill>
                <a:srgbClr val="FF0000"/>
              </a:solidFill>
            </a:rPr>
            <a:t>commas</a:t>
          </a:r>
          <a:r>
            <a:rPr lang="en-US" altLang="en-US" dirty="0"/>
            <a:t> when passed as arguments</a:t>
          </a:r>
        </a:p>
      </dgm:t>
    </dgm:pt>
    <dgm:pt modelId="{24ED5940-F347-480D-9C86-64A1586E25A6}" type="parTrans" cxnId="{B8AE6AD0-0DC5-45BB-93D2-1BB225E0370D}">
      <dgm:prSet/>
      <dgm:spPr/>
      <dgm:t>
        <a:bodyPr/>
        <a:lstStyle/>
        <a:p>
          <a:endParaRPr lang="en-US"/>
        </a:p>
      </dgm:t>
    </dgm:pt>
    <dgm:pt modelId="{2F01EBB7-004B-40B4-8ACE-BCE69E97C7BC}" type="sibTrans" cxnId="{B8AE6AD0-0DC5-45BB-93D2-1BB225E0370D}">
      <dgm:prSet/>
      <dgm:spPr/>
      <dgm:t>
        <a:bodyPr/>
        <a:lstStyle/>
        <a:p>
          <a:endParaRPr lang="en-US"/>
        </a:p>
      </dgm:t>
    </dgm:pt>
    <dgm:pt modelId="{D03F3564-69E1-4D16-8DE0-3594B30AC651}">
      <dgm:prSet/>
      <dgm:spPr/>
      <dgm:t>
        <a:bodyPr/>
        <a:lstStyle/>
        <a:p>
          <a:r>
            <a:rPr lang="en-US" altLang="en-US" dirty="0">
              <a:solidFill>
                <a:srgbClr val="FF0000"/>
              </a:solidFill>
            </a:rPr>
            <a:t>Arguments</a:t>
          </a:r>
          <a:r>
            <a:rPr lang="en-US" altLang="en-US" dirty="0"/>
            <a:t> displayed in the order they are passed to the </a:t>
          </a:r>
          <a:r>
            <a:rPr lang="en-US" altLang="en-US" dirty="0">
              <a:solidFill>
                <a:srgbClr val="FF0000"/>
              </a:solidFill>
            </a:rPr>
            <a:t>print</a:t>
          </a:r>
          <a:r>
            <a:rPr lang="en-US" altLang="en-US" dirty="0"/>
            <a:t> function</a:t>
          </a:r>
        </a:p>
      </dgm:t>
    </dgm:pt>
    <dgm:pt modelId="{6363BB55-16D2-4213-97A3-EB12BF0AF8B9}" type="parTrans" cxnId="{7995590A-E9D1-4822-87B8-06EC591D203A}">
      <dgm:prSet/>
      <dgm:spPr/>
      <dgm:t>
        <a:bodyPr/>
        <a:lstStyle/>
        <a:p>
          <a:endParaRPr lang="en-US"/>
        </a:p>
      </dgm:t>
    </dgm:pt>
    <dgm:pt modelId="{7660EE39-D500-4BDA-AC29-8CFA7F3CEF92}" type="sibTrans" cxnId="{7995590A-E9D1-4822-87B8-06EC591D203A}">
      <dgm:prSet/>
      <dgm:spPr/>
      <dgm:t>
        <a:bodyPr/>
        <a:lstStyle/>
        <a:p>
          <a:endParaRPr lang="en-US"/>
        </a:p>
      </dgm:t>
    </dgm:pt>
    <dgm:pt modelId="{1462C917-D32D-46F0-ADBC-35359C9CEED5}">
      <dgm:prSet/>
      <dgm:spPr/>
      <dgm:t>
        <a:bodyPr/>
        <a:lstStyle/>
        <a:p>
          <a:r>
            <a:rPr lang="en-US" altLang="en-US" dirty="0"/>
            <a:t>Items are automatically </a:t>
          </a:r>
          <a:r>
            <a:rPr lang="en-US" altLang="en-US" dirty="0">
              <a:solidFill>
                <a:srgbClr val="FF0000"/>
              </a:solidFill>
            </a:rPr>
            <a:t>separated by a space </a:t>
          </a:r>
          <a:r>
            <a:rPr lang="en-US" altLang="en-US" dirty="0"/>
            <a:t>when displayed on screen</a:t>
          </a:r>
          <a:endParaRPr lang="he-IL" altLang="en-US" dirty="0"/>
        </a:p>
      </dgm:t>
    </dgm:pt>
    <dgm:pt modelId="{C76C582E-76DE-4F02-AFA6-3BD742B0EDC6}" type="parTrans" cxnId="{2E1918E8-9920-490A-89AD-498F7669436D}">
      <dgm:prSet/>
      <dgm:spPr/>
      <dgm:t>
        <a:bodyPr/>
        <a:lstStyle/>
        <a:p>
          <a:endParaRPr lang="en-US"/>
        </a:p>
      </dgm:t>
    </dgm:pt>
    <dgm:pt modelId="{4342618A-1877-412F-A7F3-35E73A5EB2F8}" type="sibTrans" cxnId="{2E1918E8-9920-490A-89AD-498F7669436D}">
      <dgm:prSet/>
      <dgm:spPr/>
      <dgm:t>
        <a:bodyPr/>
        <a:lstStyle/>
        <a:p>
          <a:endParaRPr lang="en-US"/>
        </a:p>
      </dgm:t>
    </dgm:pt>
    <dgm:pt modelId="{ED5DCCC5-BCA8-4491-AA37-BAF153ECA184}" type="pres">
      <dgm:prSet presAssocID="{90119837-5B71-4D44-BB01-DB0B084933C8}" presName="linear" presStyleCnt="0">
        <dgm:presLayoutVars>
          <dgm:animLvl val="lvl"/>
          <dgm:resizeHandles val="exact"/>
        </dgm:presLayoutVars>
      </dgm:prSet>
      <dgm:spPr/>
    </dgm:pt>
    <dgm:pt modelId="{E9870326-38F0-4809-93B0-A30AED0C8DD5}" type="pres">
      <dgm:prSet presAssocID="{6125CFB3-FD92-454B-AFFC-D7A94488708A}" presName="parentText" presStyleLbl="node1" presStyleIdx="0" presStyleCnt="5">
        <dgm:presLayoutVars>
          <dgm:chMax val="0"/>
          <dgm:bulletEnabled val="1"/>
        </dgm:presLayoutVars>
      </dgm:prSet>
      <dgm:spPr/>
    </dgm:pt>
    <dgm:pt modelId="{D90E2895-ADB4-47A4-890F-40A6F9EB1BA4}" type="pres">
      <dgm:prSet presAssocID="{6125CFB3-FD92-454B-AFFC-D7A94488708A}" presName="childText" presStyleLbl="revTx" presStyleIdx="0" presStyleCnt="5">
        <dgm:presLayoutVars>
          <dgm:bulletEnabled val="1"/>
        </dgm:presLayoutVars>
      </dgm:prSet>
      <dgm:spPr/>
    </dgm:pt>
    <dgm:pt modelId="{AA331BF4-1F05-43FA-AD62-3F4B6BBC3AE5}" type="pres">
      <dgm:prSet presAssocID="{43F1D5B3-29C5-4DA2-AD1A-72A95830D544}" presName="parentText" presStyleLbl="node1" presStyleIdx="1" presStyleCnt="5">
        <dgm:presLayoutVars>
          <dgm:chMax val="0"/>
          <dgm:bulletEnabled val="1"/>
        </dgm:presLayoutVars>
      </dgm:prSet>
      <dgm:spPr/>
    </dgm:pt>
    <dgm:pt modelId="{FFE457FD-4556-4538-BAD6-48C6037109FC}" type="pres">
      <dgm:prSet presAssocID="{43F1D5B3-29C5-4DA2-AD1A-72A95830D544}" presName="childText" presStyleLbl="revTx" presStyleIdx="1" presStyleCnt="5">
        <dgm:presLayoutVars>
          <dgm:bulletEnabled val="1"/>
        </dgm:presLayoutVars>
      </dgm:prSet>
      <dgm:spPr/>
    </dgm:pt>
    <dgm:pt modelId="{B444F79D-79DF-45D0-A0BD-07DE621E287F}" type="pres">
      <dgm:prSet presAssocID="{AC1D09D6-326A-4D49-AD8C-56F5B88D7ECE}" presName="parentText" presStyleLbl="node1" presStyleIdx="2" presStyleCnt="5">
        <dgm:presLayoutVars>
          <dgm:chMax val="0"/>
          <dgm:bulletEnabled val="1"/>
        </dgm:presLayoutVars>
      </dgm:prSet>
      <dgm:spPr/>
    </dgm:pt>
    <dgm:pt modelId="{847D7759-8DD1-43BC-BD5E-874A4BA8F6A3}" type="pres">
      <dgm:prSet presAssocID="{AC1D09D6-326A-4D49-AD8C-56F5B88D7ECE}" presName="childText" presStyleLbl="revTx" presStyleIdx="2" presStyleCnt="5">
        <dgm:presLayoutVars>
          <dgm:bulletEnabled val="1"/>
        </dgm:presLayoutVars>
      </dgm:prSet>
      <dgm:spPr/>
    </dgm:pt>
    <dgm:pt modelId="{1D9C1F02-384C-4E3B-B8CD-772DA0D5DA3E}" type="pres">
      <dgm:prSet presAssocID="{AFA8BA20-5F26-49F8-BACB-E9DB9CAC301E}" presName="parentText" presStyleLbl="node1" presStyleIdx="3" presStyleCnt="5">
        <dgm:presLayoutVars>
          <dgm:chMax val="0"/>
          <dgm:bulletEnabled val="1"/>
        </dgm:presLayoutVars>
      </dgm:prSet>
      <dgm:spPr/>
    </dgm:pt>
    <dgm:pt modelId="{C2D07655-69FB-4543-B6BD-0B2FF1F1661B}" type="pres">
      <dgm:prSet presAssocID="{AFA8BA20-5F26-49F8-BACB-E9DB9CAC301E}" presName="childText" presStyleLbl="revTx" presStyleIdx="3" presStyleCnt="5">
        <dgm:presLayoutVars>
          <dgm:bulletEnabled val="1"/>
        </dgm:presLayoutVars>
      </dgm:prSet>
      <dgm:spPr/>
    </dgm:pt>
    <dgm:pt modelId="{94EFEDCA-879B-4E0C-997E-AF3E8DF79863}" type="pres">
      <dgm:prSet presAssocID="{417BA227-C204-4EB0-A0DA-2AE29D935F93}" presName="parentText" presStyleLbl="node1" presStyleIdx="4" presStyleCnt="5">
        <dgm:presLayoutVars>
          <dgm:chMax val="0"/>
          <dgm:bulletEnabled val="1"/>
        </dgm:presLayoutVars>
      </dgm:prSet>
      <dgm:spPr/>
    </dgm:pt>
    <dgm:pt modelId="{53B799A8-41AC-409C-A3F2-0570C899D117}" type="pres">
      <dgm:prSet presAssocID="{417BA227-C204-4EB0-A0DA-2AE29D935F93}" presName="childText" presStyleLbl="revTx" presStyleIdx="4" presStyleCnt="5">
        <dgm:presLayoutVars>
          <dgm:bulletEnabled val="1"/>
        </dgm:presLayoutVars>
      </dgm:prSet>
      <dgm:spPr/>
    </dgm:pt>
  </dgm:ptLst>
  <dgm:cxnLst>
    <dgm:cxn modelId="{7995590A-E9D1-4822-87B8-06EC591D203A}" srcId="{417BA227-C204-4EB0-A0DA-2AE29D935F93}" destId="{D03F3564-69E1-4D16-8DE0-3594B30AC651}" srcOrd="1" destOrd="0" parTransId="{6363BB55-16D2-4213-97A3-EB12BF0AF8B9}" sibTransId="{7660EE39-D500-4BDA-AC29-8CFA7F3CEF92}"/>
    <dgm:cxn modelId="{4BDA5716-485F-4F9A-9172-A0EECBBEFEDF}" type="presOf" srcId="{90119837-5B71-4D44-BB01-DB0B084933C8}" destId="{ED5DCCC5-BCA8-4491-AA37-BAF153ECA184}" srcOrd="0" destOrd="0" presId="urn:microsoft.com/office/officeart/2005/8/layout/vList2"/>
    <dgm:cxn modelId="{AE53AC1E-9E3D-46B6-A7FF-62D2ACCBC5B2}" type="presOf" srcId="{1462C917-D32D-46F0-ADBC-35359C9CEED5}" destId="{53B799A8-41AC-409C-A3F2-0570C899D117}" srcOrd="0" destOrd="2" presId="urn:microsoft.com/office/officeart/2005/8/layout/vList2"/>
    <dgm:cxn modelId="{DDE2AB26-F340-4F2E-BF46-FF6501281A76}" srcId="{90119837-5B71-4D44-BB01-DB0B084933C8}" destId="{6125CFB3-FD92-454B-AFFC-D7A94488708A}" srcOrd="0" destOrd="0" parTransId="{1A231CD7-CE8F-46AB-B8B4-B87430DC8616}" sibTransId="{3C652665-6422-4257-8B84-25E41611BEBB}"/>
    <dgm:cxn modelId="{67B8D633-C991-4BD9-964F-901CE95782CD}" srcId="{AFA8BA20-5F26-49F8-BACB-E9DB9CAC301E}" destId="{E2351C26-7C6B-4816-B434-9F1D938678FC}" srcOrd="0" destOrd="0" parTransId="{2F1682A3-1B6B-456C-90C4-8FAFE7B4711A}" sibTransId="{C8DF541A-BEE7-493A-B957-1C645BDA0C16}"/>
    <dgm:cxn modelId="{40AAF13D-3C39-44DE-B710-A14B86C41694}" srcId="{43F1D5B3-29C5-4DA2-AD1A-72A95830D544}" destId="{3CC91C3B-8AC9-42D5-9520-072D13F9D904}" srcOrd="0" destOrd="0" parTransId="{A5F2B369-3A6F-4C89-BCBF-07123B54063F}" sibTransId="{3F4537C3-E26A-4A44-98FE-BC9B90CEB696}"/>
    <dgm:cxn modelId="{0C8BB543-8D09-4CBF-9C15-09B3C25CBCB8}" type="presOf" srcId="{1B239A64-FF22-4B79-AF5D-176BB4F28C0C}" destId="{847D7759-8DD1-43BC-BD5E-874A4BA8F6A3}" srcOrd="0" destOrd="0" presId="urn:microsoft.com/office/officeart/2005/8/layout/vList2"/>
    <dgm:cxn modelId="{746B4664-2036-4963-AFA5-208AD1E7C7D2}" type="presOf" srcId="{417BA227-C204-4EB0-A0DA-2AE29D935F93}" destId="{94EFEDCA-879B-4E0C-997E-AF3E8DF79863}" srcOrd="0" destOrd="0" presId="urn:microsoft.com/office/officeart/2005/8/layout/vList2"/>
    <dgm:cxn modelId="{7580BB49-6046-41C8-8738-BAAED94A67F7}" type="presOf" srcId="{E2351C26-7C6B-4816-B434-9F1D938678FC}" destId="{C2D07655-69FB-4543-B6BD-0B2FF1F1661B}" srcOrd="0" destOrd="0" presId="urn:microsoft.com/office/officeart/2005/8/layout/vList2"/>
    <dgm:cxn modelId="{3CBEF96D-8C56-46B7-BF76-41F29EC3EA2E}" type="presOf" srcId="{89235D4E-CF9E-4BEC-B9B3-11D41202CB79}" destId="{53B799A8-41AC-409C-A3F2-0570C899D117}" srcOrd="0" destOrd="0" presId="urn:microsoft.com/office/officeart/2005/8/layout/vList2"/>
    <dgm:cxn modelId="{F1287374-6541-40C3-B92A-CBA61586D98B}" type="presOf" srcId="{AF32C9CA-DDAF-4EE8-B7F8-909961AA779F}" destId="{D90E2895-ADB4-47A4-890F-40A6F9EB1BA4}" srcOrd="0" destOrd="0" presId="urn:microsoft.com/office/officeart/2005/8/layout/vList2"/>
    <dgm:cxn modelId="{1E73035A-AA44-416A-86A3-D6BA577AE380}" type="presOf" srcId="{AFA8BA20-5F26-49F8-BACB-E9DB9CAC301E}" destId="{1D9C1F02-384C-4E3B-B8CD-772DA0D5DA3E}" srcOrd="0" destOrd="0" presId="urn:microsoft.com/office/officeart/2005/8/layout/vList2"/>
    <dgm:cxn modelId="{004C7997-D7EB-4E4B-B6FC-5011EDBC5352}" type="presOf" srcId="{59A5C5AA-3D0D-4C31-8D35-6082C65F3E77}" destId="{847D7759-8DD1-43BC-BD5E-874A4BA8F6A3}" srcOrd="0" destOrd="1" presId="urn:microsoft.com/office/officeart/2005/8/layout/vList2"/>
    <dgm:cxn modelId="{750A6198-B88C-409E-8C9D-1EC765277095}" type="presOf" srcId="{D03F3564-69E1-4D16-8DE0-3594B30AC651}" destId="{53B799A8-41AC-409C-A3F2-0570C899D117}" srcOrd="0" destOrd="1" presId="urn:microsoft.com/office/officeart/2005/8/layout/vList2"/>
    <dgm:cxn modelId="{3B27F399-A790-4B61-AD12-ED9DD6CB203A}" type="presOf" srcId="{3CC91C3B-8AC9-42D5-9520-072D13F9D904}" destId="{FFE457FD-4556-4538-BAD6-48C6037109FC}" srcOrd="0" destOrd="0" presId="urn:microsoft.com/office/officeart/2005/8/layout/vList2"/>
    <dgm:cxn modelId="{2ECE51A0-C2D4-4445-8E2A-2BDD31EE5209}" type="presOf" srcId="{43F1D5B3-29C5-4DA2-AD1A-72A95830D544}" destId="{AA331BF4-1F05-43FA-AD62-3F4B6BBC3AE5}" srcOrd="0" destOrd="0" presId="urn:microsoft.com/office/officeart/2005/8/layout/vList2"/>
    <dgm:cxn modelId="{F4DBC3B9-A4C1-4DA5-A4A0-CAF9363A968F}" srcId="{90119837-5B71-4D44-BB01-DB0B084933C8}" destId="{43F1D5B3-29C5-4DA2-AD1A-72A95830D544}" srcOrd="1" destOrd="0" parTransId="{AF34C665-DF64-4B61-ADCF-236E86B9C57E}" sibTransId="{D338F7DE-9C0F-4BEC-AE54-73E3849C05EE}"/>
    <dgm:cxn modelId="{CEF92EC2-9289-45A1-BBD2-3A54617DB1BA}" srcId="{AC1D09D6-326A-4D49-AD8C-56F5B88D7ECE}" destId="{59A5C5AA-3D0D-4C31-8D35-6082C65F3E77}" srcOrd="1" destOrd="0" parTransId="{C6E359A2-9525-491D-96C7-5C3F1315F203}" sibTransId="{7B6534BD-519A-4F15-9136-F0C7D53355BD}"/>
    <dgm:cxn modelId="{D3E949CC-12A5-4798-9BF3-C095017B8476}" srcId="{90119837-5B71-4D44-BB01-DB0B084933C8}" destId="{417BA227-C204-4EB0-A0DA-2AE29D935F93}" srcOrd="4" destOrd="0" parTransId="{A29E89FF-D82D-42ED-B745-238CD290EE25}" sibTransId="{30E8C5DE-47F1-469A-8D84-96B3B4EA80AF}"/>
    <dgm:cxn modelId="{B8AE6AD0-0DC5-45BB-93D2-1BB225E0370D}" srcId="{417BA227-C204-4EB0-A0DA-2AE29D935F93}" destId="{89235D4E-CF9E-4BEC-B9B3-11D41202CB79}" srcOrd="0" destOrd="0" parTransId="{24ED5940-F347-480D-9C86-64A1586E25A6}" sibTransId="{2F01EBB7-004B-40B4-8ACE-BCE69E97C7BC}"/>
    <dgm:cxn modelId="{AA4590D8-E0A3-4E4F-9024-F26E9983BCD6}" type="presOf" srcId="{AC1D09D6-326A-4D49-AD8C-56F5B88D7ECE}" destId="{B444F79D-79DF-45D0-A0BD-07DE621E287F}" srcOrd="0" destOrd="0" presId="urn:microsoft.com/office/officeart/2005/8/layout/vList2"/>
    <dgm:cxn modelId="{53004CE2-0CC8-4585-9F0D-D146446FB4B6}" srcId="{AC1D09D6-326A-4D49-AD8C-56F5B88D7ECE}" destId="{1B239A64-FF22-4B79-AF5D-176BB4F28C0C}" srcOrd="0" destOrd="0" parTransId="{DB4E32FC-FD70-4898-8DE0-0B67C0AC2B8E}" sibTransId="{A9226B56-E886-4CCA-B7BD-968F23664002}"/>
    <dgm:cxn modelId="{DBB8DBE4-671C-4D92-BA76-7DD8AC571932}" srcId="{90119837-5B71-4D44-BB01-DB0B084933C8}" destId="{AFA8BA20-5F26-49F8-BACB-E9DB9CAC301E}" srcOrd="3" destOrd="0" parTransId="{313524CC-304A-440D-B2E4-B34E72D0046E}" sibTransId="{B51F5F2B-EF34-4DD9-8B1D-A7112F32C89C}"/>
    <dgm:cxn modelId="{2E1918E8-9920-490A-89AD-498F7669436D}" srcId="{417BA227-C204-4EB0-A0DA-2AE29D935F93}" destId="{1462C917-D32D-46F0-ADBC-35359C9CEED5}" srcOrd="2" destOrd="0" parTransId="{C76C582E-76DE-4F02-AFA6-3BD742B0EDC6}" sibTransId="{4342618A-1877-412F-A7F3-35E73A5EB2F8}"/>
    <dgm:cxn modelId="{B0CCCCE9-FCD2-4112-A379-2200920533AB}" srcId="{6125CFB3-FD92-454B-AFFC-D7A94488708A}" destId="{AF32C9CA-DDAF-4EE8-B7F8-909961AA779F}" srcOrd="0" destOrd="0" parTransId="{33C7F297-F0F0-49D2-8004-2CE971D067F9}" sibTransId="{F55170D6-FA87-4401-A2EA-B2B5D6EC2773}"/>
    <dgm:cxn modelId="{536B34F1-C56B-4640-94A5-14D9BF155325}" type="presOf" srcId="{6125CFB3-FD92-454B-AFFC-D7A94488708A}" destId="{E9870326-38F0-4809-93B0-A30AED0C8DD5}" srcOrd="0" destOrd="0" presId="urn:microsoft.com/office/officeart/2005/8/layout/vList2"/>
    <dgm:cxn modelId="{B42688F2-473D-466F-8C65-B59BF9F2E2DF}" srcId="{90119837-5B71-4D44-BB01-DB0B084933C8}" destId="{AC1D09D6-326A-4D49-AD8C-56F5B88D7ECE}" srcOrd="2" destOrd="0" parTransId="{DAA0CA55-E976-4E49-AF22-CC39C5EB4BD8}" sibTransId="{BD113E35-AE88-4FE7-96C0-A6D50DD1BF56}"/>
    <dgm:cxn modelId="{CE6F2BE1-9B6E-4B74-B70C-941BFE650B2E}" type="presParOf" srcId="{ED5DCCC5-BCA8-4491-AA37-BAF153ECA184}" destId="{E9870326-38F0-4809-93B0-A30AED0C8DD5}" srcOrd="0" destOrd="0" presId="urn:microsoft.com/office/officeart/2005/8/layout/vList2"/>
    <dgm:cxn modelId="{9652B0AF-4972-46A2-8C70-4EB520649B00}" type="presParOf" srcId="{ED5DCCC5-BCA8-4491-AA37-BAF153ECA184}" destId="{D90E2895-ADB4-47A4-890F-40A6F9EB1BA4}" srcOrd="1" destOrd="0" presId="urn:microsoft.com/office/officeart/2005/8/layout/vList2"/>
    <dgm:cxn modelId="{639C86B3-5C32-4766-B03C-1AD1ED04EBC2}" type="presParOf" srcId="{ED5DCCC5-BCA8-4491-AA37-BAF153ECA184}" destId="{AA331BF4-1F05-43FA-AD62-3F4B6BBC3AE5}" srcOrd="2" destOrd="0" presId="urn:microsoft.com/office/officeart/2005/8/layout/vList2"/>
    <dgm:cxn modelId="{05E269C1-8076-4BD5-9E3E-11F8B2DAFB06}" type="presParOf" srcId="{ED5DCCC5-BCA8-4491-AA37-BAF153ECA184}" destId="{FFE457FD-4556-4538-BAD6-48C6037109FC}" srcOrd="3" destOrd="0" presId="urn:microsoft.com/office/officeart/2005/8/layout/vList2"/>
    <dgm:cxn modelId="{557EABF6-66E4-4DC3-9FD3-7C3C0C9588BB}" type="presParOf" srcId="{ED5DCCC5-BCA8-4491-AA37-BAF153ECA184}" destId="{B444F79D-79DF-45D0-A0BD-07DE621E287F}" srcOrd="4" destOrd="0" presId="urn:microsoft.com/office/officeart/2005/8/layout/vList2"/>
    <dgm:cxn modelId="{3D5EBE57-B2A4-4273-82D2-0FE24FC140A4}" type="presParOf" srcId="{ED5DCCC5-BCA8-4491-AA37-BAF153ECA184}" destId="{847D7759-8DD1-43BC-BD5E-874A4BA8F6A3}" srcOrd="5" destOrd="0" presId="urn:microsoft.com/office/officeart/2005/8/layout/vList2"/>
    <dgm:cxn modelId="{0D6FA07D-3693-4CC8-92D4-37788B0B34B7}" type="presParOf" srcId="{ED5DCCC5-BCA8-4491-AA37-BAF153ECA184}" destId="{1D9C1F02-384C-4E3B-B8CD-772DA0D5DA3E}" srcOrd="6" destOrd="0" presId="urn:microsoft.com/office/officeart/2005/8/layout/vList2"/>
    <dgm:cxn modelId="{8015F833-A145-45AC-A705-14D479C84F31}" type="presParOf" srcId="{ED5DCCC5-BCA8-4491-AA37-BAF153ECA184}" destId="{C2D07655-69FB-4543-B6BD-0B2FF1F1661B}" srcOrd="7" destOrd="0" presId="urn:microsoft.com/office/officeart/2005/8/layout/vList2"/>
    <dgm:cxn modelId="{8C6D726D-E7E8-4E45-9922-3A7CCF15BBD2}" type="presParOf" srcId="{ED5DCCC5-BCA8-4491-AA37-BAF153ECA184}" destId="{94EFEDCA-879B-4E0C-997E-AF3E8DF79863}" srcOrd="8" destOrd="0" presId="urn:microsoft.com/office/officeart/2005/8/layout/vList2"/>
    <dgm:cxn modelId="{895EE274-3D34-4C48-AE0C-0D6367EA6FB5}" type="presParOf" srcId="{ED5DCCC5-BCA8-4491-AA37-BAF153ECA184}" destId="{53B799A8-41AC-409C-A3F2-0570C899D117}"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D4F1A-E54E-4DDB-A374-BC9037A6551C}">
      <dsp:nvSpPr>
        <dsp:cNvPr id="0" name=""/>
        <dsp:cNvSpPr/>
      </dsp:nvSpPr>
      <dsp:spPr>
        <a:xfrm>
          <a:off x="0" y="187701"/>
          <a:ext cx="9906000" cy="166845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0" i="0" kern="1200" dirty="0"/>
            <a:t>Python is designed to be highly </a:t>
          </a:r>
          <a:r>
            <a:rPr lang="en-US" sz="4200" b="0" i="0" kern="1200" dirty="0">
              <a:solidFill>
                <a:srgbClr val="FF0000"/>
              </a:solidFill>
            </a:rPr>
            <a:t>readable</a:t>
          </a:r>
          <a:r>
            <a:rPr lang="en-US" sz="4200" b="0" i="0" kern="1200" dirty="0"/>
            <a:t>.</a:t>
          </a:r>
          <a:endParaRPr lang="en-US" sz="4200" kern="1200" dirty="0">
            <a:solidFill>
              <a:schemeClr val="bg1"/>
            </a:solidFill>
          </a:endParaRPr>
        </a:p>
      </dsp:txBody>
      <dsp:txXfrm>
        <a:off x="81447" y="269148"/>
        <a:ext cx="9743106" cy="1505562"/>
      </dsp:txXfrm>
    </dsp:sp>
    <dsp:sp modelId="{67861FEF-F2DF-434D-9A07-36A4952DD9A2}">
      <dsp:nvSpPr>
        <dsp:cNvPr id="0" name=""/>
        <dsp:cNvSpPr/>
      </dsp:nvSpPr>
      <dsp:spPr>
        <a:xfrm>
          <a:off x="0" y="1980539"/>
          <a:ext cx="9906000" cy="166845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0" i="0" kern="1200" dirty="0"/>
            <a:t>It uses </a:t>
          </a:r>
          <a:r>
            <a:rPr lang="en-US" sz="4200" b="0" i="0" kern="1200" dirty="0">
              <a:solidFill>
                <a:srgbClr val="FF0000"/>
              </a:solidFill>
            </a:rPr>
            <a:t>English keywords </a:t>
          </a:r>
          <a:r>
            <a:rPr lang="en-US" sz="4200" b="0" i="0" kern="1200" dirty="0"/>
            <a:t>frequently where as other languages use punctuation.</a:t>
          </a:r>
          <a:endParaRPr lang="en-US" sz="4200" kern="1200" dirty="0">
            <a:solidFill>
              <a:schemeClr val="bg1"/>
            </a:solidFill>
          </a:endParaRPr>
        </a:p>
      </dsp:txBody>
      <dsp:txXfrm>
        <a:off x="81447" y="2061986"/>
        <a:ext cx="9743106" cy="1505562"/>
      </dsp:txXfrm>
    </dsp:sp>
    <dsp:sp modelId="{115AF37A-9FA4-4872-950A-F6C6A8380FBC}">
      <dsp:nvSpPr>
        <dsp:cNvPr id="0" name=""/>
        <dsp:cNvSpPr/>
      </dsp:nvSpPr>
      <dsp:spPr>
        <a:xfrm>
          <a:off x="0" y="3769955"/>
          <a:ext cx="9906000" cy="166845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0" i="0" kern="1200" dirty="0"/>
            <a:t>It has fewer </a:t>
          </a:r>
          <a:r>
            <a:rPr lang="en-US" sz="4200" b="0" i="0" kern="1200" dirty="0">
              <a:solidFill>
                <a:srgbClr val="FF0000"/>
              </a:solidFill>
            </a:rPr>
            <a:t>syntactical</a:t>
          </a:r>
          <a:r>
            <a:rPr lang="en-US" sz="4200" b="0" i="0" kern="1200" dirty="0"/>
            <a:t> constructions than other languages.</a:t>
          </a:r>
          <a:endParaRPr lang="en-US" sz="4200" kern="1200" dirty="0">
            <a:solidFill>
              <a:schemeClr val="bg1"/>
            </a:solidFill>
          </a:endParaRPr>
        </a:p>
      </dsp:txBody>
      <dsp:txXfrm>
        <a:off x="81447" y="3851402"/>
        <a:ext cx="9743106" cy="1505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D4F1A-E54E-4DDB-A374-BC9037A6551C}">
      <dsp:nvSpPr>
        <dsp:cNvPr id="0" name=""/>
        <dsp:cNvSpPr/>
      </dsp:nvSpPr>
      <dsp:spPr>
        <a:xfrm>
          <a:off x="0" y="31512"/>
          <a:ext cx="10058399" cy="131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was developed by </a:t>
          </a:r>
          <a:r>
            <a:rPr lang="en-US" sz="2400" b="0" i="0" kern="1200" dirty="0">
              <a:solidFill>
                <a:srgbClr val="FF0000"/>
              </a:solidFill>
            </a:rPr>
            <a:t>Guido van Rossum </a:t>
          </a:r>
          <a:r>
            <a:rPr lang="en-US" sz="2400" b="0" i="0" kern="1200" dirty="0"/>
            <a:t>in the late eighties and early nineties at the National Research Institute for Mathematics and Computer Science in the Netherlands.</a:t>
          </a:r>
          <a:endParaRPr lang="en-US" sz="2400" kern="1200" dirty="0">
            <a:solidFill>
              <a:schemeClr val="bg1"/>
            </a:solidFill>
          </a:endParaRPr>
        </a:p>
      </dsp:txBody>
      <dsp:txXfrm>
        <a:off x="64425" y="95937"/>
        <a:ext cx="9929549" cy="1190909"/>
      </dsp:txXfrm>
    </dsp:sp>
    <dsp:sp modelId="{2A0AF8F8-916B-45C3-9B31-6E743222158C}">
      <dsp:nvSpPr>
        <dsp:cNvPr id="0" name=""/>
        <dsp:cNvSpPr/>
      </dsp:nvSpPr>
      <dsp:spPr>
        <a:xfrm>
          <a:off x="0" y="1422347"/>
          <a:ext cx="10058399" cy="131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is derived from many other languages, including ABC, Modula-3, C, C++, Algol-68, SmallTalk, and Unix shell and other scripting languages.</a:t>
          </a:r>
        </a:p>
      </dsp:txBody>
      <dsp:txXfrm>
        <a:off x="64425" y="1486772"/>
        <a:ext cx="9929549" cy="1190909"/>
      </dsp:txXfrm>
    </dsp:sp>
    <dsp:sp modelId="{AF712734-387E-45AD-B744-3173EACFDB60}">
      <dsp:nvSpPr>
        <dsp:cNvPr id="0" name=""/>
        <dsp:cNvSpPr/>
      </dsp:nvSpPr>
      <dsp:spPr>
        <a:xfrm>
          <a:off x="0" y="2811227"/>
          <a:ext cx="10058399" cy="131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is </a:t>
          </a:r>
          <a:r>
            <a:rPr lang="en-US" sz="2400" b="0" i="0" kern="1200" dirty="0">
              <a:solidFill>
                <a:srgbClr val="FF0000"/>
              </a:solidFill>
            </a:rPr>
            <a:t>copyrighted</a:t>
          </a:r>
          <a:r>
            <a:rPr lang="en-US" sz="2400" b="0" i="0" kern="1200" dirty="0"/>
            <a:t>. Like Perl, Python source code is now available under the GNU General Public License (GPL).</a:t>
          </a:r>
        </a:p>
      </dsp:txBody>
      <dsp:txXfrm>
        <a:off x="64425" y="2875652"/>
        <a:ext cx="9929549" cy="1190909"/>
      </dsp:txXfrm>
    </dsp:sp>
    <dsp:sp modelId="{6EE82979-45AD-46F1-9E90-60469EA5DA33}">
      <dsp:nvSpPr>
        <dsp:cNvPr id="0" name=""/>
        <dsp:cNvSpPr/>
      </dsp:nvSpPr>
      <dsp:spPr>
        <a:xfrm>
          <a:off x="0" y="4200107"/>
          <a:ext cx="10058399" cy="13197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Python is now maintained by a </a:t>
          </a:r>
          <a:r>
            <a:rPr lang="en-US" sz="2400" b="0" i="0" kern="1200" dirty="0">
              <a:solidFill>
                <a:srgbClr val="FF0000"/>
              </a:solidFill>
            </a:rPr>
            <a:t>core</a:t>
          </a:r>
          <a:r>
            <a:rPr lang="en-US" sz="2400" b="0" i="0" kern="1200" dirty="0"/>
            <a:t> development team at the institute, although Guido van Rossum still holds a vital role in directing its progress.</a:t>
          </a:r>
        </a:p>
      </dsp:txBody>
      <dsp:txXfrm>
        <a:off x="64425" y="4264532"/>
        <a:ext cx="9929549" cy="1190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D4F1A-E54E-4DDB-A374-BC9037A6551C}">
      <dsp:nvSpPr>
        <dsp:cNvPr id="0" name=""/>
        <dsp:cNvSpPr/>
      </dsp:nvSpPr>
      <dsp:spPr>
        <a:xfrm>
          <a:off x="0" y="0"/>
          <a:ext cx="9601200"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Easy-to-learn</a:t>
          </a:r>
          <a:endParaRPr lang="en-US" sz="2400" kern="1200" dirty="0">
            <a:solidFill>
              <a:schemeClr val="bg1"/>
            </a:solidFill>
          </a:endParaRPr>
        </a:p>
      </dsp:txBody>
      <dsp:txXfrm>
        <a:off x="28100" y="28100"/>
        <a:ext cx="9545000" cy="519439"/>
      </dsp:txXfrm>
    </dsp:sp>
    <dsp:sp modelId="{8906AB09-5EEF-49FC-806A-706CE51CB198}">
      <dsp:nvSpPr>
        <dsp:cNvPr id="0" name=""/>
        <dsp:cNvSpPr/>
      </dsp:nvSpPr>
      <dsp:spPr>
        <a:xfrm>
          <a:off x="0" y="590477"/>
          <a:ext cx="9601200" cy="658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Python has </a:t>
          </a:r>
          <a:r>
            <a:rPr lang="en-US" sz="1900" b="0" i="0" kern="1200" dirty="0">
              <a:solidFill>
                <a:srgbClr val="FF0000"/>
              </a:solidFill>
            </a:rPr>
            <a:t>few</a:t>
          </a:r>
          <a:r>
            <a:rPr lang="en-US" sz="1900" b="0" i="0" kern="1200" dirty="0"/>
            <a:t> keywords, simple structure, and a clearly defined syntax.</a:t>
          </a:r>
          <a:endParaRPr lang="en-US" sz="1900" kern="1200" dirty="0">
            <a:solidFill>
              <a:schemeClr val="bg1"/>
            </a:solidFill>
          </a:endParaRPr>
        </a:p>
        <a:p>
          <a:pPr marL="171450" lvl="1" indent="-171450" algn="l" defTabSz="844550">
            <a:lnSpc>
              <a:spcPct val="90000"/>
            </a:lnSpc>
            <a:spcBef>
              <a:spcPct val="0"/>
            </a:spcBef>
            <a:spcAft>
              <a:spcPct val="20000"/>
            </a:spcAft>
            <a:buChar char="•"/>
          </a:pPr>
          <a:r>
            <a:rPr lang="en-US" sz="1900" b="0" i="0" kern="1200" dirty="0"/>
            <a:t>This allows the student to pick up the language quickly.</a:t>
          </a:r>
          <a:endParaRPr lang="en-US" sz="1900" kern="1200" dirty="0">
            <a:solidFill>
              <a:schemeClr val="bg1"/>
            </a:solidFill>
          </a:endParaRPr>
        </a:p>
      </dsp:txBody>
      <dsp:txXfrm>
        <a:off x="0" y="590477"/>
        <a:ext cx="9601200" cy="658260"/>
      </dsp:txXfrm>
    </dsp:sp>
    <dsp:sp modelId="{386DCEB2-0401-43D6-BBA8-2F6F2281B870}">
      <dsp:nvSpPr>
        <dsp:cNvPr id="0" name=""/>
        <dsp:cNvSpPr/>
      </dsp:nvSpPr>
      <dsp:spPr>
        <a:xfrm>
          <a:off x="0" y="1248737"/>
          <a:ext cx="9601200"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Easy-to-read</a:t>
          </a:r>
          <a:endParaRPr lang="en-US" sz="2400" b="0" i="0" kern="1200" dirty="0"/>
        </a:p>
      </dsp:txBody>
      <dsp:txXfrm>
        <a:off x="28100" y="1276837"/>
        <a:ext cx="9545000" cy="519439"/>
      </dsp:txXfrm>
    </dsp:sp>
    <dsp:sp modelId="{FA231B1E-409C-4853-8509-35DD626BFCB1}">
      <dsp:nvSpPr>
        <dsp:cNvPr id="0" name=""/>
        <dsp:cNvSpPr/>
      </dsp:nvSpPr>
      <dsp:spPr>
        <a:xfrm>
          <a:off x="0" y="1824377"/>
          <a:ext cx="96012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Python code is more </a:t>
          </a:r>
          <a:r>
            <a:rPr lang="en-US" sz="1900" b="0" i="0" kern="1200" dirty="0">
              <a:solidFill>
                <a:srgbClr val="FF0000"/>
              </a:solidFill>
            </a:rPr>
            <a:t>clearly</a:t>
          </a:r>
          <a:r>
            <a:rPr lang="en-US" sz="1900" b="0" i="0" kern="1200" dirty="0"/>
            <a:t> defined and visible to the eyes.</a:t>
          </a:r>
        </a:p>
      </dsp:txBody>
      <dsp:txXfrm>
        <a:off x="0" y="1824377"/>
        <a:ext cx="9601200" cy="397440"/>
      </dsp:txXfrm>
    </dsp:sp>
    <dsp:sp modelId="{034DEBC5-4529-4BE9-9F41-16298B9D0E6F}">
      <dsp:nvSpPr>
        <dsp:cNvPr id="0" name=""/>
        <dsp:cNvSpPr/>
      </dsp:nvSpPr>
      <dsp:spPr>
        <a:xfrm>
          <a:off x="0" y="2221817"/>
          <a:ext cx="9601200"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Easy-to-maintain</a:t>
          </a:r>
          <a:endParaRPr lang="en-US" sz="2400" b="0" i="0" kern="1200" dirty="0"/>
        </a:p>
      </dsp:txBody>
      <dsp:txXfrm>
        <a:off x="28100" y="2249917"/>
        <a:ext cx="9545000" cy="519439"/>
      </dsp:txXfrm>
    </dsp:sp>
    <dsp:sp modelId="{9B747B72-BF04-410B-9338-10114A0AFEE2}">
      <dsp:nvSpPr>
        <dsp:cNvPr id="0" name=""/>
        <dsp:cNvSpPr/>
      </dsp:nvSpPr>
      <dsp:spPr>
        <a:xfrm>
          <a:off x="0" y="2797457"/>
          <a:ext cx="960120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Python's source code is fairly </a:t>
          </a:r>
          <a:r>
            <a:rPr lang="en-US" sz="1900" b="0" i="0" kern="1200" dirty="0">
              <a:solidFill>
                <a:srgbClr val="FF0000"/>
              </a:solidFill>
            </a:rPr>
            <a:t>easy-to-maintain</a:t>
          </a:r>
          <a:r>
            <a:rPr lang="en-US" sz="1900" b="0" i="0" kern="1200" dirty="0"/>
            <a:t>.</a:t>
          </a:r>
        </a:p>
      </dsp:txBody>
      <dsp:txXfrm>
        <a:off x="0" y="2797457"/>
        <a:ext cx="9601200" cy="397440"/>
      </dsp:txXfrm>
    </dsp:sp>
    <dsp:sp modelId="{454AFC11-8783-486C-BA0E-D456FD19D038}">
      <dsp:nvSpPr>
        <dsp:cNvPr id="0" name=""/>
        <dsp:cNvSpPr/>
      </dsp:nvSpPr>
      <dsp:spPr>
        <a:xfrm>
          <a:off x="0" y="3194897"/>
          <a:ext cx="9601200"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A broad standard library</a:t>
          </a:r>
          <a:endParaRPr lang="en-US" sz="2400" b="0" i="0" kern="1200" dirty="0"/>
        </a:p>
      </dsp:txBody>
      <dsp:txXfrm>
        <a:off x="28100" y="3222997"/>
        <a:ext cx="9545000" cy="519439"/>
      </dsp:txXfrm>
    </dsp:sp>
    <dsp:sp modelId="{A555AF5D-DF82-4305-BBBE-37C79D1BBAB2}">
      <dsp:nvSpPr>
        <dsp:cNvPr id="0" name=""/>
        <dsp:cNvSpPr/>
      </dsp:nvSpPr>
      <dsp:spPr>
        <a:xfrm>
          <a:off x="0" y="3770537"/>
          <a:ext cx="96012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Python's </a:t>
          </a:r>
          <a:r>
            <a:rPr lang="en-US" sz="1900" b="0" i="0" kern="1200" dirty="0">
              <a:solidFill>
                <a:srgbClr val="FF0000"/>
              </a:solidFill>
            </a:rPr>
            <a:t>bulk of the library </a:t>
          </a:r>
          <a:r>
            <a:rPr lang="en-US" sz="1900" b="0" i="0" kern="1200" dirty="0"/>
            <a:t>is very portable and cross-platform compatible on UNIX, Windows, and Macintosh.</a:t>
          </a:r>
        </a:p>
      </dsp:txBody>
      <dsp:txXfrm>
        <a:off x="0" y="3770537"/>
        <a:ext cx="9601200" cy="596160"/>
      </dsp:txXfrm>
    </dsp:sp>
    <dsp:sp modelId="{9FB6B61E-D45E-4BD9-B82B-96A2179606FC}">
      <dsp:nvSpPr>
        <dsp:cNvPr id="0" name=""/>
        <dsp:cNvSpPr/>
      </dsp:nvSpPr>
      <dsp:spPr>
        <a:xfrm>
          <a:off x="0" y="4366697"/>
          <a:ext cx="9601200"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Interactive Mode</a:t>
          </a:r>
          <a:endParaRPr lang="en-US" sz="2400" b="0" i="0" kern="1200" dirty="0"/>
        </a:p>
      </dsp:txBody>
      <dsp:txXfrm>
        <a:off x="28100" y="4394797"/>
        <a:ext cx="9545000" cy="519439"/>
      </dsp:txXfrm>
    </dsp:sp>
    <dsp:sp modelId="{F8525B06-98A3-4A96-B0E1-9CD4431A92E4}">
      <dsp:nvSpPr>
        <dsp:cNvPr id="0" name=""/>
        <dsp:cNvSpPr/>
      </dsp:nvSpPr>
      <dsp:spPr>
        <a:xfrm>
          <a:off x="0" y="4942337"/>
          <a:ext cx="96012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0" i="0" kern="1200" dirty="0"/>
            <a:t>Python has support for an </a:t>
          </a:r>
          <a:r>
            <a:rPr lang="en-US" sz="1900" b="0" i="0" kern="1200" dirty="0">
              <a:solidFill>
                <a:srgbClr val="FF0000"/>
              </a:solidFill>
            </a:rPr>
            <a:t>interactive mode </a:t>
          </a:r>
          <a:r>
            <a:rPr lang="en-US" sz="1900" b="0" i="0" kern="1200" dirty="0"/>
            <a:t>which allows interactive testing and debugging of snippets of code.</a:t>
          </a:r>
        </a:p>
      </dsp:txBody>
      <dsp:txXfrm>
        <a:off x="0" y="4942337"/>
        <a:ext cx="9601200" cy="596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199364"/>
          <a:ext cx="9601200" cy="55165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Portable</a:t>
          </a:r>
          <a:endParaRPr lang="en-US" sz="2300" b="0" i="0" kern="1200" dirty="0"/>
        </a:p>
      </dsp:txBody>
      <dsp:txXfrm>
        <a:off x="26930" y="226294"/>
        <a:ext cx="9547340" cy="497795"/>
      </dsp:txXfrm>
    </dsp:sp>
    <dsp:sp modelId="{87DCE046-34FC-46CD-8653-51A3F88BDDC1}">
      <dsp:nvSpPr>
        <dsp:cNvPr id="0" name=""/>
        <dsp:cNvSpPr/>
      </dsp:nvSpPr>
      <dsp:spPr>
        <a:xfrm>
          <a:off x="0" y="751019"/>
          <a:ext cx="9601200"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t>Python can run on a wide variety of </a:t>
          </a:r>
          <a:r>
            <a:rPr lang="en-US" sz="1800" b="0" i="0" kern="1200" dirty="0">
              <a:solidFill>
                <a:srgbClr val="FF0000"/>
              </a:solidFill>
            </a:rPr>
            <a:t>hardware platforms </a:t>
          </a:r>
          <a:r>
            <a:rPr lang="en-US" sz="1800" b="0" i="0" kern="1200" dirty="0"/>
            <a:t>and has the same interface on all platforms.</a:t>
          </a:r>
        </a:p>
      </dsp:txBody>
      <dsp:txXfrm>
        <a:off x="0" y="751019"/>
        <a:ext cx="9601200" cy="571320"/>
      </dsp:txXfrm>
    </dsp:sp>
    <dsp:sp modelId="{6551446E-13BB-4A03-B0D3-A89F67F243FF}">
      <dsp:nvSpPr>
        <dsp:cNvPr id="0" name=""/>
        <dsp:cNvSpPr/>
      </dsp:nvSpPr>
      <dsp:spPr>
        <a:xfrm>
          <a:off x="0" y="1322339"/>
          <a:ext cx="9601200" cy="55165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Extendable</a:t>
          </a:r>
          <a:endParaRPr lang="en-US" sz="2300" b="0" i="0" kern="1200" dirty="0"/>
        </a:p>
      </dsp:txBody>
      <dsp:txXfrm>
        <a:off x="26930" y="1349269"/>
        <a:ext cx="9547340" cy="497795"/>
      </dsp:txXfrm>
    </dsp:sp>
    <dsp:sp modelId="{A0C9D9E9-676F-4CF7-B099-B2158EB84367}">
      <dsp:nvSpPr>
        <dsp:cNvPr id="0" name=""/>
        <dsp:cNvSpPr/>
      </dsp:nvSpPr>
      <dsp:spPr>
        <a:xfrm>
          <a:off x="0" y="1873994"/>
          <a:ext cx="9601200"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t>You can add </a:t>
          </a:r>
          <a:r>
            <a:rPr lang="en-US" sz="1800" b="0" i="0" kern="1200" dirty="0">
              <a:solidFill>
                <a:srgbClr val="FF0000"/>
              </a:solidFill>
            </a:rPr>
            <a:t>low-level modules </a:t>
          </a:r>
          <a:r>
            <a:rPr lang="en-US" sz="1800" b="0" i="0" kern="1200" dirty="0"/>
            <a:t>to the Python interpreter. </a:t>
          </a:r>
        </a:p>
        <a:p>
          <a:pPr marL="171450" lvl="1" indent="-171450" algn="l" defTabSz="800100">
            <a:lnSpc>
              <a:spcPct val="90000"/>
            </a:lnSpc>
            <a:spcBef>
              <a:spcPct val="0"/>
            </a:spcBef>
            <a:spcAft>
              <a:spcPct val="20000"/>
            </a:spcAft>
            <a:buChar char="•"/>
          </a:pPr>
          <a:r>
            <a:rPr lang="en-US" sz="1800" b="0" i="0" kern="1200" dirty="0"/>
            <a:t>These modules enable programmers to add to or customize their tools to be more efficient.</a:t>
          </a:r>
        </a:p>
      </dsp:txBody>
      <dsp:txXfrm>
        <a:off x="0" y="1873994"/>
        <a:ext cx="9601200" cy="618930"/>
      </dsp:txXfrm>
    </dsp:sp>
    <dsp:sp modelId="{FEDE84CA-23F3-4202-93EA-ABFBCDEA862A}">
      <dsp:nvSpPr>
        <dsp:cNvPr id="0" name=""/>
        <dsp:cNvSpPr/>
      </dsp:nvSpPr>
      <dsp:spPr>
        <a:xfrm>
          <a:off x="0" y="2492924"/>
          <a:ext cx="9601200" cy="55165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Databases</a:t>
          </a:r>
          <a:endParaRPr lang="en-US" sz="2300" b="0" i="0" kern="1200" dirty="0"/>
        </a:p>
      </dsp:txBody>
      <dsp:txXfrm>
        <a:off x="26930" y="2519854"/>
        <a:ext cx="9547340" cy="497795"/>
      </dsp:txXfrm>
    </dsp:sp>
    <dsp:sp modelId="{BE403CF4-E1DF-4D94-A48B-0536972E24D4}">
      <dsp:nvSpPr>
        <dsp:cNvPr id="0" name=""/>
        <dsp:cNvSpPr/>
      </dsp:nvSpPr>
      <dsp:spPr>
        <a:xfrm>
          <a:off x="0" y="3044579"/>
          <a:ext cx="9601200"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t>Python provides interfaces to all major commercial </a:t>
          </a:r>
          <a:r>
            <a:rPr lang="en-US" sz="1800" b="0" i="0" kern="1200" dirty="0">
              <a:solidFill>
                <a:srgbClr val="FF0000"/>
              </a:solidFill>
            </a:rPr>
            <a:t>databases</a:t>
          </a:r>
          <a:r>
            <a:rPr lang="en-US" sz="1800" b="0" i="0" kern="1200" dirty="0"/>
            <a:t>.</a:t>
          </a:r>
        </a:p>
      </dsp:txBody>
      <dsp:txXfrm>
        <a:off x="0" y="3044579"/>
        <a:ext cx="9601200" cy="380880"/>
      </dsp:txXfrm>
    </dsp:sp>
    <dsp:sp modelId="{73C41DA6-1874-4838-BC45-9BF67EBB9133}">
      <dsp:nvSpPr>
        <dsp:cNvPr id="0" name=""/>
        <dsp:cNvSpPr/>
      </dsp:nvSpPr>
      <dsp:spPr>
        <a:xfrm>
          <a:off x="0" y="3425460"/>
          <a:ext cx="9601200" cy="55165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GUI Programming</a:t>
          </a:r>
          <a:endParaRPr lang="en-US" sz="2300" b="0" i="0" kern="1200" dirty="0"/>
        </a:p>
      </dsp:txBody>
      <dsp:txXfrm>
        <a:off x="26930" y="3452390"/>
        <a:ext cx="9547340" cy="497795"/>
      </dsp:txXfrm>
    </dsp:sp>
    <dsp:sp modelId="{007E17F3-AB40-4A3F-84A1-C0A8AF4E9E71}">
      <dsp:nvSpPr>
        <dsp:cNvPr id="0" name=""/>
        <dsp:cNvSpPr/>
      </dsp:nvSpPr>
      <dsp:spPr>
        <a:xfrm>
          <a:off x="0" y="3977115"/>
          <a:ext cx="9601200"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t>Python supports </a:t>
          </a:r>
          <a:r>
            <a:rPr lang="en-US" sz="1800" b="0" i="0" kern="1200" dirty="0">
              <a:solidFill>
                <a:srgbClr val="FF0000"/>
              </a:solidFill>
            </a:rPr>
            <a:t>GUI applications </a:t>
          </a:r>
          <a:r>
            <a:rPr lang="en-US" sz="1800" b="0" i="0" kern="1200" dirty="0"/>
            <a:t>that can be created and ported to many system calls, libraries and windows systems, such as Windows MFC, Macintosh, and the X Window system of Unix.</a:t>
          </a:r>
        </a:p>
      </dsp:txBody>
      <dsp:txXfrm>
        <a:off x="0" y="3977115"/>
        <a:ext cx="9601200" cy="571320"/>
      </dsp:txXfrm>
    </dsp:sp>
    <dsp:sp modelId="{90ACD8D2-D568-4DE2-8751-836EB8EDA3EC}">
      <dsp:nvSpPr>
        <dsp:cNvPr id="0" name=""/>
        <dsp:cNvSpPr/>
      </dsp:nvSpPr>
      <dsp:spPr>
        <a:xfrm>
          <a:off x="0" y="4548435"/>
          <a:ext cx="9601200" cy="55165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t>Scalable</a:t>
          </a:r>
          <a:endParaRPr lang="en-US" sz="2300" b="0" i="0" kern="1200" dirty="0"/>
        </a:p>
      </dsp:txBody>
      <dsp:txXfrm>
        <a:off x="26930" y="4575365"/>
        <a:ext cx="9547340" cy="497795"/>
      </dsp:txXfrm>
    </dsp:sp>
    <dsp:sp modelId="{9B5FC27B-7F1A-438F-B427-F69CD1CAA53C}">
      <dsp:nvSpPr>
        <dsp:cNvPr id="0" name=""/>
        <dsp:cNvSpPr/>
      </dsp:nvSpPr>
      <dsp:spPr>
        <a:xfrm>
          <a:off x="0" y="5100089"/>
          <a:ext cx="9601200"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t>Python provides a better structure and support for large programs than </a:t>
          </a:r>
          <a:r>
            <a:rPr lang="en-US" sz="1800" b="0" i="0" kern="1200" dirty="0">
              <a:solidFill>
                <a:srgbClr val="FF0000"/>
              </a:solidFill>
            </a:rPr>
            <a:t>shell scripting</a:t>
          </a:r>
          <a:r>
            <a:rPr lang="en-US" sz="1800" b="0" i="0" kern="1200" dirty="0"/>
            <a:t>.</a:t>
          </a:r>
        </a:p>
      </dsp:txBody>
      <dsp:txXfrm>
        <a:off x="0" y="5100089"/>
        <a:ext cx="9601200" cy="380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50297"/>
          <a:ext cx="9448799" cy="10740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t>It supports functional and structured programming methods as well as </a:t>
          </a:r>
          <a:r>
            <a:rPr lang="en-US" sz="2700" b="0" i="0" kern="1200" dirty="0">
              <a:solidFill>
                <a:srgbClr val="FF0000"/>
              </a:solidFill>
            </a:rPr>
            <a:t>OOP</a:t>
          </a:r>
          <a:r>
            <a:rPr lang="en-US" sz="2700" b="0" i="0" kern="1200" dirty="0"/>
            <a:t>.</a:t>
          </a:r>
        </a:p>
      </dsp:txBody>
      <dsp:txXfrm>
        <a:off x="52431" y="102728"/>
        <a:ext cx="9343937" cy="969198"/>
      </dsp:txXfrm>
    </dsp:sp>
    <dsp:sp modelId="{652F3E0B-3587-4FBD-A8E5-59C5F76B620F}">
      <dsp:nvSpPr>
        <dsp:cNvPr id="0" name=""/>
        <dsp:cNvSpPr/>
      </dsp:nvSpPr>
      <dsp:spPr>
        <a:xfrm>
          <a:off x="0" y="1202117"/>
          <a:ext cx="9448799" cy="10740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t>It can be used as a </a:t>
          </a:r>
          <a:r>
            <a:rPr lang="en-US" sz="2700" b="0" i="0" kern="1200" dirty="0">
              <a:solidFill>
                <a:srgbClr val="FF0000"/>
              </a:solidFill>
            </a:rPr>
            <a:t>scripting</a:t>
          </a:r>
          <a:r>
            <a:rPr lang="en-US" sz="2700" b="0" i="0" kern="1200" dirty="0"/>
            <a:t> language or can be compiled to byte-code for building large applications.</a:t>
          </a:r>
        </a:p>
      </dsp:txBody>
      <dsp:txXfrm>
        <a:off x="52431" y="1254548"/>
        <a:ext cx="9343937" cy="969198"/>
      </dsp:txXfrm>
    </dsp:sp>
    <dsp:sp modelId="{808A2D60-B155-46E0-AFA2-8FE0A30D1044}">
      <dsp:nvSpPr>
        <dsp:cNvPr id="0" name=""/>
        <dsp:cNvSpPr/>
      </dsp:nvSpPr>
      <dsp:spPr>
        <a:xfrm>
          <a:off x="0" y="2353937"/>
          <a:ext cx="9448799" cy="10740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t>It provides very </a:t>
          </a:r>
          <a:r>
            <a:rPr lang="en-US" sz="2700" b="0" i="0" kern="1200" dirty="0">
              <a:solidFill>
                <a:srgbClr val="FF0000"/>
              </a:solidFill>
            </a:rPr>
            <a:t>high-level dynamic data types </a:t>
          </a:r>
          <a:r>
            <a:rPr lang="en-US" sz="2700" b="0" i="0" kern="1200" dirty="0"/>
            <a:t>and supports dynamic type checking.</a:t>
          </a:r>
        </a:p>
      </dsp:txBody>
      <dsp:txXfrm>
        <a:off x="52431" y="2406368"/>
        <a:ext cx="9343937" cy="969198"/>
      </dsp:txXfrm>
    </dsp:sp>
    <dsp:sp modelId="{2DDE648B-FFD7-4B56-8888-CAEA215859BF}">
      <dsp:nvSpPr>
        <dsp:cNvPr id="0" name=""/>
        <dsp:cNvSpPr/>
      </dsp:nvSpPr>
      <dsp:spPr>
        <a:xfrm>
          <a:off x="0" y="3505757"/>
          <a:ext cx="9448799" cy="10740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t>It supports </a:t>
          </a:r>
          <a:r>
            <a:rPr lang="en-US" sz="2700" b="0" i="0" kern="1200" dirty="0">
              <a:solidFill>
                <a:srgbClr val="FF0000"/>
              </a:solidFill>
            </a:rPr>
            <a:t>automatic garbage collection</a:t>
          </a:r>
          <a:r>
            <a:rPr lang="en-US" sz="2700" b="0" i="0" kern="1200" dirty="0"/>
            <a:t>.</a:t>
          </a:r>
        </a:p>
      </dsp:txBody>
      <dsp:txXfrm>
        <a:off x="52431" y="3558188"/>
        <a:ext cx="9343937" cy="969198"/>
      </dsp:txXfrm>
    </dsp:sp>
    <dsp:sp modelId="{DC56AC0F-7F9A-48EB-9669-C7CE7FC61700}">
      <dsp:nvSpPr>
        <dsp:cNvPr id="0" name=""/>
        <dsp:cNvSpPr/>
      </dsp:nvSpPr>
      <dsp:spPr>
        <a:xfrm>
          <a:off x="0" y="4657577"/>
          <a:ext cx="9448799" cy="10740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dirty="0"/>
            <a:t>It can be easily </a:t>
          </a:r>
          <a:r>
            <a:rPr lang="en-US" sz="2700" b="0" i="0" kern="1200" dirty="0">
              <a:solidFill>
                <a:srgbClr val="FF0000"/>
              </a:solidFill>
            </a:rPr>
            <a:t>integrated</a:t>
          </a:r>
          <a:r>
            <a:rPr lang="en-US" sz="2700" b="0" i="0" kern="1200" dirty="0"/>
            <a:t> with C, C++, COM, ActiveX, CORBA, and Java.</a:t>
          </a:r>
        </a:p>
      </dsp:txBody>
      <dsp:txXfrm>
        <a:off x="52431" y="4710008"/>
        <a:ext cx="9343937" cy="9691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45557"/>
          <a:ext cx="7620000" cy="39382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0" i="0" kern="1200" dirty="0"/>
            <a:t>Identifier </a:t>
          </a:r>
        </a:p>
        <a:p>
          <a:pPr marL="0" lvl="0" indent="0" algn="ctr" defTabSz="2266950">
            <a:lnSpc>
              <a:spcPct val="90000"/>
            </a:lnSpc>
            <a:spcBef>
              <a:spcPct val="0"/>
            </a:spcBef>
            <a:spcAft>
              <a:spcPct val="35000"/>
            </a:spcAft>
            <a:buNone/>
          </a:pPr>
          <a:r>
            <a:rPr lang="en-US" sz="5100" b="0" i="0" kern="1200" dirty="0"/>
            <a:t>a name used to </a:t>
          </a:r>
          <a:r>
            <a:rPr lang="en-US" sz="5100" b="0" i="0" kern="1200" dirty="0">
              <a:solidFill>
                <a:srgbClr val="FF0000"/>
              </a:solidFill>
            </a:rPr>
            <a:t>identify</a:t>
          </a:r>
          <a:r>
            <a:rPr lang="en-US" sz="5100" b="0" i="0" kern="1200" dirty="0"/>
            <a:t> a variable, function, class, module or other object. </a:t>
          </a:r>
        </a:p>
      </dsp:txBody>
      <dsp:txXfrm>
        <a:off x="192248" y="237805"/>
        <a:ext cx="7235504" cy="35537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72879"/>
          <a:ext cx="10134600" cy="83947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Rules</a:t>
          </a:r>
          <a:endParaRPr lang="en-US" sz="3500" b="0" i="0" kern="1200" dirty="0"/>
        </a:p>
      </dsp:txBody>
      <dsp:txXfrm>
        <a:off x="40980" y="113859"/>
        <a:ext cx="10052640" cy="757514"/>
      </dsp:txXfrm>
    </dsp:sp>
    <dsp:sp modelId="{87DCE046-34FC-46CD-8653-51A3F88BDDC1}">
      <dsp:nvSpPr>
        <dsp:cNvPr id="0" name=""/>
        <dsp:cNvSpPr/>
      </dsp:nvSpPr>
      <dsp:spPr>
        <a:xfrm>
          <a:off x="0" y="912354"/>
          <a:ext cx="10134600" cy="449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1774"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b="0" i="0" kern="1200" dirty="0"/>
            <a:t>Starts with a letter </a:t>
          </a:r>
          <a:r>
            <a:rPr lang="en-US" sz="2700" b="0" i="0" kern="1200" dirty="0">
              <a:solidFill>
                <a:srgbClr val="FF0000"/>
              </a:solidFill>
            </a:rPr>
            <a:t>A to Z </a:t>
          </a:r>
          <a:r>
            <a:rPr lang="en-US" sz="2700" b="0" i="0" kern="1200" dirty="0"/>
            <a:t>or </a:t>
          </a:r>
          <a:r>
            <a:rPr lang="en-US" sz="2700" b="0" i="0" kern="1200" dirty="0">
              <a:solidFill>
                <a:srgbClr val="FF0000"/>
              </a:solidFill>
            </a:rPr>
            <a:t>a to z </a:t>
          </a:r>
          <a:r>
            <a:rPr lang="en-US" sz="2700" b="0" i="0" kern="1200" dirty="0"/>
            <a:t>or an underscore (</a:t>
          </a:r>
          <a:r>
            <a:rPr lang="en-US" sz="2700" b="0" i="0" kern="1200" dirty="0">
              <a:solidFill>
                <a:srgbClr val="FF0000"/>
              </a:solidFill>
            </a:rPr>
            <a:t>_</a:t>
          </a:r>
          <a:r>
            <a:rPr lang="en-US" sz="2700" b="0" i="0" kern="1200" dirty="0"/>
            <a:t>) followed by zero or more letters, underscores and digits (</a:t>
          </a:r>
          <a:r>
            <a:rPr lang="en-US" sz="2700" b="0" i="0" kern="1200" dirty="0">
              <a:solidFill>
                <a:srgbClr val="FF0000"/>
              </a:solidFill>
            </a:rPr>
            <a:t>0 to 9</a:t>
          </a:r>
          <a:r>
            <a:rPr lang="en-US" sz="2700" b="0" i="0" kern="1200" dirty="0"/>
            <a:t>).</a:t>
          </a:r>
          <a:endParaRPr lang="en-US" sz="2700" kern="1200" dirty="0"/>
        </a:p>
        <a:p>
          <a:pPr marL="228600" lvl="1" indent="-228600" algn="l" defTabSz="1200150">
            <a:lnSpc>
              <a:spcPct val="90000"/>
            </a:lnSpc>
            <a:spcBef>
              <a:spcPct val="0"/>
            </a:spcBef>
            <a:spcAft>
              <a:spcPct val="20000"/>
            </a:spcAft>
            <a:buChar char="•"/>
          </a:pPr>
          <a:r>
            <a:rPr lang="en-US" sz="2700" kern="1200" dirty="0">
              <a:solidFill>
                <a:srgbClr val="FF0000"/>
              </a:solidFill>
            </a:rPr>
            <a:t>Cannot use </a:t>
          </a:r>
          <a:r>
            <a:rPr lang="en-US" sz="2700" kern="1200" dirty="0"/>
            <a:t>a space, period (.), exclamation mark (!), or the special characters @, &amp;, $, # in the name.</a:t>
          </a:r>
        </a:p>
        <a:p>
          <a:pPr marL="228600" lvl="1" indent="-228600" algn="l" defTabSz="1200150">
            <a:lnSpc>
              <a:spcPct val="90000"/>
            </a:lnSpc>
            <a:spcBef>
              <a:spcPct val="0"/>
            </a:spcBef>
            <a:spcAft>
              <a:spcPct val="20000"/>
            </a:spcAft>
            <a:buChar char="•"/>
          </a:pPr>
          <a:r>
            <a:rPr lang="en-US" sz="2700" kern="1200" dirty="0"/>
            <a:t>Cannot exceed 255 characters in length.</a:t>
          </a:r>
        </a:p>
        <a:p>
          <a:pPr marL="228600" lvl="1" indent="-228600" algn="l" defTabSz="1200150">
            <a:lnSpc>
              <a:spcPct val="90000"/>
            </a:lnSpc>
            <a:spcBef>
              <a:spcPct val="0"/>
            </a:spcBef>
            <a:spcAft>
              <a:spcPct val="20000"/>
            </a:spcAft>
            <a:buChar char="•"/>
          </a:pPr>
          <a:r>
            <a:rPr lang="en-US" sz="2700" b="0" i="0" kern="1200" dirty="0">
              <a:solidFill>
                <a:srgbClr val="FF0000"/>
              </a:solidFill>
            </a:rPr>
            <a:t>Case sensitive </a:t>
          </a:r>
          <a:r>
            <a:rPr lang="en-US" sz="2700" b="0" i="0" kern="1200" dirty="0"/>
            <a:t>programming language.</a:t>
          </a:r>
        </a:p>
        <a:p>
          <a:pPr marL="228600" lvl="1" indent="-228600" algn="l" defTabSz="1200150">
            <a:lnSpc>
              <a:spcPct val="90000"/>
            </a:lnSpc>
            <a:spcBef>
              <a:spcPct val="0"/>
            </a:spcBef>
            <a:spcAft>
              <a:spcPct val="20000"/>
            </a:spcAft>
            <a:buChar char="•"/>
          </a:pPr>
          <a:r>
            <a:rPr lang="en-US" sz="2700" b="1" i="0" kern="1200" dirty="0"/>
            <a:t>Manpower</a:t>
          </a:r>
          <a:r>
            <a:rPr lang="en-US" sz="2700" b="0" i="0" kern="1200" dirty="0"/>
            <a:t> and </a:t>
          </a:r>
          <a:r>
            <a:rPr lang="en-US" sz="2700" b="1" i="0" kern="1200" dirty="0"/>
            <a:t>manpower</a:t>
          </a:r>
          <a:r>
            <a:rPr lang="en-US" sz="2700" b="0" i="0" kern="1200" dirty="0"/>
            <a:t> are two different identifiers.</a:t>
          </a:r>
        </a:p>
        <a:p>
          <a:pPr marL="228600" lvl="1" indent="-228600" algn="l" defTabSz="1200150">
            <a:lnSpc>
              <a:spcPct val="90000"/>
            </a:lnSpc>
            <a:spcBef>
              <a:spcPct val="0"/>
            </a:spcBef>
            <a:spcAft>
              <a:spcPct val="20000"/>
            </a:spcAft>
            <a:buChar char="•"/>
          </a:pPr>
          <a:r>
            <a:rPr lang="en-US" altLang="en-US" sz="2700" kern="1200" dirty="0"/>
            <a:t>Identifier name cannot be a Python </a:t>
          </a:r>
          <a:r>
            <a:rPr lang="en-US" altLang="en-US" sz="2700" kern="1200" dirty="0">
              <a:solidFill>
                <a:srgbClr val="FF0000"/>
              </a:solidFill>
            </a:rPr>
            <a:t>key word.</a:t>
          </a:r>
          <a:endParaRPr lang="en-US" sz="2700" b="0" i="0" kern="1200" dirty="0">
            <a:solidFill>
              <a:srgbClr val="FF0000"/>
            </a:solidFill>
          </a:endParaRPr>
        </a:p>
        <a:p>
          <a:pPr marL="228600" lvl="1" indent="-228600" algn="l" defTabSz="1200150">
            <a:lnSpc>
              <a:spcPct val="90000"/>
            </a:lnSpc>
            <a:spcBef>
              <a:spcPct val="0"/>
            </a:spcBef>
            <a:spcAft>
              <a:spcPct val="20000"/>
            </a:spcAft>
            <a:buChar char="•"/>
          </a:pPr>
          <a:r>
            <a:rPr lang="en-US" altLang="en-US" sz="2700" kern="1200" dirty="0"/>
            <a:t>Identifier name cannot contain </a:t>
          </a:r>
          <a:r>
            <a:rPr lang="en-US" altLang="en-US" sz="2700" kern="1200" dirty="0">
              <a:solidFill>
                <a:srgbClr val="FF0000"/>
              </a:solidFill>
            </a:rPr>
            <a:t>spaces</a:t>
          </a:r>
        </a:p>
        <a:p>
          <a:pPr marL="228600" lvl="1" indent="-228600" algn="l" defTabSz="1200150">
            <a:lnSpc>
              <a:spcPct val="90000"/>
            </a:lnSpc>
            <a:spcBef>
              <a:spcPct val="0"/>
            </a:spcBef>
            <a:spcAft>
              <a:spcPct val="20000"/>
            </a:spcAft>
            <a:buChar char="•"/>
          </a:pPr>
          <a:r>
            <a:rPr lang="en-US" altLang="en-US" sz="2700" kern="1200" dirty="0"/>
            <a:t>Suggestion: Variable name should </a:t>
          </a:r>
          <a:r>
            <a:rPr lang="en-US" altLang="en-US" sz="2700" kern="1200" dirty="0">
              <a:solidFill>
                <a:srgbClr val="FF0000"/>
              </a:solidFill>
            </a:rPr>
            <a:t>reflect</a:t>
          </a:r>
          <a:r>
            <a:rPr lang="en-US" altLang="en-US" sz="2700" kern="1200" dirty="0"/>
            <a:t> its use</a:t>
          </a:r>
        </a:p>
      </dsp:txBody>
      <dsp:txXfrm>
        <a:off x="0" y="912354"/>
        <a:ext cx="10134600" cy="44919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286195"/>
          <a:ext cx="9525000" cy="98338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b="0" i="0" kern="1200" dirty="0"/>
            <a:t>Naming conventions</a:t>
          </a:r>
        </a:p>
      </dsp:txBody>
      <dsp:txXfrm>
        <a:off x="48005" y="334200"/>
        <a:ext cx="9428990" cy="887374"/>
      </dsp:txXfrm>
    </dsp:sp>
    <dsp:sp modelId="{87DCE046-34FC-46CD-8653-51A3F88BDDC1}">
      <dsp:nvSpPr>
        <dsp:cNvPr id="0" name=""/>
        <dsp:cNvSpPr/>
      </dsp:nvSpPr>
      <dsp:spPr>
        <a:xfrm>
          <a:off x="0" y="1269580"/>
          <a:ext cx="9525000" cy="4073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2419" tIns="52070" rIns="291592" bIns="52070" numCol="1" spcCol="1270" anchor="t" anchorCtr="0">
          <a:noAutofit/>
        </a:bodyPr>
        <a:lstStyle/>
        <a:p>
          <a:pPr marL="285750" lvl="1" indent="-285750" algn="l" defTabSz="1422400">
            <a:lnSpc>
              <a:spcPct val="90000"/>
            </a:lnSpc>
            <a:spcBef>
              <a:spcPct val="0"/>
            </a:spcBef>
            <a:spcAft>
              <a:spcPct val="20000"/>
            </a:spcAft>
            <a:buChar char="•"/>
          </a:pPr>
          <a:r>
            <a:rPr lang="en-US" sz="3200" b="0" i="0" kern="1200" dirty="0"/>
            <a:t>Class names start with an </a:t>
          </a:r>
          <a:r>
            <a:rPr lang="en-US" sz="3200" b="0" i="0" kern="1200" dirty="0">
              <a:solidFill>
                <a:srgbClr val="FF0000"/>
              </a:solidFill>
            </a:rPr>
            <a:t>uppercase</a:t>
          </a:r>
          <a:r>
            <a:rPr lang="en-US" sz="3200" b="0" i="0" kern="1200" dirty="0"/>
            <a:t> letter. </a:t>
          </a:r>
        </a:p>
        <a:p>
          <a:pPr marL="285750" lvl="1" indent="-285750" algn="l" defTabSz="1422400">
            <a:lnSpc>
              <a:spcPct val="90000"/>
            </a:lnSpc>
            <a:spcBef>
              <a:spcPct val="0"/>
            </a:spcBef>
            <a:spcAft>
              <a:spcPct val="20000"/>
            </a:spcAft>
            <a:buChar char="•"/>
          </a:pPr>
          <a:r>
            <a:rPr lang="en-US" sz="3200" b="0" i="0" kern="1200" dirty="0"/>
            <a:t>All other identifiers start with a lowercase letter.</a:t>
          </a:r>
        </a:p>
        <a:p>
          <a:pPr marL="285750" lvl="1" indent="-285750" algn="l" defTabSz="1422400">
            <a:lnSpc>
              <a:spcPct val="90000"/>
            </a:lnSpc>
            <a:spcBef>
              <a:spcPct val="0"/>
            </a:spcBef>
            <a:spcAft>
              <a:spcPct val="20000"/>
            </a:spcAft>
            <a:buChar char="•"/>
          </a:pPr>
          <a:r>
            <a:rPr lang="en-US" sz="3200" b="0" i="0" kern="1200" dirty="0"/>
            <a:t>Starting an identifier with a </a:t>
          </a:r>
          <a:r>
            <a:rPr lang="en-US" sz="3200" b="0" i="0" kern="1200" dirty="0">
              <a:solidFill>
                <a:srgbClr val="FF0000"/>
              </a:solidFill>
            </a:rPr>
            <a:t>single leading underscore</a:t>
          </a:r>
          <a:r>
            <a:rPr lang="en-US" sz="3200" b="0" i="0" kern="1200" dirty="0"/>
            <a:t> indicates that the identifier is </a:t>
          </a:r>
          <a:r>
            <a:rPr lang="en-US" sz="3200" b="0" i="0" kern="1200" dirty="0">
              <a:solidFill>
                <a:srgbClr val="FF0000"/>
              </a:solidFill>
            </a:rPr>
            <a:t>private</a:t>
          </a:r>
          <a:r>
            <a:rPr lang="en-US" sz="3200" b="0" i="0" kern="1200" dirty="0"/>
            <a:t>.</a:t>
          </a:r>
        </a:p>
        <a:p>
          <a:pPr marL="285750" lvl="1" indent="-285750" algn="l" defTabSz="1422400">
            <a:lnSpc>
              <a:spcPct val="90000"/>
            </a:lnSpc>
            <a:spcBef>
              <a:spcPct val="0"/>
            </a:spcBef>
            <a:spcAft>
              <a:spcPct val="20000"/>
            </a:spcAft>
            <a:buChar char="•"/>
          </a:pPr>
          <a:r>
            <a:rPr lang="en-US" sz="3200" b="0" i="0" kern="1200" dirty="0"/>
            <a:t>Starting an identifier with </a:t>
          </a:r>
          <a:r>
            <a:rPr lang="en-US" sz="3200" b="0" i="0" kern="1200" dirty="0">
              <a:solidFill>
                <a:srgbClr val="FF0000"/>
              </a:solidFill>
            </a:rPr>
            <a:t>two leading underscores</a:t>
          </a:r>
          <a:r>
            <a:rPr lang="en-US" sz="3200" b="0" i="0" kern="1200" dirty="0"/>
            <a:t> indicates a </a:t>
          </a:r>
          <a:r>
            <a:rPr lang="en-US" sz="3200" b="0" i="0" kern="1200" dirty="0">
              <a:solidFill>
                <a:srgbClr val="FF0000"/>
              </a:solidFill>
            </a:rPr>
            <a:t>strongly private </a:t>
          </a:r>
          <a:r>
            <a:rPr lang="en-US" sz="3200" b="0" i="0" kern="1200" dirty="0"/>
            <a:t>identifier.</a:t>
          </a:r>
        </a:p>
        <a:p>
          <a:pPr marL="285750" lvl="1" indent="-285750" algn="l" defTabSz="1422400">
            <a:lnSpc>
              <a:spcPct val="90000"/>
            </a:lnSpc>
            <a:spcBef>
              <a:spcPct val="0"/>
            </a:spcBef>
            <a:spcAft>
              <a:spcPct val="20000"/>
            </a:spcAft>
            <a:buChar char="•"/>
          </a:pPr>
          <a:r>
            <a:rPr lang="en-US" sz="3200" b="0" i="0" kern="1200" dirty="0"/>
            <a:t>If the identifier ends with </a:t>
          </a:r>
          <a:r>
            <a:rPr lang="en-US" sz="3200" b="0" i="0" kern="1200" dirty="0">
              <a:solidFill>
                <a:srgbClr val="FF0000"/>
              </a:solidFill>
            </a:rPr>
            <a:t>two trailing underscores</a:t>
          </a:r>
          <a:r>
            <a:rPr lang="en-US" sz="3200" b="0" i="0" kern="1200" dirty="0"/>
            <a:t>, the identifier is a </a:t>
          </a:r>
          <a:r>
            <a:rPr lang="en-US" sz="3200" b="0" i="0" kern="1200" dirty="0">
              <a:solidFill>
                <a:srgbClr val="FF0000"/>
              </a:solidFill>
            </a:rPr>
            <a:t>language-defined special name</a:t>
          </a:r>
          <a:r>
            <a:rPr lang="en-US" sz="3200" b="0" i="0" kern="1200" dirty="0"/>
            <a:t>.</a:t>
          </a:r>
        </a:p>
      </dsp:txBody>
      <dsp:txXfrm>
        <a:off x="0" y="1269580"/>
        <a:ext cx="9525000" cy="40737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5B9CE-83AF-4C2C-A715-EB76C089A2C7}">
      <dsp:nvSpPr>
        <dsp:cNvPr id="0" name=""/>
        <dsp:cNvSpPr/>
      </dsp:nvSpPr>
      <dsp:spPr>
        <a:xfrm>
          <a:off x="0" y="27956"/>
          <a:ext cx="9601200" cy="9594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0" i="0" kern="1200" dirty="0"/>
            <a:t>Definition</a:t>
          </a:r>
        </a:p>
      </dsp:txBody>
      <dsp:txXfrm>
        <a:off x="46834" y="74790"/>
        <a:ext cx="9507532" cy="865732"/>
      </dsp:txXfrm>
    </dsp:sp>
    <dsp:sp modelId="{87DCE046-34FC-46CD-8653-51A3F88BDDC1}">
      <dsp:nvSpPr>
        <dsp:cNvPr id="0" name=""/>
        <dsp:cNvSpPr/>
      </dsp:nvSpPr>
      <dsp:spPr>
        <a:xfrm>
          <a:off x="0" y="987356"/>
          <a:ext cx="9601200" cy="3836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38" tIns="50800" rIns="284480" bIns="50800" numCol="1" spcCol="1270" anchor="t" anchorCtr="0">
          <a:noAutofit/>
        </a:bodyPr>
        <a:lstStyle/>
        <a:p>
          <a:pPr marL="285750" lvl="1" indent="-285750" algn="l" defTabSz="1377950">
            <a:lnSpc>
              <a:spcPct val="90000"/>
            </a:lnSpc>
            <a:spcBef>
              <a:spcPct val="0"/>
            </a:spcBef>
            <a:spcAft>
              <a:spcPct val="20000"/>
            </a:spcAft>
            <a:buChar char="•"/>
          </a:pPr>
          <a:r>
            <a:rPr lang="en-US" sz="3100" kern="1200" dirty="0">
              <a:solidFill>
                <a:srgbClr val="FF0000"/>
              </a:solidFill>
            </a:rPr>
            <a:t>Name</a:t>
          </a:r>
          <a:r>
            <a:rPr lang="en-US" sz="3100" kern="1200" dirty="0"/>
            <a:t> that represents a value stored in the computer memory.</a:t>
          </a:r>
          <a:endParaRPr lang="en-US" sz="3100" b="0" i="0" kern="1200" dirty="0"/>
        </a:p>
        <a:p>
          <a:pPr marL="285750" lvl="1" indent="-285750" algn="l" defTabSz="1377950">
            <a:lnSpc>
              <a:spcPct val="90000"/>
            </a:lnSpc>
            <a:spcBef>
              <a:spcPct val="0"/>
            </a:spcBef>
            <a:spcAft>
              <a:spcPct val="20000"/>
            </a:spcAft>
            <a:buChar char="•"/>
          </a:pPr>
          <a:r>
            <a:rPr lang="en-US" sz="3100" kern="1200" dirty="0"/>
            <a:t>Used to access and manipulate </a:t>
          </a:r>
          <a:r>
            <a:rPr lang="en-US" sz="3100" kern="1200" dirty="0">
              <a:solidFill>
                <a:srgbClr val="FF0000"/>
              </a:solidFill>
            </a:rPr>
            <a:t>data</a:t>
          </a:r>
          <a:r>
            <a:rPr lang="en-US" sz="3100" kern="1200" dirty="0"/>
            <a:t> stored in memory.</a:t>
          </a:r>
        </a:p>
        <a:p>
          <a:pPr marL="285750" lvl="1" indent="-285750" algn="l" defTabSz="1377950">
            <a:lnSpc>
              <a:spcPct val="90000"/>
            </a:lnSpc>
            <a:spcBef>
              <a:spcPct val="0"/>
            </a:spcBef>
            <a:spcAft>
              <a:spcPct val="20000"/>
            </a:spcAft>
            <a:buChar char="•"/>
          </a:pPr>
          <a:r>
            <a:rPr lang="en-US" altLang="en-US" sz="3100" kern="1200" dirty="0"/>
            <a:t>Variable name </a:t>
          </a:r>
          <a:r>
            <a:rPr lang="en-US" altLang="en-US" sz="3100" kern="1200" dirty="0">
              <a:solidFill>
                <a:srgbClr val="FF0000"/>
              </a:solidFill>
            </a:rPr>
            <a:t>should not </a:t>
          </a:r>
          <a:r>
            <a:rPr lang="en-US" altLang="en-US" sz="3100" kern="1200" dirty="0"/>
            <a:t>be enclosed in quote marks</a:t>
          </a:r>
        </a:p>
        <a:p>
          <a:pPr marL="285750" lvl="1" indent="-285750" algn="l" defTabSz="1377950">
            <a:lnSpc>
              <a:spcPct val="90000"/>
            </a:lnSpc>
            <a:spcBef>
              <a:spcPct val="0"/>
            </a:spcBef>
            <a:spcAft>
              <a:spcPct val="20000"/>
            </a:spcAft>
            <a:buChar char="•"/>
          </a:pPr>
          <a:r>
            <a:rPr lang="en-US" altLang="en-US" sz="3100" kern="1200" dirty="0"/>
            <a:t>You can only use a variable if a value is </a:t>
          </a:r>
          <a:r>
            <a:rPr lang="en-US" altLang="en-US" sz="3100" kern="1200" dirty="0">
              <a:solidFill>
                <a:srgbClr val="FF0000"/>
              </a:solidFill>
            </a:rPr>
            <a:t>assigned</a:t>
          </a:r>
          <a:r>
            <a:rPr lang="en-US" altLang="en-US" sz="3100" kern="1200" dirty="0"/>
            <a:t> to it.</a:t>
          </a:r>
        </a:p>
      </dsp:txBody>
      <dsp:txXfrm>
        <a:off x="0" y="987356"/>
        <a:ext cx="9601200" cy="383608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D1460-0812-43C4-943A-3597D1EABB45}">
      <dsp:nvSpPr>
        <dsp:cNvPr id="0" name=""/>
        <dsp:cNvSpPr/>
      </dsp:nvSpPr>
      <dsp:spPr>
        <a:xfrm>
          <a:off x="0" y="21052"/>
          <a:ext cx="9296400" cy="6236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Valid variables</a:t>
          </a:r>
        </a:p>
      </dsp:txBody>
      <dsp:txXfrm>
        <a:off x="30442" y="51494"/>
        <a:ext cx="9235516" cy="562726"/>
      </dsp:txXfrm>
    </dsp:sp>
    <dsp:sp modelId="{4E230471-9414-4D4C-A6B8-216CA17AF4FB}">
      <dsp:nvSpPr>
        <dsp:cNvPr id="0" name=""/>
        <dsp:cNvSpPr/>
      </dsp:nvSpPr>
      <dsp:spPr>
        <a:xfrm>
          <a:off x="0" y="644662"/>
          <a:ext cx="9296400"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516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1" kern="1200" dirty="0">
              <a:solidFill>
                <a:srgbClr val="0000FF"/>
              </a:solidFill>
              <a:latin typeface="Courier New" panose="02070309020205020404" pitchFamily="49" charset="0"/>
              <a:cs typeface="Courier New" panose="02070309020205020404" pitchFamily="49" charset="0"/>
            </a:rPr>
            <a:t>int </a:t>
          </a:r>
          <a:r>
            <a:rPr lang="en-US" sz="2000" kern="1200" dirty="0">
              <a:solidFill>
                <a:srgbClr val="000000"/>
              </a:solidFill>
              <a:latin typeface="Courier New" panose="02070309020205020404" pitchFamily="49" charset="0"/>
              <a:cs typeface="Courier New" panose="02070309020205020404" pitchFamily="49" charset="0"/>
            </a:rPr>
            <a:t>myVariable;</a:t>
          </a:r>
        </a:p>
        <a:p>
          <a:pPr marL="228600" lvl="1" indent="-228600" algn="l" defTabSz="889000">
            <a:lnSpc>
              <a:spcPct val="90000"/>
            </a:lnSpc>
            <a:spcBef>
              <a:spcPct val="0"/>
            </a:spcBef>
            <a:spcAft>
              <a:spcPct val="20000"/>
            </a:spcAft>
            <a:buChar char="•"/>
          </a:pPr>
          <a:r>
            <a:rPr lang="en-US" sz="2000" b="1" kern="1200" dirty="0">
              <a:solidFill>
                <a:srgbClr val="0000FF"/>
              </a:solidFill>
              <a:latin typeface="Courier New" panose="02070309020205020404" pitchFamily="49" charset="0"/>
              <a:cs typeface="Courier New" panose="02070309020205020404" pitchFamily="49" charset="0"/>
            </a:rPr>
            <a:t>int </a:t>
          </a:r>
          <a:r>
            <a:rPr lang="en-US" sz="2000" kern="1200" dirty="0">
              <a:solidFill>
                <a:srgbClr val="000000"/>
              </a:solidFill>
              <a:latin typeface="Courier New" panose="02070309020205020404" pitchFamily="49" charset="0"/>
              <a:cs typeface="Courier New" panose="02070309020205020404" pitchFamily="49" charset="0"/>
            </a:rPr>
            <a:t>myVariable2;</a:t>
          </a:r>
        </a:p>
        <a:p>
          <a:pPr marL="228600" lvl="1" indent="-228600" algn="l" defTabSz="889000">
            <a:lnSpc>
              <a:spcPct val="90000"/>
            </a:lnSpc>
            <a:spcBef>
              <a:spcPct val="0"/>
            </a:spcBef>
            <a:spcAft>
              <a:spcPct val="20000"/>
            </a:spcAft>
            <a:buChar char="•"/>
          </a:pPr>
          <a:r>
            <a:rPr lang="en-US" sz="2000" b="1" kern="1200" dirty="0">
              <a:solidFill>
                <a:srgbClr val="0000FF"/>
              </a:solidFill>
              <a:latin typeface="Courier New" panose="02070309020205020404" pitchFamily="49" charset="0"/>
              <a:cs typeface="Courier New" panose="02070309020205020404" pitchFamily="49" charset="0"/>
            </a:rPr>
            <a:t>int </a:t>
          </a:r>
          <a:r>
            <a:rPr lang="en-US" sz="2000" kern="1200" dirty="0">
              <a:solidFill>
                <a:srgbClr val="000000"/>
              </a:solidFill>
              <a:latin typeface="Courier New" panose="02070309020205020404" pitchFamily="49" charset="0"/>
              <a:cs typeface="Courier New" panose="02070309020205020404" pitchFamily="49" charset="0"/>
            </a:rPr>
            <a:t>_myVariable;</a:t>
          </a:r>
        </a:p>
        <a:p>
          <a:pPr marL="228600" lvl="1" indent="-228600" algn="l" defTabSz="889000">
            <a:lnSpc>
              <a:spcPct val="90000"/>
            </a:lnSpc>
            <a:spcBef>
              <a:spcPct val="0"/>
            </a:spcBef>
            <a:spcAft>
              <a:spcPct val="20000"/>
            </a:spcAft>
            <a:buChar char="•"/>
          </a:pPr>
          <a:r>
            <a:rPr lang="en-US" sz="2000" b="1" kern="1200" dirty="0">
              <a:solidFill>
                <a:srgbClr val="0000FF"/>
              </a:solidFill>
              <a:latin typeface="Courier New" panose="02070309020205020404" pitchFamily="49" charset="0"/>
              <a:cs typeface="Courier New" panose="02070309020205020404" pitchFamily="49" charset="0"/>
            </a:rPr>
            <a:t>int </a:t>
          </a:r>
          <a:r>
            <a:rPr lang="en-US" sz="2000" kern="1200" dirty="0">
              <a:solidFill>
                <a:srgbClr val="000000"/>
              </a:solidFill>
              <a:latin typeface="Courier New" panose="02070309020205020404" pitchFamily="49" charset="0"/>
              <a:cs typeface="Courier New" panose="02070309020205020404" pitchFamily="49" charset="0"/>
            </a:rPr>
            <a:t>my_variable;</a:t>
          </a:r>
        </a:p>
      </dsp:txBody>
      <dsp:txXfrm>
        <a:off x="0" y="644662"/>
        <a:ext cx="9296400" cy="1291680"/>
      </dsp:txXfrm>
    </dsp:sp>
    <dsp:sp modelId="{CF9BDE73-312D-4F46-880F-581764CA22E4}">
      <dsp:nvSpPr>
        <dsp:cNvPr id="0" name=""/>
        <dsp:cNvSpPr/>
      </dsp:nvSpPr>
      <dsp:spPr>
        <a:xfrm>
          <a:off x="0" y="1936342"/>
          <a:ext cx="9296400" cy="6236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Invalid variables</a:t>
          </a:r>
        </a:p>
      </dsp:txBody>
      <dsp:txXfrm>
        <a:off x="30442" y="1966784"/>
        <a:ext cx="9235516" cy="562726"/>
      </dsp:txXfrm>
    </dsp:sp>
    <dsp:sp modelId="{1562084C-40E1-4232-B370-285736AB9586}">
      <dsp:nvSpPr>
        <dsp:cNvPr id="0" name=""/>
        <dsp:cNvSpPr/>
      </dsp:nvSpPr>
      <dsp:spPr>
        <a:xfrm>
          <a:off x="0" y="2559952"/>
          <a:ext cx="9296400" cy="14262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516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altLang="en-US" sz="2000" b="1" kern="1200" dirty="0">
              <a:solidFill>
                <a:srgbClr val="0000FF"/>
              </a:solidFill>
              <a:latin typeface="Courier New" panose="02070309020205020404" pitchFamily="49" charset="0"/>
              <a:cs typeface="Courier New" panose="02070309020205020404" pitchFamily="49" charset="0"/>
            </a:rPr>
            <a:t>int</a:t>
          </a:r>
          <a:r>
            <a:rPr lang="en-US" altLang="en-US" sz="2000" kern="1200" dirty="0">
              <a:solidFill>
                <a:srgbClr val="000000"/>
              </a:solidFill>
              <a:latin typeface="Courier New" panose="02070309020205020404" pitchFamily="49" charset="0"/>
              <a:cs typeface="Courier New" panose="02070309020205020404" pitchFamily="49" charset="0"/>
            </a:rPr>
            <a:t> 123;</a:t>
          </a:r>
          <a:endParaRPr lang="en-US" altLang="en-US" sz="2000" kern="1200" dirty="0"/>
        </a:p>
        <a:p>
          <a:pPr marL="228600" lvl="1" indent="-228600" algn="l" defTabSz="889000">
            <a:lnSpc>
              <a:spcPct val="90000"/>
            </a:lnSpc>
            <a:spcBef>
              <a:spcPct val="0"/>
            </a:spcBef>
            <a:spcAft>
              <a:spcPct val="20000"/>
            </a:spcAft>
            <a:buChar char="•"/>
          </a:pPr>
          <a:r>
            <a:rPr lang="en-US" altLang="en-US" sz="2000" b="1" kern="1200" dirty="0">
              <a:solidFill>
                <a:srgbClr val="0000FF"/>
              </a:solidFill>
              <a:latin typeface="Courier New" panose="02070309020205020404" pitchFamily="49" charset="0"/>
              <a:cs typeface="Courier New" panose="02070309020205020404" pitchFamily="49" charset="0"/>
            </a:rPr>
            <a:t>int</a:t>
          </a:r>
          <a:r>
            <a:rPr lang="en-US" altLang="en-US" sz="2000" kern="1200" dirty="0">
              <a:solidFill>
                <a:srgbClr val="000000"/>
              </a:solidFill>
              <a:latin typeface="Courier New" panose="02070309020205020404" pitchFamily="49" charset="0"/>
              <a:cs typeface="Courier New" panose="02070309020205020404" pitchFamily="49" charset="0"/>
            </a:rPr>
            <a:t> 1Variable;</a:t>
          </a:r>
          <a:endParaRPr lang="en-US" altLang="en-US" sz="2000" kern="1200" dirty="0"/>
        </a:p>
        <a:p>
          <a:pPr marL="228600" lvl="1" indent="-228600" algn="l" defTabSz="889000">
            <a:lnSpc>
              <a:spcPct val="90000"/>
            </a:lnSpc>
            <a:spcBef>
              <a:spcPct val="0"/>
            </a:spcBef>
            <a:spcAft>
              <a:spcPct val="20000"/>
            </a:spcAft>
            <a:buChar char="•"/>
          </a:pPr>
          <a:r>
            <a:rPr lang="en-US" altLang="en-US" sz="2000" b="1" kern="1200" dirty="0">
              <a:solidFill>
                <a:srgbClr val="0000FF"/>
              </a:solidFill>
              <a:latin typeface="Courier New" panose="02070309020205020404" pitchFamily="49" charset="0"/>
              <a:cs typeface="Courier New" panose="02070309020205020404" pitchFamily="49" charset="0"/>
            </a:rPr>
            <a:t>int</a:t>
          </a:r>
          <a:r>
            <a:rPr lang="en-US" altLang="en-US" sz="2000" kern="1200" dirty="0">
              <a:solidFill>
                <a:srgbClr val="000000"/>
              </a:solidFill>
              <a:latin typeface="Courier New" panose="02070309020205020404" pitchFamily="49" charset="0"/>
              <a:cs typeface="Courier New" panose="02070309020205020404" pitchFamily="49" charset="0"/>
            </a:rPr>
            <a:t> _myVariable$;</a:t>
          </a:r>
          <a:endParaRPr lang="en-US" altLang="en-US" sz="2000" kern="1200" dirty="0"/>
        </a:p>
        <a:p>
          <a:pPr marL="228600" lvl="1" indent="-228600" algn="l" defTabSz="889000">
            <a:lnSpc>
              <a:spcPct val="90000"/>
            </a:lnSpc>
            <a:spcBef>
              <a:spcPct val="0"/>
            </a:spcBef>
            <a:spcAft>
              <a:spcPct val="20000"/>
            </a:spcAft>
            <a:buChar char="•"/>
          </a:pPr>
          <a:r>
            <a:rPr lang="en-US" altLang="en-US" sz="2000" b="1" kern="1200" dirty="0">
              <a:solidFill>
                <a:srgbClr val="0000FF"/>
              </a:solidFill>
              <a:latin typeface="Courier New" panose="02070309020205020404" pitchFamily="49" charset="0"/>
              <a:cs typeface="Courier New" panose="02070309020205020404" pitchFamily="49" charset="0"/>
            </a:rPr>
            <a:t>int</a:t>
          </a:r>
          <a:r>
            <a:rPr lang="en-US" altLang="en-US" sz="2000" kern="1200" dirty="0">
              <a:solidFill>
                <a:srgbClr val="000000"/>
              </a:solidFill>
              <a:latin typeface="Courier New" panose="02070309020205020404" pitchFamily="49" charset="0"/>
              <a:cs typeface="Courier New" panose="02070309020205020404" pitchFamily="49" charset="0"/>
            </a:rPr>
            <a:t> print;</a:t>
          </a:r>
          <a:endParaRPr lang="en-US" altLang="en-US" sz="2000" kern="1200" dirty="0">
            <a:latin typeface="Arial" panose="020B0604020202020204" pitchFamily="34" charset="0"/>
          </a:endParaRPr>
        </a:p>
      </dsp:txBody>
      <dsp:txXfrm>
        <a:off x="0" y="2559952"/>
        <a:ext cx="9296400" cy="1426229"/>
      </dsp:txXfrm>
    </dsp:sp>
    <dsp:sp modelId="{D41DEA13-E95E-4C6A-B935-583596E36081}">
      <dsp:nvSpPr>
        <dsp:cNvPr id="0" name=""/>
        <dsp:cNvSpPr/>
      </dsp:nvSpPr>
      <dsp:spPr>
        <a:xfrm>
          <a:off x="0" y="3986182"/>
          <a:ext cx="9296400" cy="6236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altLang="en-US" sz="2600" kern="1200" dirty="0"/>
            <a:t>For Naming use one these format:</a:t>
          </a:r>
        </a:p>
      </dsp:txBody>
      <dsp:txXfrm>
        <a:off x="30442" y="4016624"/>
        <a:ext cx="9235516" cy="562726"/>
      </dsp:txXfrm>
    </dsp:sp>
    <dsp:sp modelId="{4EA88C70-002A-410D-A91B-030B6D41B52B}">
      <dsp:nvSpPr>
        <dsp:cNvPr id="0" name=""/>
        <dsp:cNvSpPr/>
      </dsp:nvSpPr>
      <dsp:spPr>
        <a:xfrm>
          <a:off x="0" y="4609792"/>
          <a:ext cx="92964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516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altLang="en-US" sz="2000" kern="1200" dirty="0"/>
            <a:t>camel</a:t>
          </a:r>
          <a:r>
            <a:rPr lang="en-US" altLang="en-US" sz="2000" kern="1200" dirty="0">
              <a:solidFill>
                <a:srgbClr val="FF0000"/>
              </a:solidFill>
            </a:rPr>
            <a:t>C</a:t>
          </a:r>
          <a:r>
            <a:rPr lang="en-US" altLang="en-US" sz="2000" kern="1200" dirty="0"/>
            <a:t>ase </a:t>
          </a:r>
        </a:p>
        <a:p>
          <a:pPr marL="228600" lvl="1" indent="-228600" algn="l" defTabSz="889000">
            <a:lnSpc>
              <a:spcPct val="90000"/>
            </a:lnSpc>
            <a:spcBef>
              <a:spcPct val="0"/>
            </a:spcBef>
            <a:spcAft>
              <a:spcPct val="20000"/>
            </a:spcAft>
            <a:buChar char="•"/>
          </a:pPr>
          <a:r>
            <a:rPr lang="en-US" altLang="en-US" sz="2000" kern="1200" dirty="0">
              <a:solidFill>
                <a:srgbClr val="FF0000"/>
              </a:solidFill>
            </a:rPr>
            <a:t>C</a:t>
          </a:r>
          <a:r>
            <a:rPr lang="en-US" altLang="en-US" sz="2000" kern="1200" dirty="0"/>
            <a:t>amel</a:t>
          </a:r>
          <a:r>
            <a:rPr lang="en-US" altLang="en-US" sz="2000" kern="1200" dirty="0">
              <a:solidFill>
                <a:srgbClr val="FF0000"/>
              </a:solidFill>
            </a:rPr>
            <a:t>C</a:t>
          </a:r>
          <a:r>
            <a:rPr lang="en-US" altLang="en-US" sz="2000" kern="1200" dirty="0"/>
            <a:t>ase</a:t>
          </a:r>
        </a:p>
        <a:p>
          <a:pPr marL="228600" lvl="1" indent="-228600" algn="l" defTabSz="889000">
            <a:lnSpc>
              <a:spcPct val="90000"/>
            </a:lnSpc>
            <a:spcBef>
              <a:spcPct val="0"/>
            </a:spcBef>
            <a:spcAft>
              <a:spcPct val="20000"/>
            </a:spcAft>
            <a:buChar char="•"/>
          </a:pPr>
          <a:r>
            <a:rPr lang="en-US" altLang="en-US" sz="2000" kern="1200" dirty="0">
              <a:solidFill>
                <a:srgbClr val="FF0000"/>
              </a:solidFill>
            </a:rPr>
            <a:t>C</a:t>
          </a:r>
          <a:r>
            <a:rPr lang="en-US" altLang="en-US" sz="2000" kern="1200" dirty="0"/>
            <a:t>amel</a:t>
          </a:r>
          <a:r>
            <a:rPr lang="en-US" altLang="en-US" sz="2000" kern="1200" dirty="0">
              <a:solidFill>
                <a:srgbClr val="FF0000"/>
              </a:solidFill>
            </a:rPr>
            <a:t>_</a:t>
          </a:r>
          <a:r>
            <a:rPr lang="en-US" altLang="en-US" sz="2000" kern="1200" dirty="0"/>
            <a:t>case</a:t>
          </a:r>
        </a:p>
      </dsp:txBody>
      <dsp:txXfrm>
        <a:off x="0" y="4609792"/>
        <a:ext cx="9296400" cy="104949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FA60E-65AD-408F-A5A8-F32F2B7AFA9E}">
      <dsp:nvSpPr>
        <dsp:cNvPr id="0" name=""/>
        <dsp:cNvSpPr/>
      </dsp:nvSpPr>
      <dsp:spPr>
        <a:xfrm>
          <a:off x="0" y="23797"/>
          <a:ext cx="9372600" cy="8634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u="none" kern="1200" dirty="0"/>
            <a:t>Definition</a:t>
          </a:r>
        </a:p>
      </dsp:txBody>
      <dsp:txXfrm>
        <a:off x="42151" y="65948"/>
        <a:ext cx="9288298" cy="779158"/>
      </dsp:txXfrm>
    </dsp:sp>
    <dsp:sp modelId="{BF3DEE7C-A0D1-47AC-AEE1-254DCD98C2B7}">
      <dsp:nvSpPr>
        <dsp:cNvPr id="0" name=""/>
        <dsp:cNvSpPr/>
      </dsp:nvSpPr>
      <dsp:spPr>
        <a:xfrm>
          <a:off x="0" y="887257"/>
          <a:ext cx="9372600" cy="47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7580"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dirty="0"/>
            <a:t>Used to create a variable and make it reference data</a:t>
          </a:r>
        </a:p>
        <a:p>
          <a:pPr marL="285750" lvl="1" indent="-285750" algn="l" defTabSz="1244600">
            <a:lnSpc>
              <a:spcPct val="90000"/>
            </a:lnSpc>
            <a:spcBef>
              <a:spcPct val="0"/>
            </a:spcBef>
            <a:spcAft>
              <a:spcPct val="20000"/>
            </a:spcAft>
            <a:buChar char="•"/>
          </a:pPr>
          <a:r>
            <a:rPr lang="en-US" sz="2800" kern="1200" dirty="0"/>
            <a:t>General format is </a:t>
          </a:r>
          <a:r>
            <a:rPr lang="en-US" sz="2800" kern="1200" dirty="0">
              <a:latin typeface="Courier New" pitchFamily="49" charset="0"/>
              <a:cs typeface="Courier New" pitchFamily="49" charset="0"/>
            </a:rPr>
            <a:t>variable = expression</a:t>
          </a:r>
        </a:p>
        <a:p>
          <a:pPr marL="285750" lvl="1" indent="-285750" algn="l" defTabSz="1244600">
            <a:lnSpc>
              <a:spcPct val="90000"/>
            </a:lnSpc>
            <a:spcBef>
              <a:spcPct val="0"/>
            </a:spcBef>
            <a:spcAft>
              <a:spcPct val="20000"/>
            </a:spcAft>
            <a:buChar char="•"/>
          </a:pPr>
          <a:r>
            <a:rPr lang="en-US" sz="2800" u="none" kern="1200" dirty="0">
              <a:latin typeface="Courier New" pitchFamily="49" charset="0"/>
              <a:cs typeface="Courier New" pitchFamily="49" charset="0"/>
            </a:rPr>
            <a:t>Assignment operator</a:t>
          </a:r>
          <a:r>
            <a:rPr lang="en-US" sz="2800" kern="1200" dirty="0">
              <a:latin typeface="Courier New" pitchFamily="49" charset="0"/>
              <a:cs typeface="Courier New" pitchFamily="49" charset="0"/>
            </a:rPr>
            <a:t>: the equal sign (</a:t>
          </a:r>
          <a:r>
            <a:rPr lang="en-US" sz="2800" kern="1200" dirty="0">
              <a:solidFill>
                <a:srgbClr val="FF0000"/>
              </a:solidFill>
              <a:latin typeface="Courier New" pitchFamily="49" charset="0"/>
              <a:cs typeface="Courier New" pitchFamily="49" charset="0"/>
            </a:rPr>
            <a:t>=</a:t>
          </a:r>
          <a:r>
            <a:rPr lang="en-US" sz="2800" kern="1200" dirty="0">
              <a:latin typeface="Courier New" pitchFamily="49" charset="0"/>
              <a:cs typeface="Courier New" pitchFamily="49" charset="0"/>
            </a:rPr>
            <a:t>)</a:t>
          </a:r>
        </a:p>
        <a:p>
          <a:pPr marL="285750" lvl="1" indent="-285750" algn="l" defTabSz="1244600">
            <a:lnSpc>
              <a:spcPct val="90000"/>
            </a:lnSpc>
            <a:spcBef>
              <a:spcPct val="0"/>
            </a:spcBef>
            <a:spcAft>
              <a:spcPct val="20000"/>
            </a:spcAft>
            <a:buChar char="•"/>
          </a:pPr>
          <a:r>
            <a:rPr lang="en-US" sz="2800" kern="1200" dirty="0"/>
            <a:t>Example:</a:t>
          </a:r>
          <a:endParaRPr lang="en-US" sz="2800" kern="1200" dirty="0">
            <a:latin typeface="Courier New" pitchFamily="49" charset="0"/>
            <a:cs typeface="Courier New" pitchFamily="49" charset="0"/>
          </a:endParaRPr>
        </a:p>
        <a:p>
          <a:pPr marL="571500" lvl="2" indent="-285750" algn="l" defTabSz="1244600">
            <a:lnSpc>
              <a:spcPct val="90000"/>
            </a:lnSpc>
            <a:spcBef>
              <a:spcPct val="0"/>
            </a:spcBef>
            <a:spcAft>
              <a:spcPct val="20000"/>
            </a:spcAft>
            <a:buChar char="•"/>
          </a:pPr>
          <a:r>
            <a:rPr lang="en-US" sz="2800" kern="1200" dirty="0"/>
            <a:t>counter </a:t>
          </a:r>
          <a:r>
            <a:rPr lang="en-US" sz="2800" kern="1200" dirty="0">
              <a:solidFill>
                <a:srgbClr val="FF0000"/>
              </a:solidFill>
            </a:rPr>
            <a:t>=</a:t>
          </a:r>
          <a:r>
            <a:rPr lang="en-US" sz="2800" kern="1200" dirty="0"/>
            <a:t> 100 # An integer</a:t>
          </a:r>
          <a:endParaRPr lang="en-US" sz="2800" kern="1200" dirty="0">
            <a:latin typeface="Courier New" pitchFamily="49" charset="0"/>
            <a:cs typeface="Courier New" pitchFamily="49" charset="0"/>
          </a:endParaRPr>
        </a:p>
        <a:p>
          <a:pPr marL="571500" lvl="2" indent="-285750" algn="l" defTabSz="1244600">
            <a:lnSpc>
              <a:spcPct val="90000"/>
            </a:lnSpc>
            <a:spcBef>
              <a:spcPct val="0"/>
            </a:spcBef>
            <a:spcAft>
              <a:spcPct val="20000"/>
            </a:spcAft>
            <a:buChar char="•"/>
          </a:pPr>
          <a:r>
            <a:rPr lang="en-US" sz="2800" kern="1200" dirty="0"/>
            <a:t>miles </a:t>
          </a:r>
          <a:r>
            <a:rPr lang="en-US" sz="2800" kern="1200" dirty="0">
              <a:solidFill>
                <a:srgbClr val="FF0000"/>
              </a:solidFill>
            </a:rPr>
            <a:t>=</a:t>
          </a:r>
          <a:r>
            <a:rPr lang="en-US" sz="2800" kern="1200" dirty="0"/>
            <a:t> 1000.0 # A floating point</a:t>
          </a:r>
          <a:endParaRPr lang="en-US" sz="2800" kern="1200" dirty="0">
            <a:latin typeface="Courier New" pitchFamily="49" charset="0"/>
            <a:cs typeface="Courier New" pitchFamily="49" charset="0"/>
          </a:endParaRPr>
        </a:p>
        <a:p>
          <a:pPr marL="571500" lvl="2" indent="-285750" algn="l" defTabSz="1244600">
            <a:lnSpc>
              <a:spcPct val="90000"/>
            </a:lnSpc>
            <a:spcBef>
              <a:spcPct val="0"/>
            </a:spcBef>
            <a:spcAft>
              <a:spcPct val="20000"/>
            </a:spcAft>
            <a:buChar char="•"/>
          </a:pPr>
          <a:r>
            <a:rPr lang="en-US" sz="2800" kern="1200" dirty="0"/>
            <a:t>name </a:t>
          </a:r>
          <a:r>
            <a:rPr lang="en-US" sz="2800" kern="1200" dirty="0">
              <a:solidFill>
                <a:srgbClr val="FF0000"/>
              </a:solidFill>
            </a:rPr>
            <a:t>=</a:t>
          </a:r>
          <a:r>
            <a:rPr lang="en-US" sz="2800" kern="1200" dirty="0"/>
            <a:t> "John" # A string</a:t>
          </a:r>
          <a:endParaRPr lang="en-US" sz="2800" kern="1200" dirty="0">
            <a:latin typeface="Courier New" pitchFamily="49" charset="0"/>
            <a:cs typeface="Courier New" pitchFamily="49" charset="0"/>
          </a:endParaRPr>
        </a:p>
        <a:p>
          <a:pPr marL="285750" lvl="1" indent="-285750" algn="l" defTabSz="1244600">
            <a:lnSpc>
              <a:spcPct val="90000"/>
            </a:lnSpc>
            <a:spcBef>
              <a:spcPct val="0"/>
            </a:spcBef>
            <a:spcAft>
              <a:spcPct val="20000"/>
            </a:spcAft>
            <a:buChar char="•"/>
          </a:pPr>
          <a:r>
            <a:rPr lang="en-US" altLang="en-US" sz="2800" kern="1200" dirty="0"/>
            <a:t>In assignment statement, variable receiving value must be on </a:t>
          </a:r>
          <a:r>
            <a:rPr lang="en-US" altLang="en-US" sz="2800" kern="1200" dirty="0">
              <a:solidFill>
                <a:srgbClr val="FF0000"/>
              </a:solidFill>
            </a:rPr>
            <a:t>left</a:t>
          </a:r>
          <a:r>
            <a:rPr lang="en-US" altLang="en-US" sz="2800" kern="1200" dirty="0"/>
            <a:t> side</a:t>
          </a:r>
          <a:endParaRPr lang="he-IL" sz="2800" kern="1200" dirty="0">
            <a:latin typeface="+mj-lt"/>
            <a:cs typeface="Courier New" pitchFamily="49" charset="0"/>
          </a:endParaRPr>
        </a:p>
        <a:p>
          <a:pPr marL="285750" lvl="1" indent="-285750" algn="l" defTabSz="1244600">
            <a:lnSpc>
              <a:spcPct val="90000"/>
            </a:lnSpc>
            <a:spcBef>
              <a:spcPct val="0"/>
            </a:spcBef>
            <a:spcAft>
              <a:spcPct val="20000"/>
            </a:spcAft>
            <a:buChar char="•"/>
          </a:pPr>
          <a:r>
            <a:rPr lang="en-US" altLang="en-US" sz="2800" b="0" kern="1200" dirty="0"/>
            <a:t>A variable in Python can refer to items of any </a:t>
          </a:r>
          <a:r>
            <a:rPr lang="en-US" altLang="en-US" sz="2800" b="0" kern="1200" dirty="0">
              <a:solidFill>
                <a:srgbClr val="FF0000"/>
              </a:solidFill>
            </a:rPr>
            <a:t>data</a:t>
          </a:r>
          <a:r>
            <a:rPr lang="en-US" altLang="en-US" sz="2800" b="0" kern="1200" dirty="0"/>
            <a:t> type</a:t>
          </a:r>
          <a:endParaRPr lang="he-IL" sz="2800" kern="1200" dirty="0">
            <a:latin typeface="+mj-lt"/>
            <a:cs typeface="Courier New" pitchFamily="49" charset="0"/>
          </a:endParaRPr>
        </a:p>
      </dsp:txBody>
      <dsp:txXfrm>
        <a:off x="0" y="887257"/>
        <a:ext cx="9372600" cy="4769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FA60E-65AD-408F-A5A8-F32F2B7AFA9E}">
      <dsp:nvSpPr>
        <dsp:cNvPr id="0" name=""/>
        <dsp:cNvSpPr/>
      </dsp:nvSpPr>
      <dsp:spPr>
        <a:xfrm>
          <a:off x="0" y="27229"/>
          <a:ext cx="9525000" cy="15947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Python accepts </a:t>
          </a:r>
          <a:r>
            <a:rPr lang="en-US" sz="2900" b="0" i="0" kern="1200" dirty="0">
              <a:solidFill>
                <a:srgbClr val="FF0000"/>
              </a:solidFill>
            </a:rPr>
            <a:t>single</a:t>
          </a:r>
          <a:r>
            <a:rPr lang="en-US" sz="2900" b="0" i="0" kern="1200" dirty="0"/>
            <a:t> ('), </a:t>
          </a:r>
          <a:r>
            <a:rPr lang="en-US" sz="2900" b="0" i="0" kern="1200" dirty="0">
              <a:solidFill>
                <a:srgbClr val="FF0000"/>
              </a:solidFill>
            </a:rPr>
            <a:t>double</a:t>
          </a:r>
          <a:r>
            <a:rPr lang="en-US" sz="2900" b="0" i="0" kern="1200" dirty="0"/>
            <a:t> (") and </a:t>
          </a:r>
          <a:r>
            <a:rPr lang="en-US" sz="2900" b="0" i="0" kern="1200" dirty="0">
              <a:solidFill>
                <a:srgbClr val="FF0000"/>
              </a:solidFill>
            </a:rPr>
            <a:t>triple</a:t>
          </a:r>
          <a:r>
            <a:rPr lang="en-US" sz="2900" b="0" i="0" kern="1200" dirty="0"/>
            <a:t> (''' or """) quotes to denote string literals, as long as the same type of quote starts and ends the string.</a:t>
          </a:r>
          <a:endParaRPr lang="en-US" sz="2900" kern="1200" dirty="0"/>
        </a:p>
      </dsp:txBody>
      <dsp:txXfrm>
        <a:off x="77847" y="105076"/>
        <a:ext cx="9369306" cy="1439016"/>
      </dsp:txXfrm>
    </dsp:sp>
    <dsp:sp modelId="{45EC5E61-89C9-405F-82EA-CC6A7CC7793A}">
      <dsp:nvSpPr>
        <dsp:cNvPr id="0" name=""/>
        <dsp:cNvSpPr/>
      </dsp:nvSpPr>
      <dsp:spPr>
        <a:xfrm>
          <a:off x="0" y="1705460"/>
          <a:ext cx="9525000" cy="15947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The triple quotes are used to span the string across multiple lines. </a:t>
          </a:r>
        </a:p>
      </dsp:txBody>
      <dsp:txXfrm>
        <a:off x="77847" y="1783307"/>
        <a:ext cx="9369306" cy="14390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FA60E-65AD-408F-A5A8-F32F2B7AFA9E}">
      <dsp:nvSpPr>
        <dsp:cNvPr id="0" name=""/>
        <dsp:cNvSpPr/>
      </dsp:nvSpPr>
      <dsp:spPr>
        <a:xfrm>
          <a:off x="0" y="74962"/>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altLang="en-US" sz="2100" kern="1200" dirty="0">
              <a:solidFill>
                <a:srgbClr val="FF0000"/>
              </a:solidFill>
            </a:rPr>
            <a:t>Notes</a:t>
          </a:r>
          <a:r>
            <a:rPr lang="en-US" altLang="en-US" sz="2100" kern="1200" dirty="0"/>
            <a:t> of explanation within a program</a:t>
          </a:r>
          <a:endParaRPr lang="en-US" sz="2100" kern="1200" dirty="0"/>
        </a:p>
      </dsp:txBody>
      <dsp:txXfrm>
        <a:off x="24588" y="99550"/>
        <a:ext cx="10237824" cy="454509"/>
      </dsp:txXfrm>
    </dsp:sp>
    <dsp:sp modelId="{394C8E15-C264-4CB8-A7A3-9F86E9B0850E}">
      <dsp:nvSpPr>
        <dsp:cNvPr id="0" name=""/>
        <dsp:cNvSpPr/>
      </dsp:nvSpPr>
      <dsp:spPr>
        <a:xfrm>
          <a:off x="0" y="639127"/>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altLang="en-US" sz="2100" kern="1200" dirty="0">
              <a:solidFill>
                <a:srgbClr val="FF0000"/>
              </a:solidFill>
            </a:rPr>
            <a:t>Ignored</a:t>
          </a:r>
          <a:r>
            <a:rPr lang="en-US" altLang="en-US" sz="2100" kern="1200" dirty="0"/>
            <a:t> by Python interpreter</a:t>
          </a:r>
        </a:p>
      </dsp:txBody>
      <dsp:txXfrm>
        <a:off x="24588" y="663715"/>
        <a:ext cx="10237824" cy="454509"/>
      </dsp:txXfrm>
    </dsp:sp>
    <dsp:sp modelId="{25B639C7-62A6-4963-8232-D74C9E99EE92}">
      <dsp:nvSpPr>
        <dsp:cNvPr id="0" name=""/>
        <dsp:cNvSpPr/>
      </dsp:nvSpPr>
      <dsp:spPr>
        <a:xfrm>
          <a:off x="0" y="1203292"/>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altLang="en-US" sz="2100" kern="1200" dirty="0">
              <a:solidFill>
                <a:srgbClr val="FF0000"/>
              </a:solidFill>
            </a:rPr>
            <a:t>Intended</a:t>
          </a:r>
          <a:r>
            <a:rPr lang="en-US" altLang="en-US" sz="2100" kern="1200" dirty="0"/>
            <a:t> for a person reading the program’s code</a:t>
          </a:r>
        </a:p>
      </dsp:txBody>
      <dsp:txXfrm>
        <a:off x="24588" y="1227880"/>
        <a:ext cx="10237824" cy="454509"/>
      </dsp:txXfrm>
    </dsp:sp>
    <dsp:sp modelId="{820631E9-0D5E-4584-B982-338530191B00}">
      <dsp:nvSpPr>
        <dsp:cNvPr id="0" name=""/>
        <dsp:cNvSpPr/>
      </dsp:nvSpPr>
      <dsp:spPr>
        <a:xfrm>
          <a:off x="0" y="1767457"/>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t>A hash sign (</a:t>
          </a:r>
          <a:r>
            <a:rPr lang="en-US" sz="2100" b="0" i="0" kern="1200" dirty="0">
              <a:solidFill>
                <a:srgbClr val="FF0000"/>
              </a:solidFill>
            </a:rPr>
            <a:t>#</a:t>
          </a:r>
          <a:r>
            <a:rPr lang="en-US" sz="2100" b="0" i="0" kern="1200" dirty="0"/>
            <a:t>) that is not inside a string literal begins a comment. </a:t>
          </a:r>
          <a:endParaRPr lang="en-US" sz="2100" kern="1200" dirty="0"/>
        </a:p>
      </dsp:txBody>
      <dsp:txXfrm>
        <a:off x="24588" y="1792045"/>
        <a:ext cx="10237824" cy="454509"/>
      </dsp:txXfrm>
    </dsp:sp>
    <dsp:sp modelId="{FDC02683-AFCD-4E9C-BDCA-A8954832AF74}">
      <dsp:nvSpPr>
        <dsp:cNvPr id="0" name=""/>
        <dsp:cNvSpPr/>
      </dsp:nvSpPr>
      <dsp:spPr>
        <a:xfrm>
          <a:off x="0" y="2331622"/>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t>All characters </a:t>
          </a:r>
          <a:r>
            <a:rPr lang="en-US" sz="2100" b="0" i="0" kern="1200" dirty="0">
              <a:solidFill>
                <a:srgbClr val="FF0000"/>
              </a:solidFill>
            </a:rPr>
            <a:t>after the # and up to the end of the physical line </a:t>
          </a:r>
          <a:r>
            <a:rPr lang="en-US" sz="2100" b="0" i="0" kern="1200" dirty="0"/>
            <a:t>are part of the comment</a:t>
          </a:r>
          <a:endParaRPr lang="en-US" sz="2100" kern="1200" dirty="0"/>
        </a:p>
      </dsp:txBody>
      <dsp:txXfrm>
        <a:off x="24588" y="2356210"/>
        <a:ext cx="10237824" cy="454509"/>
      </dsp:txXfrm>
    </dsp:sp>
    <dsp:sp modelId="{81AAA790-6069-427F-B313-50263C155E98}">
      <dsp:nvSpPr>
        <dsp:cNvPr id="0" name=""/>
        <dsp:cNvSpPr/>
      </dsp:nvSpPr>
      <dsp:spPr>
        <a:xfrm>
          <a:off x="0" y="2895787"/>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altLang="en-US" sz="2100" u="none" kern="1200" dirty="0"/>
            <a:t>End-line comment </a:t>
          </a:r>
          <a:r>
            <a:rPr lang="en-US" altLang="en-US" sz="2100" kern="1200" dirty="0"/>
            <a:t>appears at the end of a line of code</a:t>
          </a:r>
        </a:p>
      </dsp:txBody>
      <dsp:txXfrm>
        <a:off x="24588" y="2920375"/>
        <a:ext cx="10237824" cy="454509"/>
      </dsp:txXfrm>
    </dsp:sp>
    <dsp:sp modelId="{6DAE1B0A-5E46-48BB-BD95-68AD2E3A6472}">
      <dsp:nvSpPr>
        <dsp:cNvPr id="0" name=""/>
        <dsp:cNvSpPr/>
      </dsp:nvSpPr>
      <dsp:spPr>
        <a:xfrm>
          <a:off x="0" y="3459952"/>
          <a:ext cx="10287000"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altLang="en-US" sz="2100" kern="1200" dirty="0"/>
            <a:t>Typically explains the purpose of that line</a:t>
          </a:r>
        </a:p>
      </dsp:txBody>
      <dsp:txXfrm>
        <a:off x="24588" y="3484540"/>
        <a:ext cx="10237824" cy="45450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FA60E-65AD-408F-A5A8-F32F2B7AFA9E}">
      <dsp:nvSpPr>
        <dsp:cNvPr id="0" name=""/>
        <dsp:cNvSpPr/>
      </dsp:nvSpPr>
      <dsp:spPr>
        <a:xfrm>
          <a:off x="0" y="50801"/>
          <a:ext cx="10591799" cy="109279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Python provides no braces to indicate </a:t>
          </a:r>
          <a:r>
            <a:rPr lang="en-US" sz="2500" b="0" i="0" kern="1200" dirty="0">
              <a:solidFill>
                <a:srgbClr val="FF0000"/>
              </a:solidFill>
            </a:rPr>
            <a:t>blocks</a:t>
          </a:r>
          <a:r>
            <a:rPr lang="en-US" sz="2500" b="0" i="0" kern="1200" dirty="0"/>
            <a:t> of code for class and function definitions or flow control. </a:t>
          </a:r>
          <a:endParaRPr lang="en-US" sz="2500" kern="1200" dirty="0"/>
        </a:p>
      </dsp:txBody>
      <dsp:txXfrm>
        <a:off x="53346" y="104147"/>
        <a:ext cx="10485107" cy="986104"/>
      </dsp:txXfrm>
    </dsp:sp>
    <dsp:sp modelId="{7D692BDD-6994-4D32-9345-19FBF0E25B43}">
      <dsp:nvSpPr>
        <dsp:cNvPr id="0" name=""/>
        <dsp:cNvSpPr/>
      </dsp:nvSpPr>
      <dsp:spPr>
        <a:xfrm>
          <a:off x="0" y="1215598"/>
          <a:ext cx="10591799" cy="9945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solidFill>
                <a:srgbClr val="FF0000"/>
              </a:solidFill>
            </a:rPr>
            <a:t>Blocks</a:t>
          </a:r>
          <a:r>
            <a:rPr lang="en-US" sz="2500" b="0" i="0" kern="1200" dirty="0"/>
            <a:t> of code are denoted by line </a:t>
          </a:r>
          <a:r>
            <a:rPr lang="en-US" sz="2500" b="0" i="0" kern="1200" dirty="0">
              <a:solidFill>
                <a:srgbClr val="FF0000"/>
              </a:solidFill>
            </a:rPr>
            <a:t>indentation</a:t>
          </a:r>
          <a:r>
            <a:rPr lang="en-US" sz="2500" b="0" i="0" kern="1200" dirty="0"/>
            <a:t>, which is rigidly enforced.</a:t>
          </a:r>
          <a:endParaRPr lang="en-US" sz="2500" kern="1200" dirty="0"/>
        </a:p>
      </dsp:txBody>
      <dsp:txXfrm>
        <a:off x="48547" y="1264145"/>
        <a:ext cx="10494705" cy="897406"/>
      </dsp:txXfrm>
    </dsp:sp>
    <dsp:sp modelId="{E59BE8BD-A4E5-4E6E-B2A4-7CD23CC05BB9}">
      <dsp:nvSpPr>
        <dsp:cNvPr id="0" name=""/>
        <dsp:cNvSpPr/>
      </dsp:nvSpPr>
      <dsp:spPr>
        <a:xfrm>
          <a:off x="0" y="2282098"/>
          <a:ext cx="10591799" cy="9945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The number of spaces in the </a:t>
          </a:r>
          <a:r>
            <a:rPr lang="en-US" sz="2500" b="0" i="0" kern="1200" dirty="0">
              <a:solidFill>
                <a:srgbClr val="FF0000"/>
              </a:solidFill>
            </a:rPr>
            <a:t>indentation</a:t>
          </a:r>
          <a:r>
            <a:rPr lang="en-US" sz="2500" b="0" i="0" kern="1200" dirty="0"/>
            <a:t> is variable, but all statements within the </a:t>
          </a:r>
          <a:r>
            <a:rPr lang="en-US" sz="2500" b="0" i="0" kern="1200" dirty="0">
              <a:solidFill>
                <a:srgbClr val="FF0000"/>
              </a:solidFill>
            </a:rPr>
            <a:t>block</a:t>
          </a:r>
          <a:r>
            <a:rPr lang="en-US" sz="2500" b="0" i="0" kern="1200" dirty="0"/>
            <a:t> must be indented the same amount</a:t>
          </a:r>
        </a:p>
      </dsp:txBody>
      <dsp:txXfrm>
        <a:off x="48547" y="2330645"/>
        <a:ext cx="10494705" cy="8974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FA60E-65AD-408F-A5A8-F32F2B7AFA9E}">
      <dsp:nvSpPr>
        <dsp:cNvPr id="0" name=""/>
        <dsp:cNvSpPr/>
      </dsp:nvSpPr>
      <dsp:spPr>
        <a:xfrm>
          <a:off x="0" y="38506"/>
          <a:ext cx="9982200" cy="9931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Statements in Python typically end with a new line. </a:t>
          </a:r>
          <a:endParaRPr lang="en-US" sz="2500" kern="1200" dirty="0"/>
        </a:p>
      </dsp:txBody>
      <dsp:txXfrm>
        <a:off x="48481" y="86987"/>
        <a:ext cx="9885238" cy="896166"/>
      </dsp:txXfrm>
    </dsp:sp>
    <dsp:sp modelId="{0F1FE80C-6FCF-4D0A-B232-85743C0B9FD3}">
      <dsp:nvSpPr>
        <dsp:cNvPr id="0" name=""/>
        <dsp:cNvSpPr/>
      </dsp:nvSpPr>
      <dsp:spPr>
        <a:xfrm>
          <a:off x="0" y="1103635"/>
          <a:ext cx="9982200" cy="9931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Python does, however, allow the use of the line continuation character (</a:t>
          </a:r>
          <a:r>
            <a:rPr lang="en-US" sz="2500" b="0" i="0" kern="1200" dirty="0">
              <a:solidFill>
                <a:srgbClr val="FF0000"/>
              </a:solidFill>
            </a:rPr>
            <a:t>\</a:t>
          </a:r>
          <a:r>
            <a:rPr lang="en-US" sz="2500" b="0" i="0" kern="1200" dirty="0"/>
            <a:t>) to denote that the line should continue.</a:t>
          </a:r>
          <a:endParaRPr lang="en-US" sz="2500" kern="1200" dirty="0"/>
        </a:p>
      </dsp:txBody>
      <dsp:txXfrm>
        <a:off x="48481" y="1152116"/>
        <a:ext cx="9885238" cy="896166"/>
      </dsp:txXfrm>
    </dsp:sp>
    <dsp:sp modelId="{F39CB04E-C88C-4CE1-A788-B6CF6158B130}">
      <dsp:nvSpPr>
        <dsp:cNvPr id="0" name=""/>
        <dsp:cNvSpPr/>
      </dsp:nvSpPr>
      <dsp:spPr>
        <a:xfrm>
          <a:off x="0" y="2168764"/>
          <a:ext cx="9982200" cy="9931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Statements contained within the </a:t>
          </a:r>
          <a:r>
            <a:rPr lang="en-US" sz="2500" b="0" i="0" kern="1200" dirty="0">
              <a:solidFill>
                <a:srgbClr val="FF0000"/>
              </a:solidFill>
            </a:rPr>
            <a:t>[]</a:t>
          </a:r>
          <a:r>
            <a:rPr lang="en-US" sz="2500" b="0" i="0" kern="1200" dirty="0"/>
            <a:t>, </a:t>
          </a:r>
          <a:r>
            <a:rPr lang="en-US" sz="2500" b="0" i="0" kern="1200" dirty="0">
              <a:solidFill>
                <a:srgbClr val="FF0000"/>
              </a:solidFill>
            </a:rPr>
            <a:t>{}</a:t>
          </a:r>
          <a:r>
            <a:rPr lang="en-US" sz="2500" b="0" i="0" kern="1200" dirty="0"/>
            <a:t>, or </a:t>
          </a:r>
          <a:r>
            <a:rPr lang="en-US" sz="2500" b="0" i="0" kern="1200" dirty="0">
              <a:solidFill>
                <a:srgbClr val="FF0000"/>
              </a:solidFill>
            </a:rPr>
            <a:t>() </a:t>
          </a:r>
          <a:r>
            <a:rPr lang="en-US" sz="2500" b="0" i="0" kern="1200" dirty="0"/>
            <a:t>brackets do not need to use the line continuation character.</a:t>
          </a:r>
          <a:endParaRPr lang="en-US" sz="2500" kern="1200" dirty="0"/>
        </a:p>
      </dsp:txBody>
      <dsp:txXfrm>
        <a:off x="48481" y="2217245"/>
        <a:ext cx="9885238" cy="89616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E1B0A-5E46-48BB-BD95-68AD2E3A6472}">
      <dsp:nvSpPr>
        <dsp:cNvPr id="0" name=""/>
        <dsp:cNvSpPr/>
      </dsp:nvSpPr>
      <dsp:spPr>
        <a:xfrm>
          <a:off x="0" y="162500"/>
          <a:ext cx="9829800" cy="9547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A group of individual statements, which make a single code block are called </a:t>
          </a:r>
          <a:r>
            <a:rPr lang="en-US" sz="2400" b="1" i="0" kern="1200" dirty="0">
              <a:solidFill>
                <a:srgbClr val="FF0000"/>
              </a:solidFill>
            </a:rPr>
            <a:t>suites</a:t>
          </a:r>
          <a:r>
            <a:rPr lang="en-US" sz="2400" b="0" i="0" kern="1200" dirty="0"/>
            <a:t> in Python.</a:t>
          </a:r>
          <a:endParaRPr lang="en-US" altLang="en-US" sz="2400" kern="1200" dirty="0"/>
        </a:p>
      </dsp:txBody>
      <dsp:txXfrm>
        <a:off x="46606" y="209106"/>
        <a:ext cx="9736588" cy="861507"/>
      </dsp:txXfrm>
    </dsp:sp>
    <dsp:sp modelId="{32799C96-74AE-415A-99F2-3C088F8067C4}">
      <dsp:nvSpPr>
        <dsp:cNvPr id="0" name=""/>
        <dsp:cNvSpPr/>
      </dsp:nvSpPr>
      <dsp:spPr>
        <a:xfrm>
          <a:off x="0" y="1186340"/>
          <a:ext cx="9829800" cy="9547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Compound or complex statements, such as </a:t>
          </a:r>
          <a:r>
            <a:rPr lang="en-US" sz="2400" b="0" i="0" kern="1200" dirty="0">
              <a:solidFill>
                <a:srgbClr val="FF0000"/>
              </a:solidFill>
            </a:rPr>
            <a:t>if</a:t>
          </a:r>
          <a:r>
            <a:rPr lang="en-US" sz="2400" b="0" i="0" kern="1200" dirty="0"/>
            <a:t>, </a:t>
          </a:r>
          <a:r>
            <a:rPr lang="en-US" sz="2400" b="0" i="0" kern="1200" dirty="0">
              <a:solidFill>
                <a:srgbClr val="FF0000"/>
              </a:solidFill>
            </a:rPr>
            <a:t>while</a:t>
          </a:r>
          <a:r>
            <a:rPr lang="en-US" sz="2400" b="0" i="0" kern="1200" dirty="0"/>
            <a:t>, </a:t>
          </a:r>
          <a:r>
            <a:rPr lang="en-US" sz="2400" b="0" i="0" kern="1200" dirty="0">
              <a:solidFill>
                <a:srgbClr val="FF0000"/>
              </a:solidFill>
            </a:rPr>
            <a:t>def</a:t>
          </a:r>
          <a:r>
            <a:rPr lang="en-US" sz="2400" b="0" i="0" kern="1200" dirty="0"/>
            <a:t>, and </a:t>
          </a:r>
          <a:r>
            <a:rPr lang="en-US" sz="2400" b="0" i="0" kern="1200" dirty="0">
              <a:solidFill>
                <a:srgbClr val="FF0000"/>
              </a:solidFill>
            </a:rPr>
            <a:t>class</a:t>
          </a:r>
          <a:r>
            <a:rPr lang="en-US" sz="2400" b="0" i="0" kern="1200" dirty="0"/>
            <a:t> require a header line and a suite.</a:t>
          </a:r>
          <a:endParaRPr lang="en-US" altLang="en-US" sz="2400" kern="1200" dirty="0"/>
        </a:p>
      </dsp:txBody>
      <dsp:txXfrm>
        <a:off x="46606" y="1232946"/>
        <a:ext cx="9736588" cy="861507"/>
      </dsp:txXfrm>
    </dsp:sp>
    <dsp:sp modelId="{BE0BEA9D-8AB4-45AA-9305-4AF3674BBD3D}">
      <dsp:nvSpPr>
        <dsp:cNvPr id="0" name=""/>
        <dsp:cNvSpPr/>
      </dsp:nvSpPr>
      <dsp:spPr>
        <a:xfrm>
          <a:off x="0" y="2210180"/>
          <a:ext cx="9829800" cy="9547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Header lines begin the statement (with the keyword) and terminate with a colon ( </a:t>
          </a:r>
          <a:r>
            <a:rPr lang="en-US" sz="2400" b="0" i="0" kern="1200" dirty="0">
              <a:solidFill>
                <a:srgbClr val="FF0000"/>
              </a:solidFill>
            </a:rPr>
            <a:t>: </a:t>
          </a:r>
          <a:r>
            <a:rPr lang="en-US" sz="2400" b="0" i="0" kern="1200" dirty="0"/>
            <a:t>) and are followed by one or more lines which make up the suite.</a:t>
          </a:r>
        </a:p>
      </dsp:txBody>
      <dsp:txXfrm>
        <a:off x="46606" y="2256786"/>
        <a:ext cx="9736588" cy="86150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E1B0A-5E46-48BB-BD95-68AD2E3A6472}">
      <dsp:nvSpPr>
        <dsp:cNvPr id="0" name=""/>
        <dsp:cNvSpPr/>
      </dsp:nvSpPr>
      <dsp:spPr>
        <a:xfrm>
          <a:off x="0" y="11511"/>
          <a:ext cx="9677400" cy="112729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b="0" i="0" kern="1200" dirty="0"/>
            <a:t>Conversions between built-in types</a:t>
          </a:r>
          <a:endParaRPr lang="en-US" altLang="en-US" sz="4700" kern="1200" dirty="0"/>
        </a:p>
      </dsp:txBody>
      <dsp:txXfrm>
        <a:off x="55030" y="66541"/>
        <a:ext cx="9567340" cy="1017235"/>
      </dsp:txXfrm>
    </dsp:sp>
    <dsp:sp modelId="{1643E9CC-0CDD-4088-8CC6-DFC082F58011}">
      <dsp:nvSpPr>
        <dsp:cNvPr id="0" name=""/>
        <dsp:cNvSpPr/>
      </dsp:nvSpPr>
      <dsp:spPr>
        <a:xfrm>
          <a:off x="0" y="1138807"/>
          <a:ext cx="9677400" cy="778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7257" tIns="59690" rIns="334264" bIns="59690" numCol="1" spcCol="1270" anchor="t" anchorCtr="0">
          <a:noAutofit/>
        </a:bodyPr>
        <a:lstStyle/>
        <a:p>
          <a:pPr marL="285750" lvl="1" indent="-285750" algn="l" defTabSz="1644650">
            <a:lnSpc>
              <a:spcPct val="90000"/>
            </a:lnSpc>
            <a:spcBef>
              <a:spcPct val="0"/>
            </a:spcBef>
            <a:spcAft>
              <a:spcPct val="20000"/>
            </a:spcAft>
            <a:buChar char="•"/>
          </a:pPr>
          <a:endParaRPr lang="en-US" altLang="en-US" sz="3700" kern="1200" dirty="0"/>
        </a:p>
      </dsp:txBody>
      <dsp:txXfrm>
        <a:off x="0" y="1138807"/>
        <a:ext cx="9677400" cy="77832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E1B0A-5E46-48BB-BD95-68AD2E3A6472}">
      <dsp:nvSpPr>
        <dsp:cNvPr id="0" name=""/>
        <dsp:cNvSpPr/>
      </dsp:nvSpPr>
      <dsp:spPr>
        <a:xfrm>
          <a:off x="0" y="4084"/>
          <a:ext cx="9372600" cy="15514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altLang="en-US" sz="3900" kern="1200" dirty="0"/>
            <a:t>Data type resulting from math operation depends on data types of operands</a:t>
          </a:r>
        </a:p>
      </dsp:txBody>
      <dsp:txXfrm>
        <a:off x="75734" y="79818"/>
        <a:ext cx="9221132" cy="1399952"/>
      </dsp:txXfrm>
    </dsp:sp>
    <dsp:sp modelId="{1643E9CC-0CDD-4088-8CC6-DFC082F58011}">
      <dsp:nvSpPr>
        <dsp:cNvPr id="0" name=""/>
        <dsp:cNvSpPr/>
      </dsp:nvSpPr>
      <dsp:spPr>
        <a:xfrm>
          <a:off x="0" y="1555505"/>
          <a:ext cx="9372600" cy="2987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758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altLang="en-US" sz="3000" kern="1200" dirty="0"/>
            <a:t>Two </a:t>
          </a:r>
          <a:r>
            <a:rPr lang="en-US" altLang="en-US" sz="3000" kern="1200" dirty="0">
              <a:solidFill>
                <a:srgbClr val="FF0000"/>
              </a:solidFill>
              <a:latin typeface="Courier New" panose="02070309020205020404" pitchFamily="49" charset="0"/>
              <a:cs typeface="Courier New" panose="02070309020205020404" pitchFamily="49" charset="0"/>
            </a:rPr>
            <a:t>int</a:t>
          </a:r>
          <a:r>
            <a:rPr lang="en-US" altLang="en-US" sz="3000" kern="1200" dirty="0"/>
            <a:t> values: result is an </a:t>
          </a:r>
          <a:r>
            <a:rPr lang="en-US" altLang="en-US" sz="3000" kern="1200" dirty="0">
              <a:solidFill>
                <a:srgbClr val="FF0000"/>
              </a:solidFill>
              <a:latin typeface="Courier New" panose="02070309020205020404" pitchFamily="49" charset="0"/>
              <a:cs typeface="Courier New" panose="02070309020205020404" pitchFamily="49" charset="0"/>
            </a:rPr>
            <a:t>int</a:t>
          </a:r>
          <a:endParaRPr lang="en-US" altLang="en-US" sz="3000" kern="1200" dirty="0">
            <a:solidFill>
              <a:srgbClr val="FF0000"/>
            </a:solidFill>
          </a:endParaRPr>
        </a:p>
        <a:p>
          <a:pPr marL="285750" lvl="1" indent="-285750" algn="l" defTabSz="1333500">
            <a:lnSpc>
              <a:spcPct val="90000"/>
            </a:lnSpc>
            <a:spcBef>
              <a:spcPct val="0"/>
            </a:spcBef>
            <a:spcAft>
              <a:spcPct val="20000"/>
            </a:spcAft>
            <a:buChar char="•"/>
          </a:pPr>
          <a:r>
            <a:rPr lang="en-US" altLang="en-US" sz="3000" kern="1200" dirty="0"/>
            <a:t>Two </a:t>
          </a:r>
          <a:r>
            <a:rPr lang="en-US" altLang="en-US" sz="3000" kern="1200" dirty="0">
              <a:solidFill>
                <a:srgbClr val="FF0000"/>
              </a:solidFill>
              <a:latin typeface="Courier New" panose="02070309020205020404" pitchFamily="49" charset="0"/>
              <a:cs typeface="Courier New" panose="02070309020205020404" pitchFamily="49" charset="0"/>
            </a:rPr>
            <a:t>float</a:t>
          </a:r>
          <a:r>
            <a:rPr lang="en-US" altLang="en-US" sz="3000" kern="1200" dirty="0"/>
            <a:t> values: result is a </a:t>
          </a:r>
          <a:r>
            <a:rPr lang="en-US" altLang="en-US" sz="3000" kern="1200" dirty="0">
              <a:solidFill>
                <a:srgbClr val="FF0000"/>
              </a:solidFill>
              <a:latin typeface="Courier New" panose="02070309020205020404" pitchFamily="49" charset="0"/>
              <a:cs typeface="Courier New" panose="02070309020205020404" pitchFamily="49" charset="0"/>
            </a:rPr>
            <a:t>float</a:t>
          </a:r>
        </a:p>
        <a:p>
          <a:pPr marL="285750" lvl="1" indent="-285750" algn="l" defTabSz="1333500">
            <a:lnSpc>
              <a:spcPct val="90000"/>
            </a:lnSpc>
            <a:spcBef>
              <a:spcPct val="0"/>
            </a:spcBef>
            <a:spcAft>
              <a:spcPct val="20000"/>
            </a:spcAft>
            <a:buChar char="•"/>
          </a:pPr>
          <a:r>
            <a:rPr lang="en-US" altLang="en-US" sz="3000" kern="1200" dirty="0">
              <a:solidFill>
                <a:srgbClr val="FF0000"/>
              </a:solidFill>
              <a:latin typeface="Courier New" panose="02070309020205020404" pitchFamily="49" charset="0"/>
              <a:cs typeface="Courier New" panose="02070309020205020404" pitchFamily="49" charset="0"/>
            </a:rPr>
            <a:t>int</a:t>
          </a:r>
          <a:r>
            <a:rPr lang="en-US" altLang="en-US" sz="3000" kern="1200" dirty="0"/>
            <a:t> and </a:t>
          </a:r>
          <a:r>
            <a:rPr lang="en-US" altLang="en-US" sz="3000" kern="1200" dirty="0">
              <a:solidFill>
                <a:srgbClr val="FF0000"/>
              </a:solidFill>
              <a:latin typeface="Courier New" panose="02070309020205020404" pitchFamily="49" charset="0"/>
              <a:cs typeface="Courier New" panose="02070309020205020404" pitchFamily="49" charset="0"/>
            </a:rPr>
            <a:t>float</a:t>
          </a:r>
          <a:r>
            <a:rPr lang="en-US" altLang="en-US" sz="3000" kern="1200" dirty="0"/>
            <a:t>: </a:t>
          </a:r>
          <a:r>
            <a:rPr lang="en-US" altLang="en-US" sz="3000" kern="1200" dirty="0">
              <a:latin typeface="Courier New" panose="02070309020205020404" pitchFamily="49" charset="0"/>
              <a:cs typeface="Courier New" panose="02070309020205020404" pitchFamily="49" charset="0"/>
            </a:rPr>
            <a:t>int</a:t>
          </a:r>
          <a:r>
            <a:rPr lang="en-US" altLang="en-US" sz="3000" kern="1200" dirty="0"/>
            <a:t> temporarily converted to </a:t>
          </a:r>
          <a:r>
            <a:rPr lang="en-US" altLang="en-US" sz="3000" kern="1200" dirty="0">
              <a:latin typeface="Courier New" panose="02070309020205020404" pitchFamily="49" charset="0"/>
              <a:cs typeface="Courier New" panose="02070309020205020404" pitchFamily="49" charset="0"/>
            </a:rPr>
            <a:t>float</a:t>
          </a:r>
          <a:r>
            <a:rPr lang="en-US" altLang="en-US" sz="3000" kern="1200" dirty="0"/>
            <a:t>, result of the operation is a </a:t>
          </a:r>
          <a:r>
            <a:rPr lang="en-US" altLang="en-US" sz="3000" kern="1200" dirty="0">
              <a:solidFill>
                <a:srgbClr val="FF0000"/>
              </a:solidFill>
              <a:latin typeface="Courier New" panose="02070309020205020404" pitchFamily="49" charset="0"/>
              <a:cs typeface="Courier New" panose="02070309020205020404" pitchFamily="49" charset="0"/>
            </a:rPr>
            <a:t>float</a:t>
          </a:r>
        </a:p>
        <a:p>
          <a:pPr marL="285750" lvl="1" indent="-285750" algn="l" defTabSz="1333500">
            <a:lnSpc>
              <a:spcPct val="90000"/>
            </a:lnSpc>
            <a:spcBef>
              <a:spcPct val="0"/>
            </a:spcBef>
            <a:spcAft>
              <a:spcPct val="20000"/>
            </a:spcAft>
            <a:buChar char="•"/>
          </a:pPr>
          <a:r>
            <a:rPr lang="en-US" altLang="en-US" sz="3000" kern="1200" dirty="0"/>
            <a:t>Type conversion of </a:t>
          </a:r>
          <a:r>
            <a:rPr lang="en-US" altLang="en-US" sz="3000" kern="1200" dirty="0">
              <a:solidFill>
                <a:srgbClr val="FF0000"/>
              </a:solidFill>
              <a:latin typeface="Courier New" panose="02070309020205020404" pitchFamily="49" charset="0"/>
              <a:cs typeface="Courier New" panose="02070309020205020404" pitchFamily="49" charset="0"/>
            </a:rPr>
            <a:t>float</a:t>
          </a:r>
          <a:r>
            <a:rPr lang="en-US" altLang="en-US" sz="3000" kern="1200" dirty="0"/>
            <a:t> to </a:t>
          </a:r>
          <a:r>
            <a:rPr lang="en-US" altLang="en-US" sz="3000" kern="1200" dirty="0">
              <a:solidFill>
                <a:srgbClr val="FF0000"/>
              </a:solidFill>
              <a:latin typeface="Courier New" panose="02070309020205020404" pitchFamily="49" charset="0"/>
              <a:cs typeface="Courier New" panose="02070309020205020404" pitchFamily="49" charset="0"/>
            </a:rPr>
            <a:t>int</a:t>
          </a:r>
          <a:r>
            <a:rPr lang="en-US" altLang="en-US" sz="3000" kern="1200" dirty="0"/>
            <a:t> causes </a:t>
          </a:r>
          <a:r>
            <a:rPr lang="en-US" altLang="en-US" sz="3000" kern="1200" dirty="0">
              <a:solidFill>
                <a:srgbClr val="FF0000"/>
              </a:solidFill>
            </a:rPr>
            <a:t>truncation</a:t>
          </a:r>
          <a:r>
            <a:rPr lang="en-US" altLang="en-US" sz="3000" kern="1200" dirty="0"/>
            <a:t> of fractional part</a:t>
          </a:r>
          <a:endParaRPr lang="he-IL" altLang="en-US" sz="3000" kern="1200" dirty="0"/>
        </a:p>
      </dsp:txBody>
      <dsp:txXfrm>
        <a:off x="0" y="1555505"/>
        <a:ext cx="9372600" cy="298701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870326-38F0-4809-93B0-A30AED0C8DD5}">
      <dsp:nvSpPr>
        <dsp:cNvPr id="0" name=""/>
        <dsp:cNvSpPr/>
      </dsp:nvSpPr>
      <dsp:spPr>
        <a:xfrm>
          <a:off x="0" y="7395"/>
          <a:ext cx="9753600" cy="5441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altLang="en-US" sz="2200" u="none" kern="1200" dirty="0"/>
            <a:t>Function</a:t>
          </a:r>
        </a:p>
      </dsp:txBody>
      <dsp:txXfrm>
        <a:off x="26564" y="33959"/>
        <a:ext cx="9700472" cy="491031"/>
      </dsp:txXfrm>
    </dsp:sp>
    <dsp:sp modelId="{D90E2895-ADB4-47A4-890F-40A6F9EB1BA4}">
      <dsp:nvSpPr>
        <dsp:cNvPr id="0" name=""/>
        <dsp:cNvSpPr/>
      </dsp:nvSpPr>
      <dsp:spPr>
        <a:xfrm>
          <a:off x="0" y="551555"/>
          <a:ext cx="9753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967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t>piece of </a:t>
          </a:r>
          <a:r>
            <a:rPr lang="en-US" altLang="en-US" sz="1700" kern="1200" dirty="0">
              <a:solidFill>
                <a:srgbClr val="FF0000"/>
              </a:solidFill>
            </a:rPr>
            <a:t>prewritten</a:t>
          </a:r>
          <a:r>
            <a:rPr lang="en-US" altLang="en-US" sz="1700" kern="1200" dirty="0"/>
            <a:t> code that performs an operation</a:t>
          </a:r>
        </a:p>
      </dsp:txBody>
      <dsp:txXfrm>
        <a:off x="0" y="551555"/>
        <a:ext cx="9753600" cy="364320"/>
      </dsp:txXfrm>
    </dsp:sp>
    <dsp:sp modelId="{AA331BF4-1F05-43FA-AD62-3F4B6BBC3AE5}">
      <dsp:nvSpPr>
        <dsp:cNvPr id="0" name=""/>
        <dsp:cNvSpPr/>
      </dsp:nvSpPr>
      <dsp:spPr>
        <a:xfrm>
          <a:off x="0" y="915875"/>
          <a:ext cx="9753600" cy="5441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altLang="en-US" sz="2200" u="none" kern="1200" dirty="0">
              <a:latin typeface="Courier New" panose="02070309020205020404" pitchFamily="49" charset="0"/>
              <a:cs typeface="Courier New" panose="02070309020205020404" pitchFamily="49" charset="0"/>
            </a:rPr>
            <a:t>print</a:t>
          </a:r>
          <a:r>
            <a:rPr lang="en-US" altLang="en-US" sz="2200" u="none" kern="1200" dirty="0"/>
            <a:t> function</a:t>
          </a:r>
        </a:p>
      </dsp:txBody>
      <dsp:txXfrm>
        <a:off x="26564" y="942439"/>
        <a:ext cx="9700472" cy="491031"/>
      </dsp:txXfrm>
    </dsp:sp>
    <dsp:sp modelId="{FFE457FD-4556-4538-BAD6-48C6037109FC}">
      <dsp:nvSpPr>
        <dsp:cNvPr id="0" name=""/>
        <dsp:cNvSpPr/>
      </dsp:nvSpPr>
      <dsp:spPr>
        <a:xfrm>
          <a:off x="0" y="1460035"/>
          <a:ext cx="9753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967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solidFill>
                <a:srgbClr val="FF0000"/>
              </a:solidFill>
            </a:rPr>
            <a:t>displays</a:t>
          </a:r>
          <a:r>
            <a:rPr lang="en-US" altLang="en-US" sz="1700" kern="1200" dirty="0"/>
            <a:t> output on the screen</a:t>
          </a:r>
        </a:p>
      </dsp:txBody>
      <dsp:txXfrm>
        <a:off x="0" y="1460035"/>
        <a:ext cx="9753600" cy="364320"/>
      </dsp:txXfrm>
    </dsp:sp>
    <dsp:sp modelId="{B444F79D-79DF-45D0-A0BD-07DE621E287F}">
      <dsp:nvSpPr>
        <dsp:cNvPr id="0" name=""/>
        <dsp:cNvSpPr/>
      </dsp:nvSpPr>
      <dsp:spPr>
        <a:xfrm>
          <a:off x="0" y="1824355"/>
          <a:ext cx="9753600" cy="5441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altLang="en-US" sz="2200" u="none" kern="1200" dirty="0"/>
            <a:t>Argument</a:t>
          </a:r>
        </a:p>
      </dsp:txBody>
      <dsp:txXfrm>
        <a:off x="26564" y="1850919"/>
        <a:ext cx="9700472" cy="491031"/>
      </dsp:txXfrm>
    </dsp:sp>
    <dsp:sp modelId="{847D7759-8DD1-43BC-BD5E-874A4BA8F6A3}">
      <dsp:nvSpPr>
        <dsp:cNvPr id="0" name=""/>
        <dsp:cNvSpPr/>
      </dsp:nvSpPr>
      <dsp:spPr>
        <a:xfrm>
          <a:off x="0" y="2368514"/>
          <a:ext cx="9753600"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967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solidFill>
                <a:srgbClr val="FF0000"/>
              </a:solidFill>
            </a:rPr>
            <a:t>data</a:t>
          </a:r>
          <a:r>
            <a:rPr lang="en-US" altLang="en-US" sz="1700" kern="1200" dirty="0"/>
            <a:t> given to a function</a:t>
          </a:r>
        </a:p>
        <a:p>
          <a:pPr marL="171450" lvl="1" indent="-171450" algn="l" defTabSz="755650">
            <a:lnSpc>
              <a:spcPct val="90000"/>
            </a:lnSpc>
            <a:spcBef>
              <a:spcPct val="0"/>
            </a:spcBef>
            <a:spcAft>
              <a:spcPct val="20000"/>
            </a:spcAft>
            <a:buChar char="•"/>
          </a:pPr>
          <a:r>
            <a:rPr lang="en-US" altLang="en-US" sz="1700" kern="1200" dirty="0"/>
            <a:t>Example: data that is printed to screen</a:t>
          </a:r>
        </a:p>
      </dsp:txBody>
      <dsp:txXfrm>
        <a:off x="0" y="2368514"/>
        <a:ext cx="9753600" cy="592020"/>
      </dsp:txXfrm>
    </dsp:sp>
    <dsp:sp modelId="{1D9C1F02-384C-4E3B-B8CD-772DA0D5DA3E}">
      <dsp:nvSpPr>
        <dsp:cNvPr id="0" name=""/>
        <dsp:cNvSpPr/>
      </dsp:nvSpPr>
      <dsp:spPr>
        <a:xfrm>
          <a:off x="0" y="2960534"/>
          <a:ext cx="9753600" cy="5441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altLang="en-US" sz="2200" kern="1200" dirty="0"/>
            <a:t>Statements in a program execute in the order that they appear</a:t>
          </a:r>
        </a:p>
      </dsp:txBody>
      <dsp:txXfrm>
        <a:off x="26564" y="2987098"/>
        <a:ext cx="9700472" cy="491031"/>
      </dsp:txXfrm>
    </dsp:sp>
    <dsp:sp modelId="{C2D07655-69FB-4543-B6BD-0B2FF1F1661B}">
      <dsp:nvSpPr>
        <dsp:cNvPr id="0" name=""/>
        <dsp:cNvSpPr/>
      </dsp:nvSpPr>
      <dsp:spPr>
        <a:xfrm>
          <a:off x="0" y="3504694"/>
          <a:ext cx="97536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967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t>From </a:t>
          </a:r>
          <a:r>
            <a:rPr lang="en-US" altLang="en-US" sz="1700" kern="1200" dirty="0">
              <a:solidFill>
                <a:srgbClr val="FF0000"/>
              </a:solidFill>
            </a:rPr>
            <a:t>top</a:t>
          </a:r>
          <a:r>
            <a:rPr lang="en-US" altLang="en-US" sz="1700" kern="1200" dirty="0"/>
            <a:t> to bottom</a:t>
          </a:r>
          <a:endParaRPr lang="he-IL" altLang="en-US" sz="1700" kern="1200" dirty="0"/>
        </a:p>
      </dsp:txBody>
      <dsp:txXfrm>
        <a:off x="0" y="3504694"/>
        <a:ext cx="9753600" cy="364320"/>
      </dsp:txXfrm>
    </dsp:sp>
    <dsp:sp modelId="{94EFEDCA-879B-4E0C-997E-AF3E8DF79863}">
      <dsp:nvSpPr>
        <dsp:cNvPr id="0" name=""/>
        <dsp:cNvSpPr/>
      </dsp:nvSpPr>
      <dsp:spPr>
        <a:xfrm>
          <a:off x="0" y="3869014"/>
          <a:ext cx="9753600" cy="54415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altLang="en-US" sz="2200" kern="1200" dirty="0"/>
            <a:t>Python allows one to display multiple items with a single call to </a:t>
          </a:r>
          <a:r>
            <a:rPr lang="en-US" altLang="en-US" sz="2200" kern="1200" dirty="0">
              <a:latin typeface="Courier New" panose="02070309020205020404" pitchFamily="49" charset="0"/>
              <a:cs typeface="Courier New" panose="02070309020205020404" pitchFamily="49" charset="0"/>
            </a:rPr>
            <a:t>print</a:t>
          </a:r>
          <a:endParaRPr lang="he-IL" altLang="en-US" sz="2200" kern="1200" dirty="0"/>
        </a:p>
      </dsp:txBody>
      <dsp:txXfrm>
        <a:off x="26564" y="3895578"/>
        <a:ext cx="9700472" cy="491031"/>
      </dsp:txXfrm>
    </dsp:sp>
    <dsp:sp modelId="{53B799A8-41AC-409C-A3F2-0570C899D117}">
      <dsp:nvSpPr>
        <dsp:cNvPr id="0" name=""/>
        <dsp:cNvSpPr/>
      </dsp:nvSpPr>
      <dsp:spPr>
        <a:xfrm>
          <a:off x="0" y="4413174"/>
          <a:ext cx="9753600" cy="8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967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t>Items are separated by </a:t>
          </a:r>
          <a:r>
            <a:rPr lang="en-US" altLang="en-US" sz="1700" kern="1200" dirty="0">
              <a:solidFill>
                <a:srgbClr val="FF0000"/>
              </a:solidFill>
            </a:rPr>
            <a:t>commas</a:t>
          </a:r>
          <a:r>
            <a:rPr lang="en-US" altLang="en-US" sz="1700" kern="1200" dirty="0"/>
            <a:t> when passed as arguments</a:t>
          </a:r>
        </a:p>
        <a:p>
          <a:pPr marL="171450" lvl="1" indent="-171450" algn="l" defTabSz="755650">
            <a:lnSpc>
              <a:spcPct val="90000"/>
            </a:lnSpc>
            <a:spcBef>
              <a:spcPct val="0"/>
            </a:spcBef>
            <a:spcAft>
              <a:spcPct val="20000"/>
            </a:spcAft>
            <a:buChar char="•"/>
          </a:pPr>
          <a:r>
            <a:rPr lang="en-US" altLang="en-US" sz="1700" kern="1200" dirty="0">
              <a:solidFill>
                <a:srgbClr val="FF0000"/>
              </a:solidFill>
            </a:rPr>
            <a:t>Arguments</a:t>
          </a:r>
          <a:r>
            <a:rPr lang="en-US" altLang="en-US" sz="1700" kern="1200" dirty="0"/>
            <a:t> displayed in the order they are passed to the </a:t>
          </a:r>
          <a:r>
            <a:rPr lang="en-US" altLang="en-US" sz="1700" kern="1200" dirty="0">
              <a:solidFill>
                <a:srgbClr val="FF0000"/>
              </a:solidFill>
            </a:rPr>
            <a:t>print</a:t>
          </a:r>
          <a:r>
            <a:rPr lang="en-US" altLang="en-US" sz="1700" kern="1200" dirty="0"/>
            <a:t> function</a:t>
          </a:r>
        </a:p>
        <a:p>
          <a:pPr marL="171450" lvl="1" indent="-171450" algn="l" defTabSz="755650">
            <a:lnSpc>
              <a:spcPct val="90000"/>
            </a:lnSpc>
            <a:spcBef>
              <a:spcPct val="0"/>
            </a:spcBef>
            <a:spcAft>
              <a:spcPct val="20000"/>
            </a:spcAft>
            <a:buChar char="•"/>
          </a:pPr>
          <a:r>
            <a:rPr lang="en-US" altLang="en-US" sz="1700" kern="1200" dirty="0"/>
            <a:t>Items are automatically </a:t>
          </a:r>
          <a:r>
            <a:rPr lang="en-US" altLang="en-US" sz="1700" kern="1200" dirty="0">
              <a:solidFill>
                <a:srgbClr val="FF0000"/>
              </a:solidFill>
            </a:rPr>
            <a:t>separated by a space </a:t>
          </a:r>
          <a:r>
            <a:rPr lang="en-US" altLang="en-US" sz="1700" kern="1200" dirty="0"/>
            <a:t>when displayed on screen</a:t>
          </a:r>
          <a:endParaRPr lang="he-IL" altLang="en-US" sz="1700" kern="1200" dirty="0"/>
        </a:p>
      </dsp:txBody>
      <dsp:txXfrm>
        <a:off x="0" y="4413174"/>
        <a:ext cx="9753600" cy="8880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1/9/2022</a:t>
            </a:fld>
            <a:endParaRPr dirty="0">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dirty="0">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1/9/2022</a:t>
            </a:fld>
            <a:endParaRPr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dirty="0"/>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5958" y="-4763"/>
            <a:ext cx="5013606"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7638" y="1380069"/>
            <a:ext cx="8572389" cy="2616199"/>
          </a:xfrm>
        </p:spPr>
        <p:txBody>
          <a:bodyPr anchor="b">
            <a:normAutofit/>
          </a:bodyPr>
          <a:lstStyle>
            <a:lvl1pPr algn="r">
              <a:defRPr sz="5998">
                <a:effectLst/>
              </a:defRPr>
            </a:lvl1pPr>
          </a:lstStyle>
          <a:p>
            <a:r>
              <a:rPr lang="en-US"/>
              <a:t>Click to edit Master title style</a:t>
            </a:r>
            <a:endParaRPr lang="en-US" dirty="0"/>
          </a:p>
        </p:txBody>
      </p:sp>
      <p:sp>
        <p:nvSpPr>
          <p:cNvPr id="3" name="Subtitle 2"/>
          <p:cNvSpPr>
            <a:spLocks noGrp="1"/>
          </p:cNvSpPr>
          <p:nvPr>
            <p:ph type="subTitle" idx="1"/>
          </p:nvPr>
        </p:nvSpPr>
        <p:spPr>
          <a:xfrm>
            <a:off x="4514202" y="3996267"/>
            <a:ext cx="6985825" cy="1388534"/>
          </a:xfrm>
        </p:spPr>
        <p:txBody>
          <a:bodyPr anchor="t">
            <a:normAutofit/>
          </a:bodyPr>
          <a:lstStyle>
            <a:lvl1pPr marL="0" indent="0" algn="r">
              <a:buNone/>
              <a:defRPr sz="2099">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a:xfrm>
            <a:off x="5331023" y="5883276"/>
            <a:ext cx="4322918" cy="365125"/>
          </a:xfrm>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11093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49005" y="5867132"/>
            <a:ext cx="551023" cy="365125"/>
          </a:xfrm>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285597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1610" y="2666999"/>
            <a:ext cx="8928421" cy="2110382"/>
          </a:xfrm>
        </p:spPr>
        <p:txBody>
          <a:bodyPr anchor="b"/>
          <a:lstStyle>
            <a:lvl1pPr algn="r">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2571608" y="4777381"/>
            <a:ext cx="8928422"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2668443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3925" y="685801"/>
            <a:ext cx="10016104"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3926" y="2667000"/>
            <a:ext cx="4893780" cy="3124201"/>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6246" y="2667000"/>
            <a:ext cx="4893781" cy="3124200"/>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9492DA-4E81-420A-976F-896FD60BFAAA}" type="slidenum">
              <a:rPr lang="en-US" smtClean="0"/>
              <a:t>‹#›</a:t>
            </a:fld>
            <a:endParaRPr lang="en-US" dirty="0"/>
          </a:p>
        </p:txBody>
      </p:sp>
      <p:sp>
        <p:nvSpPr>
          <p:cNvPr id="8" name="Slide Number Placeholder 4">
            <a:extLst>
              <a:ext uri="{FF2B5EF4-FFF2-40B4-BE49-F238E27FC236}">
                <a16:creationId xmlns:a16="http://schemas.microsoft.com/office/drawing/2014/main" id="{C5FE51A5-AB99-4630-AC29-3FC4F7C9FE41}"/>
              </a:ext>
            </a:extLst>
          </p:cNvPr>
          <p:cNvSpPr txBox="1">
            <a:spLocks/>
          </p:cNvSpPr>
          <p:nvPr userDrawn="1"/>
        </p:nvSpPr>
        <p:spPr>
          <a:xfrm>
            <a:off x="5285252" y="6545205"/>
            <a:ext cx="1618322" cy="365125"/>
          </a:xfrm>
          <a:prstGeom prst="rect">
            <a:avLst/>
          </a:prstGeom>
        </p:spPr>
        <p:txBody>
          <a:bodyPr vert="horz" lIns="34718" tIns="17360" rIns="34718" bIns="1736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347187" rtl="0" eaLnBrk="1" latinLnBrk="0" hangingPunct="1">
              <a:defRPr/>
            </a:pPr>
            <a:r>
              <a:rPr lang="en-US" sz="1400" b="1" kern="1200" dirty="0">
                <a:solidFill>
                  <a:schemeClr val="tx1">
                    <a:tint val="75000"/>
                  </a:schemeClr>
                </a:solidFill>
                <a:latin typeface="+mn-lt"/>
                <a:ea typeface="+mn-ea"/>
                <a:cs typeface="+mn-cs"/>
              </a:rPr>
              <a:t>Page:</a:t>
            </a:r>
            <a:fld id="{97F33F24-5111-4524-9375-24241E4B6E0C}" type="slidenum">
              <a:rPr lang="en-US" sz="1400" b="1" kern="1200" smtClean="0">
                <a:solidFill>
                  <a:schemeClr val="tx1">
                    <a:tint val="75000"/>
                  </a:schemeClr>
                </a:solidFill>
                <a:latin typeface="+mn-lt"/>
                <a:ea typeface="+mn-ea"/>
                <a:cs typeface="+mn-cs"/>
              </a:rPr>
              <a:pPr marL="0" algn="ctr" defTabSz="347187" rtl="0" eaLnBrk="1" latinLnBrk="0" hangingPunct="1">
                <a:defRPr/>
              </a:pPr>
              <a:t>‹#›</a:t>
            </a:fld>
            <a:endParaRPr lang="en-US" sz="1400" b="1" kern="1200" dirty="0">
              <a:solidFill>
                <a:schemeClr val="tx1">
                  <a:tint val="75000"/>
                </a:schemeClr>
              </a:solidFill>
              <a:latin typeface="+mn-lt"/>
              <a:ea typeface="+mn-ea"/>
              <a:cs typeface="+mn-cs"/>
            </a:endParaRPr>
          </a:p>
        </p:txBody>
      </p:sp>
      <p:sp>
        <p:nvSpPr>
          <p:cNvPr id="9" name="Left Arrow 8">
            <a:extLst>
              <a:ext uri="{FF2B5EF4-FFF2-40B4-BE49-F238E27FC236}">
                <a16:creationId xmlns:a16="http://schemas.microsoft.com/office/drawing/2014/main" id="{9622A0EE-C6FE-4485-ABBF-C2C1A36A989D}"/>
              </a:ext>
            </a:extLst>
          </p:cNvPr>
          <p:cNvSpPr/>
          <p:nvPr userDrawn="1"/>
        </p:nvSpPr>
        <p:spPr>
          <a:xfrm>
            <a:off x="609599" y="6507293"/>
            <a:ext cx="9218613" cy="45719"/>
          </a:xfrm>
          <a:prstGeom prst="leftArrow">
            <a:avLst/>
          </a:prstGeom>
          <a:solidFill>
            <a:schemeClr val="tx1"/>
          </a:solidFill>
          <a:effectLst>
            <a:outerShdw blurRad="76200" dist="12700" dir="2700000" sy="-23000" kx="-8004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718" tIns="17360" rIns="34718" bIns="17360" numCol="1" spcCol="0" rtlCol="0" fromWordArt="0" anchor="ctr" anchorCtr="0" forceAA="0" compatLnSpc="1">
            <a:prstTxWarp prst="textNoShape">
              <a:avLst/>
            </a:prstTxWarp>
            <a:noAutofit/>
          </a:bodyPr>
          <a:lstStyle/>
          <a:p>
            <a:pPr algn="ctr"/>
            <a:endParaRPr lang="en-US" sz="684" dirty="0"/>
          </a:p>
        </p:txBody>
      </p:sp>
    </p:spTree>
    <p:extLst>
      <p:ext uri="{BB962C8B-B14F-4D97-AF65-F5344CB8AC3E}">
        <p14:creationId xmlns:p14="http://schemas.microsoft.com/office/powerpoint/2010/main" val="1677240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1718" y="2658533"/>
            <a:ext cx="4605988"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483925"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78696" y="2667000"/>
            <a:ext cx="4621333" cy="576262"/>
          </a:xfrm>
        </p:spPr>
        <p:txBody>
          <a:bodyPr anchor="b">
            <a:noAutofit/>
          </a:bodyPr>
          <a:lstStyle>
            <a:lvl1pPr marL="0" indent="0">
              <a:buNone/>
              <a:defRPr sz="2799" b="0">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6246" y="3335337"/>
            <a:ext cx="4893781" cy="2455862"/>
          </a:xfrm>
        </p:spPr>
        <p:txBody>
          <a:bodyPr anchor="t">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9492DA-4E81-420A-976F-896FD60BFAAA}" type="slidenum">
              <a:rPr lang="en-US" smtClean="0"/>
              <a:t>‹#›</a:t>
            </a:fld>
            <a:endParaRPr lang="en-US" dirty="0"/>
          </a:p>
        </p:txBody>
      </p:sp>
      <p:sp>
        <p:nvSpPr>
          <p:cNvPr id="10" name="Slide Number Placeholder 4">
            <a:extLst>
              <a:ext uri="{FF2B5EF4-FFF2-40B4-BE49-F238E27FC236}">
                <a16:creationId xmlns:a16="http://schemas.microsoft.com/office/drawing/2014/main" id="{6D1E70BB-2334-4E60-B9C5-78AACAC5BA35}"/>
              </a:ext>
            </a:extLst>
          </p:cNvPr>
          <p:cNvSpPr txBox="1">
            <a:spLocks/>
          </p:cNvSpPr>
          <p:nvPr userDrawn="1"/>
        </p:nvSpPr>
        <p:spPr>
          <a:xfrm>
            <a:off x="5271453" y="6553013"/>
            <a:ext cx="1645920" cy="365125"/>
          </a:xfrm>
          <a:prstGeom prst="rect">
            <a:avLst/>
          </a:prstGeom>
        </p:spPr>
        <p:txBody>
          <a:bodyPr vert="horz" lIns="34718" tIns="17360" rIns="34718" bIns="1736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347187" rtl="0" eaLnBrk="1" latinLnBrk="0" hangingPunct="1">
              <a:defRPr/>
            </a:pPr>
            <a:r>
              <a:rPr lang="en-US" sz="1400" b="1" kern="1200" dirty="0">
                <a:solidFill>
                  <a:schemeClr val="tx1">
                    <a:tint val="75000"/>
                  </a:schemeClr>
                </a:solidFill>
                <a:latin typeface="+mn-lt"/>
                <a:ea typeface="+mn-ea"/>
                <a:cs typeface="+mn-cs"/>
              </a:rPr>
              <a:t>Page:</a:t>
            </a:r>
            <a:fld id="{97F33F24-5111-4524-9375-24241E4B6E0C}" type="slidenum">
              <a:rPr lang="en-US" sz="1400" b="1" kern="1200" smtClean="0">
                <a:solidFill>
                  <a:schemeClr val="tx1">
                    <a:tint val="75000"/>
                  </a:schemeClr>
                </a:solidFill>
                <a:latin typeface="+mn-lt"/>
                <a:ea typeface="+mn-ea"/>
                <a:cs typeface="+mn-cs"/>
              </a:rPr>
              <a:pPr marL="0" algn="r" defTabSz="347187" rtl="0" eaLnBrk="1" latinLnBrk="0" hangingPunct="1">
                <a:defRPr/>
              </a:pPr>
              <a:t>‹#›</a:t>
            </a:fld>
            <a:endParaRPr lang="en-US" sz="1400" b="1" kern="1200" dirty="0">
              <a:solidFill>
                <a:schemeClr val="tx1">
                  <a:tint val="75000"/>
                </a:schemeClr>
              </a:solidFill>
              <a:latin typeface="+mn-lt"/>
              <a:ea typeface="+mn-ea"/>
              <a:cs typeface="+mn-cs"/>
            </a:endParaRPr>
          </a:p>
        </p:txBody>
      </p:sp>
      <p:sp>
        <p:nvSpPr>
          <p:cNvPr id="11" name="Left Arrow 10">
            <a:extLst>
              <a:ext uri="{FF2B5EF4-FFF2-40B4-BE49-F238E27FC236}">
                <a16:creationId xmlns:a16="http://schemas.microsoft.com/office/drawing/2014/main" id="{3ED97DF9-CB85-4672-8173-A09B340DBA39}"/>
              </a:ext>
            </a:extLst>
          </p:cNvPr>
          <p:cNvSpPr/>
          <p:nvPr userDrawn="1"/>
        </p:nvSpPr>
        <p:spPr>
          <a:xfrm>
            <a:off x="696886" y="6507293"/>
            <a:ext cx="9218613" cy="45719"/>
          </a:xfrm>
          <a:prstGeom prst="leftArrow">
            <a:avLst/>
          </a:prstGeom>
          <a:solidFill>
            <a:schemeClr val="tx1"/>
          </a:solidFill>
          <a:effectLst>
            <a:outerShdw blurRad="76200" dist="12700" dir="2700000" sy="-23000" kx="-8004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718" tIns="17360" rIns="34718" bIns="17360" numCol="1" spcCol="0" rtlCol="0" fromWordArt="0" anchor="ctr" anchorCtr="0" forceAA="0" compatLnSpc="1">
            <a:prstTxWarp prst="textNoShape">
              <a:avLst/>
            </a:prstTxWarp>
            <a:noAutofit/>
          </a:bodyPr>
          <a:lstStyle/>
          <a:p>
            <a:pPr algn="ctr"/>
            <a:endParaRPr lang="en-US" sz="684" dirty="0"/>
          </a:p>
        </p:txBody>
      </p:sp>
    </p:spTree>
    <p:extLst>
      <p:ext uri="{BB962C8B-B14F-4D97-AF65-F5344CB8AC3E}">
        <p14:creationId xmlns:p14="http://schemas.microsoft.com/office/powerpoint/2010/main" val="4231715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601945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B61C8A-F0A1-4667-890B-1B8A1F2A05AA}" type="datetimeFigureOut">
              <a:rPr lang="en-US" smtClean="0"/>
              <a:t>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079206E-DA6C-4A41-A871-A8BD553F98ED}" type="slidenum">
              <a:rPr lang="en-US" smtClean="0"/>
              <a:t>‹#›</a:t>
            </a:fld>
            <a:endParaRPr lang="en-US" dirty="0"/>
          </a:p>
        </p:txBody>
      </p:sp>
    </p:spTree>
    <p:extLst>
      <p:ext uri="{BB962C8B-B14F-4D97-AF65-F5344CB8AC3E}">
        <p14:creationId xmlns:p14="http://schemas.microsoft.com/office/powerpoint/2010/main" val="1131170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1600200"/>
            <a:ext cx="3548197" cy="1371600"/>
          </a:xfrm>
        </p:spPr>
        <p:txBody>
          <a:bodyPr anchor="b">
            <a:normAutofit/>
          </a:bodyPr>
          <a:lstStyle>
            <a:lvl1pPr algn="ctr">
              <a:defRPr sz="2399" b="0"/>
            </a:lvl1pPr>
          </a:lstStyle>
          <a:p>
            <a:r>
              <a:rPr lang="en-US"/>
              <a:t>Click to edit Master title style</a:t>
            </a:r>
            <a:endParaRPr lang="en-US" dirty="0"/>
          </a:p>
        </p:txBody>
      </p:sp>
      <p:sp>
        <p:nvSpPr>
          <p:cNvPr id="3" name="Content Placeholder 2"/>
          <p:cNvSpPr>
            <a:spLocks noGrp="1"/>
          </p:cNvSpPr>
          <p:nvPr>
            <p:ph idx="1"/>
          </p:nvPr>
        </p:nvSpPr>
        <p:spPr>
          <a:xfrm>
            <a:off x="5260663" y="685800"/>
            <a:ext cx="6239365" cy="5105401"/>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3926" y="2971800"/>
            <a:ext cx="3548197" cy="1828800"/>
          </a:xfrm>
        </p:spPr>
        <p:txBody>
          <a:bodyPr>
            <a:normAutofit/>
          </a:bodyPr>
          <a:lstStyle>
            <a:lvl1pPr marL="0" indent="0" algn="ctr">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3470123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338" y="1752599"/>
            <a:ext cx="5424745" cy="1371600"/>
          </a:xfrm>
        </p:spPr>
        <p:txBody>
          <a:bodyPr anchor="b">
            <a:normAutofit/>
          </a:bodyPr>
          <a:lstStyle>
            <a:lvl1pPr algn="ctr">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2704" y="914400"/>
            <a:ext cx="3280120"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dirty="0"/>
              <a:t>Click icon to add picture</a:t>
            </a:r>
          </a:p>
        </p:txBody>
      </p:sp>
      <p:sp>
        <p:nvSpPr>
          <p:cNvPr id="4" name="Text Placeholder 3"/>
          <p:cNvSpPr>
            <a:spLocks noGrp="1"/>
          </p:cNvSpPr>
          <p:nvPr>
            <p:ph type="body" sz="half" idx="2"/>
          </p:nvPr>
        </p:nvSpPr>
        <p:spPr>
          <a:xfrm>
            <a:off x="1482338" y="3124199"/>
            <a:ext cx="5424745" cy="1828800"/>
          </a:xfrm>
        </p:spPr>
        <p:txBody>
          <a:bodyPr>
            <a:normAutofit/>
          </a:bodyPr>
          <a:lstStyle>
            <a:lvl1pPr marL="0" indent="0" algn="ctr">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214168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5" y="4732865"/>
            <a:ext cx="10016102" cy="566738"/>
          </a:xfrm>
        </p:spPr>
        <p:txBody>
          <a:bodyPr anchor="b">
            <a:normAutofit/>
          </a:bodyPr>
          <a:lstStyle>
            <a:lvl1pPr algn="ctr">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5391" y="932112"/>
            <a:ext cx="8223802"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dirty="0"/>
              <a:t>Click icon to add picture</a:t>
            </a:r>
          </a:p>
        </p:txBody>
      </p:sp>
      <p:sp>
        <p:nvSpPr>
          <p:cNvPr id="4" name="Text Placeholder 3"/>
          <p:cNvSpPr>
            <a:spLocks noGrp="1"/>
          </p:cNvSpPr>
          <p:nvPr>
            <p:ph type="body" sz="half" idx="2"/>
          </p:nvPr>
        </p:nvSpPr>
        <p:spPr>
          <a:xfrm>
            <a:off x="1483925" y="5299603"/>
            <a:ext cx="10016102" cy="493712"/>
          </a:xfrm>
        </p:spPr>
        <p:txBody>
          <a:bodyPr>
            <a:normAutofit/>
          </a:bodyPr>
          <a:lstStyle>
            <a:lvl1pPr marL="0" indent="0" algn="ctr">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804235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0"/>
            <a:ext cx="10016102" cy="3048000"/>
          </a:xfrm>
        </p:spPr>
        <p:txBody>
          <a:bodyPr anchor="ctr">
            <a:normAutofit/>
          </a:bodyPr>
          <a:lstStyle>
            <a:lvl1pPr algn="ct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6" y="4343400"/>
            <a:ext cx="10016104"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4024378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177" y="3428999"/>
            <a:ext cx="8530593" cy="381000"/>
          </a:xfrm>
        </p:spPr>
        <p:txBody>
          <a:bodyPr anchor="ctr">
            <a:normAutofit/>
          </a:bodyPr>
          <a:lstStyle>
            <a:lvl1pPr marL="0" indent="0">
              <a:buFontTx/>
              <a:buNone/>
              <a:defRPr sz="1799"/>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483925" y="4343400"/>
            <a:ext cx="10016102" cy="1447800"/>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1301731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3927" y="3308581"/>
            <a:ext cx="10016100" cy="1468800"/>
          </a:xfrm>
        </p:spPr>
        <p:txBody>
          <a:bodyPr anchor="b">
            <a:normAutofit/>
          </a:bodyPr>
          <a:lstStyle>
            <a:lvl1pPr algn="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483925" y="4777381"/>
            <a:ext cx="10016101" cy="860400"/>
          </a:xfrm>
        </p:spPr>
        <p:txBody>
          <a:bodyPr anchor="t">
            <a:normAutofit/>
          </a:bodyPr>
          <a:lstStyle>
            <a:lvl1pPr marL="0" indent="0" algn="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3180114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196" y="863023"/>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998" dirty="0">
                <a:solidFill>
                  <a:schemeClr val="tx1"/>
                </a:solidFill>
                <a:effectLst/>
              </a:rPr>
              <a:t>“</a:t>
            </a:r>
          </a:p>
        </p:txBody>
      </p:sp>
      <p:sp>
        <p:nvSpPr>
          <p:cNvPr id="15" name="TextBox 14"/>
          <p:cNvSpPr txBox="1"/>
          <p:nvPr/>
        </p:nvSpPr>
        <p:spPr>
          <a:xfrm>
            <a:off x="10890588" y="2819399"/>
            <a:ext cx="609441"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2207637" y="685801"/>
            <a:ext cx="8987671" cy="2743199"/>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3926" y="3886200"/>
            <a:ext cx="10016101" cy="889000"/>
          </a:xfrm>
        </p:spPr>
        <p:txBody>
          <a:bodyPr vert="horz" lIns="91440" tIns="45720" rIns="91440" bIns="45720" rtlCol="0" anchor="b">
            <a:normAutofit/>
          </a:bodyPr>
          <a:lstStyle>
            <a:lvl1pPr algn="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775200"/>
            <a:ext cx="10016101" cy="1016000"/>
          </a:xfrm>
        </p:spPr>
        <p:txBody>
          <a:bodyPr anchor="t">
            <a:normAutofit/>
          </a:bodyPr>
          <a:lstStyle>
            <a:lvl1pPr marL="0" indent="0" algn="r">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902143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3926" y="685801"/>
            <a:ext cx="10016103"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3926" y="3505200"/>
            <a:ext cx="10016104"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3925" y="4343400"/>
            <a:ext cx="10016104"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226067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865983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0121" y="685800"/>
            <a:ext cx="1769908"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3925" y="685800"/>
            <a:ext cx="8017654"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A27D24-2DDC-4BE2-9A3A-B80167364877}" type="datetimeFigureOut">
              <a:rPr lang="en-US" smtClean="0"/>
              <a:t>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9492DA-4E81-420A-976F-896FD60BFAAA}" type="slidenum">
              <a:rPr lang="en-US" smtClean="0"/>
              <a:t>‹#›</a:t>
            </a:fld>
            <a:endParaRPr lang="en-US" dirty="0"/>
          </a:p>
        </p:txBody>
      </p:sp>
    </p:spTree>
    <p:extLst>
      <p:ext uri="{BB962C8B-B14F-4D97-AF65-F5344CB8AC3E}">
        <p14:creationId xmlns:p14="http://schemas.microsoft.com/office/powerpoint/2010/main" val="22226915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Slide Number Placeholder 4"/>
          <p:cNvSpPr txBox="1">
            <a:spLocks/>
          </p:cNvSpPr>
          <p:nvPr userDrawn="1"/>
        </p:nvSpPr>
        <p:spPr>
          <a:xfrm>
            <a:off x="5285252" y="6545205"/>
            <a:ext cx="1618322" cy="365125"/>
          </a:xfrm>
          <a:prstGeom prst="rect">
            <a:avLst/>
          </a:prstGeom>
        </p:spPr>
        <p:txBody>
          <a:bodyPr vert="horz" lIns="34718" tIns="17360" rIns="34718" bIns="1736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ctr" defTabSz="347187" rtl="0" eaLnBrk="1" latinLnBrk="0" hangingPunct="1">
              <a:defRPr/>
            </a:pPr>
            <a:r>
              <a:rPr lang="en-US" sz="1400" b="1" kern="1200" dirty="0">
                <a:solidFill>
                  <a:schemeClr val="tx1">
                    <a:tint val="75000"/>
                  </a:schemeClr>
                </a:solidFill>
                <a:latin typeface="+mn-lt"/>
                <a:ea typeface="+mn-ea"/>
                <a:cs typeface="+mn-cs"/>
              </a:rPr>
              <a:t>Page:</a:t>
            </a:r>
            <a:fld id="{97F33F24-5111-4524-9375-24241E4B6E0C}" type="slidenum">
              <a:rPr lang="en-US" sz="1400" b="1" kern="1200" smtClean="0">
                <a:solidFill>
                  <a:schemeClr val="tx1">
                    <a:tint val="75000"/>
                  </a:schemeClr>
                </a:solidFill>
                <a:latin typeface="+mn-lt"/>
                <a:ea typeface="+mn-ea"/>
                <a:cs typeface="+mn-cs"/>
              </a:rPr>
              <a:pPr marL="0" algn="ctr" defTabSz="347187" rtl="0" eaLnBrk="1" latinLnBrk="0" hangingPunct="1">
                <a:defRPr/>
              </a:pPr>
              <a:t>‹#›</a:t>
            </a:fld>
            <a:endParaRPr lang="en-US" sz="1400" b="1" kern="1200" dirty="0">
              <a:solidFill>
                <a:schemeClr val="tx1">
                  <a:tint val="75000"/>
                </a:schemeClr>
              </a:solidFill>
              <a:latin typeface="+mn-lt"/>
              <a:ea typeface="+mn-ea"/>
              <a:cs typeface="+mn-cs"/>
            </a:endParaRPr>
          </a:p>
        </p:txBody>
      </p:sp>
      <p:sp>
        <p:nvSpPr>
          <p:cNvPr id="8" name="Left Arrow 7"/>
          <p:cNvSpPr/>
          <p:nvPr userDrawn="1"/>
        </p:nvSpPr>
        <p:spPr>
          <a:xfrm>
            <a:off x="609599" y="6507293"/>
            <a:ext cx="9218613" cy="45719"/>
          </a:xfrm>
          <a:prstGeom prst="leftArrow">
            <a:avLst/>
          </a:prstGeom>
          <a:solidFill>
            <a:schemeClr val="tx1"/>
          </a:solidFill>
          <a:effectLst>
            <a:outerShdw blurRad="76200" dist="12700" dir="2700000" sy="-23000" kx="-8004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718" tIns="17360" rIns="34718" bIns="17360" numCol="1" spcCol="0" rtlCol="0" fromWordArt="0" anchor="ctr" anchorCtr="0" forceAA="0" compatLnSpc="1">
            <a:prstTxWarp prst="textNoShape">
              <a:avLst/>
            </a:prstTxWarp>
            <a:noAutofit/>
          </a:bodyPr>
          <a:lstStyle/>
          <a:p>
            <a:pPr algn="ctr"/>
            <a:endParaRPr lang="en-US" sz="684" dirty="0"/>
          </a:p>
        </p:txBody>
      </p:sp>
    </p:spTree>
    <p:extLst>
      <p:ext uri="{BB962C8B-B14F-4D97-AF65-F5344CB8AC3E}">
        <p14:creationId xmlns:p14="http://schemas.microsoft.com/office/powerpoint/2010/main" val="156352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773" y="1"/>
            <a:ext cx="2436178"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3925" y="685801"/>
            <a:ext cx="10016104"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3924" y="2667000"/>
            <a:ext cx="10016104"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0122" y="5883276"/>
            <a:ext cx="1142702"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CA27D24-2DDC-4BE2-9A3A-B80167364877}" type="datetimeFigureOut">
              <a:rPr lang="en-US" smtClean="0"/>
              <a:t>1/9/2022</a:t>
            </a:fld>
            <a:endParaRPr lang="en-US" dirty="0"/>
          </a:p>
        </p:txBody>
      </p:sp>
      <p:sp>
        <p:nvSpPr>
          <p:cNvPr id="5" name="Footer Placeholder 4"/>
          <p:cNvSpPr>
            <a:spLocks noGrp="1"/>
          </p:cNvSpPr>
          <p:nvPr>
            <p:ph type="ftr" sz="quarter" idx="3"/>
          </p:nvPr>
        </p:nvSpPr>
        <p:spPr>
          <a:xfrm>
            <a:off x="2571610" y="5883276"/>
            <a:ext cx="7082332"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49005" y="5883276"/>
            <a:ext cx="55102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9492DA-4E81-420A-976F-896FD60BFAAA}" type="slidenum">
              <a:rPr lang="en-US" smtClean="0"/>
              <a:t>‹#›</a:t>
            </a:fld>
            <a:endParaRPr lang="en-US" dirty="0"/>
          </a:p>
        </p:txBody>
      </p:sp>
    </p:spTree>
    <p:extLst>
      <p:ext uri="{BB962C8B-B14F-4D97-AF65-F5344CB8AC3E}">
        <p14:creationId xmlns:p14="http://schemas.microsoft.com/office/powerpoint/2010/main" val="3892840978"/>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679"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457063" rtl="0" eaLnBrk="1" latinLnBrk="0" hangingPunct="1">
        <a:spcBef>
          <a:spcPct val="0"/>
        </a:spcBef>
        <a:buNone/>
        <a:defRPr sz="3999"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accent1">
            <a:lumMod val="75000"/>
          </a:schemeClr>
        </a:buClr>
        <a:buSzPct val="145000"/>
        <a:buFont typeface="Arial"/>
        <a:buChar char="•"/>
        <a:defRPr sz="2399" kern="1200" cap="none">
          <a:solidFill>
            <a:schemeClr val="tx1"/>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lumMod val="75000"/>
          </a:schemeClr>
        </a:buClr>
        <a:buSzPct val="145000"/>
        <a:buFont typeface="Arial"/>
        <a:buChar char="•"/>
        <a:defRPr sz="1999" kern="1200" cap="none">
          <a:solidFill>
            <a:schemeClr val="tx1"/>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lumMod val="75000"/>
          </a:schemeClr>
        </a:buClr>
        <a:buSzPct val="145000"/>
        <a:buFont typeface="Arial"/>
        <a:buChar char="•"/>
        <a:defRPr sz="1799" kern="1200" cap="none">
          <a:solidFill>
            <a:schemeClr val="tx1"/>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94825C6-D403-4065-A09B-FDB966E29D88}"/>
              </a:ext>
            </a:extLst>
          </p:cNvPr>
          <p:cNvSpPr/>
          <p:nvPr/>
        </p:nvSpPr>
        <p:spPr>
          <a:xfrm>
            <a:off x="1446212" y="1287236"/>
            <a:ext cx="6304931" cy="923330"/>
          </a:xfrm>
          <a:prstGeom prst="rect">
            <a:avLst/>
          </a:prstGeom>
          <a:solidFill>
            <a:schemeClr val="bg1">
              <a:lumMod val="85000"/>
            </a:schemeClr>
          </a:solidFill>
        </p:spPr>
        <p:txBody>
          <a:bodyPr wrap="none" lIns="91440" tIns="45720" rIns="91440" bIns="45720">
            <a:spAutoFit/>
          </a:bodyPr>
          <a:lstStyle/>
          <a:p>
            <a:r>
              <a:rPr lang="en-US" sz="5400" b="0" cap="none" spc="0" dirty="0">
                <a:ln w="0"/>
                <a:solidFill>
                  <a:srgbClr val="FF0000"/>
                </a:solidFill>
                <a:effectLst>
                  <a:outerShdw blurRad="38100" dist="19050" dir="2700000" algn="tl" rotWithShape="0">
                    <a:schemeClr val="dk1">
                      <a:alpha val="40000"/>
                    </a:schemeClr>
                  </a:outerShdw>
                </a:effectLst>
              </a:rPr>
              <a:t>Python - Introduction</a:t>
            </a:r>
          </a:p>
        </p:txBody>
      </p:sp>
      <p:cxnSp>
        <p:nvCxnSpPr>
          <p:cNvPr id="7" name="Straight Connector 6">
            <a:extLst>
              <a:ext uri="{FF2B5EF4-FFF2-40B4-BE49-F238E27FC236}">
                <a16:creationId xmlns:a16="http://schemas.microsoft.com/office/drawing/2014/main" id="{043A191E-CC6F-438D-906D-3F25B555E588}"/>
              </a:ext>
            </a:extLst>
          </p:cNvPr>
          <p:cNvCxnSpPr>
            <a:cxnSpLocks/>
          </p:cNvCxnSpPr>
          <p:nvPr/>
        </p:nvCxnSpPr>
        <p:spPr>
          <a:xfrm flipV="1">
            <a:off x="1493256" y="3041562"/>
            <a:ext cx="6277556" cy="3452"/>
          </a:xfrm>
          <a:prstGeom prst="line">
            <a:avLst/>
          </a:prstGeom>
          <a:ln w="76200"/>
        </p:spPr>
        <p:style>
          <a:lnRef idx="3">
            <a:schemeClr val="accent3"/>
          </a:lnRef>
          <a:fillRef idx="0">
            <a:schemeClr val="accent3"/>
          </a:fillRef>
          <a:effectRef idx="2">
            <a:schemeClr val="accent3"/>
          </a:effectRef>
          <a:fontRef idx="minor">
            <a:schemeClr val="tx1"/>
          </a:fontRef>
        </p:style>
      </p:cxnSp>
      <p:pic>
        <p:nvPicPr>
          <p:cNvPr id="9" name="Picture 8">
            <a:extLst>
              <a:ext uri="{FF2B5EF4-FFF2-40B4-BE49-F238E27FC236}">
                <a16:creationId xmlns:a16="http://schemas.microsoft.com/office/drawing/2014/main" id="{2A81254C-D2EA-4C57-8CAE-5CF2CBEB6D58}"/>
              </a:ext>
            </a:extLst>
          </p:cNvPr>
          <p:cNvPicPr>
            <a:picLocks noChangeAspect="1"/>
          </p:cNvPicPr>
          <p:nvPr/>
        </p:nvPicPr>
        <p:blipFill>
          <a:blip r:embed="rId2"/>
          <a:stretch>
            <a:fillRect/>
          </a:stretch>
        </p:blipFill>
        <p:spPr>
          <a:xfrm>
            <a:off x="9213658" y="1389628"/>
            <a:ext cx="2753109" cy="1943371"/>
          </a:xfrm>
          <a:prstGeom prst="rect">
            <a:avLst/>
          </a:prstGeom>
        </p:spPr>
      </p:pic>
      <p:sp>
        <p:nvSpPr>
          <p:cNvPr id="6" name="TextBox 5">
            <a:extLst>
              <a:ext uri="{FF2B5EF4-FFF2-40B4-BE49-F238E27FC236}">
                <a16:creationId xmlns:a16="http://schemas.microsoft.com/office/drawing/2014/main" id="{4C3A8BE9-FBA8-4341-9473-F9089FCD770C}"/>
              </a:ext>
            </a:extLst>
          </p:cNvPr>
          <p:cNvSpPr txBox="1"/>
          <p:nvPr/>
        </p:nvSpPr>
        <p:spPr>
          <a:xfrm>
            <a:off x="1" y="16908"/>
            <a:ext cx="12188824" cy="646331"/>
          </a:xfrm>
          <a:prstGeom prst="rect">
            <a:avLst/>
          </a:prstGeom>
          <a:noFill/>
        </p:spPr>
        <p:txBody>
          <a:bodyPr wrap="square" rtlCol="0">
            <a:spAutoFit/>
          </a:bodyPr>
          <a:lstStyle/>
          <a:p>
            <a:pPr algn="ctr"/>
            <a:r>
              <a:rPr lang="en-US" sz="3600" b="1" u="sng" dirty="0"/>
              <a:t>COSC 1336 Fundamentals of Programming</a:t>
            </a:r>
          </a:p>
        </p:txBody>
      </p:sp>
    </p:spTree>
    <p:extLst>
      <p:ext uri="{BB962C8B-B14F-4D97-AF65-F5344CB8AC3E}">
        <p14:creationId xmlns:p14="http://schemas.microsoft.com/office/powerpoint/2010/main" val="2965277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How Software is Developed</a:t>
            </a:r>
            <a:endParaRPr lang="en-US" b="1" kern="0" dirty="0">
              <a:solidFill>
                <a:srgbClr val="FF0000"/>
              </a:solidFill>
            </a:endParaRPr>
          </a:p>
        </p:txBody>
      </p:sp>
      <p:pic>
        <p:nvPicPr>
          <p:cNvPr id="4" name="Picture 3"/>
          <p:cNvPicPr>
            <a:picLocks noChangeAspect="1"/>
          </p:cNvPicPr>
          <p:nvPr/>
        </p:nvPicPr>
        <p:blipFill>
          <a:blip r:embed="rId2"/>
          <a:stretch>
            <a:fillRect/>
          </a:stretch>
        </p:blipFill>
        <p:spPr>
          <a:xfrm>
            <a:off x="1751012" y="963268"/>
            <a:ext cx="9761220" cy="4648200"/>
          </a:xfrm>
          <a:prstGeom prst="rect">
            <a:avLst/>
          </a:prstGeom>
        </p:spPr>
      </p:pic>
    </p:spTree>
    <p:extLst>
      <p:ext uri="{BB962C8B-B14F-4D97-AF65-F5344CB8AC3E}">
        <p14:creationId xmlns:p14="http://schemas.microsoft.com/office/powerpoint/2010/main" val="27255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a:t>
            </a:r>
            <a:endParaRPr lang="en-US" b="1" kern="0" dirty="0">
              <a:solidFill>
                <a:srgbClr val="FF0000"/>
              </a:solidFill>
            </a:endParaRPr>
          </a:p>
        </p:txBody>
      </p:sp>
      <p:sp>
        <p:nvSpPr>
          <p:cNvPr id="5" name="Rectangle 4"/>
          <p:cNvSpPr/>
          <p:nvPr/>
        </p:nvSpPr>
        <p:spPr>
          <a:xfrm>
            <a:off x="4494212" y="1157654"/>
            <a:ext cx="7374555" cy="2209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Calibri" panose="020F0502020204030204" pitchFamily="34" charset="0"/>
                <a:cs typeface="Calibri" panose="020F0502020204030204" pitchFamily="34" charset="0"/>
              </a:rPr>
              <a:t>The software development project typically involves many </a:t>
            </a:r>
            <a:r>
              <a:rPr lang="en-US" sz="2800" dirty="0">
                <a:solidFill>
                  <a:srgbClr val="FF0000"/>
                </a:solidFill>
                <a:latin typeface="Calibri" panose="020F0502020204030204" pitchFamily="34" charset="0"/>
                <a:cs typeface="Calibri" panose="020F0502020204030204" pitchFamily="34" charset="0"/>
              </a:rPr>
              <a:t>activities</a:t>
            </a:r>
            <a:r>
              <a:rPr lang="en-US" sz="2800" dirty="0">
                <a:solidFill>
                  <a:schemeClr val="bg1"/>
                </a:solidFill>
                <a:latin typeface="Calibri" panose="020F0502020204030204" pitchFamily="34" charset="0"/>
                <a:cs typeface="Calibri" panose="020F0502020204030204" pitchFamily="34" charset="0"/>
              </a:rPr>
              <a:t> and goes through </a:t>
            </a:r>
            <a:r>
              <a:rPr lang="en-US" sz="2800" dirty="0">
                <a:solidFill>
                  <a:srgbClr val="FF0000"/>
                </a:solidFill>
                <a:latin typeface="Calibri" panose="020F0502020204030204" pitchFamily="34" charset="0"/>
                <a:cs typeface="Calibri" panose="020F0502020204030204" pitchFamily="34" charset="0"/>
              </a:rPr>
              <a:t>different</a:t>
            </a:r>
            <a:r>
              <a:rPr lang="en-US" sz="2800" dirty="0">
                <a:solidFill>
                  <a:schemeClr val="bg1"/>
                </a:solidFill>
                <a:latin typeface="Calibri" panose="020F0502020204030204" pitchFamily="34" charset="0"/>
                <a:cs typeface="Calibri" panose="020F0502020204030204" pitchFamily="34" charset="0"/>
              </a:rPr>
              <a:t> development of stages.</a:t>
            </a:r>
            <a:endParaRPr lang="en-US" sz="2800" dirty="0"/>
          </a:p>
        </p:txBody>
      </p:sp>
      <p:sp>
        <p:nvSpPr>
          <p:cNvPr id="6" name="Rectangle 5"/>
          <p:cNvSpPr/>
          <p:nvPr/>
        </p:nvSpPr>
        <p:spPr>
          <a:xfrm>
            <a:off x="4494211" y="3657600"/>
            <a:ext cx="7374555" cy="2438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These stages in the </a:t>
            </a:r>
            <a:r>
              <a:rPr lang="en-US" sz="2800" dirty="0">
                <a:solidFill>
                  <a:srgbClr val="FF0000"/>
                </a:solidFill>
                <a:latin typeface="Calibri" panose="020F0502020204030204" pitchFamily="34" charset="0"/>
                <a:cs typeface="Calibri" panose="020F0502020204030204" pitchFamily="34" charset="0"/>
              </a:rPr>
              <a:t>development</a:t>
            </a:r>
            <a:r>
              <a:rPr lang="en-US" sz="2800" dirty="0">
                <a:solidFill>
                  <a:schemeClr val="bg1"/>
                </a:solidFill>
                <a:latin typeface="Calibri" panose="020F0502020204030204" pitchFamily="34" charset="0"/>
                <a:cs typeface="Calibri" panose="020F0502020204030204" pitchFamily="34" charset="0"/>
              </a:rPr>
              <a:t> are also referred as </a:t>
            </a:r>
            <a:r>
              <a:rPr lang="en-US" sz="2800" dirty="0">
                <a:solidFill>
                  <a:srgbClr val="FF0000"/>
                </a:solidFill>
                <a:latin typeface="Calibri" panose="020F0502020204030204" pitchFamily="34" charset="0"/>
                <a:cs typeface="Calibri" panose="020F0502020204030204" pitchFamily="34" charset="0"/>
              </a:rPr>
              <a:t>software development life cycle </a:t>
            </a:r>
            <a:r>
              <a:rPr lang="en-US" sz="2800" dirty="0">
                <a:solidFill>
                  <a:schemeClr val="bg1"/>
                </a:solidFill>
                <a:latin typeface="Calibri" panose="020F0502020204030204" pitchFamily="34" charset="0"/>
                <a:cs typeface="Calibri" panose="020F0502020204030204" pitchFamily="34" charset="0"/>
              </a:rPr>
              <a:t>phases.</a:t>
            </a:r>
          </a:p>
        </p:txBody>
      </p:sp>
      <p:pic>
        <p:nvPicPr>
          <p:cNvPr id="7" name="Picture 6"/>
          <p:cNvPicPr>
            <a:picLocks noChangeAspect="1"/>
          </p:cNvPicPr>
          <p:nvPr/>
        </p:nvPicPr>
        <p:blipFill>
          <a:blip r:embed="rId2"/>
          <a:stretch>
            <a:fillRect/>
          </a:stretch>
        </p:blipFill>
        <p:spPr>
          <a:xfrm>
            <a:off x="227012" y="1795687"/>
            <a:ext cx="4190999" cy="3309713"/>
          </a:xfrm>
          <a:prstGeom prst="rect">
            <a:avLst/>
          </a:prstGeom>
        </p:spPr>
      </p:pic>
    </p:spTree>
    <p:extLst>
      <p:ext uri="{BB962C8B-B14F-4D97-AF65-F5344CB8AC3E}">
        <p14:creationId xmlns:p14="http://schemas.microsoft.com/office/powerpoint/2010/main" val="324436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Planning</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3579812" y="870650"/>
            <a:ext cx="8458199" cy="225355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Calibri" panose="020F0502020204030204" pitchFamily="34" charset="0"/>
                <a:cs typeface="Calibri" panose="020F0502020204030204" pitchFamily="34" charset="0"/>
              </a:rPr>
              <a:t>The project </a:t>
            </a:r>
            <a:r>
              <a:rPr lang="en-US" sz="2800" dirty="0">
                <a:solidFill>
                  <a:srgbClr val="FF0000"/>
                </a:solidFill>
                <a:latin typeface="Calibri" panose="020F0502020204030204" pitchFamily="34" charset="0"/>
                <a:cs typeface="Calibri" panose="020F0502020204030204" pitchFamily="34" charset="0"/>
              </a:rPr>
              <a:t>planning</a:t>
            </a:r>
            <a:r>
              <a:rPr lang="en-US" sz="2800" dirty="0">
                <a:solidFill>
                  <a:schemeClr val="bg1"/>
                </a:solidFill>
                <a:latin typeface="Calibri" panose="020F0502020204030204" pitchFamily="34" charset="0"/>
                <a:cs typeface="Calibri" panose="020F0502020204030204" pitchFamily="34" charset="0"/>
              </a:rPr>
              <a:t> is the most important step.</a:t>
            </a:r>
          </a:p>
          <a:p>
            <a:pPr lvl="0" algn="ctr"/>
            <a:r>
              <a:rPr lang="en-US" sz="2800" dirty="0">
                <a:solidFill>
                  <a:schemeClr val="bg1"/>
                </a:solidFill>
                <a:latin typeface="Calibri" panose="020F0502020204030204" pitchFamily="34" charset="0"/>
                <a:cs typeface="Calibri" panose="020F0502020204030204" pitchFamily="34" charset="0"/>
              </a:rPr>
              <a:t>It helps the software </a:t>
            </a:r>
            <a:r>
              <a:rPr lang="en-US" sz="2800" dirty="0">
                <a:solidFill>
                  <a:srgbClr val="FF0000"/>
                </a:solidFill>
                <a:latin typeface="Calibri" panose="020F0502020204030204" pitchFamily="34" charset="0"/>
                <a:cs typeface="Calibri" panose="020F0502020204030204" pitchFamily="34" charset="0"/>
              </a:rPr>
              <a:t>design team </a:t>
            </a:r>
            <a:r>
              <a:rPr lang="en-US" sz="2800" dirty="0">
                <a:solidFill>
                  <a:schemeClr val="bg1"/>
                </a:solidFill>
                <a:latin typeface="Calibri" panose="020F0502020204030204" pitchFamily="34" charset="0"/>
                <a:cs typeface="Calibri" panose="020F0502020204030204" pitchFamily="34" charset="0"/>
              </a:rPr>
              <a:t>to plan for all the resources required to complete the project within stipulated time and resources.</a:t>
            </a:r>
            <a:endParaRPr lang="en-US" sz="2800" dirty="0"/>
          </a:p>
        </p:txBody>
      </p:sp>
      <p:sp>
        <p:nvSpPr>
          <p:cNvPr id="6" name="Rectangle 5"/>
          <p:cNvSpPr/>
          <p:nvPr/>
        </p:nvSpPr>
        <p:spPr>
          <a:xfrm>
            <a:off x="74612" y="3281718"/>
            <a:ext cx="11963399" cy="2765162"/>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During the </a:t>
            </a:r>
            <a:r>
              <a:rPr lang="en-US" sz="2800" dirty="0">
                <a:solidFill>
                  <a:srgbClr val="FF0000"/>
                </a:solidFill>
                <a:latin typeface="Calibri" panose="020F0502020204030204" pitchFamily="34" charset="0"/>
                <a:cs typeface="Calibri" panose="020F0502020204030204" pitchFamily="34" charset="0"/>
              </a:rPr>
              <a:t>planning</a:t>
            </a:r>
            <a:r>
              <a:rPr lang="en-US" sz="2800" dirty="0">
                <a:solidFill>
                  <a:schemeClr val="bg1"/>
                </a:solidFill>
                <a:latin typeface="Calibri" panose="020F0502020204030204" pitchFamily="34" charset="0"/>
                <a:cs typeface="Calibri" panose="020F0502020204030204" pitchFamily="34" charset="0"/>
              </a:rPr>
              <a:t> stage, the software development team has to plan various activities, manpower resources, infrastructure required and other resources required to complete the project.  A </a:t>
            </a:r>
            <a:r>
              <a:rPr lang="en-US" sz="2800" dirty="0">
                <a:solidFill>
                  <a:srgbClr val="FF0000"/>
                </a:solidFill>
                <a:latin typeface="Calibri" panose="020F0502020204030204" pitchFamily="34" charset="0"/>
                <a:cs typeface="Calibri" panose="020F0502020204030204" pitchFamily="34" charset="0"/>
              </a:rPr>
              <a:t>feasibility</a:t>
            </a:r>
            <a:r>
              <a:rPr lang="en-US" sz="2800" dirty="0">
                <a:solidFill>
                  <a:schemeClr val="bg1"/>
                </a:solidFill>
                <a:latin typeface="Calibri" panose="020F0502020204030204" pitchFamily="34" charset="0"/>
                <a:cs typeface="Calibri" panose="020F0502020204030204" pitchFamily="34" charset="0"/>
              </a:rPr>
              <a:t> study is performed.</a:t>
            </a:r>
          </a:p>
        </p:txBody>
      </p:sp>
      <p:pic>
        <p:nvPicPr>
          <p:cNvPr id="8" name="Picture 7"/>
          <p:cNvPicPr>
            <a:picLocks noChangeAspect="1"/>
          </p:cNvPicPr>
          <p:nvPr/>
        </p:nvPicPr>
        <p:blipFill>
          <a:blip r:embed="rId2"/>
          <a:stretch>
            <a:fillRect/>
          </a:stretch>
        </p:blipFill>
        <p:spPr>
          <a:xfrm>
            <a:off x="74612" y="827049"/>
            <a:ext cx="3352800" cy="2297151"/>
          </a:xfrm>
          <a:prstGeom prst="rect">
            <a:avLst/>
          </a:prstGeom>
        </p:spPr>
      </p:pic>
    </p:spTree>
    <p:extLst>
      <p:ext uri="{BB962C8B-B14F-4D97-AF65-F5344CB8AC3E}">
        <p14:creationId xmlns:p14="http://schemas.microsoft.com/office/powerpoint/2010/main" val="124950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Defining</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1674812" y="824520"/>
            <a:ext cx="8839200" cy="225355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Calibri" panose="020F0502020204030204" pitchFamily="34" charset="0"/>
                <a:cs typeface="Calibri" panose="020F0502020204030204" pitchFamily="34" charset="0"/>
              </a:rPr>
              <a:t>In the requirement </a:t>
            </a:r>
            <a:r>
              <a:rPr lang="en-US" sz="2800" dirty="0">
                <a:solidFill>
                  <a:srgbClr val="FF0000"/>
                </a:solidFill>
                <a:latin typeface="Calibri" panose="020F0502020204030204" pitchFamily="34" charset="0"/>
                <a:cs typeface="Calibri" panose="020F0502020204030204" pitchFamily="34" charset="0"/>
              </a:rPr>
              <a:t>elicitation</a:t>
            </a:r>
            <a:r>
              <a:rPr lang="en-US" sz="2800" dirty="0">
                <a:solidFill>
                  <a:schemeClr val="bg1"/>
                </a:solidFill>
                <a:latin typeface="Calibri" panose="020F0502020204030204" pitchFamily="34" charset="0"/>
                <a:cs typeface="Calibri" panose="020F0502020204030204" pitchFamily="34" charset="0"/>
              </a:rPr>
              <a:t> process, the software development team extensively interact with all the stake holders to capture and map all the information necessary for defining the Software Requirement Specifications (</a:t>
            </a:r>
            <a:r>
              <a:rPr lang="en-US" sz="2800" dirty="0">
                <a:solidFill>
                  <a:srgbClr val="FF0000"/>
                </a:solidFill>
                <a:latin typeface="Calibri" panose="020F0502020204030204" pitchFamily="34" charset="0"/>
                <a:cs typeface="Calibri" panose="020F0502020204030204" pitchFamily="34" charset="0"/>
              </a:rPr>
              <a:t>SRS</a:t>
            </a:r>
            <a:r>
              <a:rPr lang="en-US" sz="2800" dirty="0">
                <a:solidFill>
                  <a:schemeClr val="bg1"/>
                </a:solidFill>
                <a:latin typeface="Calibri" panose="020F0502020204030204" pitchFamily="34" charset="0"/>
                <a:cs typeface="Calibri" panose="020F0502020204030204" pitchFamily="34" charset="0"/>
              </a:rPr>
              <a:t>).</a:t>
            </a:r>
            <a:endParaRPr lang="en-US" sz="2800" dirty="0"/>
          </a:p>
        </p:txBody>
      </p:sp>
      <p:sp>
        <p:nvSpPr>
          <p:cNvPr id="6" name="Rectangle 5"/>
          <p:cNvSpPr/>
          <p:nvPr/>
        </p:nvSpPr>
        <p:spPr>
          <a:xfrm>
            <a:off x="3732212" y="3281718"/>
            <a:ext cx="8305799" cy="2765162"/>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 software developer must document, this important piece of information, which is part of the agreement, with the client company.   After the project completion, the software performance is assessed against the </a:t>
            </a:r>
            <a:r>
              <a:rPr lang="en-US" sz="2800" dirty="0">
                <a:solidFill>
                  <a:srgbClr val="FF0000"/>
                </a:solidFill>
                <a:latin typeface="Calibri" panose="020F0502020204030204" pitchFamily="34" charset="0"/>
                <a:cs typeface="Calibri" panose="020F0502020204030204" pitchFamily="34" charset="0"/>
              </a:rPr>
              <a:t>S R S </a:t>
            </a:r>
            <a:r>
              <a:rPr lang="en-US" sz="2800" dirty="0">
                <a:solidFill>
                  <a:schemeClr val="bg1"/>
                </a:solidFill>
                <a:latin typeface="Calibri" panose="020F0502020204030204" pitchFamily="34" charset="0"/>
                <a:cs typeface="Calibri" panose="020F0502020204030204" pitchFamily="34" charset="0"/>
              </a:rPr>
              <a:t>And agreed design objectives.</a:t>
            </a:r>
          </a:p>
        </p:txBody>
      </p:sp>
    </p:spTree>
    <p:extLst>
      <p:ext uri="{BB962C8B-B14F-4D97-AF65-F5344CB8AC3E}">
        <p14:creationId xmlns:p14="http://schemas.microsoft.com/office/powerpoint/2010/main" val="75294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Designing</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1598612" y="713132"/>
            <a:ext cx="8416717" cy="354895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The software </a:t>
            </a:r>
            <a:r>
              <a:rPr lang="en-US" sz="2800" dirty="0">
                <a:solidFill>
                  <a:srgbClr val="FF0000"/>
                </a:solidFill>
              </a:rPr>
              <a:t>designing</a:t>
            </a:r>
            <a:r>
              <a:rPr lang="en-US" sz="2800" dirty="0"/>
              <a:t> phase includes, finalizing the various design features, in terms of both </a:t>
            </a:r>
            <a:r>
              <a:rPr lang="en-US" sz="2800" dirty="0">
                <a:solidFill>
                  <a:srgbClr val="FF0000"/>
                </a:solidFill>
              </a:rPr>
              <a:t>software</a:t>
            </a:r>
            <a:r>
              <a:rPr lang="en-US" sz="2800" dirty="0"/>
              <a:t> requirements, and the supporting </a:t>
            </a:r>
            <a:r>
              <a:rPr lang="en-US" sz="2800" dirty="0">
                <a:solidFill>
                  <a:srgbClr val="FF0000"/>
                </a:solidFill>
              </a:rPr>
              <a:t>hardware</a:t>
            </a:r>
            <a:r>
              <a:rPr lang="en-US" sz="2800" dirty="0"/>
              <a:t> requirements.   The software architects, and the software developers explore the various alternative approaches, and finally, propose the product </a:t>
            </a:r>
            <a:r>
              <a:rPr lang="en-US" sz="2800" dirty="0">
                <a:solidFill>
                  <a:srgbClr val="FF0000"/>
                </a:solidFill>
              </a:rPr>
              <a:t>solutions</a:t>
            </a:r>
            <a:r>
              <a:rPr lang="en-US" sz="2800" dirty="0"/>
              <a:t>.</a:t>
            </a:r>
          </a:p>
        </p:txBody>
      </p:sp>
      <p:sp>
        <p:nvSpPr>
          <p:cNvPr id="6" name="Rectangle 5"/>
          <p:cNvSpPr/>
          <p:nvPr/>
        </p:nvSpPr>
        <p:spPr>
          <a:xfrm>
            <a:off x="3198812" y="4343400"/>
            <a:ext cx="8874054" cy="2079362"/>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 software developer, design the software system, and specify the technology, to develop the software system,.  The software architect, document this information about the product architecture in the Design Document Specifications (</a:t>
            </a:r>
            <a:r>
              <a:rPr lang="en-US" sz="2800" dirty="0">
                <a:solidFill>
                  <a:srgbClr val="FF0000"/>
                </a:solidFill>
                <a:latin typeface="Calibri" panose="020F0502020204030204" pitchFamily="34" charset="0"/>
                <a:cs typeface="Calibri" panose="020F0502020204030204" pitchFamily="34" charset="0"/>
              </a:rPr>
              <a:t>DDS</a:t>
            </a:r>
            <a:r>
              <a:rPr lang="en-US" sz="28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28777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Building</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1522412" y="673790"/>
            <a:ext cx="8416717" cy="245041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Depending upon the type of the software, that is being developed, the software development team, can select the </a:t>
            </a:r>
            <a:r>
              <a:rPr lang="en-US" sz="2800" dirty="0">
                <a:solidFill>
                  <a:srgbClr val="FF0000"/>
                </a:solidFill>
              </a:rPr>
              <a:t>technology</a:t>
            </a:r>
            <a:r>
              <a:rPr lang="en-US" sz="2800" dirty="0"/>
              <a:t> to be used, for the development of the software.</a:t>
            </a:r>
          </a:p>
        </p:txBody>
      </p:sp>
      <p:sp>
        <p:nvSpPr>
          <p:cNvPr id="6" name="Rectangle 5"/>
          <p:cNvSpPr/>
          <p:nvPr/>
        </p:nvSpPr>
        <p:spPr>
          <a:xfrm>
            <a:off x="3046412" y="3276600"/>
            <a:ext cx="9026453" cy="3146163"/>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 software development team, can select the suitable platform, programming language, software framework, database management system, and other building tools, as specified, in the software system architecture.</a:t>
            </a:r>
          </a:p>
          <a:p>
            <a:pPr algn="ctr"/>
            <a:r>
              <a:rPr lang="en-US" sz="2800" dirty="0">
                <a:solidFill>
                  <a:schemeClr val="bg1"/>
                </a:solidFill>
                <a:latin typeface="Calibri" panose="020F0502020204030204" pitchFamily="34" charset="0"/>
                <a:cs typeface="Calibri" panose="020F0502020204030204" pitchFamily="34" charset="0"/>
              </a:rPr>
              <a:t>The Software building activities includes </a:t>
            </a:r>
            <a:r>
              <a:rPr lang="en-US" sz="2800" dirty="0">
                <a:solidFill>
                  <a:srgbClr val="FF0000"/>
                </a:solidFill>
                <a:latin typeface="Calibri" panose="020F0502020204030204" pitchFamily="34" charset="0"/>
                <a:cs typeface="Calibri" panose="020F0502020204030204" pitchFamily="34" charset="0"/>
              </a:rPr>
              <a:t>Coding</a:t>
            </a:r>
            <a:r>
              <a:rPr lang="en-US" sz="2800" dirty="0">
                <a:solidFill>
                  <a:schemeClr val="bg1"/>
                </a:solidFill>
                <a:latin typeface="Calibri" panose="020F0502020204030204" pitchFamily="34" charset="0"/>
                <a:cs typeface="Calibri" panose="020F0502020204030204" pitchFamily="34" charset="0"/>
              </a:rPr>
              <a:t> the varies modules, debugging the program code, compiling the various software components and testing the functionally.</a:t>
            </a:r>
          </a:p>
        </p:txBody>
      </p:sp>
    </p:spTree>
    <p:extLst>
      <p:ext uri="{BB962C8B-B14F-4D97-AF65-F5344CB8AC3E}">
        <p14:creationId xmlns:p14="http://schemas.microsoft.com/office/powerpoint/2010/main" val="216884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Testing</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1598612" y="713132"/>
            <a:ext cx="8416717" cy="2792068"/>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Once the software coding task is completed and the final software product is ready for deployment, the software is subjected to rigorous and </a:t>
            </a:r>
            <a:r>
              <a:rPr lang="en-US" sz="2800" dirty="0">
                <a:solidFill>
                  <a:srgbClr val="FF0000"/>
                </a:solidFill>
              </a:rPr>
              <a:t>extensive</a:t>
            </a:r>
            <a:r>
              <a:rPr lang="en-US" sz="2800" dirty="0"/>
              <a:t> testing before the final deployment and the delivery to the client.</a:t>
            </a:r>
          </a:p>
        </p:txBody>
      </p:sp>
      <p:sp>
        <p:nvSpPr>
          <p:cNvPr id="6" name="Rectangle 5"/>
          <p:cNvSpPr/>
          <p:nvPr/>
        </p:nvSpPr>
        <p:spPr>
          <a:xfrm>
            <a:off x="3122612" y="3809907"/>
            <a:ext cx="8950254" cy="2612856"/>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 software testing is the </a:t>
            </a:r>
            <a:r>
              <a:rPr lang="en-US" sz="2800" dirty="0">
                <a:solidFill>
                  <a:srgbClr val="FF0000"/>
                </a:solidFill>
                <a:latin typeface="Calibri" panose="020F0502020204030204" pitchFamily="34" charset="0"/>
                <a:cs typeface="Calibri" panose="020F0502020204030204" pitchFamily="34" charset="0"/>
              </a:rPr>
              <a:t>standard</a:t>
            </a:r>
            <a:r>
              <a:rPr lang="en-US" sz="2800" dirty="0">
                <a:solidFill>
                  <a:schemeClr val="bg1"/>
                </a:solidFill>
                <a:latin typeface="Calibri" panose="020F0502020204030204" pitchFamily="34" charset="0"/>
                <a:cs typeface="Calibri" panose="020F0502020204030204" pitchFamily="34" charset="0"/>
              </a:rPr>
              <a:t> process used in the software industry to test the software for the performance, accuracy of results and user experience to ensure the satisfaction of the use expectations.</a:t>
            </a:r>
          </a:p>
          <a:p>
            <a:pPr algn="ctr"/>
            <a:r>
              <a:rPr lang="en-US" sz="2800" dirty="0">
                <a:solidFill>
                  <a:srgbClr val="FF0000"/>
                </a:solidFill>
                <a:latin typeface="Calibri" panose="020F0502020204030204" pitchFamily="34" charset="0"/>
                <a:cs typeface="Calibri" panose="020F0502020204030204" pitchFamily="34" charset="0"/>
              </a:rPr>
              <a:t>USE</a:t>
            </a:r>
            <a:r>
              <a:rPr lang="en-US" sz="2800" dirty="0">
                <a:solidFill>
                  <a:schemeClr val="bg1"/>
                </a:solidFill>
                <a:latin typeface="Calibri" panose="020F0502020204030204" pitchFamily="34" charset="0"/>
                <a:cs typeface="Calibri" panose="020F0502020204030204" pitchFamily="34" charset="0"/>
              </a:rPr>
              <a:t> case is used in testing.</a:t>
            </a:r>
          </a:p>
          <a:p>
            <a:pPr algn="ctr"/>
            <a:r>
              <a:rPr lang="en-US" sz="2800" dirty="0">
                <a:solidFill>
                  <a:srgbClr val="FF0000"/>
                </a:solidFill>
                <a:latin typeface="Calibri" panose="020F0502020204030204" pitchFamily="34" charset="0"/>
                <a:cs typeface="Calibri" panose="020F0502020204030204" pitchFamily="34" charset="0"/>
              </a:rPr>
              <a:t>UAT</a:t>
            </a:r>
            <a:r>
              <a:rPr lang="en-US" sz="2800" dirty="0">
                <a:solidFill>
                  <a:schemeClr val="bg1"/>
                </a:solidFill>
                <a:latin typeface="Calibri" panose="020F0502020204030204" pitchFamily="34" charset="0"/>
                <a:cs typeface="Calibri" panose="020F0502020204030204" pitchFamily="34" charset="0"/>
              </a:rPr>
              <a:t> is required.</a:t>
            </a:r>
          </a:p>
        </p:txBody>
      </p:sp>
      <p:pic>
        <p:nvPicPr>
          <p:cNvPr id="8" name="Picture 7"/>
          <p:cNvPicPr>
            <a:picLocks noChangeAspect="1"/>
          </p:cNvPicPr>
          <p:nvPr/>
        </p:nvPicPr>
        <p:blipFill>
          <a:blip r:embed="rId2"/>
          <a:stretch>
            <a:fillRect/>
          </a:stretch>
        </p:blipFill>
        <p:spPr>
          <a:xfrm>
            <a:off x="10051841" y="1038664"/>
            <a:ext cx="1933283" cy="2009429"/>
          </a:xfrm>
          <a:prstGeom prst="rect">
            <a:avLst/>
          </a:prstGeom>
        </p:spPr>
      </p:pic>
    </p:spTree>
    <p:extLst>
      <p:ext uri="{BB962C8B-B14F-4D97-AF65-F5344CB8AC3E}">
        <p14:creationId xmlns:p14="http://schemas.microsoft.com/office/powerpoint/2010/main" val="2182808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Deployment</a:t>
            </a:r>
            <a:r>
              <a:rPr lang="en-US" altLang="en-US" dirty="0">
                <a:solidFill>
                  <a:srgbClr val="FF0000"/>
                </a:solidFill>
              </a:rPr>
              <a:t> &amp; </a:t>
            </a:r>
            <a:r>
              <a:rPr lang="en-US" altLang="en-US" dirty="0"/>
              <a:t>Delivery</a:t>
            </a:r>
            <a:r>
              <a:rPr lang="en-US" altLang="en-US" dirty="0">
                <a:solidFill>
                  <a:srgbClr val="FF0000"/>
                </a:solidFill>
              </a:rPr>
              <a:t> Phase</a:t>
            </a:r>
            <a:endParaRPr lang="en-US" b="1" kern="0" dirty="0">
              <a:solidFill>
                <a:srgbClr val="FF0000"/>
              </a:solidFill>
            </a:endParaRPr>
          </a:p>
        </p:txBody>
      </p:sp>
      <p:sp>
        <p:nvSpPr>
          <p:cNvPr id="5" name="Rectangle 4"/>
          <p:cNvSpPr/>
          <p:nvPr/>
        </p:nvSpPr>
        <p:spPr>
          <a:xfrm>
            <a:off x="1598612" y="824500"/>
            <a:ext cx="8416717" cy="2792068"/>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The software is considered to be ready for </a:t>
            </a:r>
            <a:r>
              <a:rPr lang="en-US" sz="2800" dirty="0">
                <a:solidFill>
                  <a:srgbClr val="FF0000"/>
                </a:solidFill>
              </a:rPr>
              <a:t>deployment</a:t>
            </a:r>
            <a:r>
              <a:rPr lang="en-US" sz="2800" dirty="0"/>
              <a:t> after building the software and it has successfully gone trough all the tests to ensure the </a:t>
            </a:r>
            <a:r>
              <a:rPr lang="en-US" sz="2800" dirty="0">
                <a:solidFill>
                  <a:srgbClr val="FF0000"/>
                </a:solidFill>
              </a:rPr>
              <a:t>bug free </a:t>
            </a:r>
            <a:r>
              <a:rPr lang="en-US" sz="2800" dirty="0"/>
              <a:t>software and the product that meets all the quality parameters.</a:t>
            </a:r>
          </a:p>
        </p:txBody>
      </p:sp>
      <p:sp>
        <p:nvSpPr>
          <p:cNvPr id="6" name="Rectangle 5"/>
          <p:cNvSpPr/>
          <p:nvPr/>
        </p:nvSpPr>
        <p:spPr>
          <a:xfrm>
            <a:off x="3732212" y="3749473"/>
            <a:ext cx="8319188" cy="2057399"/>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After its successful installation, the next task is to impact training to the end user.  The software has to successfully complete the </a:t>
            </a:r>
            <a:r>
              <a:rPr lang="en-US" sz="2800" dirty="0">
                <a:solidFill>
                  <a:srgbClr val="FF0000"/>
                </a:solidFill>
                <a:latin typeface="Calibri" panose="020F0502020204030204" pitchFamily="34" charset="0"/>
                <a:cs typeface="Calibri" panose="020F0502020204030204" pitchFamily="34" charset="0"/>
              </a:rPr>
              <a:t>user acceptance </a:t>
            </a:r>
            <a:r>
              <a:rPr lang="en-US" sz="2800" dirty="0">
                <a:solidFill>
                  <a:schemeClr val="bg1"/>
                </a:solidFill>
                <a:latin typeface="Calibri" panose="020F0502020204030204" pitchFamily="34" charset="0"/>
                <a:cs typeface="Calibri" panose="020F0502020204030204" pitchFamily="34" charset="0"/>
              </a:rPr>
              <a:t>trials and the software must achieve the design objectives.</a:t>
            </a:r>
          </a:p>
        </p:txBody>
      </p:sp>
    </p:spTree>
    <p:extLst>
      <p:ext uri="{BB962C8B-B14F-4D97-AF65-F5344CB8AC3E}">
        <p14:creationId xmlns:p14="http://schemas.microsoft.com/office/powerpoint/2010/main" val="285416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Deployment</a:t>
            </a:r>
            <a:r>
              <a:rPr lang="en-US" altLang="en-US" dirty="0">
                <a:solidFill>
                  <a:srgbClr val="FF0000"/>
                </a:solidFill>
              </a:rPr>
              <a:t> &amp; </a:t>
            </a:r>
            <a:r>
              <a:rPr lang="en-US" altLang="en-US" dirty="0"/>
              <a:t>Delivery</a:t>
            </a:r>
            <a:r>
              <a:rPr lang="en-US" altLang="en-US" dirty="0">
                <a:solidFill>
                  <a:srgbClr val="FF0000"/>
                </a:solidFill>
              </a:rPr>
              <a:t> Phase</a:t>
            </a:r>
            <a:endParaRPr lang="en-US" b="1" kern="0" dirty="0">
              <a:solidFill>
                <a:srgbClr val="FF0000"/>
              </a:solidFill>
            </a:endParaRPr>
          </a:p>
        </p:txBody>
      </p:sp>
      <p:pic>
        <p:nvPicPr>
          <p:cNvPr id="3" name="Picture 2"/>
          <p:cNvPicPr>
            <a:picLocks noChangeAspect="1"/>
          </p:cNvPicPr>
          <p:nvPr/>
        </p:nvPicPr>
        <p:blipFill>
          <a:blip r:embed="rId2"/>
          <a:stretch>
            <a:fillRect/>
          </a:stretch>
        </p:blipFill>
        <p:spPr>
          <a:xfrm>
            <a:off x="1370012" y="713132"/>
            <a:ext cx="10363200" cy="5459068"/>
          </a:xfrm>
          <a:prstGeom prst="rect">
            <a:avLst/>
          </a:prstGeom>
        </p:spPr>
      </p:pic>
    </p:spTree>
    <p:extLst>
      <p:ext uri="{BB962C8B-B14F-4D97-AF65-F5344CB8AC3E}">
        <p14:creationId xmlns:p14="http://schemas.microsoft.com/office/powerpoint/2010/main" val="223052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Maintenance </a:t>
            </a:r>
            <a:r>
              <a:rPr lang="en-US" altLang="en-US" dirty="0">
                <a:solidFill>
                  <a:srgbClr val="FF0000"/>
                </a:solidFill>
              </a:rPr>
              <a:t>Phase</a:t>
            </a:r>
            <a:endParaRPr lang="en-US" b="1" kern="0" dirty="0">
              <a:solidFill>
                <a:srgbClr val="FF0000"/>
              </a:solidFill>
            </a:endParaRPr>
          </a:p>
        </p:txBody>
      </p:sp>
      <p:sp>
        <p:nvSpPr>
          <p:cNvPr id="5" name="Rectangle 4"/>
          <p:cNvSpPr/>
          <p:nvPr/>
        </p:nvSpPr>
        <p:spPr>
          <a:xfrm>
            <a:off x="1674812" y="834025"/>
            <a:ext cx="8416717" cy="2792068"/>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The software maintenance phase of the </a:t>
            </a:r>
            <a:r>
              <a:rPr lang="en-US" sz="2800" dirty="0">
                <a:solidFill>
                  <a:srgbClr val="FF0000"/>
                </a:solidFill>
              </a:rPr>
              <a:t>SDLC</a:t>
            </a:r>
            <a:r>
              <a:rPr lang="en-US" sz="2800" dirty="0"/>
              <a:t> starts after the software deployment process is completed and the software is fully </a:t>
            </a:r>
            <a:r>
              <a:rPr lang="en-US" sz="2800" dirty="0">
                <a:solidFill>
                  <a:srgbClr val="FF0000"/>
                </a:solidFill>
              </a:rPr>
              <a:t>operational</a:t>
            </a:r>
            <a:r>
              <a:rPr lang="en-US" sz="2800" dirty="0"/>
              <a:t>.</a:t>
            </a:r>
          </a:p>
        </p:txBody>
      </p:sp>
      <p:sp>
        <p:nvSpPr>
          <p:cNvPr id="6" name="Rectangle 5"/>
          <p:cNvSpPr/>
          <p:nvPr/>
        </p:nvSpPr>
        <p:spPr>
          <a:xfrm>
            <a:off x="4341812" y="3749473"/>
            <a:ext cx="7709588" cy="2057399"/>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The software </a:t>
            </a:r>
            <a:r>
              <a:rPr lang="en-US" sz="2800" dirty="0">
                <a:solidFill>
                  <a:srgbClr val="FF0000"/>
                </a:solidFill>
                <a:latin typeface="Calibri" panose="020F0502020204030204" pitchFamily="34" charset="0"/>
                <a:cs typeface="Calibri" panose="020F0502020204030204" pitchFamily="34" charset="0"/>
              </a:rPr>
              <a:t>maintenance</a:t>
            </a:r>
            <a:r>
              <a:rPr lang="en-US" sz="2800" dirty="0">
                <a:solidFill>
                  <a:schemeClr val="bg1"/>
                </a:solidFill>
                <a:latin typeface="Calibri" panose="020F0502020204030204" pitchFamily="34" charset="0"/>
                <a:cs typeface="Calibri" panose="020F0502020204030204" pitchFamily="34" charset="0"/>
              </a:rPr>
              <a:t> tasks include number of activities such as periodic software upgrades, software patches, database clan up operations, and resoling any other issues.</a:t>
            </a:r>
          </a:p>
          <a:p>
            <a:pPr algn="ctr"/>
            <a:endParaRPr lang="en-US" sz="28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6318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a:t>
            </a:r>
            <a:r>
              <a:rPr lang="en-US" altLang="en-US" dirty="0"/>
              <a:t>Phases</a:t>
            </a:r>
            <a:endParaRPr lang="en-US" b="1" kern="0" dirty="0"/>
          </a:p>
        </p:txBody>
      </p:sp>
      <p:pic>
        <p:nvPicPr>
          <p:cNvPr id="3" name="Picture 2"/>
          <p:cNvPicPr>
            <a:picLocks noChangeAspect="1"/>
          </p:cNvPicPr>
          <p:nvPr/>
        </p:nvPicPr>
        <p:blipFill>
          <a:blip r:embed="rId2"/>
          <a:stretch>
            <a:fillRect/>
          </a:stretch>
        </p:blipFill>
        <p:spPr>
          <a:xfrm>
            <a:off x="1979612" y="713132"/>
            <a:ext cx="10058400" cy="5611468"/>
          </a:xfrm>
          <a:prstGeom prst="rect">
            <a:avLst/>
          </a:prstGeom>
        </p:spPr>
      </p:pic>
    </p:spTree>
    <p:extLst>
      <p:ext uri="{BB962C8B-B14F-4D97-AF65-F5344CB8AC3E}">
        <p14:creationId xmlns:p14="http://schemas.microsoft.com/office/powerpoint/2010/main" val="155846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a:t>
            </a:r>
            <a:r>
              <a:rPr lang="en-US" altLang="en-US" dirty="0"/>
              <a:t>Waterfall</a:t>
            </a:r>
            <a:r>
              <a:rPr lang="en-US" altLang="en-US" dirty="0">
                <a:solidFill>
                  <a:srgbClr val="FF0000"/>
                </a:solidFill>
              </a:rPr>
              <a:t> Method</a:t>
            </a:r>
            <a:endParaRPr lang="en-US" b="1" kern="0" dirty="0">
              <a:solidFill>
                <a:srgbClr val="FF0000"/>
              </a:solidFill>
            </a:endParaRPr>
          </a:p>
        </p:txBody>
      </p:sp>
      <p:pic>
        <p:nvPicPr>
          <p:cNvPr id="4" name="Picture 3"/>
          <p:cNvPicPr>
            <a:picLocks noChangeAspect="1"/>
          </p:cNvPicPr>
          <p:nvPr/>
        </p:nvPicPr>
        <p:blipFill>
          <a:blip r:embed="rId2"/>
          <a:stretch>
            <a:fillRect/>
          </a:stretch>
        </p:blipFill>
        <p:spPr>
          <a:xfrm>
            <a:off x="1751012" y="838200"/>
            <a:ext cx="9753599" cy="5486400"/>
          </a:xfrm>
          <a:prstGeom prst="rect">
            <a:avLst/>
          </a:prstGeom>
        </p:spPr>
      </p:pic>
    </p:spTree>
    <p:extLst>
      <p:ext uri="{BB962C8B-B14F-4D97-AF65-F5344CB8AC3E}">
        <p14:creationId xmlns:p14="http://schemas.microsoft.com/office/powerpoint/2010/main" val="220963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a:t>
            </a:r>
            <a:r>
              <a:rPr lang="en-US" altLang="en-US" dirty="0"/>
              <a:t>Agile</a:t>
            </a:r>
            <a:r>
              <a:rPr lang="en-US" altLang="en-US" dirty="0">
                <a:solidFill>
                  <a:srgbClr val="FF0000"/>
                </a:solidFill>
              </a:rPr>
              <a:t> Method</a:t>
            </a:r>
            <a:endParaRPr lang="en-US" b="1" kern="0" dirty="0">
              <a:solidFill>
                <a:srgbClr val="FF0000"/>
              </a:solidFill>
            </a:endParaRPr>
          </a:p>
        </p:txBody>
      </p:sp>
      <p:pic>
        <p:nvPicPr>
          <p:cNvPr id="4" name="Picture 3"/>
          <p:cNvPicPr>
            <a:picLocks noChangeAspect="1"/>
          </p:cNvPicPr>
          <p:nvPr/>
        </p:nvPicPr>
        <p:blipFill>
          <a:blip r:embed="rId2"/>
          <a:stretch>
            <a:fillRect/>
          </a:stretch>
        </p:blipFill>
        <p:spPr>
          <a:xfrm>
            <a:off x="2817812" y="1143000"/>
            <a:ext cx="7924800" cy="4114799"/>
          </a:xfrm>
          <a:prstGeom prst="rect">
            <a:avLst/>
          </a:prstGeom>
        </p:spPr>
      </p:pic>
    </p:spTree>
    <p:extLst>
      <p:ext uri="{BB962C8B-B14F-4D97-AF65-F5344CB8AC3E}">
        <p14:creationId xmlns:p14="http://schemas.microsoft.com/office/powerpoint/2010/main" val="285957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SDLC – Software </a:t>
            </a:r>
            <a:r>
              <a:rPr lang="en-US" altLang="en-US" dirty="0"/>
              <a:t>Building</a:t>
            </a:r>
            <a:r>
              <a:rPr lang="en-US" altLang="en-US" dirty="0">
                <a:solidFill>
                  <a:srgbClr val="FF0000"/>
                </a:solidFill>
              </a:rPr>
              <a:t> Phase</a:t>
            </a:r>
            <a:endParaRPr lang="en-US" b="1" kern="0" dirty="0">
              <a:solidFill>
                <a:srgbClr val="FF0000"/>
              </a:solidFill>
            </a:endParaRPr>
          </a:p>
        </p:txBody>
      </p:sp>
      <p:sp>
        <p:nvSpPr>
          <p:cNvPr id="8" name="Rectangle 7"/>
          <p:cNvSpPr/>
          <p:nvPr/>
        </p:nvSpPr>
        <p:spPr>
          <a:xfrm>
            <a:off x="1903412" y="1257300"/>
            <a:ext cx="8839200" cy="4343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t>What is difference between</a:t>
            </a:r>
          </a:p>
          <a:p>
            <a:pPr lvl="0" algn="ctr"/>
            <a:r>
              <a:rPr lang="en-US" sz="5400" dirty="0">
                <a:solidFill>
                  <a:srgbClr val="FF0000"/>
                </a:solidFill>
              </a:rPr>
              <a:t>Programming</a:t>
            </a:r>
          </a:p>
          <a:p>
            <a:pPr lvl="0" algn="ctr"/>
            <a:r>
              <a:rPr lang="en-US" sz="2800" dirty="0"/>
              <a:t>And</a:t>
            </a:r>
          </a:p>
          <a:p>
            <a:pPr lvl="0" algn="ctr"/>
            <a:r>
              <a:rPr lang="en-US" sz="5400" dirty="0">
                <a:solidFill>
                  <a:srgbClr val="FF0000"/>
                </a:solidFill>
              </a:rPr>
              <a:t>Coding</a:t>
            </a:r>
          </a:p>
          <a:p>
            <a:pPr lvl="0" algn="ctr"/>
            <a:r>
              <a:rPr lang="en-US" sz="2800" dirty="0"/>
              <a:t>?</a:t>
            </a:r>
          </a:p>
        </p:txBody>
      </p:sp>
    </p:spTree>
    <p:extLst>
      <p:ext uri="{BB962C8B-B14F-4D97-AF65-F5344CB8AC3E}">
        <p14:creationId xmlns:p14="http://schemas.microsoft.com/office/powerpoint/2010/main" val="3732489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Coding  == Cooking</a:t>
            </a:r>
            <a:endParaRPr lang="en-US" b="1" kern="0" dirty="0">
              <a:solidFill>
                <a:srgbClr val="FF0000"/>
              </a:solidFill>
            </a:endParaRPr>
          </a:p>
        </p:txBody>
      </p:sp>
      <p:pic>
        <p:nvPicPr>
          <p:cNvPr id="4" name="Picture 3"/>
          <p:cNvPicPr>
            <a:picLocks noChangeAspect="1"/>
          </p:cNvPicPr>
          <p:nvPr/>
        </p:nvPicPr>
        <p:blipFill>
          <a:blip r:embed="rId2"/>
          <a:stretch>
            <a:fillRect/>
          </a:stretch>
        </p:blipFill>
        <p:spPr>
          <a:xfrm>
            <a:off x="3375364" y="1695666"/>
            <a:ext cx="5438095" cy="3466667"/>
          </a:xfrm>
          <a:prstGeom prst="rect">
            <a:avLst/>
          </a:prstGeom>
        </p:spPr>
      </p:pic>
      <p:pic>
        <p:nvPicPr>
          <p:cNvPr id="5" name="Picture 4"/>
          <p:cNvPicPr>
            <a:picLocks noChangeAspect="1"/>
          </p:cNvPicPr>
          <p:nvPr/>
        </p:nvPicPr>
        <p:blipFill>
          <a:blip r:embed="rId3"/>
          <a:stretch>
            <a:fillRect/>
          </a:stretch>
        </p:blipFill>
        <p:spPr>
          <a:xfrm>
            <a:off x="379412" y="4953000"/>
            <a:ext cx="2476190" cy="1438095"/>
          </a:xfrm>
          <a:prstGeom prst="rect">
            <a:avLst/>
          </a:prstGeom>
        </p:spPr>
      </p:pic>
      <p:sp>
        <p:nvSpPr>
          <p:cNvPr id="6" name="TextBox 5"/>
          <p:cNvSpPr txBox="1"/>
          <p:nvPr/>
        </p:nvSpPr>
        <p:spPr>
          <a:xfrm>
            <a:off x="4113212" y="943068"/>
            <a:ext cx="1765227" cy="461665"/>
          </a:xfrm>
          <a:prstGeom prst="rect">
            <a:avLst/>
          </a:prstGeom>
          <a:noFill/>
        </p:spPr>
        <p:txBody>
          <a:bodyPr wrap="none" rtlCol="0">
            <a:spAutoFit/>
          </a:bodyPr>
          <a:lstStyle/>
          <a:p>
            <a:r>
              <a:rPr lang="en-US" dirty="0"/>
              <a:t>Container </a:t>
            </a:r>
          </a:p>
        </p:txBody>
      </p:sp>
      <p:sp>
        <p:nvSpPr>
          <p:cNvPr id="9" name="TextBox 8"/>
          <p:cNvSpPr txBox="1"/>
          <p:nvPr/>
        </p:nvSpPr>
        <p:spPr>
          <a:xfrm>
            <a:off x="6323012" y="943068"/>
            <a:ext cx="1531188" cy="461665"/>
          </a:xfrm>
          <a:prstGeom prst="rect">
            <a:avLst/>
          </a:prstGeom>
          <a:noFill/>
        </p:spPr>
        <p:txBody>
          <a:bodyPr wrap="none" rtlCol="0">
            <a:spAutoFit/>
          </a:bodyPr>
          <a:lstStyle/>
          <a:p>
            <a:r>
              <a:rPr lang="en-US" dirty="0">
                <a:solidFill>
                  <a:srgbClr val="FF0000"/>
                </a:solidFill>
              </a:rPr>
              <a:t>Variable</a:t>
            </a:r>
            <a:r>
              <a:rPr lang="en-US" dirty="0"/>
              <a:t> </a:t>
            </a:r>
          </a:p>
        </p:txBody>
      </p:sp>
      <p:sp>
        <p:nvSpPr>
          <p:cNvPr id="13" name="TextBox 12"/>
          <p:cNvSpPr txBox="1"/>
          <p:nvPr/>
        </p:nvSpPr>
        <p:spPr>
          <a:xfrm>
            <a:off x="3393654" y="5222433"/>
            <a:ext cx="2640466" cy="461665"/>
          </a:xfrm>
          <a:prstGeom prst="rect">
            <a:avLst/>
          </a:prstGeom>
          <a:noFill/>
        </p:spPr>
        <p:txBody>
          <a:bodyPr wrap="none" rtlCol="0">
            <a:spAutoFit/>
          </a:bodyPr>
          <a:lstStyle/>
          <a:p>
            <a:r>
              <a:rPr lang="en-US" dirty="0"/>
              <a:t>Not enough salt </a:t>
            </a:r>
          </a:p>
        </p:txBody>
      </p:sp>
      <p:sp>
        <p:nvSpPr>
          <p:cNvPr id="14" name="TextBox 13"/>
          <p:cNvSpPr txBox="1"/>
          <p:nvPr/>
        </p:nvSpPr>
        <p:spPr>
          <a:xfrm>
            <a:off x="6572172" y="5222433"/>
            <a:ext cx="1383712" cy="461665"/>
          </a:xfrm>
          <a:prstGeom prst="rect">
            <a:avLst/>
          </a:prstGeom>
          <a:noFill/>
        </p:spPr>
        <p:txBody>
          <a:bodyPr wrap="none" rtlCol="0">
            <a:spAutoFit/>
          </a:bodyPr>
          <a:lstStyle/>
          <a:p>
            <a:r>
              <a:rPr lang="en-US" dirty="0">
                <a:solidFill>
                  <a:srgbClr val="FF0000"/>
                </a:solidFill>
              </a:rPr>
              <a:t>IF Logic </a:t>
            </a:r>
          </a:p>
        </p:txBody>
      </p:sp>
      <p:sp>
        <p:nvSpPr>
          <p:cNvPr id="15" name="TextBox 14"/>
          <p:cNvSpPr txBox="1"/>
          <p:nvPr/>
        </p:nvSpPr>
        <p:spPr>
          <a:xfrm>
            <a:off x="3422846" y="5750824"/>
            <a:ext cx="596638" cy="461665"/>
          </a:xfrm>
          <a:prstGeom prst="rect">
            <a:avLst/>
          </a:prstGeom>
          <a:noFill/>
        </p:spPr>
        <p:txBody>
          <a:bodyPr wrap="none" rtlCol="0">
            <a:spAutoFit/>
          </a:bodyPr>
          <a:lstStyle/>
          <a:p>
            <a:r>
              <a:rPr lang="en-US" dirty="0"/>
              <a:t>Stir</a:t>
            </a:r>
          </a:p>
        </p:txBody>
      </p:sp>
      <p:sp>
        <p:nvSpPr>
          <p:cNvPr id="16" name="TextBox 15"/>
          <p:cNvSpPr txBox="1"/>
          <p:nvPr/>
        </p:nvSpPr>
        <p:spPr>
          <a:xfrm>
            <a:off x="6601364" y="5750824"/>
            <a:ext cx="1837362" cy="461665"/>
          </a:xfrm>
          <a:prstGeom prst="rect">
            <a:avLst/>
          </a:prstGeom>
          <a:noFill/>
        </p:spPr>
        <p:txBody>
          <a:bodyPr wrap="none" rtlCol="0">
            <a:spAutoFit/>
          </a:bodyPr>
          <a:lstStyle/>
          <a:p>
            <a:r>
              <a:rPr lang="en-US" dirty="0">
                <a:solidFill>
                  <a:srgbClr val="FF0000"/>
                </a:solidFill>
              </a:rPr>
              <a:t>Loop Logic</a:t>
            </a:r>
          </a:p>
        </p:txBody>
      </p:sp>
      <p:pic>
        <p:nvPicPr>
          <p:cNvPr id="7" name="Picture 6"/>
          <p:cNvPicPr>
            <a:picLocks noChangeAspect="1"/>
          </p:cNvPicPr>
          <p:nvPr/>
        </p:nvPicPr>
        <p:blipFill>
          <a:blip r:embed="rId4"/>
          <a:stretch>
            <a:fillRect/>
          </a:stretch>
        </p:blipFill>
        <p:spPr>
          <a:xfrm>
            <a:off x="9333221" y="618685"/>
            <a:ext cx="2171429" cy="1171429"/>
          </a:xfrm>
          <a:prstGeom prst="rect">
            <a:avLst/>
          </a:prstGeom>
        </p:spPr>
      </p:pic>
    </p:spTree>
    <p:extLst>
      <p:ext uri="{BB962C8B-B14F-4D97-AF65-F5344CB8AC3E}">
        <p14:creationId xmlns:p14="http://schemas.microsoft.com/office/powerpoint/2010/main" val="122137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down)">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circle(in)">
                                      <p:cBhvr>
                                        <p:cTn id="4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13132"/>
          </a:xfrm>
        </p:spPr>
        <p:txBody>
          <a:bodyPr>
            <a:normAutofit/>
          </a:bodyPr>
          <a:lstStyle/>
          <a:p>
            <a:pPr algn="ctr" eaLnBrk="0" fontAlgn="base" hangingPunct="0">
              <a:lnSpc>
                <a:spcPct val="80000"/>
              </a:lnSpc>
              <a:spcAft>
                <a:spcPct val="0"/>
              </a:spcAft>
              <a:defRPr/>
            </a:pPr>
            <a:r>
              <a:rPr lang="en-US" altLang="en-US" dirty="0">
                <a:solidFill>
                  <a:srgbClr val="FF0000"/>
                </a:solidFill>
              </a:rPr>
              <a:t>Steps to </a:t>
            </a:r>
            <a:r>
              <a:rPr lang="en-US" altLang="en-US" dirty="0"/>
              <a:t>Coding</a:t>
            </a:r>
            <a:endParaRPr lang="en-US" b="1" kern="0" dirty="0"/>
          </a:p>
        </p:txBody>
      </p:sp>
      <p:sp>
        <p:nvSpPr>
          <p:cNvPr id="6" name="Rectangle 5"/>
          <p:cNvSpPr/>
          <p:nvPr/>
        </p:nvSpPr>
        <p:spPr>
          <a:xfrm>
            <a:off x="2360612" y="1371600"/>
            <a:ext cx="7850186" cy="1371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Calibri" panose="020F0502020204030204" pitchFamily="34" charset="0"/>
                <a:cs typeface="Calibri" panose="020F0502020204030204" pitchFamily="34" charset="0"/>
              </a:rPr>
              <a:t>Create a conceptual STEP by STEP workflow!</a:t>
            </a:r>
          </a:p>
          <a:p>
            <a:pPr algn="ctr"/>
            <a:r>
              <a:rPr lang="en-US" sz="2800" dirty="0">
                <a:solidFill>
                  <a:schemeClr val="bg1"/>
                </a:solidFill>
                <a:latin typeface="Calibri" panose="020F0502020204030204" pitchFamily="34" charset="0"/>
                <a:cs typeface="Calibri" panose="020F0502020204030204" pitchFamily="34" charset="0"/>
              </a:rPr>
              <a:t>Just like a </a:t>
            </a:r>
            <a:r>
              <a:rPr lang="en-US" sz="2800" dirty="0">
                <a:solidFill>
                  <a:srgbClr val="FF0000"/>
                </a:solidFill>
                <a:latin typeface="Calibri" panose="020F0502020204030204" pitchFamily="34" charset="0"/>
                <a:cs typeface="Calibri" panose="020F0502020204030204" pitchFamily="34" charset="0"/>
              </a:rPr>
              <a:t>RECIPE</a:t>
            </a:r>
          </a:p>
          <a:p>
            <a:pPr algn="ctr"/>
            <a:endParaRPr lang="en-US" sz="2800" dirty="0">
              <a:solidFill>
                <a:schemeClr val="bg1"/>
              </a:solidFill>
              <a:latin typeface="Calibri" panose="020F0502020204030204" pitchFamily="34" charset="0"/>
              <a:cs typeface="Calibri" panose="020F0502020204030204" pitchFamily="34" charset="0"/>
            </a:endParaRPr>
          </a:p>
        </p:txBody>
      </p:sp>
      <p:sp>
        <p:nvSpPr>
          <p:cNvPr id="8" name="Rectangle 7"/>
          <p:cNvSpPr/>
          <p:nvPr/>
        </p:nvSpPr>
        <p:spPr>
          <a:xfrm>
            <a:off x="2360612" y="3276600"/>
            <a:ext cx="7850186" cy="1371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Times New Roman" panose="02020603050405020304" pitchFamily="18" charset="0"/>
              </a:rPr>
              <a:t>Computing Weekly Pay </a:t>
            </a:r>
            <a:endParaRPr lang="en-US" sz="2800" dirty="0">
              <a:solidFill>
                <a:schemeClr val="bg1"/>
              </a:solidFill>
            </a:endParaRPr>
          </a:p>
          <a:p>
            <a:pPr algn="ctr"/>
            <a:endParaRPr lang="en-US" sz="28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1255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lvl="0" algn="ctr"/>
            <a:r>
              <a:rPr lang="en-US" altLang="en-US" dirty="0">
                <a:solidFill>
                  <a:srgbClr val="FF0000"/>
                </a:solidFill>
              </a:rPr>
              <a:t>Steps to </a:t>
            </a:r>
            <a:r>
              <a:rPr lang="en-US" altLang="en-US" dirty="0"/>
              <a:t>Coding - </a:t>
            </a:r>
            <a:r>
              <a:rPr lang="en-US" sz="4800" dirty="0">
                <a:solidFill>
                  <a:srgbClr val="FF0000"/>
                </a:solidFill>
              </a:rPr>
              <a:t>Pseudocode</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sp>
        <p:nvSpPr>
          <p:cNvPr id="4" name="Rectangle 3"/>
          <p:cNvSpPr/>
          <p:nvPr/>
        </p:nvSpPr>
        <p:spPr>
          <a:xfrm>
            <a:off x="1446212" y="1123489"/>
            <a:ext cx="4114800" cy="685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Times New Roman" panose="02020603050405020304" pitchFamily="18" charset="0"/>
              </a:rPr>
              <a:t>Computing Weekly Pay</a:t>
            </a:r>
            <a:endParaRPr lang="en-US" sz="2800" dirty="0">
              <a:solidFill>
                <a:schemeClr val="bg1"/>
              </a:solidFill>
              <a:latin typeface="Calibri" panose="020F0502020204030204" pitchFamily="34" charset="0"/>
              <a:cs typeface="Calibri" panose="020F0502020204030204" pitchFamily="34" charset="0"/>
            </a:endParaRPr>
          </a:p>
        </p:txBody>
      </p:sp>
      <p:sp>
        <p:nvSpPr>
          <p:cNvPr id="6" name="Rectangle 5"/>
          <p:cNvSpPr/>
          <p:nvPr/>
        </p:nvSpPr>
        <p:spPr>
          <a:xfrm>
            <a:off x="3579812" y="2151728"/>
            <a:ext cx="7772400" cy="3046988"/>
          </a:xfrm>
          <a:prstGeom prst="rect">
            <a:avLst/>
          </a:prstGeom>
        </p:spPr>
        <p:txBody>
          <a:bodyPr wrap="square">
            <a:spAutoFit/>
          </a:bodyPr>
          <a:lstStyle/>
          <a:p>
            <a:pPr marL="457200" lvl="0" indent="-457200">
              <a:buFont typeface="+mj-lt"/>
              <a:buAutoNum type="arabicPeriod"/>
            </a:pPr>
            <a:r>
              <a:rPr lang="en-US" sz="3200" dirty="0">
                <a:solidFill>
                  <a:srgbClr val="FF0000"/>
                </a:solidFill>
                <a:latin typeface="Times New Roman" panose="02020603050405020304" pitchFamily="18" charset="0"/>
              </a:rPr>
              <a:t>get</a:t>
            </a:r>
            <a:r>
              <a:rPr lang="en-US" sz="3200" dirty="0">
                <a:solidFill>
                  <a:srgbClr val="000000"/>
                </a:solidFill>
                <a:latin typeface="Times New Roman" panose="02020603050405020304" pitchFamily="18" charset="0"/>
              </a:rPr>
              <a:t> hours worked</a:t>
            </a:r>
          </a:p>
          <a:p>
            <a:pPr marL="457200" lvl="0" indent="-457200">
              <a:buFont typeface="+mj-lt"/>
              <a:buAutoNum type="arabicPeriod"/>
            </a:pPr>
            <a:r>
              <a:rPr lang="en-US" sz="3200" dirty="0">
                <a:solidFill>
                  <a:srgbClr val="FF0000"/>
                </a:solidFill>
                <a:latin typeface="Times New Roman" panose="02020603050405020304" pitchFamily="18" charset="0"/>
              </a:rPr>
              <a:t>get </a:t>
            </a:r>
            <a:r>
              <a:rPr lang="en-US" sz="3200" dirty="0">
                <a:solidFill>
                  <a:srgbClr val="000000"/>
                </a:solidFill>
                <a:latin typeface="Times New Roman" panose="02020603050405020304" pitchFamily="18" charset="0"/>
              </a:rPr>
              <a:t>hourly pay rate</a:t>
            </a:r>
          </a:p>
          <a:p>
            <a:pPr marL="457200" lvl="0" indent="-457200">
              <a:buFont typeface="+mj-lt"/>
              <a:buAutoNum type="arabicPeriod"/>
            </a:pPr>
            <a:r>
              <a:rPr lang="en-US" sz="3200" dirty="0">
                <a:solidFill>
                  <a:srgbClr val="000000"/>
                </a:solidFill>
                <a:latin typeface="Times New Roman" panose="02020603050405020304" pitchFamily="18" charset="0"/>
              </a:rPr>
              <a:t>Gross pay </a:t>
            </a:r>
            <a:r>
              <a:rPr lang="en-US" sz="3200" dirty="0">
                <a:solidFill>
                  <a:srgbClr val="FF0000"/>
                </a:solidFill>
                <a:latin typeface="Times New Roman" panose="02020603050405020304" pitchFamily="18" charset="0"/>
              </a:rPr>
              <a:t>=</a:t>
            </a:r>
            <a:r>
              <a:rPr lang="en-US" sz="3200" dirty="0">
                <a:solidFill>
                  <a:srgbClr val="000000"/>
                </a:solidFill>
                <a:latin typeface="Times New Roman" panose="02020603050405020304" pitchFamily="18" charset="0"/>
              </a:rPr>
              <a:t> hours worked times hourly pay rate</a:t>
            </a:r>
          </a:p>
          <a:p>
            <a:pPr marL="457200" lvl="0" indent="-457200">
              <a:buFont typeface="+mj-lt"/>
              <a:buAutoNum type="arabicPeriod"/>
            </a:pPr>
            <a:r>
              <a:rPr lang="en-US" sz="3200" dirty="0">
                <a:solidFill>
                  <a:srgbClr val="FF0000"/>
                </a:solidFill>
                <a:latin typeface="Times New Roman" panose="02020603050405020304" pitchFamily="18" charset="0"/>
              </a:rPr>
              <a:t>display</a:t>
            </a:r>
            <a:r>
              <a:rPr lang="en-US" sz="3200" dirty="0">
                <a:solidFill>
                  <a:srgbClr val="000000"/>
                </a:solidFill>
                <a:latin typeface="Times New Roman" panose="02020603050405020304" pitchFamily="18" charset="0"/>
              </a:rPr>
              <a:t> Gross pay</a:t>
            </a:r>
          </a:p>
          <a:p>
            <a:pPr marL="457200" lvl="0" indent="-457200">
              <a:buFont typeface="+mj-lt"/>
              <a:buAutoNum type="arabicPeriod"/>
            </a:pPr>
            <a:r>
              <a:rPr lang="en-US" sz="3200" dirty="0">
                <a:solidFill>
                  <a:srgbClr val="FF0000"/>
                </a:solidFill>
                <a:latin typeface="Times New Roman" panose="02020603050405020304" pitchFamily="18" charset="0"/>
              </a:rPr>
              <a:t>halt</a:t>
            </a:r>
            <a:endParaRPr lang="en-US" sz="3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41867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lvl="0" algn="ctr"/>
            <a:r>
              <a:rPr lang="en-US" altLang="en-US" dirty="0">
                <a:solidFill>
                  <a:srgbClr val="FF0000"/>
                </a:solidFill>
              </a:rPr>
              <a:t>Steps to </a:t>
            </a:r>
            <a:r>
              <a:rPr lang="en-US" altLang="en-US" dirty="0"/>
              <a:t>Coding – </a:t>
            </a:r>
            <a:r>
              <a:rPr lang="en-US" sz="4800" dirty="0">
                <a:solidFill>
                  <a:srgbClr val="FF0000"/>
                </a:solidFill>
              </a:rPr>
              <a:t>Flow Chart</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sp>
        <p:nvSpPr>
          <p:cNvPr id="6" name="Rectangle 5"/>
          <p:cNvSpPr/>
          <p:nvPr/>
        </p:nvSpPr>
        <p:spPr>
          <a:xfrm>
            <a:off x="1217612" y="914400"/>
            <a:ext cx="4114800" cy="685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Times New Roman" panose="02020603050405020304" pitchFamily="18" charset="0"/>
              </a:rPr>
              <a:t>Computing Weekly Pay</a:t>
            </a:r>
            <a:endParaRPr lang="en-US" sz="2800" dirty="0">
              <a:solidFill>
                <a:schemeClr val="bg1"/>
              </a:solidFill>
              <a:latin typeface="Calibri" panose="020F0502020204030204" pitchFamily="34" charset="0"/>
              <a:cs typeface="Calibri" panose="020F0502020204030204" pitchFamily="34"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2" y="914400"/>
            <a:ext cx="5715000" cy="5334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7"/>
          <p:cNvSpPr/>
          <p:nvPr/>
        </p:nvSpPr>
        <p:spPr>
          <a:xfrm>
            <a:off x="1293812" y="2438400"/>
            <a:ext cx="3962400" cy="2819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en-US" sz="2800" dirty="0"/>
              <a:t>Ovals - terminal symbols</a:t>
            </a:r>
          </a:p>
          <a:p>
            <a:pPr lvl="0"/>
            <a:r>
              <a:rPr lang="en-US" altLang="en-US" sz="2800" dirty="0"/>
              <a:t>Parallelograms – I/O</a:t>
            </a:r>
          </a:p>
          <a:p>
            <a:pPr lvl="0"/>
            <a:r>
              <a:rPr lang="en-US" altLang="en-US" sz="2800" dirty="0"/>
              <a:t>Rectangles - processing</a:t>
            </a:r>
          </a:p>
          <a:p>
            <a:pPr lvl="0"/>
            <a:r>
              <a:rPr lang="en-US" altLang="en-US" sz="2800" dirty="0"/>
              <a:t>Arrows - the process flow</a:t>
            </a:r>
          </a:p>
        </p:txBody>
      </p:sp>
    </p:spTree>
    <p:extLst>
      <p:ext uri="{BB962C8B-B14F-4D97-AF65-F5344CB8AC3E}">
        <p14:creationId xmlns:p14="http://schemas.microsoft.com/office/powerpoint/2010/main" val="1687997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lvl="0" algn="ctr"/>
            <a:r>
              <a:rPr lang="en-US" altLang="en-US" dirty="0">
                <a:solidFill>
                  <a:srgbClr val="FF0000"/>
                </a:solidFill>
              </a:rPr>
              <a:t>Steps to </a:t>
            </a:r>
            <a:r>
              <a:rPr lang="en-US" altLang="en-US" dirty="0"/>
              <a:t>Coding – </a:t>
            </a:r>
            <a:r>
              <a:rPr lang="en-US" sz="4800" dirty="0">
                <a:solidFill>
                  <a:srgbClr val="FF0000"/>
                </a:solidFill>
              </a:rPr>
              <a:t>IPO</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sp>
        <p:nvSpPr>
          <p:cNvPr id="6" name="Rectangle 5"/>
          <p:cNvSpPr/>
          <p:nvPr/>
        </p:nvSpPr>
        <p:spPr>
          <a:xfrm>
            <a:off x="1598612" y="787400"/>
            <a:ext cx="4114800" cy="685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Times New Roman" panose="02020603050405020304" pitchFamily="18" charset="0"/>
              </a:rPr>
              <a:t>Computing Weekly Pay</a:t>
            </a:r>
            <a:endParaRPr lang="en-US" sz="2800" dirty="0">
              <a:solidFill>
                <a:schemeClr val="bg1"/>
              </a:solidFill>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665412" y="1905000"/>
            <a:ext cx="8229600" cy="3200400"/>
          </a:xfrm>
          <a:prstGeom prst="rect">
            <a:avLst/>
          </a:prstGeom>
        </p:spPr>
      </p:pic>
    </p:spTree>
    <p:extLst>
      <p:ext uri="{BB962C8B-B14F-4D97-AF65-F5344CB8AC3E}">
        <p14:creationId xmlns:p14="http://schemas.microsoft.com/office/powerpoint/2010/main" val="230845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a:bodyPr>
          <a:lstStyle/>
          <a:p>
            <a:pPr lvl="0" algn="ctr"/>
            <a:r>
              <a:rPr lang="en-US" altLang="ko-KR" dirty="0">
                <a:solidFill>
                  <a:srgbClr val="FF0000"/>
                </a:solidFill>
              </a:rPr>
              <a:t>Coding Language</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pic>
        <p:nvPicPr>
          <p:cNvPr id="3" name="Picture 2"/>
          <p:cNvPicPr>
            <a:picLocks noChangeAspect="1"/>
          </p:cNvPicPr>
          <p:nvPr/>
        </p:nvPicPr>
        <p:blipFill>
          <a:blip r:embed="rId2"/>
          <a:stretch>
            <a:fillRect/>
          </a:stretch>
        </p:blipFill>
        <p:spPr>
          <a:xfrm>
            <a:off x="4075112" y="1571715"/>
            <a:ext cx="4038600" cy="3714571"/>
          </a:xfrm>
          <a:prstGeom prst="rect">
            <a:avLst/>
          </a:prstGeom>
        </p:spPr>
      </p:pic>
    </p:spTree>
    <p:extLst>
      <p:ext uri="{BB962C8B-B14F-4D97-AF65-F5344CB8AC3E}">
        <p14:creationId xmlns:p14="http://schemas.microsoft.com/office/powerpoint/2010/main" val="588420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4008983289"/>
              </p:ext>
            </p:extLst>
          </p:nvPr>
        </p:nvGraphicFramePr>
        <p:xfrm>
          <a:off x="2132012" y="787400"/>
          <a:ext cx="9906000" cy="56295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3651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3669245891"/>
              </p:ext>
            </p:extLst>
          </p:nvPr>
        </p:nvGraphicFramePr>
        <p:xfrm>
          <a:off x="1827212" y="777875"/>
          <a:ext cx="10058400" cy="5553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590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579371860"/>
              </p:ext>
            </p:extLst>
          </p:nvPr>
        </p:nvGraphicFramePr>
        <p:xfrm>
          <a:off x="1903412" y="914399"/>
          <a:ext cx="9601200" cy="5553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578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059316684"/>
              </p:ext>
            </p:extLst>
          </p:nvPr>
        </p:nvGraphicFramePr>
        <p:xfrm>
          <a:off x="1903412" y="787400"/>
          <a:ext cx="9601200" cy="5680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2602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4247677009"/>
              </p:ext>
            </p:extLst>
          </p:nvPr>
        </p:nvGraphicFramePr>
        <p:xfrm>
          <a:off x="2055812" y="685800"/>
          <a:ext cx="9448800" cy="5781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122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Identifier</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439295871"/>
              </p:ext>
            </p:extLst>
          </p:nvPr>
        </p:nvGraphicFramePr>
        <p:xfrm>
          <a:off x="2284412" y="1414332"/>
          <a:ext cx="7620000" cy="4029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394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Identifier</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2497603711"/>
              </p:ext>
            </p:extLst>
          </p:nvPr>
        </p:nvGraphicFramePr>
        <p:xfrm>
          <a:off x="1903412" y="796925"/>
          <a:ext cx="10134600" cy="5477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666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Identifier</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3866559171"/>
              </p:ext>
            </p:extLst>
          </p:nvPr>
        </p:nvGraphicFramePr>
        <p:xfrm>
          <a:off x="1979612" y="685800"/>
          <a:ext cx="9525000" cy="56295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421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Variables</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4101679820"/>
              </p:ext>
            </p:extLst>
          </p:nvPr>
        </p:nvGraphicFramePr>
        <p:xfrm>
          <a:off x="1903412" y="787401"/>
          <a:ext cx="9601200" cy="485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352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Variables</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44413837"/>
              </p:ext>
            </p:extLst>
          </p:nvPr>
        </p:nvGraphicFramePr>
        <p:xfrm>
          <a:off x="2208212" y="787400"/>
          <a:ext cx="9296400" cy="5680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892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a:bodyPr>
          <a:lstStyle/>
          <a:p>
            <a:pPr algn="ctr"/>
            <a:r>
              <a:rPr lang="en-US" altLang="en-US" dirty="0">
                <a:solidFill>
                  <a:srgbClr val="FF0000"/>
                </a:solidFill>
              </a:rPr>
              <a:t>Python - </a:t>
            </a:r>
            <a:r>
              <a:rPr lang="en-US" altLang="en-US" dirty="0"/>
              <a:t>Key Words…</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2764155718"/>
              </p:ext>
            </p:extLst>
          </p:nvPr>
        </p:nvGraphicFramePr>
        <p:xfrm>
          <a:off x="2208212" y="990600"/>
          <a:ext cx="8839200" cy="5181600"/>
        </p:xfrm>
        <a:graphic>
          <a:graphicData uri="http://schemas.openxmlformats.org/drawingml/2006/table">
            <a:tbl>
              <a:tblPr>
                <a:tableStyleId>{125E5076-3810-47DD-B79F-674D7AD40C01}</a:tableStyleId>
              </a:tblPr>
              <a:tblGrid>
                <a:gridCol w="29464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518160">
                <a:tc>
                  <a:txBody>
                    <a:bodyPr/>
                    <a:lstStyle/>
                    <a:p>
                      <a:pPr fontAlgn="t"/>
                      <a:r>
                        <a:rPr lang="en-US" sz="2000" dirty="0">
                          <a:effectLst/>
                        </a:rPr>
                        <a:t>and</a:t>
                      </a:r>
                    </a:p>
                  </a:txBody>
                  <a:tcPr marL="63990" marR="63990" marT="63990" marB="63990"/>
                </a:tc>
                <a:tc>
                  <a:txBody>
                    <a:bodyPr/>
                    <a:lstStyle/>
                    <a:p>
                      <a:pPr fontAlgn="t"/>
                      <a:r>
                        <a:rPr lang="en-US" sz="2000" dirty="0">
                          <a:effectLst/>
                        </a:rPr>
                        <a:t>exec</a:t>
                      </a:r>
                    </a:p>
                  </a:txBody>
                  <a:tcPr marL="63990" marR="63990" marT="63990" marB="63990"/>
                </a:tc>
                <a:tc>
                  <a:txBody>
                    <a:bodyPr/>
                    <a:lstStyle/>
                    <a:p>
                      <a:pPr fontAlgn="t"/>
                      <a:r>
                        <a:rPr lang="en-US" sz="2000" dirty="0">
                          <a:effectLst/>
                        </a:rPr>
                        <a:t>not</a:t>
                      </a:r>
                    </a:p>
                  </a:txBody>
                  <a:tcPr marL="63990" marR="63990" marT="63990" marB="63990"/>
                </a:tc>
                <a:extLst>
                  <a:ext uri="{0D108BD9-81ED-4DB2-BD59-A6C34878D82A}">
                    <a16:rowId xmlns:a16="http://schemas.microsoft.com/office/drawing/2014/main" val="10000"/>
                  </a:ext>
                </a:extLst>
              </a:tr>
              <a:tr h="518160">
                <a:tc>
                  <a:txBody>
                    <a:bodyPr/>
                    <a:lstStyle/>
                    <a:p>
                      <a:pPr fontAlgn="t"/>
                      <a:r>
                        <a:rPr lang="en-US" sz="2000" dirty="0">
                          <a:effectLst/>
                        </a:rPr>
                        <a:t>assert</a:t>
                      </a:r>
                    </a:p>
                  </a:txBody>
                  <a:tcPr marL="63990" marR="63990" marT="63990" marB="63990"/>
                </a:tc>
                <a:tc>
                  <a:txBody>
                    <a:bodyPr/>
                    <a:lstStyle/>
                    <a:p>
                      <a:pPr fontAlgn="t"/>
                      <a:r>
                        <a:rPr lang="en-US" sz="2000" dirty="0">
                          <a:effectLst/>
                        </a:rPr>
                        <a:t>finally</a:t>
                      </a:r>
                    </a:p>
                  </a:txBody>
                  <a:tcPr marL="63990" marR="63990" marT="63990" marB="63990"/>
                </a:tc>
                <a:tc>
                  <a:txBody>
                    <a:bodyPr/>
                    <a:lstStyle/>
                    <a:p>
                      <a:pPr fontAlgn="t"/>
                      <a:r>
                        <a:rPr lang="en-US" sz="2000" dirty="0">
                          <a:effectLst/>
                        </a:rPr>
                        <a:t>or</a:t>
                      </a:r>
                    </a:p>
                  </a:txBody>
                  <a:tcPr marL="63990" marR="63990" marT="63990" marB="63990"/>
                </a:tc>
                <a:extLst>
                  <a:ext uri="{0D108BD9-81ED-4DB2-BD59-A6C34878D82A}">
                    <a16:rowId xmlns:a16="http://schemas.microsoft.com/office/drawing/2014/main" val="10001"/>
                  </a:ext>
                </a:extLst>
              </a:tr>
              <a:tr h="518160">
                <a:tc>
                  <a:txBody>
                    <a:bodyPr/>
                    <a:lstStyle/>
                    <a:p>
                      <a:pPr fontAlgn="t"/>
                      <a:r>
                        <a:rPr lang="en-US" sz="2000" dirty="0">
                          <a:effectLst/>
                        </a:rPr>
                        <a:t>break</a:t>
                      </a:r>
                    </a:p>
                  </a:txBody>
                  <a:tcPr marL="63990" marR="63990" marT="63990" marB="63990"/>
                </a:tc>
                <a:tc>
                  <a:txBody>
                    <a:bodyPr/>
                    <a:lstStyle/>
                    <a:p>
                      <a:pPr fontAlgn="t"/>
                      <a:r>
                        <a:rPr lang="en-US" sz="2000" dirty="0">
                          <a:effectLst/>
                        </a:rPr>
                        <a:t>for</a:t>
                      </a:r>
                    </a:p>
                  </a:txBody>
                  <a:tcPr marL="63990" marR="63990" marT="63990" marB="63990"/>
                </a:tc>
                <a:tc>
                  <a:txBody>
                    <a:bodyPr/>
                    <a:lstStyle/>
                    <a:p>
                      <a:pPr fontAlgn="t"/>
                      <a:r>
                        <a:rPr lang="en-US" sz="2000" dirty="0">
                          <a:effectLst/>
                        </a:rPr>
                        <a:t>pass</a:t>
                      </a:r>
                    </a:p>
                  </a:txBody>
                  <a:tcPr marL="63990" marR="63990" marT="63990" marB="63990"/>
                </a:tc>
                <a:extLst>
                  <a:ext uri="{0D108BD9-81ED-4DB2-BD59-A6C34878D82A}">
                    <a16:rowId xmlns:a16="http://schemas.microsoft.com/office/drawing/2014/main" val="10002"/>
                  </a:ext>
                </a:extLst>
              </a:tr>
              <a:tr h="518160">
                <a:tc>
                  <a:txBody>
                    <a:bodyPr/>
                    <a:lstStyle/>
                    <a:p>
                      <a:pPr fontAlgn="t"/>
                      <a:r>
                        <a:rPr lang="en-US" sz="2000" dirty="0">
                          <a:effectLst/>
                        </a:rPr>
                        <a:t>class</a:t>
                      </a:r>
                    </a:p>
                  </a:txBody>
                  <a:tcPr marL="63990" marR="63990" marT="63990" marB="63990"/>
                </a:tc>
                <a:tc>
                  <a:txBody>
                    <a:bodyPr/>
                    <a:lstStyle/>
                    <a:p>
                      <a:pPr fontAlgn="t"/>
                      <a:r>
                        <a:rPr lang="en-US" sz="2000" dirty="0">
                          <a:effectLst/>
                        </a:rPr>
                        <a:t>from</a:t>
                      </a:r>
                    </a:p>
                  </a:txBody>
                  <a:tcPr marL="63990" marR="63990" marT="63990" marB="63990"/>
                </a:tc>
                <a:tc>
                  <a:txBody>
                    <a:bodyPr/>
                    <a:lstStyle/>
                    <a:p>
                      <a:pPr fontAlgn="t"/>
                      <a:r>
                        <a:rPr lang="en-US" sz="2000" dirty="0">
                          <a:effectLst/>
                        </a:rPr>
                        <a:t>print</a:t>
                      </a:r>
                    </a:p>
                  </a:txBody>
                  <a:tcPr marL="63990" marR="63990" marT="63990" marB="63990"/>
                </a:tc>
                <a:extLst>
                  <a:ext uri="{0D108BD9-81ED-4DB2-BD59-A6C34878D82A}">
                    <a16:rowId xmlns:a16="http://schemas.microsoft.com/office/drawing/2014/main" val="10003"/>
                  </a:ext>
                </a:extLst>
              </a:tr>
              <a:tr h="518160">
                <a:tc>
                  <a:txBody>
                    <a:bodyPr/>
                    <a:lstStyle/>
                    <a:p>
                      <a:pPr fontAlgn="t"/>
                      <a:r>
                        <a:rPr lang="en-US" sz="2000" dirty="0">
                          <a:effectLst/>
                        </a:rPr>
                        <a:t>continue</a:t>
                      </a:r>
                    </a:p>
                  </a:txBody>
                  <a:tcPr marL="63990" marR="63990" marT="63990" marB="63990"/>
                </a:tc>
                <a:tc>
                  <a:txBody>
                    <a:bodyPr/>
                    <a:lstStyle/>
                    <a:p>
                      <a:pPr fontAlgn="t"/>
                      <a:r>
                        <a:rPr lang="en-US" sz="2000" dirty="0">
                          <a:effectLst/>
                        </a:rPr>
                        <a:t>global</a:t>
                      </a:r>
                    </a:p>
                  </a:txBody>
                  <a:tcPr marL="63990" marR="63990" marT="63990" marB="63990"/>
                </a:tc>
                <a:tc>
                  <a:txBody>
                    <a:bodyPr/>
                    <a:lstStyle/>
                    <a:p>
                      <a:pPr fontAlgn="t"/>
                      <a:r>
                        <a:rPr lang="en-US" sz="2000" dirty="0">
                          <a:effectLst/>
                        </a:rPr>
                        <a:t>raise</a:t>
                      </a:r>
                    </a:p>
                  </a:txBody>
                  <a:tcPr marL="63990" marR="63990" marT="63990" marB="63990"/>
                </a:tc>
                <a:extLst>
                  <a:ext uri="{0D108BD9-81ED-4DB2-BD59-A6C34878D82A}">
                    <a16:rowId xmlns:a16="http://schemas.microsoft.com/office/drawing/2014/main" val="10004"/>
                  </a:ext>
                </a:extLst>
              </a:tr>
              <a:tr h="518160">
                <a:tc>
                  <a:txBody>
                    <a:bodyPr/>
                    <a:lstStyle/>
                    <a:p>
                      <a:pPr fontAlgn="t"/>
                      <a:r>
                        <a:rPr lang="en-US" sz="2000" dirty="0">
                          <a:effectLst/>
                        </a:rPr>
                        <a:t>def</a:t>
                      </a:r>
                    </a:p>
                  </a:txBody>
                  <a:tcPr marL="63990" marR="63990" marT="63990" marB="63990"/>
                </a:tc>
                <a:tc>
                  <a:txBody>
                    <a:bodyPr/>
                    <a:lstStyle/>
                    <a:p>
                      <a:pPr fontAlgn="t"/>
                      <a:r>
                        <a:rPr lang="en-US" sz="2000" dirty="0">
                          <a:effectLst/>
                        </a:rPr>
                        <a:t>if</a:t>
                      </a:r>
                    </a:p>
                  </a:txBody>
                  <a:tcPr marL="63990" marR="63990" marT="63990" marB="63990"/>
                </a:tc>
                <a:tc>
                  <a:txBody>
                    <a:bodyPr/>
                    <a:lstStyle/>
                    <a:p>
                      <a:pPr fontAlgn="t"/>
                      <a:r>
                        <a:rPr lang="en-US" sz="2000" dirty="0">
                          <a:effectLst/>
                        </a:rPr>
                        <a:t>return</a:t>
                      </a:r>
                    </a:p>
                  </a:txBody>
                  <a:tcPr marL="63990" marR="63990" marT="63990" marB="63990"/>
                </a:tc>
                <a:extLst>
                  <a:ext uri="{0D108BD9-81ED-4DB2-BD59-A6C34878D82A}">
                    <a16:rowId xmlns:a16="http://schemas.microsoft.com/office/drawing/2014/main" val="10005"/>
                  </a:ext>
                </a:extLst>
              </a:tr>
              <a:tr h="518160">
                <a:tc>
                  <a:txBody>
                    <a:bodyPr/>
                    <a:lstStyle/>
                    <a:p>
                      <a:pPr fontAlgn="t"/>
                      <a:r>
                        <a:rPr lang="en-US" sz="2000" dirty="0">
                          <a:effectLst/>
                        </a:rPr>
                        <a:t>del</a:t>
                      </a:r>
                    </a:p>
                  </a:txBody>
                  <a:tcPr marL="63990" marR="63990" marT="63990" marB="63990"/>
                </a:tc>
                <a:tc>
                  <a:txBody>
                    <a:bodyPr/>
                    <a:lstStyle/>
                    <a:p>
                      <a:pPr fontAlgn="t"/>
                      <a:r>
                        <a:rPr lang="en-US" sz="2000" dirty="0">
                          <a:effectLst/>
                        </a:rPr>
                        <a:t>import</a:t>
                      </a:r>
                    </a:p>
                  </a:txBody>
                  <a:tcPr marL="63990" marR="63990" marT="63990" marB="63990"/>
                </a:tc>
                <a:tc>
                  <a:txBody>
                    <a:bodyPr/>
                    <a:lstStyle/>
                    <a:p>
                      <a:pPr fontAlgn="t"/>
                      <a:r>
                        <a:rPr lang="en-US" sz="2000" dirty="0">
                          <a:effectLst/>
                        </a:rPr>
                        <a:t>try</a:t>
                      </a:r>
                    </a:p>
                  </a:txBody>
                  <a:tcPr marL="63990" marR="63990" marT="63990" marB="63990"/>
                </a:tc>
                <a:extLst>
                  <a:ext uri="{0D108BD9-81ED-4DB2-BD59-A6C34878D82A}">
                    <a16:rowId xmlns:a16="http://schemas.microsoft.com/office/drawing/2014/main" val="10006"/>
                  </a:ext>
                </a:extLst>
              </a:tr>
              <a:tr h="518160">
                <a:tc>
                  <a:txBody>
                    <a:bodyPr/>
                    <a:lstStyle/>
                    <a:p>
                      <a:pPr fontAlgn="t"/>
                      <a:r>
                        <a:rPr lang="en-US" sz="2000" dirty="0">
                          <a:effectLst/>
                        </a:rPr>
                        <a:t>elif</a:t>
                      </a:r>
                    </a:p>
                  </a:txBody>
                  <a:tcPr marL="63990" marR="63990" marT="63990" marB="63990"/>
                </a:tc>
                <a:tc>
                  <a:txBody>
                    <a:bodyPr/>
                    <a:lstStyle/>
                    <a:p>
                      <a:pPr fontAlgn="t"/>
                      <a:r>
                        <a:rPr lang="en-US" sz="2000" dirty="0">
                          <a:effectLst/>
                        </a:rPr>
                        <a:t>in</a:t>
                      </a:r>
                    </a:p>
                  </a:txBody>
                  <a:tcPr marL="63990" marR="63990" marT="63990" marB="63990"/>
                </a:tc>
                <a:tc>
                  <a:txBody>
                    <a:bodyPr/>
                    <a:lstStyle/>
                    <a:p>
                      <a:pPr fontAlgn="t"/>
                      <a:r>
                        <a:rPr lang="en-US" sz="2000" dirty="0">
                          <a:effectLst/>
                        </a:rPr>
                        <a:t>while</a:t>
                      </a:r>
                    </a:p>
                  </a:txBody>
                  <a:tcPr marL="63990" marR="63990" marT="63990" marB="63990"/>
                </a:tc>
                <a:extLst>
                  <a:ext uri="{0D108BD9-81ED-4DB2-BD59-A6C34878D82A}">
                    <a16:rowId xmlns:a16="http://schemas.microsoft.com/office/drawing/2014/main" val="10007"/>
                  </a:ext>
                </a:extLst>
              </a:tr>
              <a:tr h="518160">
                <a:tc>
                  <a:txBody>
                    <a:bodyPr/>
                    <a:lstStyle/>
                    <a:p>
                      <a:pPr fontAlgn="t"/>
                      <a:r>
                        <a:rPr lang="en-US" sz="2000" dirty="0">
                          <a:effectLst/>
                        </a:rPr>
                        <a:t>else</a:t>
                      </a:r>
                    </a:p>
                  </a:txBody>
                  <a:tcPr marL="63990" marR="63990" marT="63990" marB="63990"/>
                </a:tc>
                <a:tc>
                  <a:txBody>
                    <a:bodyPr/>
                    <a:lstStyle/>
                    <a:p>
                      <a:pPr fontAlgn="t"/>
                      <a:r>
                        <a:rPr lang="en-US" sz="2000" dirty="0">
                          <a:effectLst/>
                        </a:rPr>
                        <a:t>is</a:t>
                      </a:r>
                    </a:p>
                  </a:txBody>
                  <a:tcPr marL="63990" marR="63990" marT="63990" marB="63990"/>
                </a:tc>
                <a:tc>
                  <a:txBody>
                    <a:bodyPr/>
                    <a:lstStyle/>
                    <a:p>
                      <a:pPr fontAlgn="t"/>
                      <a:r>
                        <a:rPr lang="en-US" sz="2000" dirty="0">
                          <a:effectLst/>
                        </a:rPr>
                        <a:t>with</a:t>
                      </a:r>
                    </a:p>
                  </a:txBody>
                  <a:tcPr marL="63990" marR="63990" marT="63990" marB="63990"/>
                </a:tc>
                <a:extLst>
                  <a:ext uri="{0D108BD9-81ED-4DB2-BD59-A6C34878D82A}">
                    <a16:rowId xmlns:a16="http://schemas.microsoft.com/office/drawing/2014/main" val="10008"/>
                  </a:ext>
                </a:extLst>
              </a:tr>
              <a:tr h="518160">
                <a:tc>
                  <a:txBody>
                    <a:bodyPr/>
                    <a:lstStyle/>
                    <a:p>
                      <a:pPr fontAlgn="t"/>
                      <a:r>
                        <a:rPr lang="en-US" sz="2000" dirty="0">
                          <a:effectLst/>
                        </a:rPr>
                        <a:t>except</a:t>
                      </a:r>
                    </a:p>
                  </a:txBody>
                  <a:tcPr marL="63990" marR="63990" marT="63990" marB="63990"/>
                </a:tc>
                <a:tc>
                  <a:txBody>
                    <a:bodyPr/>
                    <a:lstStyle/>
                    <a:p>
                      <a:pPr fontAlgn="t"/>
                      <a:r>
                        <a:rPr lang="en-US" sz="2000" dirty="0">
                          <a:effectLst/>
                        </a:rPr>
                        <a:t>lambda</a:t>
                      </a:r>
                    </a:p>
                  </a:txBody>
                  <a:tcPr marL="63990" marR="63990" marT="63990" marB="63990"/>
                </a:tc>
                <a:tc>
                  <a:txBody>
                    <a:bodyPr/>
                    <a:lstStyle/>
                    <a:p>
                      <a:pPr fontAlgn="t"/>
                      <a:r>
                        <a:rPr lang="en-US" sz="2000" dirty="0">
                          <a:effectLst/>
                        </a:rPr>
                        <a:t>yield</a:t>
                      </a:r>
                    </a:p>
                  </a:txBody>
                  <a:tcPr marL="63990" marR="63990" marT="63990" marB="6399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2542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Assignment </a:t>
            </a:r>
            <a:r>
              <a:rPr lang="en-US" altLang="en-US" dirty="0">
                <a:solidFill>
                  <a:srgbClr val="FF0000"/>
                </a:solidFill>
              </a:rPr>
              <a:t>Statements</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797361908"/>
              </p:ext>
            </p:extLst>
          </p:nvPr>
        </p:nvGraphicFramePr>
        <p:xfrm>
          <a:off x="2132012" y="787400"/>
          <a:ext cx="9372600" cy="5680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1349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altLang="en-US" dirty="0"/>
              <a:t>Assignment </a:t>
            </a:r>
            <a:r>
              <a:rPr lang="en-US" altLang="en-US" dirty="0">
                <a:solidFill>
                  <a:srgbClr val="FF0000"/>
                </a:solidFill>
              </a:rPr>
              <a:t>Statements</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pic>
        <p:nvPicPr>
          <p:cNvPr id="2" name="Picture 1"/>
          <p:cNvPicPr>
            <a:picLocks noChangeAspect="1"/>
          </p:cNvPicPr>
          <p:nvPr/>
        </p:nvPicPr>
        <p:blipFill>
          <a:blip r:embed="rId2"/>
          <a:stretch>
            <a:fillRect/>
          </a:stretch>
        </p:blipFill>
        <p:spPr>
          <a:xfrm>
            <a:off x="4799012" y="990600"/>
            <a:ext cx="5791200" cy="5232399"/>
          </a:xfrm>
          <a:prstGeom prst="rect">
            <a:avLst/>
          </a:prstGeom>
          <a:ln w="38100">
            <a:solidFill>
              <a:schemeClr val="tx1"/>
            </a:solidFill>
          </a:ln>
        </p:spPr>
      </p:pic>
      <p:sp>
        <p:nvSpPr>
          <p:cNvPr id="3" name="Right Arrow 2"/>
          <p:cNvSpPr/>
          <p:nvPr/>
        </p:nvSpPr>
        <p:spPr>
          <a:xfrm>
            <a:off x="3427412" y="2177534"/>
            <a:ext cx="1905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1335173" y="2234624"/>
            <a:ext cx="2092239" cy="400110"/>
          </a:xfrm>
          <a:prstGeom prst="rect">
            <a:avLst/>
          </a:prstGeom>
          <a:noFill/>
        </p:spPr>
        <p:txBody>
          <a:bodyPr wrap="none" rtlCol="0">
            <a:spAutoFit/>
          </a:bodyPr>
          <a:lstStyle/>
          <a:p>
            <a:r>
              <a:rPr lang="en-US" sz="2000" dirty="0">
                <a:solidFill>
                  <a:srgbClr val="FF0000"/>
                </a:solidFill>
                <a:latin typeface="Arial" panose="020B0604020202020204" pitchFamily="34" charset="0"/>
                <a:cs typeface="Arial" panose="020B0604020202020204" pitchFamily="34" charset="0"/>
              </a:rPr>
              <a:t>Memory address</a:t>
            </a:r>
          </a:p>
        </p:txBody>
      </p:sp>
    </p:spTree>
    <p:extLst>
      <p:ext uri="{BB962C8B-B14F-4D97-AF65-F5344CB8AC3E}">
        <p14:creationId xmlns:p14="http://schemas.microsoft.com/office/powerpoint/2010/main" val="397754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Strings</a:t>
            </a: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3123801289"/>
              </p:ext>
            </p:extLst>
          </p:nvPr>
        </p:nvGraphicFramePr>
        <p:xfrm>
          <a:off x="1979612" y="787401"/>
          <a:ext cx="95250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p:cNvSpPr>
            <a:spLocks noChangeArrowheads="1"/>
          </p:cNvSpPr>
          <p:nvPr/>
        </p:nvSpPr>
        <p:spPr bwMode="auto">
          <a:xfrm>
            <a:off x="1674812" y="4335334"/>
            <a:ext cx="9982200" cy="1787649"/>
          </a:xfrm>
          <a:prstGeom prst="rect">
            <a:avLst/>
          </a:prstGeom>
          <a:solidFill>
            <a:srgbClr val="EEEEEE"/>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lvl="0" defTabSz="914400" eaLnBrk="0" fontAlgn="base" hangingPunct="0">
              <a:spcBef>
                <a:spcPct val="0"/>
              </a:spcBef>
              <a:spcAft>
                <a:spcPct val="0"/>
              </a:spcAft>
            </a:pPr>
            <a:r>
              <a:rPr lang="en-US" altLang="en-US" sz="2800" dirty="0">
                <a:solidFill>
                  <a:srgbClr val="313131"/>
                </a:solidFill>
                <a:latin typeface="Calibri" panose="020F0502020204030204" pitchFamily="34" charset="0"/>
                <a:cs typeface="Calibri" panose="020F0502020204030204" pitchFamily="34" charset="0"/>
              </a:rPr>
              <a:t>word </a:t>
            </a:r>
            <a:r>
              <a:rPr lang="en-US" altLang="en-US" sz="2800" dirty="0">
                <a:solidFill>
                  <a:srgbClr val="666600"/>
                </a:solidFill>
                <a:latin typeface="Calibri" panose="020F0502020204030204" pitchFamily="34" charset="0"/>
                <a:cs typeface="Calibri" panose="020F0502020204030204" pitchFamily="34" charset="0"/>
              </a:rPr>
              <a:t>=</a:t>
            </a:r>
            <a:r>
              <a:rPr lang="en-US" altLang="en-US" sz="2800" dirty="0">
                <a:solidFill>
                  <a:srgbClr val="313131"/>
                </a:solidFill>
                <a:latin typeface="Calibri" panose="020F0502020204030204" pitchFamily="34" charset="0"/>
                <a:cs typeface="Calibri" panose="020F0502020204030204" pitchFamily="34" charset="0"/>
              </a:rPr>
              <a:t> </a:t>
            </a:r>
            <a:r>
              <a:rPr lang="en-US" altLang="en-US" sz="2800" dirty="0">
                <a:solidFill>
                  <a:srgbClr val="FF0000"/>
                </a:solidFill>
                <a:latin typeface="Calibri" panose="020F0502020204030204" pitchFamily="34" charset="0"/>
                <a:cs typeface="Calibri" panose="020F0502020204030204" pitchFamily="34" charset="0"/>
              </a:rPr>
              <a:t>'</a:t>
            </a:r>
            <a:r>
              <a:rPr lang="en-US" altLang="en-US" sz="2800" dirty="0">
                <a:solidFill>
                  <a:srgbClr val="008800"/>
                </a:solidFill>
                <a:latin typeface="Calibri" panose="020F0502020204030204" pitchFamily="34" charset="0"/>
                <a:cs typeface="Calibri" panose="020F0502020204030204" pitchFamily="34" charset="0"/>
              </a:rPr>
              <a:t>word</a:t>
            </a:r>
            <a:r>
              <a:rPr lang="en-US" altLang="en-US" sz="2800" dirty="0">
                <a:solidFill>
                  <a:srgbClr val="FF0000"/>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800" dirty="0">
                <a:solidFill>
                  <a:srgbClr val="313131"/>
                </a:solidFill>
                <a:latin typeface="Calibri" panose="020F0502020204030204" pitchFamily="34" charset="0"/>
                <a:cs typeface="Calibri" panose="020F0502020204030204" pitchFamily="34" charset="0"/>
              </a:rPr>
              <a:t>sentence </a:t>
            </a:r>
            <a:r>
              <a:rPr lang="en-US" altLang="en-US" sz="2800" dirty="0">
                <a:solidFill>
                  <a:srgbClr val="666600"/>
                </a:solidFill>
                <a:latin typeface="Calibri" panose="020F0502020204030204" pitchFamily="34" charset="0"/>
                <a:cs typeface="Calibri" panose="020F0502020204030204" pitchFamily="34" charset="0"/>
              </a:rPr>
              <a:t>=</a:t>
            </a:r>
            <a:r>
              <a:rPr lang="en-US" altLang="en-US" sz="2800" dirty="0">
                <a:solidFill>
                  <a:srgbClr val="313131"/>
                </a:solidFill>
                <a:latin typeface="Calibri" panose="020F0502020204030204" pitchFamily="34" charset="0"/>
                <a:cs typeface="Calibri" panose="020F0502020204030204" pitchFamily="34" charset="0"/>
              </a:rPr>
              <a:t> </a:t>
            </a:r>
            <a:r>
              <a:rPr lang="en-US" altLang="en-US" sz="2800" dirty="0">
                <a:solidFill>
                  <a:srgbClr val="FF0000"/>
                </a:solidFill>
                <a:latin typeface="Calibri" panose="020F0502020204030204" pitchFamily="34" charset="0"/>
                <a:cs typeface="Calibri" panose="020F0502020204030204" pitchFamily="34" charset="0"/>
              </a:rPr>
              <a:t>"</a:t>
            </a:r>
            <a:r>
              <a:rPr lang="en-US" altLang="en-US" sz="2800" dirty="0">
                <a:solidFill>
                  <a:srgbClr val="008800"/>
                </a:solidFill>
                <a:latin typeface="Calibri" panose="020F0502020204030204" pitchFamily="34" charset="0"/>
                <a:cs typeface="Calibri" panose="020F0502020204030204" pitchFamily="34" charset="0"/>
              </a:rPr>
              <a:t>This is a sentence.</a:t>
            </a:r>
            <a:r>
              <a:rPr lang="en-US" altLang="en-US" sz="2800" dirty="0">
                <a:solidFill>
                  <a:srgbClr val="FF0000"/>
                </a:solidFill>
                <a:latin typeface="Calibri" panose="020F0502020204030204" pitchFamily="34" charset="0"/>
                <a:cs typeface="Calibri" panose="020F0502020204030204" pitchFamily="34" charset="0"/>
              </a:rPr>
              <a:t>"</a:t>
            </a:r>
            <a:r>
              <a:rPr lang="en-US" altLang="en-US" sz="2800" dirty="0">
                <a:solidFill>
                  <a:srgbClr val="313131"/>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800" dirty="0">
                <a:solidFill>
                  <a:srgbClr val="313131"/>
                </a:solidFill>
                <a:latin typeface="Calibri" panose="020F0502020204030204" pitchFamily="34" charset="0"/>
                <a:cs typeface="Calibri" panose="020F0502020204030204" pitchFamily="34" charset="0"/>
              </a:rPr>
              <a:t>paragraph </a:t>
            </a:r>
            <a:r>
              <a:rPr lang="en-US" altLang="en-US" sz="2800" dirty="0">
                <a:solidFill>
                  <a:srgbClr val="666600"/>
                </a:solidFill>
                <a:latin typeface="Calibri" panose="020F0502020204030204" pitchFamily="34" charset="0"/>
                <a:cs typeface="Calibri" panose="020F0502020204030204" pitchFamily="34" charset="0"/>
              </a:rPr>
              <a:t>=</a:t>
            </a:r>
            <a:r>
              <a:rPr lang="en-US" altLang="en-US" sz="2800" dirty="0">
                <a:solidFill>
                  <a:srgbClr val="313131"/>
                </a:solidFill>
                <a:latin typeface="Calibri" panose="020F0502020204030204" pitchFamily="34" charset="0"/>
                <a:cs typeface="Calibri" panose="020F0502020204030204" pitchFamily="34" charset="0"/>
              </a:rPr>
              <a:t> </a:t>
            </a:r>
            <a:r>
              <a:rPr lang="en-US" altLang="en-US" sz="2800" dirty="0">
                <a:solidFill>
                  <a:srgbClr val="00B0F0"/>
                </a:solidFill>
                <a:latin typeface="Calibri" panose="020F0502020204030204" pitchFamily="34" charset="0"/>
                <a:cs typeface="Calibri" panose="020F0502020204030204" pitchFamily="34" charset="0"/>
              </a:rPr>
              <a:t>"</a:t>
            </a:r>
            <a:r>
              <a:rPr lang="en-US" altLang="en-US" sz="2800" dirty="0">
                <a:solidFill>
                  <a:srgbClr val="FFC000"/>
                </a:solidFill>
                <a:latin typeface="Calibri" panose="020F0502020204030204" pitchFamily="34" charset="0"/>
                <a:cs typeface="Calibri" panose="020F0502020204030204" pitchFamily="34" charset="0"/>
              </a:rPr>
              <a:t>"</a:t>
            </a:r>
            <a:r>
              <a:rPr lang="en-US" altLang="en-US" sz="2800" dirty="0">
                <a:solidFill>
                  <a:srgbClr val="FF0000"/>
                </a:solidFill>
                <a:latin typeface="Calibri" panose="020F0502020204030204" pitchFamily="34" charset="0"/>
                <a:cs typeface="Calibri" panose="020F0502020204030204" pitchFamily="34" charset="0"/>
              </a:rPr>
              <a:t>"</a:t>
            </a:r>
            <a:r>
              <a:rPr lang="en-US" altLang="en-US" sz="2800" dirty="0">
                <a:solidFill>
                  <a:srgbClr val="008800"/>
                </a:solidFill>
                <a:latin typeface="Calibri" panose="020F0502020204030204" pitchFamily="34" charset="0"/>
                <a:cs typeface="Calibri" panose="020F0502020204030204" pitchFamily="34" charset="0"/>
              </a:rPr>
              <a:t>This is a paragraph. It is made up of multiple lines and sentences.</a:t>
            </a:r>
            <a:r>
              <a:rPr lang="en-US" altLang="en-US" sz="2800" dirty="0">
                <a:solidFill>
                  <a:srgbClr val="FF0000"/>
                </a:solidFill>
                <a:latin typeface="Calibri" panose="020F0502020204030204" pitchFamily="34" charset="0"/>
                <a:cs typeface="Calibri" panose="020F0502020204030204" pitchFamily="34" charset="0"/>
              </a:rPr>
              <a:t>"</a:t>
            </a:r>
            <a:r>
              <a:rPr lang="en-US" altLang="en-US" sz="2800" dirty="0">
                <a:solidFill>
                  <a:srgbClr val="FFC000"/>
                </a:solidFill>
                <a:latin typeface="Calibri" panose="020F0502020204030204" pitchFamily="34" charset="0"/>
                <a:cs typeface="Calibri" panose="020F0502020204030204" pitchFamily="34" charset="0"/>
              </a:rPr>
              <a:t>"</a:t>
            </a:r>
            <a:r>
              <a:rPr lang="en-US" altLang="en-US" sz="2800" dirty="0">
                <a:solidFill>
                  <a:srgbClr val="00B0F0"/>
                </a:solidFill>
                <a:latin typeface="Calibri" panose="020F0502020204030204" pitchFamily="34" charset="0"/>
                <a:cs typeface="Calibri" panose="020F0502020204030204" pitchFamily="34" charset="0"/>
              </a:rPr>
              <a:t>"</a:t>
            </a:r>
            <a:r>
              <a:rPr lang="en-US" altLang="en-US" sz="2800" dirty="0">
                <a:latin typeface="Calibri" panose="020F0502020204030204" pitchFamily="34" charset="0"/>
                <a:cs typeface="Calibri" panose="020F0502020204030204" pitchFamily="34" charset="0"/>
              </a:rPr>
              <a:t> </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398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Comments</a:t>
            </a: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2950344708"/>
              </p:ext>
            </p:extLst>
          </p:nvPr>
        </p:nvGraphicFramePr>
        <p:xfrm>
          <a:off x="1674812" y="914400"/>
          <a:ext cx="102870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2436812" y="5105400"/>
            <a:ext cx="9067800" cy="1172096"/>
          </a:xfrm>
          <a:prstGeom prst="rect">
            <a:avLst/>
          </a:prstGeom>
          <a:solidFill>
            <a:srgbClr val="EEEEEE"/>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lvl="0" defTabSz="914400" eaLnBrk="0" fontAlgn="base" hangingPunct="0">
              <a:spcBef>
                <a:spcPct val="0"/>
              </a:spcBef>
              <a:spcAft>
                <a:spcPct val="0"/>
              </a:spcAft>
            </a:pPr>
            <a:r>
              <a:rPr lang="en-US" altLang="en-US" sz="3600" dirty="0">
                <a:solidFill>
                  <a:srgbClr val="880000"/>
                </a:solidFill>
                <a:latin typeface="Calibri" panose="020F0502020204030204" pitchFamily="34" charset="0"/>
                <a:cs typeface="Calibri" panose="020F0502020204030204" pitchFamily="34" charset="0"/>
              </a:rPr>
              <a:t># First comment</a:t>
            </a:r>
            <a:r>
              <a:rPr lang="en-US" altLang="en-US" sz="3600" dirty="0">
                <a:solidFill>
                  <a:srgbClr val="313131"/>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3600" dirty="0">
                <a:solidFill>
                  <a:srgbClr val="000088"/>
                </a:solidFill>
                <a:latin typeface="Calibri" panose="020F0502020204030204" pitchFamily="34" charset="0"/>
                <a:cs typeface="Calibri" panose="020F0502020204030204" pitchFamily="34" charset="0"/>
              </a:rPr>
              <a:t>print</a:t>
            </a:r>
            <a:r>
              <a:rPr lang="en-US" altLang="en-US" sz="3600" dirty="0">
                <a:solidFill>
                  <a:srgbClr val="313131"/>
                </a:solidFill>
                <a:latin typeface="Calibri" panose="020F0502020204030204" pitchFamily="34" charset="0"/>
                <a:cs typeface="Calibri" panose="020F0502020204030204" pitchFamily="34" charset="0"/>
              </a:rPr>
              <a:t> </a:t>
            </a:r>
            <a:r>
              <a:rPr lang="en-US" altLang="en-US" sz="3600" dirty="0">
                <a:solidFill>
                  <a:srgbClr val="008800"/>
                </a:solidFill>
                <a:latin typeface="Calibri" panose="020F0502020204030204" pitchFamily="34" charset="0"/>
                <a:cs typeface="Calibri" panose="020F0502020204030204" pitchFamily="34" charset="0"/>
              </a:rPr>
              <a:t>"Hello, Python!"</a:t>
            </a:r>
            <a:r>
              <a:rPr lang="en-US" altLang="en-US" sz="3600" dirty="0">
                <a:solidFill>
                  <a:srgbClr val="313131"/>
                </a:solidFill>
                <a:latin typeface="Calibri" panose="020F0502020204030204" pitchFamily="34" charset="0"/>
                <a:cs typeface="Calibri" panose="020F0502020204030204" pitchFamily="34" charset="0"/>
              </a:rPr>
              <a:t> </a:t>
            </a:r>
            <a:r>
              <a:rPr lang="en-US" altLang="en-US" sz="3600" dirty="0">
                <a:solidFill>
                  <a:srgbClr val="880000"/>
                </a:solidFill>
                <a:latin typeface="Calibri" panose="020F0502020204030204" pitchFamily="34" charset="0"/>
                <a:cs typeface="Calibri" panose="020F0502020204030204" pitchFamily="34" charset="0"/>
              </a:rPr>
              <a:t># second comment</a:t>
            </a:r>
            <a:r>
              <a:rPr lang="en-US" altLang="en-US" sz="3600" dirty="0">
                <a:latin typeface="Calibri" panose="020F0502020204030204" pitchFamily="34" charset="0"/>
                <a:cs typeface="Calibri" panose="020F0502020204030204" pitchFamily="34" charset="0"/>
              </a:rPr>
              <a:t> </a:t>
            </a: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069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Multiple Assignments</a:t>
            </a:r>
          </a:p>
        </p:txBody>
      </p:sp>
      <p:sp>
        <p:nvSpPr>
          <p:cNvPr id="4" name="Rectangle 3"/>
          <p:cNvSpPr/>
          <p:nvPr/>
        </p:nvSpPr>
        <p:spPr>
          <a:xfrm>
            <a:off x="1598612" y="943970"/>
            <a:ext cx="8763000" cy="19050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t>Python allows to assign a single value to </a:t>
            </a:r>
            <a:r>
              <a:rPr lang="en-US" sz="2800" dirty="0">
                <a:solidFill>
                  <a:srgbClr val="FF0000"/>
                </a:solidFill>
              </a:rPr>
              <a:t>several</a:t>
            </a:r>
            <a:r>
              <a:rPr lang="en-US" sz="2800" dirty="0"/>
              <a:t> variables at the same time.</a:t>
            </a:r>
            <a:endParaRPr lang="he-IL" altLang="en-US" sz="2800" dirty="0"/>
          </a:p>
        </p:txBody>
      </p:sp>
      <p:sp>
        <p:nvSpPr>
          <p:cNvPr id="6" name="Rectangle 5"/>
          <p:cNvSpPr/>
          <p:nvPr/>
        </p:nvSpPr>
        <p:spPr>
          <a:xfrm>
            <a:off x="2741612" y="3602630"/>
            <a:ext cx="5867400" cy="170597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 = b = c = 1</a:t>
            </a:r>
            <a:endParaRPr lang="he-IL" altLang="en-US" sz="3600" dirty="0"/>
          </a:p>
        </p:txBody>
      </p:sp>
    </p:spTree>
    <p:extLst>
      <p:ext uri="{BB962C8B-B14F-4D97-AF65-F5344CB8AC3E}">
        <p14:creationId xmlns:p14="http://schemas.microsoft.com/office/powerpoint/2010/main" val="318176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Multiple Statements on a Single Line</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p:nvPr/>
        </p:nvSpPr>
        <p:spPr>
          <a:xfrm>
            <a:off x="1674812" y="1524000"/>
            <a:ext cx="9791700" cy="170597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t>The semicolon ( </a:t>
            </a:r>
            <a:r>
              <a:rPr lang="en-US" sz="2800" dirty="0">
                <a:solidFill>
                  <a:srgbClr val="FF0000"/>
                </a:solidFill>
              </a:rPr>
              <a:t>;</a:t>
            </a:r>
            <a:r>
              <a:rPr lang="en-US" sz="2800" dirty="0"/>
              <a:t> ) allows multiple statements on the single line given that neither statement starts a new code block</a:t>
            </a:r>
          </a:p>
        </p:txBody>
      </p:sp>
      <p:sp>
        <p:nvSpPr>
          <p:cNvPr id="8" name="Rectangle 7"/>
          <p:cNvSpPr/>
          <p:nvPr/>
        </p:nvSpPr>
        <p:spPr>
          <a:xfrm>
            <a:off x="2988468" y="3886200"/>
            <a:ext cx="6211888" cy="170597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base">
              <a:spcBef>
                <a:spcPct val="0"/>
              </a:spcBef>
              <a:spcAft>
                <a:spcPct val="0"/>
              </a:spcAft>
            </a:pPr>
            <a:r>
              <a:rPr lang="en-US" altLang="en-US" sz="3600" dirty="0"/>
              <a:t># First comment </a:t>
            </a:r>
          </a:p>
          <a:p>
            <a:pPr lvl="0" fontAlgn="base">
              <a:spcBef>
                <a:spcPct val="0"/>
              </a:spcBef>
              <a:spcAft>
                <a:spcPct val="0"/>
              </a:spcAft>
            </a:pPr>
            <a:r>
              <a:rPr lang="es-ES" altLang="en-US" sz="3600" dirty="0"/>
              <a:t>x = 5; y = 12</a:t>
            </a:r>
          </a:p>
          <a:p>
            <a:pPr lvl="0" fontAlgn="base">
              <a:spcBef>
                <a:spcPct val="0"/>
              </a:spcBef>
              <a:spcAft>
                <a:spcPct val="0"/>
              </a:spcAft>
            </a:pPr>
            <a:r>
              <a:rPr lang="es-ES" altLang="en-US" sz="3600" dirty="0"/>
              <a:t>print(x + y)</a:t>
            </a:r>
            <a:endParaRPr lang="he-IL" altLang="en-US" sz="3600" dirty="0"/>
          </a:p>
        </p:txBody>
      </p:sp>
    </p:spTree>
    <p:extLst>
      <p:ext uri="{BB962C8B-B14F-4D97-AF65-F5344CB8AC3E}">
        <p14:creationId xmlns:p14="http://schemas.microsoft.com/office/powerpoint/2010/main" val="22499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a:bodyPr>
          <a:lstStyle/>
          <a:p>
            <a:pPr algn="ctr"/>
            <a:r>
              <a:rPr lang="en-US" altLang="en-US" dirty="0">
                <a:solidFill>
                  <a:srgbClr val="FF0000"/>
                </a:solidFill>
              </a:rPr>
              <a:t>Python – </a:t>
            </a:r>
            <a:r>
              <a:rPr lang="en-US" dirty="0"/>
              <a:t>Lines/Indentation</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51596642"/>
              </p:ext>
            </p:extLst>
          </p:nvPr>
        </p:nvGraphicFramePr>
        <p:xfrm>
          <a:off x="1446212" y="787401"/>
          <a:ext cx="105918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p:cNvSpPr>
            <a:spLocks noChangeArrowheads="1"/>
          </p:cNvSpPr>
          <p:nvPr/>
        </p:nvSpPr>
        <p:spPr bwMode="auto">
          <a:xfrm>
            <a:off x="3960812" y="4267200"/>
            <a:ext cx="4419600" cy="2280091"/>
          </a:xfrm>
          <a:prstGeom prst="rect">
            <a:avLst/>
          </a:prstGeom>
          <a:solidFill>
            <a:srgbClr val="EEEEEE"/>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if</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True</a:t>
            </a:r>
            <a:r>
              <a:rPr kumimoji="0" lang="en-US" altLang="en-US" b="0" i="0" u="none" strike="noStrike" cap="none" normalizeH="0" baseline="0" dirty="0">
                <a:ln>
                  <a:noFill/>
                </a:ln>
                <a:solidFill>
                  <a:srgbClr val="666600"/>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13131"/>
                </a:solidFill>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print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8800"/>
                </a:solidFill>
                <a:effectLst/>
                <a:latin typeface="Arial" panose="020B0604020202020204" pitchFamily="34" charset="0"/>
                <a:cs typeface="Arial" panose="020B0604020202020204" pitchFamily="34" charset="0"/>
              </a:rPr>
              <a:t>"Answer"</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13131"/>
                </a:solidFill>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print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8800"/>
                </a:solidFill>
                <a:effectLst/>
                <a:latin typeface="Arial" panose="020B0604020202020204" pitchFamily="34" charset="0"/>
                <a:cs typeface="Arial" panose="020B0604020202020204" pitchFamily="34" charset="0"/>
              </a:rPr>
              <a:t>"True"</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else</a:t>
            </a:r>
            <a:r>
              <a:rPr kumimoji="0" lang="en-US" altLang="en-US" b="0" i="0" u="none" strike="noStrike" cap="none" normalizeH="0" baseline="0" dirty="0">
                <a:ln>
                  <a:noFill/>
                </a:ln>
                <a:solidFill>
                  <a:srgbClr val="666600"/>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13131"/>
                </a:solidFill>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print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8800"/>
                </a:solidFill>
                <a:effectLst/>
                <a:latin typeface="Arial" panose="020B0604020202020204" pitchFamily="34" charset="0"/>
                <a:cs typeface="Arial" panose="020B0604020202020204" pitchFamily="34" charset="0"/>
              </a:rPr>
              <a:t>"Answer"</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313131"/>
                </a:solidFill>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88"/>
                </a:solidFill>
                <a:effectLst/>
                <a:latin typeface="Arial" panose="020B0604020202020204" pitchFamily="34" charset="0"/>
                <a:cs typeface="Arial" panose="020B0604020202020204" pitchFamily="34" charset="0"/>
              </a:rPr>
              <a:t>print</a:t>
            </a:r>
            <a:r>
              <a:rPr kumimoji="0" lang="en-US" altLang="en-US" b="0" i="0" u="none" strike="noStrike" cap="none" normalizeH="0" baseline="0" dirty="0">
                <a:ln>
                  <a:noFill/>
                </a:ln>
                <a:solidFill>
                  <a:srgbClr val="31313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8800"/>
                </a:solidFill>
                <a:effectLst/>
                <a:latin typeface="Arial" panose="020B0604020202020204" pitchFamily="34" charset="0"/>
                <a:cs typeface="Arial" panose="020B0604020202020204" pitchFamily="34" charset="0"/>
              </a:rPr>
              <a:t>"False"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675891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Multi-Line Statements</a:t>
            </a:r>
            <a:endParaRPr lang="en-US" altLang="ko-KR" sz="4800" b="1" kern="0" dirty="0">
              <a:ln w="10160">
                <a:solidFill>
                  <a:schemeClr val="accent5"/>
                </a:solidFill>
                <a:prstDash val="solid"/>
              </a:ln>
              <a:effectLst>
                <a:outerShdw blurRad="38100" dist="22860" dir="5400000" algn="tl" rotWithShape="0">
                  <a:srgbClr val="000000">
                    <a:alpha val="30000"/>
                  </a:srgbClr>
                </a:outerShdw>
              </a:effectLst>
            </a:endParaRP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66757898"/>
              </p:ext>
            </p:extLst>
          </p:nvPr>
        </p:nvGraphicFramePr>
        <p:xfrm>
          <a:off x="1522412" y="914400"/>
          <a:ext cx="99822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p:cNvSpPr>
            <a:spLocks noChangeArrowheads="1"/>
          </p:cNvSpPr>
          <p:nvPr/>
        </p:nvSpPr>
        <p:spPr bwMode="auto">
          <a:xfrm>
            <a:off x="4037012" y="4421223"/>
            <a:ext cx="4419600" cy="1541427"/>
          </a:xfrm>
          <a:prstGeom prst="rect">
            <a:avLst/>
          </a:prstGeom>
          <a:solidFill>
            <a:srgbClr val="EEEEEE"/>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lvl="0" defTabSz="914400" eaLnBrk="0" fontAlgn="base" hangingPunct="0">
              <a:spcBef>
                <a:spcPct val="0"/>
              </a:spcBef>
              <a:spcAft>
                <a:spcPct val="0"/>
              </a:spcAft>
            </a:pPr>
            <a:r>
              <a:rPr lang="en-US" altLang="en-US" sz="3200" dirty="0">
                <a:solidFill>
                  <a:srgbClr val="313131"/>
                </a:solidFill>
                <a:latin typeface="Arial" panose="020B0604020202020204" pitchFamily="34" charset="0"/>
                <a:cs typeface="Arial" panose="020B0604020202020204" pitchFamily="34" charset="0"/>
              </a:rPr>
              <a:t>total </a:t>
            </a:r>
            <a:r>
              <a:rPr lang="en-US" altLang="en-US" sz="3200" dirty="0">
                <a:solidFill>
                  <a:srgbClr val="666600"/>
                </a:solidFill>
                <a:latin typeface="Arial" panose="020B0604020202020204" pitchFamily="34" charset="0"/>
                <a:cs typeface="Arial" panose="020B0604020202020204" pitchFamily="34" charset="0"/>
              </a:rPr>
              <a:t>=</a:t>
            </a:r>
            <a:r>
              <a:rPr lang="en-US" altLang="en-US" sz="3200" dirty="0">
                <a:solidFill>
                  <a:srgbClr val="313131"/>
                </a:solidFill>
                <a:latin typeface="Arial" panose="020B0604020202020204" pitchFamily="34" charset="0"/>
                <a:cs typeface="Arial" panose="020B0604020202020204" pitchFamily="34" charset="0"/>
              </a:rPr>
              <a:t> itemOne </a:t>
            </a:r>
            <a:r>
              <a:rPr lang="en-US" altLang="en-US" sz="3200" dirty="0">
                <a:solidFill>
                  <a:srgbClr val="666600"/>
                </a:solidFill>
                <a:latin typeface="Arial" panose="020B0604020202020204" pitchFamily="34" charset="0"/>
                <a:cs typeface="Arial" panose="020B0604020202020204" pitchFamily="34" charset="0"/>
              </a:rPr>
              <a:t>+</a:t>
            </a:r>
            <a:r>
              <a:rPr lang="en-US" altLang="en-US" sz="3200" dirty="0">
                <a:solidFill>
                  <a:srgbClr val="313131"/>
                </a:solidFill>
                <a:latin typeface="Arial" panose="020B0604020202020204" pitchFamily="34" charset="0"/>
                <a:cs typeface="Arial" panose="020B0604020202020204" pitchFamily="34" charset="0"/>
              </a:rPr>
              <a:t> \ </a:t>
            </a:r>
          </a:p>
          <a:p>
            <a:pPr lvl="0" defTabSz="914400" eaLnBrk="0" fontAlgn="base" hangingPunct="0">
              <a:spcBef>
                <a:spcPct val="0"/>
              </a:spcBef>
              <a:spcAft>
                <a:spcPct val="0"/>
              </a:spcAft>
            </a:pPr>
            <a:r>
              <a:rPr lang="en-US" altLang="en-US" sz="3200" dirty="0">
                <a:solidFill>
                  <a:srgbClr val="313131"/>
                </a:solidFill>
                <a:latin typeface="Arial" panose="020B0604020202020204" pitchFamily="34" charset="0"/>
                <a:cs typeface="Arial" panose="020B0604020202020204" pitchFamily="34" charset="0"/>
              </a:rPr>
              <a:t>           itemTwo </a:t>
            </a:r>
            <a:r>
              <a:rPr lang="en-US" altLang="en-US" sz="3200" dirty="0">
                <a:solidFill>
                  <a:srgbClr val="666600"/>
                </a:solidFill>
                <a:latin typeface="Arial" panose="020B0604020202020204" pitchFamily="34" charset="0"/>
                <a:cs typeface="Arial" panose="020B0604020202020204" pitchFamily="34" charset="0"/>
              </a:rPr>
              <a:t>+</a:t>
            </a:r>
            <a:r>
              <a:rPr lang="en-US" altLang="en-US" sz="3200" dirty="0">
                <a:solidFill>
                  <a:srgbClr val="313131"/>
                </a:solidFill>
                <a:latin typeface="Arial" panose="020B0604020202020204" pitchFamily="34" charset="0"/>
                <a:cs typeface="Arial" panose="020B0604020202020204" pitchFamily="34" charset="0"/>
              </a:rPr>
              <a:t> \ </a:t>
            </a:r>
          </a:p>
          <a:p>
            <a:pPr lvl="0" defTabSz="914400" eaLnBrk="0" fontAlgn="base" hangingPunct="0">
              <a:spcBef>
                <a:spcPct val="0"/>
              </a:spcBef>
              <a:spcAft>
                <a:spcPct val="0"/>
              </a:spcAft>
            </a:pPr>
            <a:r>
              <a:rPr lang="en-US" altLang="en-US" sz="3200" dirty="0">
                <a:solidFill>
                  <a:srgbClr val="313131"/>
                </a:solidFill>
                <a:latin typeface="Arial" panose="020B0604020202020204" pitchFamily="34" charset="0"/>
                <a:cs typeface="Arial" panose="020B0604020202020204" pitchFamily="34" charset="0"/>
              </a:rPr>
              <a:t>           itemThree</a:t>
            </a:r>
            <a:r>
              <a:rPr lang="en-US" altLang="en-US" sz="3200" dirty="0">
                <a:latin typeface="Arial" panose="020B0604020202020204" pitchFamily="34" charset="0"/>
                <a:cs typeface="Arial" panose="020B0604020202020204" pitchFamily="34" charset="0"/>
              </a:rPr>
              <a:t> </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8914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Suites/Blocks</a:t>
            </a: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3641007222"/>
              </p:ext>
            </p:extLst>
          </p:nvPr>
        </p:nvGraphicFramePr>
        <p:xfrm>
          <a:off x="1674812" y="787401"/>
          <a:ext cx="9829800" cy="3327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p:cNvSpPr>
            <a:spLocks noChangeArrowheads="1"/>
          </p:cNvSpPr>
          <p:nvPr/>
        </p:nvSpPr>
        <p:spPr bwMode="auto">
          <a:xfrm>
            <a:off x="3503612" y="4188415"/>
            <a:ext cx="5943600" cy="1910759"/>
          </a:xfrm>
          <a:prstGeom prst="rect">
            <a:avLst/>
          </a:prstGeom>
          <a:solidFill>
            <a:srgbClr val="EEEEEE"/>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lvl="0" defTabSz="914400" eaLnBrk="0" fontAlgn="base" hangingPunct="0">
              <a:spcBef>
                <a:spcPct val="0"/>
              </a:spcBef>
              <a:spcAft>
                <a:spcPct val="0"/>
              </a:spcAft>
            </a:pPr>
            <a:r>
              <a:rPr lang="en-US" altLang="en-US" sz="2000" dirty="0">
                <a:solidFill>
                  <a:srgbClr val="000088"/>
                </a:solidFill>
                <a:latin typeface="Calibri" panose="020F0502020204030204" pitchFamily="34" charset="0"/>
                <a:cs typeface="Calibri" panose="020F0502020204030204" pitchFamily="34" charset="0"/>
              </a:rPr>
              <a:t>if</a:t>
            </a:r>
            <a:r>
              <a:rPr lang="en-US" altLang="en-US" sz="2000" dirty="0">
                <a:solidFill>
                  <a:srgbClr val="313131"/>
                </a:solidFill>
                <a:latin typeface="Calibri" panose="020F0502020204030204" pitchFamily="34" charset="0"/>
                <a:cs typeface="Calibri" panose="020F0502020204030204" pitchFamily="34" charset="0"/>
              </a:rPr>
              <a:t> expression </a:t>
            </a:r>
            <a:r>
              <a:rPr lang="en-US" altLang="en-US" sz="2000" dirty="0">
                <a:solidFill>
                  <a:srgbClr val="666600"/>
                </a:solidFill>
                <a:latin typeface="Calibri" panose="020F0502020204030204" pitchFamily="34" charset="0"/>
                <a:cs typeface="Calibri" panose="020F0502020204030204" pitchFamily="34" charset="0"/>
              </a:rPr>
              <a:t>:</a:t>
            </a:r>
            <a:r>
              <a:rPr lang="en-US" altLang="en-US" sz="2000" dirty="0">
                <a:solidFill>
                  <a:srgbClr val="313131"/>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000" dirty="0">
                <a:solidFill>
                  <a:srgbClr val="313131"/>
                </a:solidFill>
                <a:latin typeface="Calibri" panose="020F0502020204030204" pitchFamily="34" charset="0"/>
                <a:cs typeface="Calibri" panose="020F0502020204030204" pitchFamily="34" charset="0"/>
              </a:rPr>
              <a:t>      suite </a:t>
            </a:r>
          </a:p>
          <a:p>
            <a:pPr lvl="0" defTabSz="914400" eaLnBrk="0" fontAlgn="base" hangingPunct="0">
              <a:spcBef>
                <a:spcPct val="0"/>
              </a:spcBef>
              <a:spcAft>
                <a:spcPct val="0"/>
              </a:spcAft>
            </a:pPr>
            <a:r>
              <a:rPr lang="en-US" altLang="en-US" sz="2000" dirty="0">
                <a:solidFill>
                  <a:srgbClr val="000088"/>
                </a:solidFill>
                <a:latin typeface="Calibri" panose="020F0502020204030204" pitchFamily="34" charset="0"/>
                <a:cs typeface="Calibri" panose="020F0502020204030204" pitchFamily="34" charset="0"/>
              </a:rPr>
              <a:t>elif</a:t>
            </a:r>
            <a:r>
              <a:rPr lang="en-US" altLang="en-US" sz="2000" dirty="0">
                <a:solidFill>
                  <a:srgbClr val="313131"/>
                </a:solidFill>
                <a:latin typeface="Calibri" panose="020F0502020204030204" pitchFamily="34" charset="0"/>
                <a:cs typeface="Calibri" panose="020F0502020204030204" pitchFamily="34" charset="0"/>
              </a:rPr>
              <a:t> expression </a:t>
            </a:r>
            <a:r>
              <a:rPr lang="en-US" altLang="en-US" sz="2000" dirty="0">
                <a:solidFill>
                  <a:srgbClr val="666600"/>
                </a:solidFill>
                <a:latin typeface="Calibri" panose="020F0502020204030204" pitchFamily="34" charset="0"/>
                <a:cs typeface="Calibri" panose="020F0502020204030204" pitchFamily="34" charset="0"/>
              </a:rPr>
              <a:t>:</a:t>
            </a:r>
            <a:r>
              <a:rPr lang="en-US" altLang="en-US" sz="2000" dirty="0">
                <a:solidFill>
                  <a:srgbClr val="313131"/>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000" dirty="0">
                <a:solidFill>
                  <a:srgbClr val="313131"/>
                </a:solidFill>
                <a:latin typeface="Calibri" panose="020F0502020204030204" pitchFamily="34" charset="0"/>
                <a:cs typeface="Calibri" panose="020F0502020204030204" pitchFamily="34" charset="0"/>
              </a:rPr>
              <a:t>      suite </a:t>
            </a:r>
          </a:p>
          <a:p>
            <a:pPr lvl="0" defTabSz="914400" eaLnBrk="0" fontAlgn="base" hangingPunct="0">
              <a:spcBef>
                <a:spcPct val="0"/>
              </a:spcBef>
              <a:spcAft>
                <a:spcPct val="0"/>
              </a:spcAft>
            </a:pPr>
            <a:r>
              <a:rPr lang="en-US" altLang="en-US" sz="2000" dirty="0">
                <a:solidFill>
                  <a:srgbClr val="000088"/>
                </a:solidFill>
                <a:latin typeface="Calibri" panose="020F0502020204030204" pitchFamily="34" charset="0"/>
                <a:cs typeface="Calibri" panose="020F0502020204030204" pitchFamily="34" charset="0"/>
              </a:rPr>
              <a:t>else</a:t>
            </a:r>
            <a:r>
              <a:rPr lang="en-US" altLang="en-US" sz="2000" dirty="0">
                <a:solidFill>
                  <a:srgbClr val="313131"/>
                </a:solidFill>
                <a:latin typeface="Calibri" panose="020F0502020204030204" pitchFamily="34" charset="0"/>
                <a:cs typeface="Calibri" panose="020F0502020204030204" pitchFamily="34" charset="0"/>
              </a:rPr>
              <a:t> </a:t>
            </a:r>
            <a:r>
              <a:rPr lang="en-US" altLang="en-US" sz="2000" dirty="0">
                <a:solidFill>
                  <a:srgbClr val="666600"/>
                </a:solidFill>
                <a:latin typeface="Calibri" panose="020F0502020204030204" pitchFamily="34" charset="0"/>
                <a:cs typeface="Calibri" panose="020F0502020204030204" pitchFamily="34" charset="0"/>
              </a:rPr>
              <a:t>:</a:t>
            </a:r>
            <a:r>
              <a:rPr lang="en-US" altLang="en-US" sz="2000" dirty="0">
                <a:solidFill>
                  <a:srgbClr val="313131"/>
                </a:solidFill>
                <a:latin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000" dirty="0">
                <a:solidFill>
                  <a:srgbClr val="313131"/>
                </a:solidFill>
                <a:latin typeface="Calibri" panose="020F0502020204030204" pitchFamily="34" charset="0"/>
                <a:cs typeface="Calibri" panose="020F0502020204030204" pitchFamily="34" charset="0"/>
              </a:rPr>
              <a:t>      suite</a:t>
            </a:r>
            <a:r>
              <a:rPr lang="en-US" altLang="en-US" sz="2000" dirty="0">
                <a:latin typeface="Calibri" panose="020F0502020204030204" pitchFamily="34" charset="0"/>
                <a:cs typeface="Calibri" panose="020F0502020204030204" pitchFamily="34" charset="0"/>
              </a:rPr>
              <a:t> </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045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Data Types</a:t>
            </a:r>
          </a:p>
        </p:txBody>
      </p:sp>
      <p:sp>
        <p:nvSpPr>
          <p:cNvPr id="4" name="Rectangle 3"/>
          <p:cNvSpPr/>
          <p:nvPr/>
        </p:nvSpPr>
        <p:spPr>
          <a:xfrm>
            <a:off x="1979612" y="977900"/>
            <a:ext cx="9296400" cy="19050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800" dirty="0"/>
              <a:t>The </a:t>
            </a:r>
            <a:r>
              <a:rPr lang="en-US" sz="2800" dirty="0">
                <a:solidFill>
                  <a:srgbClr val="FF0000"/>
                </a:solidFill>
              </a:rPr>
              <a:t>data types </a:t>
            </a:r>
            <a:r>
              <a:rPr lang="en-US" sz="2800" dirty="0"/>
              <a:t>define the storage method for each of them.</a:t>
            </a:r>
            <a:endParaRPr lang="en-US" altLang="en-US" sz="2800" dirty="0"/>
          </a:p>
        </p:txBody>
      </p:sp>
      <p:sp>
        <p:nvSpPr>
          <p:cNvPr id="6" name="Rectangle 5"/>
          <p:cNvSpPr/>
          <p:nvPr/>
        </p:nvSpPr>
        <p:spPr>
          <a:xfrm>
            <a:off x="4189412" y="3073400"/>
            <a:ext cx="3505200" cy="31242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3600" dirty="0"/>
              <a:t>Numbers</a:t>
            </a:r>
            <a:endParaRPr lang="en-US" altLang="en-US" sz="3600" dirty="0"/>
          </a:p>
          <a:p>
            <a:pPr lvl="0" algn="ctr"/>
            <a:r>
              <a:rPr lang="en-US" sz="3600" dirty="0"/>
              <a:t>String</a:t>
            </a:r>
          </a:p>
          <a:p>
            <a:pPr lvl="0" algn="ctr"/>
            <a:r>
              <a:rPr lang="en-US" sz="3600" dirty="0"/>
              <a:t>List</a:t>
            </a:r>
          </a:p>
          <a:p>
            <a:pPr lvl="0" algn="ctr"/>
            <a:r>
              <a:rPr lang="en-US" sz="3600" dirty="0"/>
              <a:t>Tuple</a:t>
            </a:r>
          </a:p>
          <a:p>
            <a:pPr lvl="0" algn="ctr"/>
            <a:r>
              <a:rPr lang="en-US" sz="3600" dirty="0"/>
              <a:t>Dictionary</a:t>
            </a:r>
          </a:p>
        </p:txBody>
      </p:sp>
    </p:spTree>
    <p:extLst>
      <p:ext uri="{BB962C8B-B14F-4D97-AF65-F5344CB8AC3E}">
        <p14:creationId xmlns:p14="http://schemas.microsoft.com/office/powerpoint/2010/main" val="388469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Numbers</a:t>
            </a:r>
          </a:p>
        </p:txBody>
      </p:sp>
      <p:sp>
        <p:nvSpPr>
          <p:cNvPr id="4" name="Rectangle 3"/>
          <p:cNvSpPr/>
          <p:nvPr/>
        </p:nvSpPr>
        <p:spPr>
          <a:xfrm>
            <a:off x="2208212" y="787400"/>
            <a:ext cx="9525000" cy="2260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a:t>Number data types store numeric values. </a:t>
            </a:r>
            <a:endParaRPr lang="en-US" altLang="en-US" sz="3200" dirty="0"/>
          </a:p>
          <a:p>
            <a:pPr lvl="1"/>
            <a:r>
              <a:rPr lang="en-US" sz="3200" dirty="0"/>
              <a:t>varOne = 1</a:t>
            </a:r>
            <a:endParaRPr lang="en-US" altLang="en-US" sz="3200" dirty="0"/>
          </a:p>
          <a:p>
            <a:pPr lvl="1"/>
            <a:r>
              <a:rPr lang="en-US" sz="3200" dirty="0"/>
              <a:t>varTwo = 10</a:t>
            </a:r>
            <a:endParaRPr lang="en-US" altLang="en-US" sz="3200" dirty="0"/>
          </a:p>
        </p:txBody>
      </p:sp>
      <p:sp>
        <p:nvSpPr>
          <p:cNvPr id="6" name="Rectangle 5"/>
          <p:cNvSpPr/>
          <p:nvPr/>
        </p:nvSpPr>
        <p:spPr>
          <a:xfrm>
            <a:off x="2208212" y="3200400"/>
            <a:ext cx="9525000" cy="3200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a:t>Delete a single object or multiple objects by using the del statement.</a:t>
            </a:r>
            <a:endParaRPr lang="en-US" altLang="en-US" sz="3200" dirty="0"/>
          </a:p>
          <a:p>
            <a:pPr lvl="1"/>
            <a:endParaRPr lang="en-US" sz="3200" dirty="0"/>
          </a:p>
          <a:p>
            <a:pPr lvl="1"/>
            <a:r>
              <a:rPr lang="en-US" sz="3200" dirty="0"/>
              <a:t>del varOne</a:t>
            </a:r>
            <a:endParaRPr lang="en-US" altLang="en-US" sz="3200" dirty="0"/>
          </a:p>
          <a:p>
            <a:pPr lvl="1"/>
            <a:r>
              <a:rPr lang="en-US" sz="3200" dirty="0"/>
              <a:t>del varOne, varTwo</a:t>
            </a:r>
            <a:endParaRPr lang="en-US" altLang="en-US" sz="3200" dirty="0"/>
          </a:p>
        </p:txBody>
      </p:sp>
    </p:spTree>
    <p:extLst>
      <p:ext uri="{BB962C8B-B14F-4D97-AF65-F5344CB8AC3E}">
        <p14:creationId xmlns:p14="http://schemas.microsoft.com/office/powerpoint/2010/main" val="203727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Strings</a:t>
            </a:r>
          </a:p>
        </p:txBody>
      </p:sp>
      <p:sp>
        <p:nvSpPr>
          <p:cNvPr id="4" name="Rectangle 3"/>
          <p:cNvSpPr/>
          <p:nvPr/>
        </p:nvSpPr>
        <p:spPr>
          <a:xfrm>
            <a:off x="1751012" y="787400"/>
            <a:ext cx="9982200" cy="2260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3200" dirty="0"/>
              <a:t>Set of characters represented between </a:t>
            </a:r>
            <a:r>
              <a:rPr lang="en-US" sz="3200" dirty="0">
                <a:solidFill>
                  <a:srgbClr val="FF0000"/>
                </a:solidFill>
              </a:rPr>
              <a:t>quotation</a:t>
            </a:r>
            <a:r>
              <a:rPr lang="en-US" sz="3200" dirty="0"/>
              <a:t> marks. </a:t>
            </a:r>
            <a:endParaRPr lang="en-US" altLang="en-US" sz="3200" dirty="0"/>
          </a:p>
          <a:p>
            <a:pPr marL="457200" lvl="0" indent="-457200">
              <a:buFont typeface="Arial" panose="020B0604020202020204" pitchFamily="34" charset="0"/>
              <a:buChar char="•"/>
            </a:pPr>
            <a:r>
              <a:rPr lang="en-US" sz="3200" dirty="0"/>
              <a:t>Allow for either pairs of single or double quotes. </a:t>
            </a:r>
            <a:endParaRPr lang="en-US" altLang="en-US" sz="3200" dirty="0"/>
          </a:p>
        </p:txBody>
      </p:sp>
      <p:sp>
        <p:nvSpPr>
          <p:cNvPr id="6" name="Rectangle 5"/>
          <p:cNvSpPr/>
          <p:nvPr/>
        </p:nvSpPr>
        <p:spPr>
          <a:xfrm>
            <a:off x="2589212" y="3200400"/>
            <a:ext cx="7848600" cy="3200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en-US" altLang="en-US" sz="3200" dirty="0"/>
              <a:t>myName = “My name is AllyBaba”</a:t>
            </a:r>
          </a:p>
          <a:p>
            <a:pPr fontAlgn="base">
              <a:spcBef>
                <a:spcPct val="0"/>
              </a:spcBef>
              <a:spcAft>
                <a:spcPct val="0"/>
              </a:spcAft>
            </a:pPr>
            <a:r>
              <a:rPr lang="en-US" altLang="en-US" sz="3200" dirty="0"/>
              <a:t>myName = ‘My name is AllyBaba’</a:t>
            </a:r>
          </a:p>
          <a:p>
            <a:pPr fontAlgn="base">
              <a:spcBef>
                <a:spcPct val="0"/>
              </a:spcBef>
              <a:spcAft>
                <a:spcPct val="0"/>
              </a:spcAft>
            </a:pPr>
            <a:endParaRPr lang="en-US" altLang="en-US" sz="3200" dirty="0"/>
          </a:p>
          <a:p>
            <a:pPr fontAlgn="base">
              <a:spcBef>
                <a:spcPct val="0"/>
              </a:spcBef>
              <a:spcAft>
                <a:spcPct val="0"/>
              </a:spcAft>
            </a:pPr>
            <a:r>
              <a:rPr lang="en-US" altLang="en-US" sz="3200" dirty="0"/>
              <a:t>print (myName) 		# Prints complete string</a:t>
            </a:r>
          </a:p>
        </p:txBody>
      </p:sp>
    </p:spTree>
    <p:extLst>
      <p:ext uri="{BB962C8B-B14F-4D97-AF65-F5344CB8AC3E}">
        <p14:creationId xmlns:p14="http://schemas.microsoft.com/office/powerpoint/2010/main" val="79847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Lists</a:t>
            </a:r>
          </a:p>
        </p:txBody>
      </p:sp>
      <p:sp>
        <p:nvSpPr>
          <p:cNvPr id="4" name="Rectangle 3"/>
          <p:cNvSpPr/>
          <p:nvPr/>
        </p:nvSpPr>
        <p:spPr>
          <a:xfrm>
            <a:off x="1598612" y="838200"/>
            <a:ext cx="10134600" cy="3276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buFont typeface="Arial" panose="020B0604020202020204" pitchFamily="34" charset="0"/>
              <a:buChar char="•"/>
            </a:pPr>
            <a:r>
              <a:rPr lang="en-US" sz="3200" dirty="0">
                <a:solidFill>
                  <a:srgbClr val="FF0000"/>
                </a:solidFill>
              </a:rPr>
              <a:t>Versatile</a:t>
            </a:r>
            <a:r>
              <a:rPr lang="en-US" sz="3200" dirty="0"/>
              <a:t> compound data types.</a:t>
            </a:r>
            <a:endParaRPr lang="en-US" altLang="en-US" sz="3200" dirty="0"/>
          </a:p>
          <a:p>
            <a:pPr marL="457200" lvl="0" indent="-457200">
              <a:buFont typeface="Arial" panose="020B0604020202020204" pitchFamily="34" charset="0"/>
              <a:buChar char="•"/>
            </a:pPr>
            <a:r>
              <a:rPr lang="en-US" sz="3200" dirty="0"/>
              <a:t> A list contains items separated by commas and enclosed within square brackets </a:t>
            </a:r>
            <a:r>
              <a:rPr lang="en-US" sz="3200" dirty="0">
                <a:solidFill>
                  <a:srgbClr val="FF0000"/>
                </a:solidFill>
              </a:rPr>
              <a:t>[]</a:t>
            </a:r>
            <a:r>
              <a:rPr lang="en-US" sz="3200" dirty="0"/>
              <a:t>. </a:t>
            </a:r>
            <a:endParaRPr lang="en-US" altLang="en-US" sz="3200" dirty="0"/>
          </a:p>
          <a:p>
            <a:pPr marL="457200" lvl="0" indent="-457200">
              <a:buFont typeface="Arial" panose="020B0604020202020204" pitchFamily="34" charset="0"/>
              <a:buChar char="•"/>
            </a:pPr>
            <a:r>
              <a:rPr lang="en-US" sz="3200" dirty="0"/>
              <a:t>To some extent, lists are similar to arrays in C. </a:t>
            </a:r>
            <a:endParaRPr lang="en-US" altLang="en-US" sz="3200" dirty="0"/>
          </a:p>
          <a:p>
            <a:pPr marL="457200" lvl="0" indent="-457200">
              <a:buFont typeface="Arial" panose="020B0604020202020204" pitchFamily="34" charset="0"/>
              <a:buChar char="•"/>
            </a:pPr>
            <a:r>
              <a:rPr lang="en-US" sz="3200" dirty="0"/>
              <a:t>One difference between them is that all the items belonging to a list can be of different data type</a:t>
            </a:r>
          </a:p>
        </p:txBody>
      </p:sp>
      <p:sp>
        <p:nvSpPr>
          <p:cNvPr id="6" name="Rectangle 5"/>
          <p:cNvSpPr/>
          <p:nvPr/>
        </p:nvSpPr>
        <p:spPr>
          <a:xfrm>
            <a:off x="2284412" y="4267200"/>
            <a:ext cx="7620000" cy="2133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en-US" altLang="en-US" sz="3200" dirty="0"/>
              <a:t>list = [ 'abcd', 786 , 2.23, 'john', 70.2 ] </a:t>
            </a:r>
          </a:p>
          <a:p>
            <a:pPr fontAlgn="base">
              <a:spcBef>
                <a:spcPct val="0"/>
              </a:spcBef>
              <a:spcAft>
                <a:spcPct val="0"/>
              </a:spcAft>
            </a:pPr>
            <a:r>
              <a:rPr lang="en-US" altLang="en-US" sz="3200" dirty="0"/>
              <a:t>tinyList = [123, 'john'] </a:t>
            </a:r>
          </a:p>
          <a:p>
            <a:pPr fontAlgn="base">
              <a:spcBef>
                <a:spcPct val="0"/>
              </a:spcBef>
              <a:spcAft>
                <a:spcPct val="0"/>
              </a:spcAft>
            </a:pPr>
            <a:r>
              <a:rPr lang="en-US" altLang="en-US" sz="3200" dirty="0"/>
              <a:t>print (tinyList) 		# Prints complete list </a:t>
            </a:r>
          </a:p>
        </p:txBody>
      </p:sp>
    </p:spTree>
    <p:extLst>
      <p:ext uri="{BB962C8B-B14F-4D97-AF65-F5344CB8AC3E}">
        <p14:creationId xmlns:p14="http://schemas.microsoft.com/office/powerpoint/2010/main" val="407587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Tuples</a:t>
            </a:r>
          </a:p>
        </p:txBody>
      </p:sp>
      <p:sp>
        <p:nvSpPr>
          <p:cNvPr id="4" name="Rectangle 3"/>
          <p:cNvSpPr/>
          <p:nvPr/>
        </p:nvSpPr>
        <p:spPr>
          <a:xfrm>
            <a:off x="1598612" y="609600"/>
            <a:ext cx="9982200" cy="35052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buFont typeface="Arial" panose="020B0604020202020204" pitchFamily="34" charset="0"/>
              <a:buChar char="•"/>
            </a:pPr>
            <a:r>
              <a:rPr lang="en-US" sz="3200" dirty="0"/>
              <a:t>A tuple is similar to the list. </a:t>
            </a:r>
            <a:endParaRPr lang="en-US" altLang="en-US" sz="3200" dirty="0"/>
          </a:p>
          <a:p>
            <a:pPr marL="457200" lvl="0" indent="-457200">
              <a:buFont typeface="Arial" panose="020B0604020202020204" pitchFamily="34" charset="0"/>
              <a:buChar char="•"/>
            </a:pPr>
            <a:r>
              <a:rPr lang="en-US" sz="3200" dirty="0"/>
              <a:t>A tuple are set of values separated by commas. </a:t>
            </a:r>
            <a:endParaRPr lang="en-US" altLang="en-US" sz="3200" dirty="0"/>
          </a:p>
          <a:p>
            <a:pPr marL="457200" lvl="0" indent="-457200">
              <a:buFont typeface="Arial" panose="020B0604020202020204" pitchFamily="34" charset="0"/>
              <a:buChar char="•"/>
            </a:pPr>
            <a:r>
              <a:rPr lang="en-US" sz="3200" dirty="0"/>
              <a:t>Tuples are enclosed within parentheses </a:t>
            </a:r>
            <a:r>
              <a:rPr lang="en-US" sz="3200" dirty="0">
                <a:solidFill>
                  <a:srgbClr val="FF0000"/>
                </a:solidFill>
              </a:rPr>
              <a:t>()</a:t>
            </a:r>
            <a:r>
              <a:rPr lang="en-US" sz="3200" dirty="0"/>
              <a:t>.</a:t>
            </a:r>
            <a:endParaRPr lang="en-US" altLang="en-US" sz="3200" dirty="0"/>
          </a:p>
          <a:p>
            <a:pPr marL="457200" lvl="0" indent="-457200">
              <a:buFont typeface="Arial" panose="020B0604020202020204" pitchFamily="34" charset="0"/>
              <a:buChar char="•"/>
            </a:pPr>
            <a:r>
              <a:rPr lang="en-US" sz="3200" dirty="0"/>
              <a:t>Lists are enclosed in brackets </a:t>
            </a:r>
            <a:r>
              <a:rPr lang="en-US" sz="3200" dirty="0">
                <a:solidFill>
                  <a:srgbClr val="FF0000"/>
                </a:solidFill>
              </a:rPr>
              <a:t>[ ] </a:t>
            </a:r>
            <a:r>
              <a:rPr lang="en-US" sz="3200" dirty="0"/>
              <a:t>and are mutable, while tuples are enclosed in parentheses </a:t>
            </a:r>
            <a:r>
              <a:rPr lang="en-US" sz="3200" dirty="0">
                <a:solidFill>
                  <a:srgbClr val="FF0000"/>
                </a:solidFill>
              </a:rPr>
              <a:t>( ) </a:t>
            </a:r>
            <a:r>
              <a:rPr lang="en-US" sz="3200" dirty="0"/>
              <a:t>and are immutable.  Tuples are </a:t>
            </a:r>
            <a:r>
              <a:rPr lang="en-US" sz="3200" b="1" dirty="0">
                <a:solidFill>
                  <a:srgbClr val="FF0000"/>
                </a:solidFill>
              </a:rPr>
              <a:t>read-only</a:t>
            </a:r>
            <a:r>
              <a:rPr lang="en-US" sz="3200" dirty="0"/>
              <a:t> lists.</a:t>
            </a:r>
          </a:p>
        </p:txBody>
      </p:sp>
      <p:sp>
        <p:nvSpPr>
          <p:cNvPr id="6" name="Rectangle 5"/>
          <p:cNvSpPr/>
          <p:nvPr/>
        </p:nvSpPr>
        <p:spPr>
          <a:xfrm>
            <a:off x="2894012" y="4191000"/>
            <a:ext cx="7848600" cy="2209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en-US" altLang="en-US" sz="3200" dirty="0"/>
              <a:t>tuple = ( 'abcd', 786 , 2.23, 'john', 70.2 ) </a:t>
            </a:r>
          </a:p>
          <a:p>
            <a:pPr fontAlgn="base">
              <a:spcBef>
                <a:spcPct val="0"/>
              </a:spcBef>
              <a:spcAft>
                <a:spcPct val="0"/>
              </a:spcAft>
            </a:pPr>
            <a:r>
              <a:rPr lang="en-US" altLang="en-US" sz="3200" dirty="0"/>
              <a:t>tinyTuple = (123, 'john') </a:t>
            </a:r>
          </a:p>
          <a:p>
            <a:pPr fontAlgn="base">
              <a:spcBef>
                <a:spcPct val="0"/>
              </a:spcBef>
              <a:spcAft>
                <a:spcPct val="0"/>
              </a:spcAft>
            </a:pPr>
            <a:endParaRPr lang="en-US" altLang="en-US" sz="3200" dirty="0"/>
          </a:p>
          <a:p>
            <a:pPr fontAlgn="base">
              <a:spcBef>
                <a:spcPct val="0"/>
              </a:spcBef>
              <a:spcAft>
                <a:spcPct val="0"/>
              </a:spcAft>
            </a:pPr>
            <a:r>
              <a:rPr lang="en-US" altLang="en-US" sz="3200" dirty="0"/>
              <a:t>print (tinyTuple) 		# Prints complete list </a:t>
            </a:r>
          </a:p>
        </p:txBody>
      </p:sp>
    </p:spTree>
    <p:extLst>
      <p:ext uri="{BB962C8B-B14F-4D97-AF65-F5344CB8AC3E}">
        <p14:creationId xmlns:p14="http://schemas.microsoft.com/office/powerpoint/2010/main" val="56932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 </a:t>
            </a:r>
            <a:r>
              <a:rPr lang="en-US" dirty="0"/>
              <a:t>Dictionary</a:t>
            </a:r>
          </a:p>
        </p:txBody>
      </p:sp>
      <p:sp>
        <p:nvSpPr>
          <p:cNvPr id="4" name="Rectangle 3"/>
          <p:cNvSpPr/>
          <p:nvPr/>
        </p:nvSpPr>
        <p:spPr>
          <a:xfrm>
            <a:off x="1598612" y="914400"/>
            <a:ext cx="9982200" cy="35052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buFont typeface="Arial" panose="020B0604020202020204" pitchFamily="34" charset="0"/>
              <a:buChar char="•"/>
            </a:pPr>
            <a:r>
              <a:rPr lang="en-US" sz="3200" dirty="0"/>
              <a:t>Consist of key-value pairs. </a:t>
            </a:r>
            <a:endParaRPr lang="en-US" altLang="en-US" sz="3200" dirty="0"/>
          </a:p>
          <a:p>
            <a:pPr marL="457200" lvl="0" indent="-457200">
              <a:buFont typeface="Arial" panose="020B0604020202020204" pitchFamily="34" charset="0"/>
              <a:buChar char="•"/>
            </a:pPr>
            <a:r>
              <a:rPr lang="en-US" sz="3200" dirty="0"/>
              <a:t>A dictionary key can be almost any Python type, but are usually numbers or strings. </a:t>
            </a:r>
            <a:endParaRPr lang="en-US" altLang="en-US" sz="3200" dirty="0"/>
          </a:p>
          <a:p>
            <a:pPr marL="457200" lvl="0" indent="-457200">
              <a:buFont typeface="Arial" panose="020B0604020202020204" pitchFamily="34" charset="0"/>
              <a:buChar char="•"/>
            </a:pPr>
            <a:r>
              <a:rPr lang="en-US" sz="3200" dirty="0"/>
              <a:t>Values, on the other hand, can be any arbitrary Python object.</a:t>
            </a:r>
            <a:endParaRPr lang="en-US" altLang="en-US" sz="3200" dirty="0"/>
          </a:p>
          <a:p>
            <a:pPr marL="457200" lvl="0" indent="-457200">
              <a:buFont typeface="Arial" panose="020B0604020202020204" pitchFamily="34" charset="0"/>
              <a:buChar char="•"/>
            </a:pPr>
            <a:r>
              <a:rPr lang="en-US" sz="3200" dirty="0"/>
              <a:t>Dictionaries are enclosed by braces </a:t>
            </a:r>
            <a:r>
              <a:rPr lang="en-US" sz="3200" dirty="0">
                <a:solidFill>
                  <a:srgbClr val="FF0000"/>
                </a:solidFill>
              </a:rPr>
              <a:t>{ }</a:t>
            </a:r>
            <a:r>
              <a:rPr lang="en-US" sz="3200" dirty="0"/>
              <a:t> and values can be assigned and accessed using brackets </a:t>
            </a:r>
            <a:r>
              <a:rPr lang="en-US" sz="3200" dirty="0">
                <a:solidFill>
                  <a:srgbClr val="FF0000"/>
                </a:solidFill>
              </a:rPr>
              <a:t>[]</a:t>
            </a:r>
            <a:r>
              <a:rPr lang="en-US" sz="3200" dirty="0"/>
              <a:t>.</a:t>
            </a:r>
          </a:p>
        </p:txBody>
      </p:sp>
      <p:sp>
        <p:nvSpPr>
          <p:cNvPr id="6" name="Rectangle 5"/>
          <p:cNvSpPr/>
          <p:nvPr/>
        </p:nvSpPr>
        <p:spPr>
          <a:xfrm>
            <a:off x="1598612" y="4546600"/>
            <a:ext cx="10210800" cy="21590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en-US" altLang="en-US" sz="3200" dirty="0"/>
              <a:t>tinyDict = {'name': 'john','code':6734, 'dept': 'sales'} </a:t>
            </a:r>
          </a:p>
          <a:p>
            <a:pPr lvl="0" defTabSz="914400" eaLnBrk="0" fontAlgn="base" hangingPunct="0">
              <a:spcBef>
                <a:spcPct val="0"/>
              </a:spcBef>
              <a:spcAft>
                <a:spcPct val="0"/>
              </a:spcAft>
            </a:pPr>
            <a:r>
              <a:rPr lang="en-US" altLang="en-US" sz="3200" dirty="0"/>
              <a:t>print (tinyDict[‘name'] )		# Prints value for 'one' key </a:t>
            </a:r>
          </a:p>
        </p:txBody>
      </p:sp>
    </p:spTree>
    <p:extLst>
      <p:ext uri="{BB962C8B-B14F-4D97-AF65-F5344CB8AC3E}">
        <p14:creationId xmlns:p14="http://schemas.microsoft.com/office/powerpoint/2010/main" val="170462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Data Type Conversion</a:t>
            </a: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257720364"/>
              </p:ext>
            </p:extLst>
          </p:nvPr>
        </p:nvGraphicFramePr>
        <p:xfrm>
          <a:off x="1674812" y="1125858"/>
          <a:ext cx="9677400" cy="1928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072514435"/>
              </p:ext>
            </p:extLst>
          </p:nvPr>
        </p:nvGraphicFramePr>
        <p:xfrm>
          <a:off x="2665412" y="2600319"/>
          <a:ext cx="8001000" cy="3141348"/>
        </p:xfrm>
        <a:graphic>
          <a:graphicData uri="http://schemas.openxmlformats.org/drawingml/2006/table">
            <a:tbl>
              <a:tblPr/>
              <a:tblGrid>
                <a:gridCol w="1600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286343">
                <a:tc>
                  <a:txBody>
                    <a:bodyPr/>
                    <a:lstStyle/>
                    <a:p>
                      <a:pPr algn="l" fontAlgn="t"/>
                      <a:r>
                        <a:rPr lang="en-US" sz="2800" b="1" dirty="0">
                          <a:effectLst/>
                          <a:latin typeface="Calibri" panose="020F0502020204030204" pitchFamily="34" charset="0"/>
                          <a:cs typeface="Calibri" panose="020F0502020204030204" pitchFamily="34" charset="0"/>
                        </a:rPr>
                        <a:t>Function</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EEEEE"/>
                    </a:solidFill>
                  </a:tcPr>
                </a:tc>
                <a:tc>
                  <a:txBody>
                    <a:bodyPr/>
                    <a:lstStyle/>
                    <a:p>
                      <a:pPr algn="l" fontAlgn="t"/>
                      <a:r>
                        <a:rPr lang="en-US" sz="2800" b="1" dirty="0">
                          <a:effectLst/>
                          <a:latin typeface="Calibri" panose="020F0502020204030204" pitchFamily="34" charset="0"/>
                          <a:cs typeface="Calibri" panose="020F0502020204030204" pitchFamily="34" charset="0"/>
                        </a:rPr>
                        <a:t>Description</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330005">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str(x)</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Converts object x to a string representation.</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286343">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tuple(s)</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Converts s to a tuple.</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286343">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list(s)</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Converts s to a list.</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r h="286343">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chr(x)</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Converts an integer to a character.</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9"/>
                  </a:ext>
                </a:extLst>
              </a:tr>
              <a:tr h="330005">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ord(x)</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just" fontAlgn="t"/>
                      <a:r>
                        <a:rPr lang="en-US" sz="2800" dirty="0">
                          <a:solidFill>
                            <a:srgbClr val="000000"/>
                          </a:solidFill>
                          <a:effectLst/>
                          <a:latin typeface="Calibri" panose="020F0502020204030204" pitchFamily="34" charset="0"/>
                          <a:cs typeface="Calibri" panose="020F0502020204030204" pitchFamily="34" charset="0"/>
                        </a:rPr>
                        <a:t>Converts a single character to its integer value.</a:t>
                      </a:r>
                    </a:p>
                  </a:txBody>
                  <a:tcPr marL="12859" marR="12859" marT="12859" marB="1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010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altLang="en-US" sz="4800" dirty="0"/>
              <a:t>Mixed-Type Expressions</a:t>
            </a:r>
            <a:endParaRPr lang="en-US" sz="4800" dirty="0"/>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1101091821"/>
              </p:ext>
            </p:extLst>
          </p:nvPr>
        </p:nvGraphicFramePr>
        <p:xfrm>
          <a:off x="2055812" y="787400"/>
          <a:ext cx="9372600" cy="454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686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Operators</a:t>
            </a:r>
          </a:p>
        </p:txBody>
      </p:sp>
      <p:sp>
        <p:nvSpPr>
          <p:cNvPr id="4" name="Rectangle 3"/>
          <p:cNvSpPr/>
          <p:nvPr/>
        </p:nvSpPr>
        <p:spPr>
          <a:xfrm>
            <a:off x="3732212" y="1295400"/>
            <a:ext cx="6172200" cy="3784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a:latin typeface="Calibri" panose="020F0502020204030204" pitchFamily="34" charset="0"/>
                <a:cs typeface="Calibri" panose="020F0502020204030204" pitchFamily="34" charset="0"/>
              </a:rPr>
              <a:t>Arithmetic Operators</a:t>
            </a:r>
          </a:p>
          <a:p>
            <a:pPr lvl="0"/>
            <a:r>
              <a:rPr lang="en-US" sz="3200" dirty="0">
                <a:latin typeface="Calibri" panose="020F0502020204030204" pitchFamily="34" charset="0"/>
                <a:cs typeface="Calibri" panose="020F0502020204030204" pitchFamily="34" charset="0"/>
              </a:rPr>
              <a:t>Comparison (Relational) Operators</a:t>
            </a:r>
          </a:p>
          <a:p>
            <a:pPr lvl="0"/>
            <a:r>
              <a:rPr lang="en-US" sz="3200" dirty="0">
                <a:latin typeface="Calibri" panose="020F0502020204030204" pitchFamily="34" charset="0"/>
                <a:cs typeface="Calibri" panose="020F0502020204030204" pitchFamily="34" charset="0"/>
              </a:rPr>
              <a:t>Assignment Operators</a:t>
            </a:r>
          </a:p>
          <a:p>
            <a:pPr lvl="0"/>
            <a:r>
              <a:rPr lang="en-US" sz="3200" dirty="0">
                <a:latin typeface="Calibri" panose="020F0502020204030204" pitchFamily="34" charset="0"/>
                <a:cs typeface="Calibri" panose="020F0502020204030204" pitchFamily="34" charset="0"/>
              </a:rPr>
              <a:t>Logical Operators</a:t>
            </a:r>
          </a:p>
          <a:p>
            <a:pPr lvl="0"/>
            <a:r>
              <a:rPr lang="en-US" sz="3200" dirty="0">
                <a:latin typeface="Calibri" panose="020F0502020204030204" pitchFamily="34" charset="0"/>
                <a:cs typeface="Calibri" panose="020F0502020204030204" pitchFamily="34" charset="0"/>
              </a:rPr>
              <a:t>Membership Operators</a:t>
            </a:r>
          </a:p>
          <a:p>
            <a:pPr lvl="0"/>
            <a:r>
              <a:rPr lang="en-US" sz="3200" dirty="0">
                <a:latin typeface="Calibri" panose="020F0502020204030204" pitchFamily="34" charset="0"/>
                <a:cs typeface="Calibri" panose="020F0502020204030204" pitchFamily="34" charset="0"/>
              </a:rPr>
              <a:t>Identity Operators</a:t>
            </a:r>
          </a:p>
        </p:txBody>
      </p:sp>
    </p:spTree>
    <p:extLst>
      <p:ext uri="{BB962C8B-B14F-4D97-AF65-F5344CB8AC3E}">
        <p14:creationId xmlns:p14="http://schemas.microsoft.com/office/powerpoint/2010/main" val="1133282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303212" y="3810000"/>
            <a:ext cx="40386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TRUE DIVISION (</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12 / 4 = 3.0</a:t>
            </a:r>
          </a:p>
        </p:txBody>
      </p:sp>
      <p:pic>
        <p:nvPicPr>
          <p:cNvPr id="12" name="Picture 11"/>
          <p:cNvPicPr>
            <a:picLocks noChangeAspect="1"/>
          </p:cNvPicPr>
          <p:nvPr/>
        </p:nvPicPr>
        <p:blipFill>
          <a:blip r:embed="rId2"/>
          <a:stretch>
            <a:fillRect/>
          </a:stretch>
        </p:blipFill>
        <p:spPr>
          <a:xfrm>
            <a:off x="3960812" y="811284"/>
            <a:ext cx="3904762" cy="2790476"/>
          </a:xfrm>
          <a:prstGeom prst="rect">
            <a:avLst/>
          </a:prstGeom>
        </p:spPr>
      </p:pic>
      <p:sp>
        <p:nvSpPr>
          <p:cNvPr id="14" name="TextBox 13"/>
          <p:cNvSpPr txBox="1"/>
          <p:nvPr/>
        </p:nvSpPr>
        <p:spPr>
          <a:xfrm>
            <a:off x="3960812" y="3825922"/>
            <a:ext cx="4038600" cy="163121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FLOOR DIVISION (</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12 // 4 = 3</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Is the </a:t>
            </a:r>
            <a:r>
              <a:rPr lang="en-US" sz="2000" dirty="0">
                <a:solidFill>
                  <a:srgbClr val="FF0000"/>
                </a:solidFill>
                <a:latin typeface="Arial" panose="020B0604020202020204" pitchFamily="34" charset="0"/>
                <a:cs typeface="Arial" panose="020B0604020202020204" pitchFamily="34" charset="0"/>
              </a:rPr>
              <a:t>Quotient</a:t>
            </a:r>
          </a:p>
        </p:txBody>
      </p:sp>
      <p:sp>
        <p:nvSpPr>
          <p:cNvPr id="15" name="TextBox 14"/>
          <p:cNvSpPr txBox="1"/>
          <p:nvPr/>
        </p:nvSpPr>
        <p:spPr>
          <a:xfrm>
            <a:off x="7853750" y="3846393"/>
            <a:ext cx="4038600" cy="163121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MODULUS(</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12 % 4 = 0</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Is the </a:t>
            </a:r>
            <a:r>
              <a:rPr lang="en-US" sz="2000" dirty="0">
                <a:solidFill>
                  <a:srgbClr val="FF0000"/>
                </a:solidFill>
                <a:latin typeface="Arial" panose="020B0604020202020204" pitchFamily="34" charset="0"/>
                <a:cs typeface="Arial" panose="020B0604020202020204" pitchFamily="34" charset="0"/>
              </a:rPr>
              <a:t>Remainder</a:t>
            </a:r>
          </a:p>
        </p:txBody>
      </p:sp>
    </p:spTree>
    <p:extLst>
      <p:ext uri="{BB962C8B-B14F-4D97-AF65-F5344CB8AC3E}">
        <p14:creationId xmlns:p14="http://schemas.microsoft.com/office/powerpoint/2010/main" val="182449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303212" y="3810000"/>
            <a:ext cx="40386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TRUE DIVISION (</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20 / 3 = 6.666667</a:t>
            </a:r>
          </a:p>
        </p:txBody>
      </p:sp>
      <p:sp>
        <p:nvSpPr>
          <p:cNvPr id="14" name="TextBox 13"/>
          <p:cNvSpPr txBox="1"/>
          <p:nvPr/>
        </p:nvSpPr>
        <p:spPr>
          <a:xfrm>
            <a:off x="3960812" y="3825922"/>
            <a:ext cx="40386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FLOOR DIVISION (</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20 // 3 = 6</a:t>
            </a:r>
          </a:p>
        </p:txBody>
      </p:sp>
      <p:sp>
        <p:nvSpPr>
          <p:cNvPr id="15" name="TextBox 14"/>
          <p:cNvSpPr txBox="1"/>
          <p:nvPr/>
        </p:nvSpPr>
        <p:spPr>
          <a:xfrm>
            <a:off x="7853750" y="3846393"/>
            <a:ext cx="40386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MODULUS(</a:t>
            </a:r>
            <a:r>
              <a:rPr lang="en-US" sz="2000" dirty="0">
                <a:solidFill>
                  <a:srgbClr val="FF0000"/>
                </a:solidFill>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20 % 3 = 2</a:t>
            </a:r>
          </a:p>
        </p:txBody>
      </p:sp>
      <p:pic>
        <p:nvPicPr>
          <p:cNvPr id="13" name="Picture 12"/>
          <p:cNvPicPr>
            <a:picLocks noChangeAspect="1"/>
          </p:cNvPicPr>
          <p:nvPr/>
        </p:nvPicPr>
        <p:blipFill>
          <a:blip r:embed="rId2"/>
          <a:stretch>
            <a:fillRect/>
          </a:stretch>
        </p:blipFill>
        <p:spPr>
          <a:xfrm>
            <a:off x="4190436" y="787400"/>
            <a:ext cx="3838095" cy="2761905"/>
          </a:xfrm>
          <a:prstGeom prst="rect">
            <a:avLst/>
          </a:prstGeom>
        </p:spPr>
      </p:pic>
    </p:spTree>
    <p:extLst>
      <p:ext uri="{BB962C8B-B14F-4D97-AF65-F5344CB8AC3E}">
        <p14:creationId xmlns:p14="http://schemas.microsoft.com/office/powerpoint/2010/main" val="3655399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1522412" y="991542"/>
            <a:ext cx="19812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Practice</a:t>
            </a:r>
          </a:p>
        </p:txBody>
      </p:sp>
      <p:sp>
        <p:nvSpPr>
          <p:cNvPr id="14" name="TextBox 13"/>
          <p:cNvSpPr txBox="1"/>
          <p:nvPr/>
        </p:nvSpPr>
        <p:spPr>
          <a:xfrm>
            <a:off x="912812" y="1807865"/>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5 // 3 = ?</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5 % 3 = ?</a:t>
            </a:r>
          </a:p>
        </p:txBody>
      </p:sp>
      <p:pic>
        <p:nvPicPr>
          <p:cNvPr id="5" name="Picture 4"/>
          <p:cNvPicPr>
            <a:picLocks noChangeAspect="1"/>
          </p:cNvPicPr>
          <p:nvPr/>
        </p:nvPicPr>
        <p:blipFill>
          <a:blip r:embed="rId2"/>
          <a:stretch>
            <a:fillRect/>
          </a:stretch>
        </p:blipFill>
        <p:spPr>
          <a:xfrm>
            <a:off x="4084869" y="1676400"/>
            <a:ext cx="3714286" cy="2371429"/>
          </a:xfrm>
          <a:prstGeom prst="rect">
            <a:avLst/>
          </a:prstGeom>
        </p:spPr>
      </p:pic>
      <p:sp>
        <p:nvSpPr>
          <p:cNvPr id="12" name="TextBox 11"/>
          <p:cNvSpPr txBox="1"/>
          <p:nvPr/>
        </p:nvSpPr>
        <p:spPr>
          <a:xfrm>
            <a:off x="8724567" y="3447664"/>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5 // 3 = 1</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5 % 3 = 2</a:t>
            </a:r>
          </a:p>
        </p:txBody>
      </p:sp>
    </p:spTree>
    <p:extLst>
      <p:ext uri="{BB962C8B-B14F-4D97-AF65-F5344CB8AC3E}">
        <p14:creationId xmlns:p14="http://schemas.microsoft.com/office/powerpoint/2010/main" val="384318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1522412" y="1066800"/>
            <a:ext cx="19812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Practice</a:t>
            </a:r>
          </a:p>
        </p:txBody>
      </p:sp>
      <p:sp>
        <p:nvSpPr>
          <p:cNvPr id="14" name="TextBox 13"/>
          <p:cNvSpPr txBox="1"/>
          <p:nvPr/>
        </p:nvSpPr>
        <p:spPr>
          <a:xfrm>
            <a:off x="912812" y="1807865"/>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7 // 4 = ?</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7 % 4 = ?</a:t>
            </a:r>
          </a:p>
        </p:txBody>
      </p:sp>
      <p:pic>
        <p:nvPicPr>
          <p:cNvPr id="8" name="Picture 7"/>
          <p:cNvPicPr>
            <a:picLocks noChangeAspect="1"/>
          </p:cNvPicPr>
          <p:nvPr/>
        </p:nvPicPr>
        <p:blipFill>
          <a:blip r:embed="rId2"/>
          <a:stretch>
            <a:fillRect/>
          </a:stretch>
        </p:blipFill>
        <p:spPr>
          <a:xfrm>
            <a:off x="3913459" y="2043285"/>
            <a:ext cx="4361905" cy="2771429"/>
          </a:xfrm>
          <a:prstGeom prst="rect">
            <a:avLst/>
          </a:prstGeom>
        </p:spPr>
      </p:pic>
      <p:sp>
        <p:nvSpPr>
          <p:cNvPr id="13" name="TextBox 12"/>
          <p:cNvSpPr txBox="1"/>
          <p:nvPr/>
        </p:nvSpPr>
        <p:spPr>
          <a:xfrm>
            <a:off x="8761412" y="4038600"/>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7 // 4 = 1</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7 % 4 = 3</a:t>
            </a:r>
          </a:p>
        </p:txBody>
      </p:sp>
    </p:spTree>
    <p:extLst>
      <p:ext uri="{BB962C8B-B14F-4D97-AF65-F5344CB8AC3E}">
        <p14:creationId xmlns:p14="http://schemas.microsoft.com/office/powerpoint/2010/main" val="111169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1370012" y="1066800"/>
            <a:ext cx="19812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Practice</a:t>
            </a:r>
          </a:p>
        </p:txBody>
      </p:sp>
      <p:sp>
        <p:nvSpPr>
          <p:cNvPr id="14" name="TextBox 13"/>
          <p:cNvSpPr txBox="1"/>
          <p:nvPr/>
        </p:nvSpPr>
        <p:spPr>
          <a:xfrm>
            <a:off x="912812" y="1807865"/>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5 // 6 = ?</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5 % 6 = ?</a:t>
            </a:r>
          </a:p>
        </p:txBody>
      </p:sp>
      <p:pic>
        <p:nvPicPr>
          <p:cNvPr id="5" name="Picture 4"/>
          <p:cNvPicPr>
            <a:picLocks noChangeAspect="1"/>
          </p:cNvPicPr>
          <p:nvPr/>
        </p:nvPicPr>
        <p:blipFill>
          <a:blip r:embed="rId2"/>
          <a:stretch>
            <a:fillRect/>
          </a:stretch>
        </p:blipFill>
        <p:spPr>
          <a:xfrm>
            <a:off x="3846793" y="2000428"/>
            <a:ext cx="4495238" cy="2857143"/>
          </a:xfrm>
          <a:prstGeom prst="rect">
            <a:avLst/>
          </a:prstGeom>
        </p:spPr>
      </p:pic>
      <p:sp>
        <p:nvSpPr>
          <p:cNvPr id="12" name="TextBox 11"/>
          <p:cNvSpPr txBox="1"/>
          <p:nvPr/>
        </p:nvSpPr>
        <p:spPr>
          <a:xfrm>
            <a:off x="8761412" y="4257406"/>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5 // 6 = 0</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5 % 6 = 5</a:t>
            </a:r>
          </a:p>
        </p:txBody>
      </p:sp>
    </p:spTree>
    <p:extLst>
      <p:ext uri="{BB962C8B-B14F-4D97-AF65-F5344CB8AC3E}">
        <p14:creationId xmlns:p14="http://schemas.microsoft.com/office/powerpoint/2010/main" val="3495550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1598612" y="1066800"/>
            <a:ext cx="51054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Practice – Even or Odd Number</a:t>
            </a:r>
          </a:p>
        </p:txBody>
      </p:sp>
      <p:sp>
        <p:nvSpPr>
          <p:cNvPr id="14" name="TextBox 13"/>
          <p:cNvSpPr txBox="1"/>
          <p:nvPr/>
        </p:nvSpPr>
        <p:spPr>
          <a:xfrm>
            <a:off x="1217612" y="2695773"/>
            <a:ext cx="2209800" cy="70788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Is 8 an EVEN number?</a:t>
            </a:r>
          </a:p>
        </p:txBody>
      </p:sp>
      <p:sp>
        <p:nvSpPr>
          <p:cNvPr id="12" name="TextBox 11"/>
          <p:cNvSpPr txBox="1"/>
          <p:nvPr/>
        </p:nvSpPr>
        <p:spPr>
          <a:xfrm>
            <a:off x="8761412" y="4257406"/>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8 % 2 = 0</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It is </a:t>
            </a:r>
            <a:r>
              <a:rPr lang="en-US" sz="2000" dirty="0">
                <a:solidFill>
                  <a:srgbClr val="FF0000"/>
                </a:solidFill>
                <a:latin typeface="Arial" panose="020B0604020202020204" pitchFamily="34" charset="0"/>
                <a:cs typeface="Arial" panose="020B0604020202020204" pitchFamily="34" charset="0"/>
              </a:rPr>
              <a:t>EVEN</a:t>
            </a:r>
          </a:p>
        </p:txBody>
      </p:sp>
      <p:pic>
        <p:nvPicPr>
          <p:cNvPr id="8" name="Picture 7"/>
          <p:cNvPicPr>
            <a:picLocks noChangeAspect="1"/>
          </p:cNvPicPr>
          <p:nvPr/>
        </p:nvPicPr>
        <p:blipFill>
          <a:blip r:embed="rId2"/>
          <a:stretch>
            <a:fillRect/>
          </a:stretch>
        </p:blipFill>
        <p:spPr>
          <a:xfrm>
            <a:off x="3942031" y="1957571"/>
            <a:ext cx="4304762" cy="2942857"/>
          </a:xfrm>
          <a:prstGeom prst="rect">
            <a:avLst/>
          </a:prstGeom>
        </p:spPr>
      </p:pic>
    </p:spTree>
    <p:extLst>
      <p:ext uri="{BB962C8B-B14F-4D97-AF65-F5344CB8AC3E}">
        <p14:creationId xmlns:p14="http://schemas.microsoft.com/office/powerpoint/2010/main" val="341961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 </a:t>
            </a:r>
            <a:r>
              <a:rPr lang="en-US" sz="4800" dirty="0"/>
              <a:t>Division</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1446212" y="1036896"/>
            <a:ext cx="51054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Practice – Even or Odd Number</a:t>
            </a:r>
          </a:p>
        </p:txBody>
      </p:sp>
      <p:sp>
        <p:nvSpPr>
          <p:cNvPr id="14" name="TextBox 13"/>
          <p:cNvSpPr txBox="1"/>
          <p:nvPr/>
        </p:nvSpPr>
        <p:spPr>
          <a:xfrm>
            <a:off x="1254123" y="2895600"/>
            <a:ext cx="2209800" cy="70788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Is 9 an ODD number?</a:t>
            </a:r>
          </a:p>
        </p:txBody>
      </p:sp>
      <p:sp>
        <p:nvSpPr>
          <p:cNvPr id="12" name="TextBox 11"/>
          <p:cNvSpPr txBox="1"/>
          <p:nvPr/>
        </p:nvSpPr>
        <p:spPr>
          <a:xfrm>
            <a:off x="8761412" y="4257406"/>
            <a:ext cx="2209800" cy="1015663"/>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9 % 2 =1</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It is </a:t>
            </a:r>
            <a:r>
              <a:rPr lang="en-US" sz="2000" dirty="0">
                <a:solidFill>
                  <a:srgbClr val="FF0000"/>
                </a:solidFill>
                <a:latin typeface="Arial" panose="020B0604020202020204" pitchFamily="34" charset="0"/>
                <a:cs typeface="Arial" panose="020B0604020202020204" pitchFamily="34" charset="0"/>
              </a:rPr>
              <a:t>ODD</a:t>
            </a:r>
          </a:p>
        </p:txBody>
      </p:sp>
      <p:pic>
        <p:nvPicPr>
          <p:cNvPr id="5" name="Picture 4"/>
          <p:cNvPicPr>
            <a:picLocks noChangeAspect="1"/>
          </p:cNvPicPr>
          <p:nvPr/>
        </p:nvPicPr>
        <p:blipFill>
          <a:blip r:embed="rId2"/>
          <a:stretch>
            <a:fillRect/>
          </a:stretch>
        </p:blipFill>
        <p:spPr>
          <a:xfrm>
            <a:off x="3875364" y="1671857"/>
            <a:ext cx="4438095" cy="3514286"/>
          </a:xfrm>
          <a:prstGeom prst="rect">
            <a:avLst/>
          </a:prstGeom>
        </p:spPr>
      </p:pic>
    </p:spTree>
    <p:extLst>
      <p:ext uri="{BB962C8B-B14F-4D97-AF65-F5344CB8AC3E}">
        <p14:creationId xmlns:p14="http://schemas.microsoft.com/office/powerpoint/2010/main" val="95980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Arithmetic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latin typeface="Arial" panose="020B0604020202020204" pitchFamily="34" charset="0"/>
                <a:cs typeface="Arial" panose="020B0604020202020204" pitchFamily="34" charset="0"/>
              </a:rPr>
              <a:t>a = 10; b= 20</a:t>
            </a:r>
          </a:p>
        </p:txBody>
      </p:sp>
      <p:graphicFrame>
        <p:nvGraphicFramePr>
          <p:cNvPr id="8" name="Table 7"/>
          <p:cNvGraphicFramePr>
            <a:graphicFrameLocks noGrp="1"/>
          </p:cNvGraphicFramePr>
          <p:nvPr>
            <p:extLst>
              <p:ext uri="{D42A27DB-BD31-4B8C-83A1-F6EECF244321}">
                <p14:modId xmlns:p14="http://schemas.microsoft.com/office/powerpoint/2010/main" val="1888123481"/>
              </p:ext>
            </p:extLst>
          </p:nvPr>
        </p:nvGraphicFramePr>
        <p:xfrm>
          <a:off x="1598612" y="1371600"/>
          <a:ext cx="10363200" cy="4878166"/>
        </p:xfrm>
        <a:graphic>
          <a:graphicData uri="http://schemas.openxmlformats.org/drawingml/2006/table">
            <a:tbl>
              <a:tblPr firstRow="1" bandRow="1">
                <a:tableStyleId>{616DA210-FB5B-4158-B5E0-FEB733F419BA}</a:tableStyleId>
              </a:tblPr>
              <a:tblGrid>
                <a:gridCol w="1583267">
                  <a:extLst>
                    <a:ext uri="{9D8B030D-6E8A-4147-A177-3AD203B41FA5}">
                      <a16:colId xmlns:a16="http://schemas.microsoft.com/office/drawing/2014/main" val="20000"/>
                    </a:ext>
                  </a:extLst>
                </a:gridCol>
                <a:gridCol w="6959371">
                  <a:extLst>
                    <a:ext uri="{9D8B030D-6E8A-4147-A177-3AD203B41FA5}">
                      <a16:colId xmlns:a16="http://schemas.microsoft.com/office/drawing/2014/main" val="20001"/>
                    </a:ext>
                  </a:extLst>
                </a:gridCol>
                <a:gridCol w="1820562">
                  <a:extLst>
                    <a:ext uri="{9D8B030D-6E8A-4147-A177-3AD203B41FA5}">
                      <a16:colId xmlns:a16="http://schemas.microsoft.com/office/drawing/2014/main" val="20002"/>
                    </a:ext>
                  </a:extLst>
                </a:gridCol>
              </a:tblGrid>
              <a:tr h="321353">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9654">
                <a:tc>
                  <a:txBody>
                    <a:bodyPr/>
                    <a:lstStyle/>
                    <a:p>
                      <a:pPr algn="ctr" fontAlgn="t"/>
                      <a:r>
                        <a:rPr lang="en-US" sz="1600" dirty="0">
                          <a:effectLst/>
                        </a:rPr>
                        <a:t>+ Addition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Adds values on either side of the operator.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a + b = 30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0529">
                <a:tc>
                  <a:txBody>
                    <a:bodyPr/>
                    <a:lstStyle/>
                    <a:p>
                      <a:pPr algn="ctr" fontAlgn="t"/>
                      <a:r>
                        <a:rPr lang="en-US" sz="1600" dirty="0">
                          <a:effectLst/>
                        </a:rPr>
                        <a:t>- Subtraction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Subtracts right hand operand from left hand operand.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a – b = -10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0529">
                <a:tc>
                  <a:txBody>
                    <a:bodyPr/>
                    <a:lstStyle/>
                    <a:p>
                      <a:pPr algn="ctr" fontAlgn="t"/>
                      <a:r>
                        <a:rPr lang="en-US" sz="1600" dirty="0">
                          <a:effectLst/>
                        </a:rPr>
                        <a:t>* Multiplication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Multiplies values on either side of the operator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a * b = 200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8537">
                <a:tc>
                  <a:txBody>
                    <a:bodyPr/>
                    <a:lstStyle/>
                    <a:p>
                      <a:pPr algn="ctr" fontAlgn="t"/>
                      <a:r>
                        <a:rPr lang="en-US" sz="1600" dirty="0">
                          <a:effectLst/>
                        </a:rPr>
                        <a:t>/ Division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Divides left hand operand by right hand operand</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b / a = 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50086">
                <a:tc>
                  <a:txBody>
                    <a:bodyPr/>
                    <a:lstStyle/>
                    <a:p>
                      <a:pPr algn="ctr" fontAlgn="t"/>
                      <a:r>
                        <a:rPr lang="en-US" sz="1600" dirty="0">
                          <a:effectLst/>
                        </a:rPr>
                        <a:t>% Modulus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Divides left hand operand by right hand operand and returns remainder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b % a = 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59642">
                <a:tc>
                  <a:txBody>
                    <a:bodyPr/>
                    <a:lstStyle/>
                    <a:p>
                      <a:pPr algn="ctr" fontAlgn="t"/>
                      <a:r>
                        <a:rPr lang="en-US" sz="1600" dirty="0">
                          <a:effectLst/>
                        </a:rPr>
                        <a:t>** Exponent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Performs exponential (power) calculation on operators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a**b =10 to the power 20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597868">
                <a:tc>
                  <a:txBody>
                    <a:bodyPr/>
                    <a:lstStyle/>
                    <a:p>
                      <a:pPr algn="ctr" fontAlgn="t"/>
                      <a:r>
                        <a:rPr lang="en-US" sz="1600" dirty="0">
                          <a:effectLst/>
                        </a:rPr>
                        <a: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Floor Division</a:t>
                      </a:r>
                    </a:p>
                    <a:p>
                      <a:pPr marL="285750" indent="-285750" fontAlgn="t">
                        <a:buFont typeface="Arial" panose="020B0604020202020204" pitchFamily="34" charset="0"/>
                        <a:buChar char="•"/>
                      </a:pPr>
                      <a:r>
                        <a:rPr lang="en-US" sz="1600" dirty="0">
                          <a:effectLst/>
                        </a:rPr>
                        <a:t>The division of operands where the result is the quotient in which the digits after the decimal point are removed. </a:t>
                      </a:r>
                    </a:p>
                    <a:p>
                      <a:pPr marL="285750" indent="-285750" fontAlgn="t">
                        <a:buFont typeface="Arial" panose="020B0604020202020204" pitchFamily="34" charset="0"/>
                        <a:buChar char="•"/>
                      </a:pPr>
                      <a:r>
                        <a:rPr lang="en-US" sz="1600" dirty="0">
                          <a:effectLst/>
                        </a:rPr>
                        <a:t>But if one of the operands is negative, the result is floored, i.e., rounded away from zero (towards negative infinity):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600" dirty="0">
                          <a:effectLst/>
                        </a:rPr>
                        <a:t>9//2 = 4 and 9.0//2.0 = 4.0</a:t>
                      </a:r>
                    </a:p>
                    <a:p>
                      <a:pPr fontAlgn="t"/>
                      <a:r>
                        <a:rPr lang="en-US" sz="1600" dirty="0">
                          <a:effectLst/>
                        </a:rPr>
                        <a:t>-11//3 = -4</a:t>
                      </a:r>
                    </a:p>
                    <a:p>
                      <a:pPr fontAlgn="t"/>
                      <a:r>
                        <a:rPr lang="en-US" sz="1600" dirty="0">
                          <a:effectLst/>
                        </a:rPr>
                        <a:t>-11.0//3 = -4.0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6266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Comparison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latin typeface="Arial" panose="020B0604020202020204" pitchFamily="34" charset="0"/>
                <a:cs typeface="Arial" panose="020B0604020202020204" pitchFamily="34" charset="0"/>
              </a:rPr>
              <a:t>a = 10;  b = 20</a:t>
            </a:r>
          </a:p>
        </p:txBody>
      </p:sp>
      <p:graphicFrame>
        <p:nvGraphicFramePr>
          <p:cNvPr id="8" name="Table 7"/>
          <p:cNvGraphicFramePr>
            <a:graphicFrameLocks noGrp="1"/>
          </p:cNvGraphicFramePr>
          <p:nvPr>
            <p:extLst>
              <p:ext uri="{D42A27DB-BD31-4B8C-83A1-F6EECF244321}">
                <p14:modId xmlns:p14="http://schemas.microsoft.com/office/powerpoint/2010/main" val="2557413584"/>
              </p:ext>
            </p:extLst>
          </p:nvPr>
        </p:nvGraphicFramePr>
        <p:xfrm>
          <a:off x="1446212" y="1371600"/>
          <a:ext cx="10049273" cy="4376132"/>
        </p:xfrm>
        <a:graphic>
          <a:graphicData uri="http://schemas.openxmlformats.org/drawingml/2006/table">
            <a:tbl>
              <a:tblPr firstRow="1" bandRow="1">
                <a:tableStyleId>{616DA210-FB5B-4158-B5E0-FEB733F419BA}</a:tableStyleId>
              </a:tblPr>
              <a:tblGrid>
                <a:gridCol w="1168070">
                  <a:extLst>
                    <a:ext uri="{9D8B030D-6E8A-4147-A177-3AD203B41FA5}">
                      <a16:colId xmlns:a16="http://schemas.microsoft.com/office/drawing/2014/main" val="20000"/>
                    </a:ext>
                  </a:extLst>
                </a:gridCol>
                <a:gridCol w="7048126">
                  <a:extLst>
                    <a:ext uri="{9D8B030D-6E8A-4147-A177-3AD203B41FA5}">
                      <a16:colId xmlns:a16="http://schemas.microsoft.com/office/drawing/2014/main" val="20001"/>
                    </a:ext>
                  </a:extLst>
                </a:gridCol>
                <a:gridCol w="1833077">
                  <a:extLst>
                    <a:ext uri="{9D8B030D-6E8A-4147-A177-3AD203B41FA5}">
                      <a16:colId xmlns:a16="http://schemas.microsoft.com/office/drawing/2014/main" val="20002"/>
                    </a:ext>
                  </a:extLst>
                </a:gridCol>
              </a:tblGrid>
              <a:tr h="321353">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tc>
                <a:extLst>
                  <a:ext uri="{0D108BD9-81ED-4DB2-BD59-A6C34878D82A}">
                    <a16:rowId xmlns:a16="http://schemas.microsoft.com/office/drawing/2014/main" val="10000"/>
                  </a:ext>
                </a:extLst>
              </a:tr>
              <a:tr h="389654">
                <a:tc>
                  <a:txBody>
                    <a:bodyPr/>
                    <a:lstStyle/>
                    <a:p>
                      <a:pPr algn="ctr" fontAlgn="t"/>
                      <a:r>
                        <a:rPr lang="en-US" sz="1800" dirty="0">
                          <a:effectLst/>
                        </a:rPr>
                        <a:t>==</a:t>
                      </a:r>
                    </a:p>
                  </a:txBody>
                  <a:tcPr marL="76200" marR="76200" marT="76200" marB="76200"/>
                </a:tc>
                <a:tc>
                  <a:txBody>
                    <a:bodyPr/>
                    <a:lstStyle/>
                    <a:p>
                      <a:pPr fontAlgn="t"/>
                      <a:r>
                        <a:rPr lang="en-US" sz="1800" dirty="0">
                          <a:effectLst/>
                        </a:rPr>
                        <a:t>If the values of two operands are equal, then the condition becomes true.</a:t>
                      </a:r>
                    </a:p>
                  </a:txBody>
                  <a:tcPr marL="76200" marR="76200" marT="76200" marB="76200"/>
                </a:tc>
                <a:tc>
                  <a:txBody>
                    <a:bodyPr/>
                    <a:lstStyle/>
                    <a:p>
                      <a:pPr fontAlgn="t"/>
                      <a:r>
                        <a:rPr lang="en-US" sz="1800" dirty="0">
                          <a:effectLst/>
                        </a:rPr>
                        <a:t>(a == b) is not true.</a:t>
                      </a:r>
                    </a:p>
                  </a:txBody>
                  <a:tcPr marL="76200" marR="76200" marT="76200" marB="76200"/>
                </a:tc>
                <a:extLst>
                  <a:ext uri="{0D108BD9-81ED-4DB2-BD59-A6C34878D82A}">
                    <a16:rowId xmlns:a16="http://schemas.microsoft.com/office/drawing/2014/main" val="10001"/>
                  </a:ext>
                </a:extLst>
              </a:tr>
              <a:tr h="340529">
                <a:tc>
                  <a:txBody>
                    <a:bodyPr/>
                    <a:lstStyle/>
                    <a:p>
                      <a:pPr algn="ctr" fontAlgn="t"/>
                      <a:r>
                        <a:rPr lang="en-US" sz="1800" dirty="0">
                          <a:effectLst/>
                        </a:rPr>
                        <a:t>!=</a:t>
                      </a:r>
                    </a:p>
                  </a:txBody>
                  <a:tcPr marL="76200" marR="76200" marT="76200" marB="76200"/>
                </a:tc>
                <a:tc>
                  <a:txBody>
                    <a:bodyPr/>
                    <a:lstStyle/>
                    <a:p>
                      <a:pPr fontAlgn="t"/>
                      <a:r>
                        <a:rPr lang="en-US" sz="1800" dirty="0">
                          <a:effectLst/>
                        </a:rPr>
                        <a:t>If values of two operands are not equal, then condition becomes true.</a:t>
                      </a:r>
                    </a:p>
                  </a:txBody>
                  <a:tcPr marL="76200" marR="76200" marT="76200" marB="76200"/>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sz="1800" dirty="0">
                          <a:effectLst/>
                        </a:rPr>
                        <a:t>(a != b) is true.</a:t>
                      </a:r>
                    </a:p>
                  </a:txBody>
                  <a:tcPr/>
                </a:tc>
                <a:extLst>
                  <a:ext uri="{0D108BD9-81ED-4DB2-BD59-A6C34878D82A}">
                    <a16:rowId xmlns:a16="http://schemas.microsoft.com/office/drawing/2014/main" val="10002"/>
                  </a:ext>
                </a:extLst>
              </a:tr>
              <a:tr h="340529">
                <a:tc>
                  <a:txBody>
                    <a:bodyPr/>
                    <a:lstStyle/>
                    <a:p>
                      <a:pPr algn="ctr" fontAlgn="t"/>
                      <a:r>
                        <a:rPr lang="en-US" sz="1800" dirty="0">
                          <a:effectLst/>
                        </a:rPr>
                        <a:t>&gt;</a:t>
                      </a:r>
                    </a:p>
                  </a:txBody>
                  <a:tcPr marL="76200" marR="76200" marT="76200" marB="76200"/>
                </a:tc>
                <a:tc>
                  <a:txBody>
                    <a:bodyPr/>
                    <a:lstStyle/>
                    <a:p>
                      <a:pPr fontAlgn="t"/>
                      <a:r>
                        <a:rPr lang="en-US" sz="1800" dirty="0">
                          <a:effectLst/>
                        </a:rPr>
                        <a:t>If the value of left operand is greater than the value of right operand, then condition becomes true.</a:t>
                      </a:r>
                    </a:p>
                  </a:txBody>
                  <a:tcPr marL="76200" marR="76200" marT="76200" marB="76200"/>
                </a:tc>
                <a:tc>
                  <a:txBody>
                    <a:bodyPr/>
                    <a:lstStyle/>
                    <a:p>
                      <a:pPr fontAlgn="t"/>
                      <a:r>
                        <a:rPr lang="en-US" sz="1800" dirty="0">
                          <a:effectLst/>
                        </a:rPr>
                        <a:t>(a &gt; b) is not true.</a:t>
                      </a:r>
                    </a:p>
                  </a:txBody>
                  <a:tcPr marL="76200" marR="76200" marT="76200" marB="76200"/>
                </a:tc>
                <a:extLst>
                  <a:ext uri="{0D108BD9-81ED-4DB2-BD59-A6C34878D82A}">
                    <a16:rowId xmlns:a16="http://schemas.microsoft.com/office/drawing/2014/main" val="10003"/>
                  </a:ext>
                </a:extLst>
              </a:tr>
              <a:tr h="348537">
                <a:tc>
                  <a:txBody>
                    <a:bodyPr/>
                    <a:lstStyle/>
                    <a:p>
                      <a:pPr algn="ctr" fontAlgn="t"/>
                      <a:r>
                        <a:rPr lang="en-US" sz="1800" dirty="0">
                          <a:effectLst/>
                        </a:rPr>
                        <a:t>&lt;</a:t>
                      </a:r>
                    </a:p>
                  </a:txBody>
                  <a:tcPr marL="76200" marR="76200" marT="76200" marB="76200"/>
                </a:tc>
                <a:tc>
                  <a:txBody>
                    <a:bodyPr/>
                    <a:lstStyle/>
                    <a:p>
                      <a:pPr fontAlgn="t"/>
                      <a:r>
                        <a:rPr lang="en-US" sz="1800" dirty="0">
                          <a:effectLst/>
                        </a:rPr>
                        <a:t>If the value of left operand is less than the value of right operand, then condition becomes true.</a:t>
                      </a:r>
                    </a:p>
                  </a:txBody>
                  <a:tcPr marL="76200" marR="76200" marT="76200" marB="76200"/>
                </a:tc>
                <a:tc>
                  <a:txBody>
                    <a:bodyPr/>
                    <a:lstStyle/>
                    <a:p>
                      <a:pPr fontAlgn="t"/>
                      <a:r>
                        <a:rPr lang="en-US" sz="1800" dirty="0">
                          <a:effectLst/>
                        </a:rPr>
                        <a:t>(a &lt; b) is true.</a:t>
                      </a:r>
                    </a:p>
                  </a:txBody>
                  <a:tcPr marL="76200" marR="76200" marT="76200" marB="76200"/>
                </a:tc>
                <a:extLst>
                  <a:ext uri="{0D108BD9-81ED-4DB2-BD59-A6C34878D82A}">
                    <a16:rowId xmlns:a16="http://schemas.microsoft.com/office/drawing/2014/main" val="10004"/>
                  </a:ext>
                </a:extLst>
              </a:tr>
              <a:tr h="550086">
                <a:tc>
                  <a:txBody>
                    <a:bodyPr/>
                    <a:lstStyle/>
                    <a:p>
                      <a:pPr algn="ctr" fontAlgn="t"/>
                      <a:r>
                        <a:rPr lang="en-US" sz="1800" dirty="0">
                          <a:effectLst/>
                        </a:rPr>
                        <a:t>&gt;=</a:t>
                      </a:r>
                    </a:p>
                  </a:txBody>
                  <a:tcPr marL="76200" marR="76200" marT="76200" marB="76200"/>
                </a:tc>
                <a:tc>
                  <a:txBody>
                    <a:bodyPr/>
                    <a:lstStyle/>
                    <a:p>
                      <a:pPr fontAlgn="t"/>
                      <a:r>
                        <a:rPr lang="en-US" sz="1800" dirty="0">
                          <a:effectLst/>
                        </a:rPr>
                        <a:t>If the value of left operand is greater than or equal to the value of right operand, then condition becomes true.</a:t>
                      </a:r>
                    </a:p>
                  </a:txBody>
                  <a:tcPr marL="76200" marR="76200" marT="76200" marB="76200"/>
                </a:tc>
                <a:tc>
                  <a:txBody>
                    <a:bodyPr/>
                    <a:lstStyle/>
                    <a:p>
                      <a:pPr fontAlgn="t"/>
                      <a:r>
                        <a:rPr lang="en-US" sz="1800" dirty="0">
                          <a:effectLst/>
                        </a:rPr>
                        <a:t>(a &gt;= b) is not true.</a:t>
                      </a:r>
                    </a:p>
                  </a:txBody>
                  <a:tcPr marL="76200" marR="76200" marT="76200" marB="76200"/>
                </a:tc>
                <a:extLst>
                  <a:ext uri="{0D108BD9-81ED-4DB2-BD59-A6C34878D82A}">
                    <a16:rowId xmlns:a16="http://schemas.microsoft.com/office/drawing/2014/main" val="10005"/>
                  </a:ext>
                </a:extLst>
              </a:tr>
              <a:tr h="759642">
                <a:tc>
                  <a:txBody>
                    <a:bodyPr/>
                    <a:lstStyle/>
                    <a:p>
                      <a:pPr algn="ctr" fontAlgn="t"/>
                      <a:r>
                        <a:rPr lang="en-US" sz="1800" dirty="0">
                          <a:effectLst/>
                        </a:rPr>
                        <a:t>&lt;=</a:t>
                      </a:r>
                    </a:p>
                  </a:txBody>
                  <a:tcPr marL="76200" marR="76200" marT="76200" marB="76200"/>
                </a:tc>
                <a:tc>
                  <a:txBody>
                    <a:bodyPr/>
                    <a:lstStyle/>
                    <a:p>
                      <a:pPr fontAlgn="t"/>
                      <a:r>
                        <a:rPr lang="en-US" sz="1800" dirty="0">
                          <a:effectLst/>
                        </a:rPr>
                        <a:t>If the value of left operand is less than or equal to the value of right operand, then condition becomes true.</a:t>
                      </a:r>
                    </a:p>
                  </a:txBody>
                  <a:tcPr marL="76200" marR="76200" marT="76200" marB="76200"/>
                </a:tc>
                <a:tc>
                  <a:txBody>
                    <a:bodyPr/>
                    <a:lstStyle/>
                    <a:p>
                      <a:pPr fontAlgn="t"/>
                      <a:r>
                        <a:rPr lang="en-US" sz="1800" dirty="0">
                          <a:effectLst/>
                        </a:rPr>
                        <a:t>(a &lt;= b) is true.</a:t>
                      </a:r>
                    </a:p>
                  </a:txBody>
                  <a:tcPr marL="76200" marR="76200" marT="76200" marB="762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5778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Assignment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latin typeface="Arial" panose="020B0604020202020204" pitchFamily="34" charset="0"/>
                <a:cs typeface="Arial" panose="020B0604020202020204" pitchFamily="34" charset="0"/>
              </a:rPr>
              <a:t>a = 10; b = 20</a:t>
            </a:r>
          </a:p>
        </p:txBody>
      </p:sp>
      <p:graphicFrame>
        <p:nvGraphicFramePr>
          <p:cNvPr id="8" name="Table 7"/>
          <p:cNvGraphicFramePr>
            <a:graphicFrameLocks noGrp="1"/>
          </p:cNvGraphicFramePr>
          <p:nvPr>
            <p:extLst>
              <p:ext uri="{D42A27DB-BD31-4B8C-83A1-F6EECF244321}">
                <p14:modId xmlns:p14="http://schemas.microsoft.com/office/powerpoint/2010/main" val="3074173969"/>
              </p:ext>
            </p:extLst>
          </p:nvPr>
        </p:nvGraphicFramePr>
        <p:xfrm>
          <a:off x="1370012" y="1249065"/>
          <a:ext cx="10668001" cy="5625812"/>
        </p:xfrm>
        <a:graphic>
          <a:graphicData uri="http://schemas.openxmlformats.org/drawingml/2006/table">
            <a:tbl>
              <a:tblPr firstRow="1" bandRow="1">
                <a:tableStyleId>{616DA210-FB5B-4158-B5E0-FEB733F419BA}</a:tableStyleId>
              </a:tblPr>
              <a:tblGrid>
                <a:gridCol w="1239987">
                  <a:extLst>
                    <a:ext uri="{9D8B030D-6E8A-4147-A177-3AD203B41FA5}">
                      <a16:colId xmlns:a16="http://schemas.microsoft.com/office/drawing/2014/main" val="20000"/>
                    </a:ext>
                  </a:extLst>
                </a:gridCol>
                <a:gridCol w="6805363">
                  <a:extLst>
                    <a:ext uri="{9D8B030D-6E8A-4147-A177-3AD203B41FA5}">
                      <a16:colId xmlns:a16="http://schemas.microsoft.com/office/drawing/2014/main" val="20001"/>
                    </a:ext>
                  </a:extLst>
                </a:gridCol>
                <a:gridCol w="2622651">
                  <a:extLst>
                    <a:ext uri="{9D8B030D-6E8A-4147-A177-3AD203B41FA5}">
                      <a16:colId xmlns:a16="http://schemas.microsoft.com/office/drawing/2014/main" val="20002"/>
                    </a:ext>
                  </a:extLst>
                </a:gridCol>
              </a:tblGrid>
              <a:tr h="321353">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tc>
                <a:extLst>
                  <a:ext uri="{0D108BD9-81ED-4DB2-BD59-A6C34878D82A}">
                    <a16:rowId xmlns:a16="http://schemas.microsoft.com/office/drawing/2014/main" val="10000"/>
                  </a:ext>
                </a:extLst>
              </a:tr>
              <a:tr h="389654">
                <a:tc>
                  <a:txBody>
                    <a:bodyPr/>
                    <a:lstStyle/>
                    <a:p>
                      <a:pPr algn="ctr" fontAlgn="t"/>
                      <a:r>
                        <a:rPr lang="en-US" sz="1600" dirty="0">
                          <a:effectLst/>
                          <a:latin typeface="Calibri" panose="020F0502020204030204" pitchFamily="34" charset="0"/>
                          <a:cs typeface="Calibri" panose="020F0502020204030204" pitchFamily="34" charset="0"/>
                        </a:rPr>
                        <a:t>=</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Assigns values from right side operands to left side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 b assigns value of a + b into c</a:t>
                      </a:r>
                    </a:p>
                  </a:txBody>
                  <a:tcPr marL="76200" marR="76200" marT="76200" marB="76200"/>
                </a:tc>
                <a:extLst>
                  <a:ext uri="{0D108BD9-81ED-4DB2-BD59-A6C34878D82A}">
                    <a16:rowId xmlns:a16="http://schemas.microsoft.com/office/drawing/2014/main" val="10001"/>
                  </a:ext>
                </a:extLst>
              </a:tr>
              <a:tr h="389654">
                <a:tc>
                  <a:txBody>
                    <a:bodyPr/>
                    <a:lstStyle/>
                    <a:p>
                      <a:pPr algn="ctr" fontAlgn="t"/>
                      <a:r>
                        <a:rPr lang="en-US" sz="1600" dirty="0">
                          <a:effectLst/>
                          <a:latin typeface="Calibri" panose="020F0502020204030204" pitchFamily="34" charset="0"/>
                          <a:cs typeface="Calibri" panose="020F0502020204030204" pitchFamily="34" charset="0"/>
                        </a:rPr>
                        <a:t>+= Add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adds right operand to the left operand and assign the result to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2"/>
                  </a:ext>
                </a:extLst>
              </a:tr>
              <a:tr h="389654">
                <a:tc>
                  <a:txBody>
                    <a:bodyPr/>
                    <a:lstStyle/>
                    <a:p>
                      <a:pPr algn="ctr" fontAlgn="t"/>
                      <a:r>
                        <a:rPr lang="en-US" sz="1600" dirty="0">
                          <a:effectLst/>
                          <a:latin typeface="Calibri" panose="020F0502020204030204" pitchFamily="34" charset="0"/>
                          <a:cs typeface="Calibri" panose="020F0502020204030204" pitchFamily="34" charset="0"/>
                        </a:rPr>
                        <a:t>-= Subtract</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subtracts right operand from the left operand and assign the result to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3"/>
                  </a:ext>
                </a:extLst>
              </a:tr>
              <a:tr h="340529">
                <a:tc>
                  <a:txBody>
                    <a:bodyPr/>
                    <a:lstStyle/>
                    <a:p>
                      <a:pPr algn="ctr" fontAlgn="t"/>
                      <a:r>
                        <a:rPr lang="en-US" sz="1600" dirty="0">
                          <a:effectLst/>
                          <a:latin typeface="Calibri" panose="020F0502020204030204" pitchFamily="34" charset="0"/>
                          <a:cs typeface="Calibri" panose="020F0502020204030204" pitchFamily="34" charset="0"/>
                        </a:rPr>
                        <a:t>*= Multiply</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multiplies right operand with the left operand and assign the result to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4"/>
                  </a:ext>
                </a:extLst>
              </a:tr>
              <a:tr h="340529">
                <a:tc>
                  <a:txBody>
                    <a:bodyPr/>
                    <a:lstStyle/>
                    <a:p>
                      <a:pPr algn="ctr" fontAlgn="t"/>
                      <a:r>
                        <a:rPr lang="en-US" sz="1600" dirty="0">
                          <a:effectLst/>
                          <a:latin typeface="Calibri" panose="020F0502020204030204" pitchFamily="34" charset="0"/>
                          <a:cs typeface="Calibri" panose="020F0502020204030204" pitchFamily="34" charset="0"/>
                        </a:rPr>
                        <a:t>/= Divide</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divides left operand with the right operand and assign the result to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5"/>
                  </a:ext>
                </a:extLst>
              </a:tr>
              <a:tr h="348537">
                <a:tc>
                  <a:txBody>
                    <a:bodyPr/>
                    <a:lstStyle/>
                    <a:p>
                      <a:pPr algn="ctr" fontAlgn="t"/>
                      <a:r>
                        <a:rPr lang="en-US" sz="1600" dirty="0">
                          <a:effectLst/>
                          <a:latin typeface="Calibri" panose="020F0502020204030204" pitchFamily="34" charset="0"/>
                          <a:cs typeface="Calibri" panose="020F0502020204030204" pitchFamily="34" charset="0"/>
                        </a:rPr>
                        <a:t>%= Modulus</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takes modulus using two operands and assign the result to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6"/>
                  </a:ext>
                </a:extLst>
              </a:tr>
              <a:tr h="550086">
                <a:tc>
                  <a:txBody>
                    <a:bodyPr/>
                    <a:lstStyle/>
                    <a:p>
                      <a:pPr algn="ctr" fontAlgn="t"/>
                      <a:r>
                        <a:rPr lang="en-US" sz="1600" dirty="0">
                          <a:effectLst/>
                          <a:latin typeface="Calibri" panose="020F0502020204030204" pitchFamily="34" charset="0"/>
                          <a:cs typeface="Calibri" panose="020F0502020204030204" pitchFamily="34" charset="0"/>
                        </a:rPr>
                        <a:t>**= Exponent</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Performs exponential (power) calculation on operators and assign value to the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7"/>
                  </a:ext>
                </a:extLst>
              </a:tr>
              <a:tr h="759642">
                <a:tc>
                  <a:txBody>
                    <a:bodyPr/>
                    <a:lstStyle/>
                    <a:p>
                      <a:pPr algn="ctr" fontAlgn="t"/>
                      <a:r>
                        <a:rPr lang="en-US" sz="1600" dirty="0">
                          <a:effectLst/>
                          <a:latin typeface="Calibri" panose="020F0502020204030204" pitchFamily="34" charset="0"/>
                          <a:cs typeface="Calibri" panose="020F0502020204030204" pitchFamily="34" charset="0"/>
                        </a:rPr>
                        <a:t>//= Floor Division</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It performs floor division on operators and assign value to the left operand</a:t>
                      </a:r>
                    </a:p>
                  </a:txBody>
                  <a:tcPr marL="76200" marR="76200" marT="76200" marB="76200"/>
                </a:tc>
                <a:tc>
                  <a:txBody>
                    <a:bodyPr/>
                    <a:lstStyle/>
                    <a:p>
                      <a:pPr fontAlgn="t"/>
                      <a:r>
                        <a:rPr lang="en-US" sz="1600" dirty="0">
                          <a:effectLst/>
                          <a:latin typeface="Calibri" panose="020F0502020204030204" pitchFamily="34" charset="0"/>
                          <a:cs typeface="Calibri" panose="020F0502020204030204" pitchFamily="34" charset="0"/>
                        </a:rPr>
                        <a:t>c //= a is equivalent to c = c // a</a:t>
                      </a:r>
                    </a:p>
                  </a:txBody>
                  <a:tcPr marL="76200" marR="76200" marT="76200" marB="7620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0288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Logical</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solidFill>
                  <a:srgbClr val="FF0000"/>
                </a:solidFill>
                <a:latin typeface="Arial" panose="020B0604020202020204" pitchFamily="34" charset="0"/>
                <a:cs typeface="Arial" panose="020B0604020202020204" pitchFamily="34" charset="0"/>
              </a:rPr>
              <a:t>AND</a:t>
            </a:r>
          </a:p>
        </p:txBody>
      </p:sp>
      <p:pic>
        <p:nvPicPr>
          <p:cNvPr id="12" name="Picture 11"/>
          <p:cNvPicPr>
            <a:picLocks noChangeAspect="1"/>
          </p:cNvPicPr>
          <p:nvPr/>
        </p:nvPicPr>
        <p:blipFill>
          <a:blip r:embed="rId2"/>
          <a:stretch>
            <a:fillRect/>
          </a:stretch>
        </p:blipFill>
        <p:spPr>
          <a:xfrm>
            <a:off x="7008812" y="1605201"/>
            <a:ext cx="4971772" cy="1143000"/>
          </a:xfrm>
          <a:prstGeom prst="rect">
            <a:avLst/>
          </a:prstGeom>
        </p:spPr>
      </p:pic>
      <p:pic>
        <p:nvPicPr>
          <p:cNvPr id="13" name="Picture 12"/>
          <p:cNvPicPr>
            <a:picLocks noChangeAspect="1"/>
          </p:cNvPicPr>
          <p:nvPr/>
        </p:nvPicPr>
        <p:blipFill>
          <a:blip r:embed="rId3"/>
          <a:stretch>
            <a:fillRect/>
          </a:stretch>
        </p:blipFill>
        <p:spPr>
          <a:xfrm>
            <a:off x="1463674" y="1715685"/>
            <a:ext cx="5105400" cy="1067248"/>
          </a:xfrm>
          <a:prstGeom prst="rect">
            <a:avLst/>
          </a:prstGeom>
        </p:spPr>
      </p:pic>
      <p:pic>
        <p:nvPicPr>
          <p:cNvPr id="14" name="Picture 13"/>
          <p:cNvPicPr>
            <a:picLocks noChangeAspect="1"/>
          </p:cNvPicPr>
          <p:nvPr/>
        </p:nvPicPr>
        <p:blipFill>
          <a:blip r:embed="rId4"/>
          <a:stretch>
            <a:fillRect/>
          </a:stretch>
        </p:blipFill>
        <p:spPr>
          <a:xfrm>
            <a:off x="4016374" y="3810000"/>
            <a:ext cx="4495800" cy="1809600"/>
          </a:xfrm>
          <a:prstGeom prst="rect">
            <a:avLst/>
          </a:prstGeom>
        </p:spPr>
      </p:pic>
    </p:spTree>
    <p:extLst>
      <p:ext uri="{BB962C8B-B14F-4D97-AF65-F5344CB8AC3E}">
        <p14:creationId xmlns:p14="http://schemas.microsoft.com/office/powerpoint/2010/main" val="381452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Logical</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solidFill>
                  <a:srgbClr val="FF0000"/>
                </a:solidFill>
                <a:latin typeface="Arial" panose="020B0604020202020204" pitchFamily="34" charset="0"/>
                <a:cs typeface="Arial" panose="020B0604020202020204" pitchFamily="34" charset="0"/>
              </a:rPr>
              <a:t>OR</a:t>
            </a:r>
          </a:p>
        </p:txBody>
      </p:sp>
      <p:pic>
        <p:nvPicPr>
          <p:cNvPr id="5" name="Picture 4"/>
          <p:cNvPicPr>
            <a:picLocks noChangeAspect="1"/>
          </p:cNvPicPr>
          <p:nvPr/>
        </p:nvPicPr>
        <p:blipFill>
          <a:blip r:embed="rId2"/>
          <a:stretch>
            <a:fillRect/>
          </a:stretch>
        </p:blipFill>
        <p:spPr>
          <a:xfrm>
            <a:off x="3732212" y="1441450"/>
            <a:ext cx="4876800" cy="1447800"/>
          </a:xfrm>
          <a:prstGeom prst="rect">
            <a:avLst/>
          </a:prstGeom>
        </p:spPr>
      </p:pic>
      <p:pic>
        <p:nvPicPr>
          <p:cNvPr id="7" name="Picture 6"/>
          <p:cNvPicPr>
            <a:picLocks noChangeAspect="1"/>
          </p:cNvPicPr>
          <p:nvPr/>
        </p:nvPicPr>
        <p:blipFill>
          <a:blip r:embed="rId3"/>
          <a:stretch>
            <a:fillRect/>
          </a:stretch>
        </p:blipFill>
        <p:spPr>
          <a:xfrm>
            <a:off x="989012" y="3228915"/>
            <a:ext cx="4876800" cy="1219200"/>
          </a:xfrm>
          <a:prstGeom prst="rect">
            <a:avLst/>
          </a:prstGeom>
        </p:spPr>
      </p:pic>
      <p:pic>
        <p:nvPicPr>
          <p:cNvPr id="8" name="Picture 7"/>
          <p:cNvPicPr>
            <a:picLocks noChangeAspect="1"/>
          </p:cNvPicPr>
          <p:nvPr/>
        </p:nvPicPr>
        <p:blipFill>
          <a:blip r:embed="rId4"/>
          <a:stretch>
            <a:fillRect/>
          </a:stretch>
        </p:blipFill>
        <p:spPr>
          <a:xfrm>
            <a:off x="6704012" y="3263981"/>
            <a:ext cx="4882937" cy="1295238"/>
          </a:xfrm>
          <a:prstGeom prst="rect">
            <a:avLst/>
          </a:prstGeom>
        </p:spPr>
      </p:pic>
      <p:pic>
        <p:nvPicPr>
          <p:cNvPr id="10" name="Picture 9"/>
          <p:cNvPicPr>
            <a:picLocks noChangeAspect="1"/>
          </p:cNvPicPr>
          <p:nvPr/>
        </p:nvPicPr>
        <p:blipFill>
          <a:blip r:embed="rId5"/>
          <a:stretch>
            <a:fillRect/>
          </a:stretch>
        </p:blipFill>
        <p:spPr>
          <a:xfrm>
            <a:off x="3294717" y="4806992"/>
            <a:ext cx="5142189" cy="1447800"/>
          </a:xfrm>
          <a:prstGeom prst="rect">
            <a:avLst/>
          </a:prstGeom>
        </p:spPr>
      </p:pic>
    </p:spTree>
    <p:extLst>
      <p:ext uri="{BB962C8B-B14F-4D97-AF65-F5344CB8AC3E}">
        <p14:creationId xmlns:p14="http://schemas.microsoft.com/office/powerpoint/2010/main" val="387973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Logical</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solidFill>
                  <a:srgbClr val="FF0000"/>
                </a:solidFill>
                <a:latin typeface="Arial" panose="020B0604020202020204" pitchFamily="34" charset="0"/>
                <a:cs typeface="Arial" panose="020B0604020202020204" pitchFamily="34" charset="0"/>
              </a:rPr>
              <a:t>NOT</a:t>
            </a:r>
          </a:p>
        </p:txBody>
      </p:sp>
      <p:pic>
        <p:nvPicPr>
          <p:cNvPr id="11" name="Picture 10"/>
          <p:cNvPicPr>
            <a:picLocks noChangeAspect="1"/>
          </p:cNvPicPr>
          <p:nvPr/>
        </p:nvPicPr>
        <p:blipFill>
          <a:blip r:embed="rId2"/>
          <a:stretch>
            <a:fillRect/>
          </a:stretch>
        </p:blipFill>
        <p:spPr>
          <a:xfrm>
            <a:off x="3467969" y="2151828"/>
            <a:ext cx="5252888" cy="2554345"/>
          </a:xfrm>
          <a:prstGeom prst="rect">
            <a:avLst/>
          </a:prstGeom>
        </p:spPr>
      </p:pic>
    </p:spTree>
    <p:extLst>
      <p:ext uri="{BB962C8B-B14F-4D97-AF65-F5344CB8AC3E}">
        <p14:creationId xmlns:p14="http://schemas.microsoft.com/office/powerpoint/2010/main" val="2532836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Logical</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p:nvPr/>
        </p:nvSpPr>
        <p:spPr>
          <a:xfrm>
            <a:off x="1903412" y="787400"/>
            <a:ext cx="8229602" cy="400110"/>
          </a:xfrm>
          <a:prstGeom prst="rect">
            <a:avLst/>
          </a:prstGeom>
          <a:ln w="38100">
            <a:solidFill>
              <a:schemeClr val="tx1"/>
            </a:solidFill>
          </a:ln>
        </p:spPr>
        <p:txBody>
          <a:bodyPr wrap="square">
            <a:spAutoFit/>
          </a:bodyPr>
          <a:lstStyle/>
          <a:p>
            <a:pPr lvl="1" algn="ctr"/>
            <a:r>
              <a:rPr lang="en-US" sz="2000" dirty="0">
                <a:latin typeface="Arial" panose="020B0604020202020204" pitchFamily="34" charset="0"/>
                <a:cs typeface="Arial" panose="020B0604020202020204" pitchFamily="34" charset="0"/>
              </a:rPr>
              <a:t>a =true ; b = false</a:t>
            </a:r>
          </a:p>
        </p:txBody>
      </p:sp>
      <p:graphicFrame>
        <p:nvGraphicFramePr>
          <p:cNvPr id="8" name="Table 7"/>
          <p:cNvGraphicFramePr>
            <a:graphicFrameLocks noGrp="1"/>
          </p:cNvGraphicFramePr>
          <p:nvPr>
            <p:extLst>
              <p:ext uri="{D42A27DB-BD31-4B8C-83A1-F6EECF244321}">
                <p14:modId xmlns:p14="http://schemas.microsoft.com/office/powerpoint/2010/main" val="4077389387"/>
              </p:ext>
            </p:extLst>
          </p:nvPr>
        </p:nvGraphicFramePr>
        <p:xfrm>
          <a:off x="2665412" y="2133600"/>
          <a:ext cx="9144424" cy="2743199"/>
        </p:xfrm>
        <a:graphic>
          <a:graphicData uri="http://schemas.openxmlformats.org/drawingml/2006/table">
            <a:tbl>
              <a:tblPr firstRow="1" bandRow="1">
                <a:tableStyleId>{616DA210-FB5B-4158-B5E0-FEB733F419BA}</a:tableStyleId>
              </a:tblPr>
              <a:tblGrid>
                <a:gridCol w="1399984">
                  <a:extLst>
                    <a:ext uri="{9D8B030D-6E8A-4147-A177-3AD203B41FA5}">
                      <a16:colId xmlns:a16="http://schemas.microsoft.com/office/drawing/2014/main" val="20000"/>
                    </a:ext>
                  </a:extLst>
                </a:gridCol>
                <a:gridCol w="4787196">
                  <a:extLst>
                    <a:ext uri="{9D8B030D-6E8A-4147-A177-3AD203B41FA5}">
                      <a16:colId xmlns:a16="http://schemas.microsoft.com/office/drawing/2014/main" val="20001"/>
                    </a:ext>
                  </a:extLst>
                </a:gridCol>
                <a:gridCol w="2957244">
                  <a:extLst>
                    <a:ext uri="{9D8B030D-6E8A-4147-A177-3AD203B41FA5}">
                      <a16:colId xmlns:a16="http://schemas.microsoft.com/office/drawing/2014/main" val="20002"/>
                    </a:ext>
                  </a:extLst>
                </a:gridCol>
              </a:tblGrid>
              <a:tr h="513473">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tc>
                <a:extLst>
                  <a:ext uri="{0D108BD9-81ED-4DB2-BD59-A6C34878D82A}">
                    <a16:rowId xmlns:a16="http://schemas.microsoft.com/office/drawing/2014/main" val="10000"/>
                  </a:ext>
                </a:extLst>
              </a:tr>
              <a:tr h="743242">
                <a:tc>
                  <a:txBody>
                    <a:bodyPr/>
                    <a:lstStyle/>
                    <a:p>
                      <a:pPr algn="ctr"/>
                      <a:r>
                        <a:rPr lang="en-US" sz="2000" dirty="0">
                          <a:latin typeface="Arial" panose="020B0604020202020204" pitchFamily="34" charset="0"/>
                          <a:cs typeface="Arial" panose="020B0604020202020204" pitchFamily="34" charset="0"/>
                        </a:rPr>
                        <a:t>Logical AND</a:t>
                      </a:r>
                    </a:p>
                  </a:txBody>
                  <a:tcPr anchor="ctr"/>
                </a:tc>
                <a:tc>
                  <a:txBody>
                    <a:bodyPr/>
                    <a:lstStyle/>
                    <a:p>
                      <a:r>
                        <a:rPr lang="en-US" sz="2000" dirty="0">
                          <a:latin typeface="Arial" panose="020B0604020202020204" pitchFamily="34" charset="0"/>
                          <a:cs typeface="Arial" panose="020B0604020202020204" pitchFamily="34" charset="0"/>
                        </a:rPr>
                        <a:t>If both the operands are true then condition becomes true.</a:t>
                      </a:r>
                    </a:p>
                  </a:txBody>
                  <a:tcPr anchor="ctr"/>
                </a:tc>
                <a:tc>
                  <a:txBody>
                    <a:bodyPr/>
                    <a:lstStyle/>
                    <a:p>
                      <a:r>
                        <a:rPr lang="en-US" sz="2000" dirty="0">
                          <a:latin typeface="Arial" panose="020B0604020202020204" pitchFamily="34" charset="0"/>
                          <a:cs typeface="Arial" panose="020B0604020202020204" pitchFamily="34" charset="0"/>
                        </a:rPr>
                        <a:t>a </a:t>
                      </a:r>
                      <a:r>
                        <a:rPr lang="en-US" sz="2000" dirty="0">
                          <a:solidFill>
                            <a:srgbClr val="FF0000"/>
                          </a:solidFill>
                          <a:latin typeface="Arial" panose="020B0604020202020204" pitchFamily="34" charset="0"/>
                          <a:cs typeface="Arial" panose="020B0604020202020204" pitchFamily="34" charset="0"/>
                        </a:rPr>
                        <a:t>and</a:t>
                      </a:r>
                      <a:r>
                        <a:rPr lang="en-US" sz="2000" dirty="0">
                          <a:latin typeface="Arial" panose="020B0604020202020204" pitchFamily="34" charset="0"/>
                          <a:cs typeface="Arial" panose="020B0604020202020204" pitchFamily="34" charset="0"/>
                        </a:rPr>
                        <a:t> b is </a:t>
                      </a:r>
                      <a:r>
                        <a:rPr lang="en-US" sz="2000" dirty="0">
                          <a:solidFill>
                            <a:srgbClr val="FF0000"/>
                          </a:solidFill>
                          <a:latin typeface="Arial" panose="020B0604020202020204" pitchFamily="34" charset="0"/>
                          <a:cs typeface="Arial" panose="020B0604020202020204" pitchFamily="34" charset="0"/>
                        </a:rPr>
                        <a:t>false</a:t>
                      </a:r>
                      <a:r>
                        <a:rPr lang="en-US" sz="20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1"/>
                  </a:ext>
                </a:extLst>
              </a:tr>
              <a:tr h="743242">
                <a:tc>
                  <a:txBody>
                    <a:bodyPr/>
                    <a:lstStyle/>
                    <a:p>
                      <a:pPr algn="ctr"/>
                      <a:r>
                        <a:rPr lang="en-US" sz="2000" dirty="0">
                          <a:latin typeface="Arial" panose="020B0604020202020204" pitchFamily="34" charset="0"/>
                          <a:cs typeface="Arial" panose="020B0604020202020204" pitchFamily="34" charset="0"/>
                        </a:rPr>
                        <a:t>Logical OR</a:t>
                      </a:r>
                    </a:p>
                  </a:txBody>
                  <a:tcPr anchor="ctr"/>
                </a:tc>
                <a:tc>
                  <a:txBody>
                    <a:bodyPr/>
                    <a:lstStyle/>
                    <a:p>
                      <a:r>
                        <a:rPr lang="en-US" sz="2000" dirty="0">
                          <a:latin typeface="Arial" panose="020B0604020202020204" pitchFamily="34" charset="0"/>
                          <a:cs typeface="Arial" panose="020B0604020202020204" pitchFamily="34" charset="0"/>
                        </a:rPr>
                        <a:t>If any of the two operands are non-zero then condition becomes true.</a:t>
                      </a:r>
                    </a:p>
                  </a:txBody>
                  <a:tcPr anchor="ctr"/>
                </a:tc>
                <a:tc>
                  <a:txBody>
                    <a:bodyPr/>
                    <a:lstStyle/>
                    <a:p>
                      <a:r>
                        <a:rPr lang="en-US" sz="2000" dirty="0">
                          <a:latin typeface="Arial" panose="020B0604020202020204" pitchFamily="34" charset="0"/>
                          <a:cs typeface="Arial" panose="020B0604020202020204" pitchFamily="34" charset="0"/>
                        </a:rPr>
                        <a:t>a </a:t>
                      </a:r>
                      <a:r>
                        <a:rPr lang="en-US" sz="2000" dirty="0">
                          <a:solidFill>
                            <a:srgbClr val="FF0000"/>
                          </a:solidFill>
                          <a:latin typeface="Arial" panose="020B0604020202020204" pitchFamily="34" charset="0"/>
                          <a:cs typeface="Arial" panose="020B0604020202020204" pitchFamily="34" charset="0"/>
                        </a:rPr>
                        <a:t>or</a:t>
                      </a:r>
                      <a:r>
                        <a:rPr lang="en-US" sz="2000" dirty="0">
                          <a:latin typeface="Arial" panose="020B0604020202020204" pitchFamily="34" charset="0"/>
                          <a:cs typeface="Arial" panose="020B0604020202020204" pitchFamily="34" charset="0"/>
                        </a:rPr>
                        <a:t> b is </a:t>
                      </a:r>
                      <a:r>
                        <a:rPr lang="en-US" sz="2000" dirty="0">
                          <a:solidFill>
                            <a:srgbClr val="FF0000"/>
                          </a:solidFill>
                          <a:latin typeface="Arial" panose="020B0604020202020204" pitchFamily="34" charset="0"/>
                          <a:cs typeface="Arial" panose="020B0604020202020204" pitchFamily="34" charset="0"/>
                        </a:rPr>
                        <a:t>true</a:t>
                      </a:r>
                      <a:r>
                        <a:rPr lang="en-US" sz="20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2"/>
                  </a:ext>
                </a:extLst>
              </a:tr>
              <a:tr h="743242">
                <a:tc>
                  <a:txBody>
                    <a:bodyPr/>
                    <a:lstStyle/>
                    <a:p>
                      <a:pPr algn="ctr"/>
                      <a:r>
                        <a:rPr lang="en-US" sz="2000" dirty="0">
                          <a:latin typeface="Arial" panose="020B0604020202020204" pitchFamily="34" charset="0"/>
                          <a:cs typeface="Arial" panose="020B0604020202020204" pitchFamily="34" charset="0"/>
                        </a:rPr>
                        <a:t>Logical NOT</a:t>
                      </a:r>
                    </a:p>
                  </a:txBody>
                  <a:tcPr anchor="ctr"/>
                </a:tc>
                <a:tc>
                  <a:txBody>
                    <a:bodyPr/>
                    <a:lstStyle/>
                    <a:p>
                      <a:r>
                        <a:rPr lang="en-US" sz="2000" dirty="0">
                          <a:latin typeface="Arial" panose="020B0604020202020204" pitchFamily="34" charset="0"/>
                          <a:cs typeface="Arial" panose="020B0604020202020204" pitchFamily="34" charset="0"/>
                        </a:rPr>
                        <a:t>Used to reverse the logical state of its operand.</a:t>
                      </a:r>
                    </a:p>
                  </a:txBody>
                  <a:tcPr anchor="ctr"/>
                </a:tc>
                <a:tc>
                  <a:txBody>
                    <a:bodyPr/>
                    <a:lstStyle/>
                    <a:p>
                      <a:r>
                        <a:rPr lang="en-US" sz="2000" dirty="0">
                          <a:solidFill>
                            <a:srgbClr val="FF0000"/>
                          </a:solidFill>
                          <a:latin typeface="Arial" panose="020B0604020202020204" pitchFamily="34" charset="0"/>
                          <a:cs typeface="Arial" panose="020B0604020202020204" pitchFamily="34" charset="0"/>
                        </a:rPr>
                        <a:t>Not</a:t>
                      </a:r>
                      <a:r>
                        <a:rPr lang="en-US" sz="2000" dirty="0">
                          <a:latin typeface="Arial" panose="020B0604020202020204" pitchFamily="34" charset="0"/>
                          <a:cs typeface="Arial" panose="020B0604020202020204" pitchFamily="34" charset="0"/>
                        </a:rPr>
                        <a:t>(a and b) is </a:t>
                      </a:r>
                      <a:r>
                        <a:rPr lang="en-US" sz="2000" dirty="0">
                          <a:solidFill>
                            <a:srgbClr val="FF0000"/>
                          </a:solidFill>
                          <a:latin typeface="Arial" panose="020B0604020202020204" pitchFamily="34" charset="0"/>
                          <a:cs typeface="Arial" panose="020B0604020202020204" pitchFamily="34" charset="0"/>
                        </a:rPr>
                        <a:t>true</a:t>
                      </a:r>
                      <a:r>
                        <a:rPr lang="en-US" sz="2000" dirty="0">
                          <a:latin typeface="Arial" panose="020B0604020202020204" pitchFamily="34" charset="0"/>
                          <a:cs typeface="Arial" panose="020B0604020202020204" pitchFamily="34" charset="0"/>
                        </a:rPr>
                        <a:t>. </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266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Membership</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387924897"/>
              </p:ext>
            </p:extLst>
          </p:nvPr>
        </p:nvGraphicFramePr>
        <p:xfrm>
          <a:off x="1827213" y="1499463"/>
          <a:ext cx="9008765" cy="3365358"/>
        </p:xfrm>
        <a:graphic>
          <a:graphicData uri="http://schemas.openxmlformats.org/drawingml/2006/table">
            <a:tbl>
              <a:tblPr firstRow="1" bandRow="1">
                <a:tableStyleId>{616DA210-FB5B-4158-B5E0-FEB733F419BA}</a:tableStyleId>
              </a:tblPr>
              <a:tblGrid>
                <a:gridCol w="1129640">
                  <a:extLst>
                    <a:ext uri="{9D8B030D-6E8A-4147-A177-3AD203B41FA5}">
                      <a16:colId xmlns:a16="http://schemas.microsoft.com/office/drawing/2014/main" val="20000"/>
                    </a:ext>
                  </a:extLst>
                </a:gridCol>
                <a:gridCol w="4870451">
                  <a:extLst>
                    <a:ext uri="{9D8B030D-6E8A-4147-A177-3AD203B41FA5}">
                      <a16:colId xmlns:a16="http://schemas.microsoft.com/office/drawing/2014/main" val="20001"/>
                    </a:ext>
                  </a:extLst>
                </a:gridCol>
                <a:gridCol w="3008674">
                  <a:extLst>
                    <a:ext uri="{9D8B030D-6E8A-4147-A177-3AD203B41FA5}">
                      <a16:colId xmlns:a16="http://schemas.microsoft.com/office/drawing/2014/main" val="20002"/>
                    </a:ext>
                  </a:extLst>
                </a:gridCol>
              </a:tblGrid>
              <a:tr h="439278">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tc>
                <a:extLst>
                  <a:ext uri="{0D108BD9-81ED-4DB2-BD59-A6C34878D82A}">
                    <a16:rowId xmlns:a16="http://schemas.microsoft.com/office/drawing/2014/main" val="10000"/>
                  </a:ext>
                </a:extLst>
              </a:tr>
              <a:tr h="1016519">
                <a:tc>
                  <a:txBody>
                    <a:bodyPr/>
                    <a:lstStyle/>
                    <a:p>
                      <a:pPr algn="ctr"/>
                      <a:r>
                        <a:rPr lang="en-US" sz="2000" dirty="0">
                          <a:latin typeface="Arial" panose="020B0604020202020204" pitchFamily="34" charset="0"/>
                          <a:cs typeface="Arial" panose="020B0604020202020204" pitchFamily="34" charset="0"/>
                        </a:rPr>
                        <a:t>in</a:t>
                      </a:r>
                    </a:p>
                  </a:txBody>
                  <a:tcPr anchor="ctr"/>
                </a:tc>
                <a:tc>
                  <a:txBody>
                    <a:bodyPr/>
                    <a:lstStyle/>
                    <a:p>
                      <a:r>
                        <a:rPr lang="en-US" sz="2000" dirty="0">
                          <a:latin typeface="Arial" panose="020B0604020202020204" pitchFamily="34" charset="0"/>
                          <a:cs typeface="Arial" panose="020B0604020202020204" pitchFamily="34" charset="0"/>
                        </a:rPr>
                        <a:t>Evaluates to true if it finds a variable in the specified sequence and false otherwise.</a:t>
                      </a:r>
                    </a:p>
                  </a:txBody>
                  <a:tcPr anchor="ctr"/>
                </a:tc>
                <a:tc>
                  <a:txBody>
                    <a:bodyPr/>
                    <a:lstStyle/>
                    <a:p>
                      <a:r>
                        <a:rPr lang="en-US" sz="2000" dirty="0">
                          <a:latin typeface="Arial" panose="020B0604020202020204" pitchFamily="34" charset="0"/>
                          <a:cs typeface="Arial" panose="020B0604020202020204" pitchFamily="34" charset="0"/>
                        </a:rPr>
                        <a:t>x = [1, 2, 3]</a:t>
                      </a:r>
                    </a:p>
                    <a:p>
                      <a:r>
                        <a:rPr lang="en-US" sz="2000" dirty="0">
                          <a:latin typeface="Arial" panose="020B0604020202020204" pitchFamily="34" charset="0"/>
                          <a:cs typeface="Arial" panose="020B0604020202020204" pitchFamily="34" charset="0"/>
                        </a:rPr>
                        <a:t>Is 1</a:t>
                      </a:r>
                      <a:r>
                        <a:rPr lang="en-US" sz="2000" baseline="0" dirty="0">
                          <a:latin typeface="Arial" panose="020B0604020202020204" pitchFamily="34" charset="0"/>
                          <a:cs typeface="Arial" panose="020B0604020202020204" pitchFamily="34" charset="0"/>
                        </a:rPr>
                        <a:t> </a:t>
                      </a:r>
                      <a:r>
                        <a:rPr lang="en-US" sz="2000" baseline="0" dirty="0">
                          <a:solidFill>
                            <a:srgbClr val="FF0000"/>
                          </a:solidFill>
                          <a:latin typeface="Arial" panose="020B0604020202020204" pitchFamily="34" charset="0"/>
                          <a:cs typeface="Arial" panose="020B0604020202020204" pitchFamily="34" charset="0"/>
                        </a:rPr>
                        <a:t>in</a:t>
                      </a:r>
                      <a:r>
                        <a:rPr lang="en-US" sz="2000" baseline="0" dirty="0">
                          <a:latin typeface="Arial" panose="020B0604020202020204" pitchFamily="34" charset="0"/>
                          <a:cs typeface="Arial" panose="020B0604020202020204" pitchFamily="34" charset="0"/>
                        </a:rPr>
                        <a:t> x?</a:t>
                      </a:r>
                    </a:p>
                    <a:p>
                      <a:endParaRPr lang="en-US" sz="2000" baseline="0" dirty="0">
                        <a:latin typeface="Arial" panose="020B0604020202020204" pitchFamily="34" charset="0"/>
                        <a:cs typeface="Arial" panose="020B0604020202020204" pitchFamily="34" charset="0"/>
                      </a:endParaRPr>
                    </a:p>
                    <a:p>
                      <a:r>
                        <a:rPr lang="en-US" sz="2000" baseline="0" dirty="0">
                          <a:solidFill>
                            <a:srgbClr val="FF0000"/>
                          </a:solidFill>
                          <a:latin typeface="Arial" panose="020B0604020202020204" pitchFamily="34" charset="0"/>
                          <a:cs typeface="Arial" panose="020B0604020202020204" pitchFamily="34" charset="0"/>
                        </a:rPr>
                        <a:t>True</a:t>
                      </a:r>
                    </a:p>
                  </a:txBody>
                  <a:tcPr anchor="ctr"/>
                </a:tc>
                <a:extLst>
                  <a:ext uri="{0D108BD9-81ED-4DB2-BD59-A6C34878D82A}">
                    <a16:rowId xmlns:a16="http://schemas.microsoft.com/office/drawing/2014/main" val="10001"/>
                  </a:ext>
                </a:extLst>
              </a:tr>
              <a:tr h="1251093">
                <a:tc>
                  <a:txBody>
                    <a:bodyPr/>
                    <a:lstStyle/>
                    <a:p>
                      <a:pPr algn="ctr"/>
                      <a:r>
                        <a:rPr lang="en-US" sz="2000" dirty="0">
                          <a:latin typeface="Arial" panose="020B0604020202020204" pitchFamily="34" charset="0"/>
                          <a:cs typeface="Arial" panose="020B0604020202020204" pitchFamily="34" charset="0"/>
                        </a:rPr>
                        <a:t>not in</a:t>
                      </a:r>
                    </a:p>
                  </a:txBody>
                  <a:tcPr anchor="ctr"/>
                </a:tc>
                <a:tc>
                  <a:txBody>
                    <a:bodyPr/>
                    <a:lstStyle/>
                    <a:p>
                      <a:r>
                        <a:rPr lang="en-US" sz="2000" dirty="0">
                          <a:latin typeface="Arial" panose="020B0604020202020204" pitchFamily="34" charset="0"/>
                          <a:cs typeface="Arial" panose="020B0604020202020204" pitchFamily="34" charset="0"/>
                        </a:rPr>
                        <a:t>Evaluates to true if it does not finds a variable in the specified sequence and false otherwise.</a:t>
                      </a:r>
                    </a:p>
                  </a:txBody>
                  <a:tcPr anchor="ctr"/>
                </a:tc>
                <a:tc>
                  <a:txBody>
                    <a:bodyPr/>
                    <a:lstStyle/>
                    <a:p>
                      <a:r>
                        <a:rPr lang="en-US" sz="2000" dirty="0">
                          <a:latin typeface="Arial" panose="020B0604020202020204" pitchFamily="34" charset="0"/>
                          <a:cs typeface="Arial" panose="020B0604020202020204" pitchFamily="34" charset="0"/>
                        </a:rPr>
                        <a:t>x = [1, 2, 3]</a:t>
                      </a:r>
                    </a:p>
                    <a:p>
                      <a:r>
                        <a:rPr lang="en-US" sz="2000" dirty="0">
                          <a:latin typeface="Arial" panose="020B0604020202020204" pitchFamily="34" charset="0"/>
                          <a:cs typeface="Arial" panose="020B0604020202020204" pitchFamily="34" charset="0"/>
                        </a:rPr>
                        <a:t>Is 1</a:t>
                      </a:r>
                      <a:r>
                        <a:rPr lang="en-US" sz="2000" baseline="0" dirty="0">
                          <a:latin typeface="Arial" panose="020B0604020202020204" pitchFamily="34" charset="0"/>
                          <a:cs typeface="Arial" panose="020B0604020202020204" pitchFamily="34" charset="0"/>
                        </a:rPr>
                        <a:t> </a:t>
                      </a:r>
                      <a:r>
                        <a:rPr lang="en-US" sz="2000" baseline="0" dirty="0">
                          <a:solidFill>
                            <a:srgbClr val="FF0000"/>
                          </a:solidFill>
                          <a:latin typeface="Arial" panose="020B0604020202020204" pitchFamily="34" charset="0"/>
                          <a:cs typeface="Arial" panose="020B0604020202020204" pitchFamily="34" charset="0"/>
                        </a:rPr>
                        <a:t>not</a:t>
                      </a:r>
                      <a:r>
                        <a:rPr lang="en-US" sz="2000" baseline="0" dirty="0">
                          <a:latin typeface="Arial" panose="020B0604020202020204" pitchFamily="34" charset="0"/>
                          <a:cs typeface="Arial" panose="020B0604020202020204" pitchFamily="34" charset="0"/>
                        </a:rPr>
                        <a:t> </a:t>
                      </a:r>
                      <a:r>
                        <a:rPr lang="en-US" sz="2000" baseline="0" dirty="0">
                          <a:solidFill>
                            <a:srgbClr val="FF0000"/>
                          </a:solidFill>
                          <a:latin typeface="Arial" panose="020B0604020202020204" pitchFamily="34" charset="0"/>
                          <a:cs typeface="Arial" panose="020B0604020202020204" pitchFamily="34" charset="0"/>
                        </a:rPr>
                        <a:t>in</a:t>
                      </a:r>
                      <a:r>
                        <a:rPr lang="en-US" sz="2000" baseline="0" dirty="0">
                          <a:latin typeface="Arial" panose="020B0604020202020204" pitchFamily="34" charset="0"/>
                          <a:cs typeface="Arial" panose="020B0604020202020204" pitchFamily="34" charset="0"/>
                        </a:rPr>
                        <a:t> x?</a:t>
                      </a:r>
                    </a:p>
                    <a:p>
                      <a:endParaRPr lang="en-US" sz="2000" baseline="0" dirty="0">
                        <a:latin typeface="Arial" panose="020B0604020202020204" pitchFamily="34" charset="0"/>
                        <a:cs typeface="Arial" panose="020B0604020202020204" pitchFamily="34" charset="0"/>
                      </a:endParaRPr>
                    </a:p>
                    <a:p>
                      <a:r>
                        <a:rPr lang="en-US" sz="2000" baseline="0" dirty="0">
                          <a:solidFill>
                            <a:srgbClr val="FF0000"/>
                          </a:solidFill>
                          <a:latin typeface="Arial" panose="020B0604020202020204" pitchFamily="34" charset="0"/>
                          <a:cs typeface="Arial" panose="020B0604020202020204" pitchFamily="34" charset="0"/>
                        </a:rPr>
                        <a:t>False</a:t>
                      </a:r>
                    </a:p>
                    <a:p>
                      <a:endParaRPr lang="en-US"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51241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Identity</a:t>
            </a:r>
            <a:r>
              <a:rPr lang="en-US" sz="4800" b="1" dirty="0"/>
              <a:t>  </a:t>
            </a:r>
            <a:r>
              <a:rPr lang="en-US" sz="4800" dirty="0">
                <a:solidFill>
                  <a:srgbClr val="FF0000"/>
                </a:solidFill>
              </a:rPr>
              <a:t>Operators</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211567684"/>
              </p:ext>
            </p:extLst>
          </p:nvPr>
        </p:nvGraphicFramePr>
        <p:xfrm>
          <a:off x="1674812" y="1371600"/>
          <a:ext cx="9820673" cy="3744353"/>
        </p:xfrm>
        <a:graphic>
          <a:graphicData uri="http://schemas.openxmlformats.org/drawingml/2006/table">
            <a:tbl>
              <a:tblPr firstRow="1" bandRow="1">
                <a:tableStyleId>{616DA210-FB5B-4158-B5E0-FEB733F419BA}</a:tableStyleId>
              </a:tblPr>
              <a:tblGrid>
                <a:gridCol w="1141498">
                  <a:extLst>
                    <a:ext uri="{9D8B030D-6E8A-4147-A177-3AD203B41FA5}">
                      <a16:colId xmlns:a16="http://schemas.microsoft.com/office/drawing/2014/main" val="20000"/>
                    </a:ext>
                  </a:extLst>
                </a:gridCol>
                <a:gridCol w="5364999">
                  <a:extLst>
                    <a:ext uri="{9D8B030D-6E8A-4147-A177-3AD203B41FA5}">
                      <a16:colId xmlns:a16="http://schemas.microsoft.com/office/drawing/2014/main" val="20001"/>
                    </a:ext>
                  </a:extLst>
                </a:gridCol>
                <a:gridCol w="3314176">
                  <a:extLst>
                    <a:ext uri="{9D8B030D-6E8A-4147-A177-3AD203B41FA5}">
                      <a16:colId xmlns:a16="http://schemas.microsoft.com/office/drawing/2014/main" val="20002"/>
                    </a:ext>
                  </a:extLst>
                </a:gridCol>
              </a:tblGrid>
              <a:tr h="513473">
                <a:tc>
                  <a:txBody>
                    <a:bodyPr/>
                    <a:lstStyle/>
                    <a:p>
                      <a:pPr marL="0" marR="0" algn="ctr" defTabSz="914400" rtl="0" eaLnBrk="1" latinLnBrk="0" hangingPunct="1">
                        <a:lnSpc>
                          <a:spcPct val="107000"/>
                        </a:lnSpc>
                        <a:spcBef>
                          <a:spcPts val="600"/>
                        </a:spcBef>
                        <a:spcAft>
                          <a:spcPts val="600"/>
                        </a:spcAft>
                      </a:pPr>
                      <a:r>
                        <a:rPr lang="en-US" sz="2000" kern="1200" dirty="0">
                          <a:effectLst/>
                        </a:rPr>
                        <a:t>Operator</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l" defTabSz="914400" rtl="0" eaLnBrk="1" latinLnBrk="0" hangingPunct="1">
                        <a:lnSpc>
                          <a:spcPct val="107000"/>
                        </a:lnSpc>
                        <a:spcBef>
                          <a:spcPts val="600"/>
                        </a:spcBef>
                        <a:spcAft>
                          <a:spcPts val="600"/>
                        </a:spcAft>
                      </a:pPr>
                      <a:r>
                        <a:rPr lang="en-US" sz="2000" kern="1200" dirty="0">
                          <a:effectLst/>
                        </a:rPr>
                        <a:t>Description</a:t>
                      </a:r>
                      <a:endParaRPr lang="en-US" sz="2000" b="1" kern="1200" dirty="0">
                        <a:solidFill>
                          <a:srgbClr val="C00000"/>
                        </a:solidFill>
                        <a:effectLst/>
                        <a:latin typeface="+mn-lt"/>
                        <a:ea typeface="+mn-ea"/>
                        <a:cs typeface="+mn-cs"/>
                      </a:endParaRPr>
                    </a:p>
                  </a:txBody>
                  <a:tcPr marL="36976" marR="36976" marT="36976" marB="36976"/>
                </a:tc>
                <a:tc>
                  <a:txBody>
                    <a:bodyPr/>
                    <a:lstStyle/>
                    <a:p>
                      <a:pPr marL="0" marR="0" algn="ctr" defTabSz="914400" rtl="0" eaLnBrk="1" latinLnBrk="0" hangingPunct="1">
                        <a:lnSpc>
                          <a:spcPct val="107000"/>
                        </a:lnSpc>
                        <a:spcBef>
                          <a:spcPts val="600"/>
                        </a:spcBef>
                        <a:spcAft>
                          <a:spcPts val="600"/>
                        </a:spcAft>
                      </a:pPr>
                      <a:r>
                        <a:rPr lang="en-US" sz="2000" kern="1200" dirty="0">
                          <a:effectLst/>
                        </a:rPr>
                        <a:t>Example</a:t>
                      </a:r>
                      <a:endParaRPr lang="en-US" sz="2000" b="1" kern="1200" dirty="0">
                        <a:solidFill>
                          <a:srgbClr val="C00000"/>
                        </a:solidFill>
                        <a:effectLst/>
                        <a:latin typeface="+mn-lt"/>
                        <a:ea typeface="+mn-ea"/>
                        <a:cs typeface="+mn-cs"/>
                      </a:endParaRPr>
                    </a:p>
                  </a:txBody>
                  <a:tcPr marL="36976" marR="36976" marT="36976" marB="36976"/>
                </a:tc>
                <a:extLst>
                  <a:ext uri="{0D108BD9-81ED-4DB2-BD59-A6C34878D82A}">
                    <a16:rowId xmlns:a16="http://schemas.microsoft.com/office/drawing/2014/main" val="10000"/>
                  </a:ext>
                </a:extLst>
              </a:tr>
              <a:tr h="743242">
                <a:tc>
                  <a:txBody>
                    <a:bodyPr/>
                    <a:lstStyle/>
                    <a:p>
                      <a:pPr algn="ctr"/>
                      <a:r>
                        <a:rPr lang="en-US" sz="2000" dirty="0">
                          <a:latin typeface="Arial" panose="020B0604020202020204" pitchFamily="34" charset="0"/>
                          <a:cs typeface="Arial" panose="020B0604020202020204" pitchFamily="34" charset="0"/>
                        </a:rPr>
                        <a:t>is</a:t>
                      </a:r>
                    </a:p>
                  </a:txBody>
                  <a:tcPr anchor="ctr"/>
                </a:tc>
                <a:tc>
                  <a:txBody>
                    <a:bodyPr/>
                    <a:lstStyle/>
                    <a:p>
                      <a:r>
                        <a:rPr lang="en-US" sz="2000" dirty="0">
                          <a:latin typeface="Arial" panose="020B0604020202020204" pitchFamily="34" charset="0"/>
                          <a:cs typeface="Arial" panose="020B0604020202020204" pitchFamily="34" charset="0"/>
                        </a:rPr>
                        <a:t>Evaluates to true if the variables on either side of the operator point to the same object and false otherwise.</a:t>
                      </a:r>
                    </a:p>
                  </a:txBody>
                  <a:tcPr anchor="ctr"/>
                </a:tc>
                <a:tc>
                  <a:txBody>
                    <a:bodyPr/>
                    <a:lstStyle/>
                    <a:p>
                      <a:r>
                        <a:rPr lang="en-US" sz="2000" dirty="0">
                          <a:latin typeface="Arial" panose="020B0604020202020204" pitchFamily="34" charset="0"/>
                          <a:cs typeface="Arial" panose="020B0604020202020204" pitchFamily="34" charset="0"/>
                        </a:rPr>
                        <a:t>x = [1, 2, 3]</a:t>
                      </a:r>
                    </a:p>
                    <a:p>
                      <a:r>
                        <a:rPr lang="en-US" sz="2000" dirty="0">
                          <a:latin typeface="Arial" panose="020B0604020202020204" pitchFamily="34" charset="0"/>
                          <a:cs typeface="Arial" panose="020B0604020202020204" pitchFamily="34" charset="0"/>
                        </a:rPr>
                        <a:t>y = x</a:t>
                      </a:r>
                    </a:p>
                    <a:p>
                      <a:r>
                        <a:rPr lang="en-US" sz="2000" dirty="0">
                          <a:latin typeface="Arial" panose="020B0604020202020204" pitchFamily="34" charset="0"/>
                          <a:cs typeface="Arial" panose="020B0604020202020204" pitchFamily="34" charset="0"/>
                        </a:rPr>
                        <a:t>Is x</a:t>
                      </a:r>
                      <a:r>
                        <a:rPr lang="en-US" sz="2000" baseline="0" dirty="0">
                          <a:latin typeface="Arial" panose="020B0604020202020204" pitchFamily="34" charset="0"/>
                          <a:cs typeface="Arial" panose="020B0604020202020204" pitchFamily="34" charset="0"/>
                        </a:rPr>
                        <a:t> </a:t>
                      </a:r>
                      <a:r>
                        <a:rPr lang="en-US" sz="2000" baseline="0" dirty="0">
                          <a:solidFill>
                            <a:srgbClr val="FF0000"/>
                          </a:solidFill>
                          <a:latin typeface="Arial" panose="020B0604020202020204" pitchFamily="34" charset="0"/>
                          <a:cs typeface="Arial" panose="020B0604020202020204" pitchFamily="34" charset="0"/>
                        </a:rPr>
                        <a:t>is</a:t>
                      </a:r>
                      <a:r>
                        <a:rPr lang="en-US" sz="2000" baseline="0" dirty="0">
                          <a:latin typeface="Arial" panose="020B0604020202020204" pitchFamily="34" charset="0"/>
                          <a:cs typeface="Arial" panose="020B0604020202020204" pitchFamily="34" charset="0"/>
                        </a:rPr>
                        <a:t> y?</a:t>
                      </a:r>
                    </a:p>
                    <a:p>
                      <a:endParaRPr lang="en-US" sz="2000" baseline="0" dirty="0">
                        <a:latin typeface="Arial" panose="020B0604020202020204" pitchFamily="34" charset="0"/>
                        <a:cs typeface="Arial" panose="020B0604020202020204" pitchFamily="34" charset="0"/>
                      </a:endParaRPr>
                    </a:p>
                    <a:p>
                      <a:r>
                        <a:rPr lang="en-US" sz="2000" baseline="0" dirty="0">
                          <a:solidFill>
                            <a:srgbClr val="FF0000"/>
                          </a:solidFill>
                          <a:latin typeface="Arial" panose="020B0604020202020204" pitchFamily="34" charset="0"/>
                          <a:cs typeface="Arial" panose="020B0604020202020204" pitchFamily="34" charset="0"/>
                        </a:rPr>
                        <a:t>True</a:t>
                      </a:r>
                    </a:p>
                  </a:txBody>
                  <a:tcPr anchor="ctr"/>
                </a:tc>
                <a:extLst>
                  <a:ext uri="{0D108BD9-81ED-4DB2-BD59-A6C34878D82A}">
                    <a16:rowId xmlns:a16="http://schemas.microsoft.com/office/drawing/2014/main" val="10001"/>
                  </a:ext>
                </a:extLst>
              </a:tr>
              <a:tr h="743242">
                <a:tc>
                  <a:txBody>
                    <a:bodyPr/>
                    <a:lstStyle/>
                    <a:p>
                      <a:pPr algn="ctr"/>
                      <a:r>
                        <a:rPr lang="en-US" sz="2000" dirty="0">
                          <a:latin typeface="Arial" panose="020B0604020202020204" pitchFamily="34" charset="0"/>
                          <a:cs typeface="Arial" panose="020B0604020202020204" pitchFamily="34" charset="0"/>
                        </a:rPr>
                        <a:t>is not</a:t>
                      </a:r>
                    </a:p>
                  </a:txBody>
                  <a:tcPr anchor="ctr"/>
                </a:tc>
                <a:tc>
                  <a:txBody>
                    <a:bodyPr/>
                    <a:lstStyle/>
                    <a:p>
                      <a:r>
                        <a:rPr lang="en-US" sz="2000" dirty="0">
                          <a:latin typeface="Arial" panose="020B0604020202020204" pitchFamily="34" charset="0"/>
                          <a:cs typeface="Arial" panose="020B0604020202020204" pitchFamily="34" charset="0"/>
                        </a:rPr>
                        <a:t>Evaluates to false if the variables on either side of the operator point to the same object and true otherwise.</a:t>
                      </a:r>
                    </a:p>
                  </a:txBody>
                  <a:tcPr anchor="ctr"/>
                </a:tc>
                <a:tc>
                  <a:txBody>
                    <a:bodyPr/>
                    <a:lstStyle/>
                    <a:p>
                      <a:r>
                        <a:rPr lang="en-US" sz="2000" dirty="0">
                          <a:latin typeface="Arial" panose="020B0604020202020204" pitchFamily="34" charset="0"/>
                          <a:cs typeface="Arial" panose="020B0604020202020204" pitchFamily="34" charset="0"/>
                        </a:rPr>
                        <a:t>x = [1, 2, 3]</a:t>
                      </a:r>
                    </a:p>
                    <a:p>
                      <a:r>
                        <a:rPr lang="en-US" sz="2000" dirty="0">
                          <a:latin typeface="Arial" panose="020B0604020202020204" pitchFamily="34" charset="0"/>
                          <a:cs typeface="Arial" panose="020B0604020202020204" pitchFamily="34" charset="0"/>
                        </a:rPr>
                        <a:t>y = x</a:t>
                      </a:r>
                    </a:p>
                    <a:p>
                      <a:r>
                        <a:rPr lang="en-US" sz="2000" dirty="0">
                          <a:latin typeface="Arial" panose="020B0604020202020204" pitchFamily="34" charset="0"/>
                          <a:cs typeface="Arial" panose="020B0604020202020204" pitchFamily="34" charset="0"/>
                        </a:rPr>
                        <a:t>Is x</a:t>
                      </a:r>
                      <a:r>
                        <a:rPr lang="en-US" sz="2000" baseline="0" dirty="0">
                          <a:latin typeface="Arial" panose="020B0604020202020204" pitchFamily="34" charset="0"/>
                          <a:cs typeface="Arial" panose="020B0604020202020204" pitchFamily="34" charset="0"/>
                        </a:rPr>
                        <a:t> </a:t>
                      </a:r>
                      <a:r>
                        <a:rPr lang="en-US" sz="2000" baseline="0" dirty="0">
                          <a:solidFill>
                            <a:srgbClr val="FF0000"/>
                          </a:solidFill>
                          <a:latin typeface="Arial" panose="020B0604020202020204" pitchFamily="34" charset="0"/>
                          <a:cs typeface="Arial" panose="020B0604020202020204" pitchFamily="34" charset="0"/>
                        </a:rPr>
                        <a:t>is not</a:t>
                      </a:r>
                      <a:r>
                        <a:rPr lang="en-US" sz="2000" baseline="0" dirty="0">
                          <a:latin typeface="Arial" panose="020B0604020202020204" pitchFamily="34" charset="0"/>
                          <a:cs typeface="Arial" panose="020B0604020202020204" pitchFamily="34" charset="0"/>
                        </a:rPr>
                        <a:t> y?</a:t>
                      </a:r>
                    </a:p>
                    <a:p>
                      <a:endParaRPr lang="en-US" sz="2000" baseline="0" dirty="0">
                        <a:latin typeface="Arial" panose="020B0604020202020204" pitchFamily="34" charset="0"/>
                        <a:cs typeface="Arial" panose="020B0604020202020204" pitchFamily="34" charset="0"/>
                      </a:endParaRPr>
                    </a:p>
                    <a:p>
                      <a:r>
                        <a:rPr lang="en-US" sz="2000" baseline="0" dirty="0">
                          <a:solidFill>
                            <a:srgbClr val="FF0000"/>
                          </a:solidFill>
                          <a:latin typeface="Arial" panose="020B0604020202020204" pitchFamily="34" charset="0"/>
                          <a:cs typeface="Arial" panose="020B0604020202020204" pitchFamily="34" charset="0"/>
                        </a:rPr>
                        <a:t>False</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78159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Operators </a:t>
            </a:r>
            <a:r>
              <a:rPr lang="en-US" sz="4800" dirty="0">
                <a:solidFill>
                  <a:srgbClr val="FF0000"/>
                </a:solidFill>
              </a:rPr>
              <a:t>Precedence</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293895119"/>
              </p:ext>
            </p:extLst>
          </p:nvPr>
        </p:nvGraphicFramePr>
        <p:xfrm>
          <a:off x="1751012" y="756693"/>
          <a:ext cx="10363200" cy="5376674"/>
        </p:xfrm>
        <a:graphic>
          <a:graphicData uri="http://schemas.openxmlformats.org/drawingml/2006/table">
            <a:tbl>
              <a:tblPr firstRow="1" bandRow="1">
                <a:tableStyleId>{616DA210-FB5B-4158-B5E0-FEB733F419BA}</a:tableStyleId>
              </a:tblPr>
              <a:tblGrid>
                <a:gridCol w="2790092">
                  <a:extLst>
                    <a:ext uri="{9D8B030D-6E8A-4147-A177-3AD203B41FA5}">
                      <a16:colId xmlns:a16="http://schemas.microsoft.com/office/drawing/2014/main" val="20000"/>
                    </a:ext>
                  </a:extLst>
                </a:gridCol>
                <a:gridCol w="7573108">
                  <a:extLst>
                    <a:ext uri="{9D8B030D-6E8A-4147-A177-3AD203B41FA5}">
                      <a16:colId xmlns:a16="http://schemas.microsoft.com/office/drawing/2014/main" val="20001"/>
                    </a:ext>
                  </a:extLst>
                </a:gridCol>
              </a:tblGrid>
              <a:tr h="438914">
                <a:tc>
                  <a:txBody>
                    <a:bodyPr/>
                    <a:lstStyle/>
                    <a:p>
                      <a:r>
                        <a:rPr lang="en-US" dirty="0"/>
                        <a:t>Operator</a:t>
                      </a:r>
                    </a:p>
                  </a:txBody>
                  <a:tcPr anchor="ctr"/>
                </a:tc>
                <a:tc>
                  <a:txBody>
                    <a:bodyPr/>
                    <a:lstStyle/>
                    <a:p>
                      <a:r>
                        <a:rPr lang="en-US" dirty="0"/>
                        <a:t>Description</a:t>
                      </a:r>
                    </a:p>
                  </a:txBody>
                  <a:tcPr anchor="ctr"/>
                </a:tc>
                <a:extLst>
                  <a:ext uri="{0D108BD9-81ED-4DB2-BD59-A6C34878D82A}">
                    <a16:rowId xmlns:a16="http://schemas.microsoft.com/office/drawing/2014/main" val="10000"/>
                  </a:ext>
                </a:extLst>
              </a:tr>
              <a:tr h="407929">
                <a:tc>
                  <a:txBody>
                    <a:bodyPr/>
                    <a:lstStyle/>
                    <a:p>
                      <a:pPr algn="ctr"/>
                      <a:r>
                        <a:rPr lang="en-US" sz="2400" dirty="0">
                          <a:latin typeface="Arial" panose="020B0604020202020204" pitchFamily="34" charset="0"/>
                          <a:cs typeface="Arial" panose="020B0604020202020204" pitchFamily="34" charset="0"/>
                        </a:rPr>
                        <a:t>**</a:t>
                      </a:r>
                    </a:p>
                  </a:txBody>
                  <a:tcPr anchor="ctr"/>
                </a:tc>
                <a:tc>
                  <a:txBody>
                    <a:bodyPr/>
                    <a:lstStyle/>
                    <a:p>
                      <a:r>
                        <a:rPr lang="en-US" sz="2400" dirty="0">
                          <a:latin typeface="Arial" panose="020B0604020202020204" pitchFamily="34" charset="0"/>
                          <a:cs typeface="Arial" panose="020B0604020202020204" pitchFamily="34" charset="0"/>
                        </a:rPr>
                        <a:t>Exponentiation (raise to the power)</a:t>
                      </a:r>
                    </a:p>
                  </a:txBody>
                  <a:tcPr anchor="ctr"/>
                </a:tc>
                <a:extLst>
                  <a:ext uri="{0D108BD9-81ED-4DB2-BD59-A6C34878D82A}">
                    <a16:rowId xmlns:a16="http://schemas.microsoft.com/office/drawing/2014/main" val="10001"/>
                  </a:ext>
                </a:extLst>
              </a:tr>
              <a:tr h="407929">
                <a:tc>
                  <a:txBody>
                    <a:bodyPr/>
                    <a:lstStyle/>
                    <a:p>
                      <a:pPr algn="ctr"/>
                      <a:r>
                        <a:rPr lang="en-US" sz="2400" dirty="0">
                          <a:latin typeface="Arial" panose="020B0604020202020204" pitchFamily="34" charset="0"/>
                          <a:cs typeface="Arial" panose="020B0604020202020204" pitchFamily="34" charset="0"/>
                        </a:rPr>
                        <a:t>~ + -</a:t>
                      </a:r>
                    </a:p>
                  </a:txBody>
                  <a:tcPr anchor="ctr"/>
                </a:tc>
                <a:tc>
                  <a:txBody>
                    <a:bodyPr/>
                    <a:lstStyle/>
                    <a:p>
                      <a:r>
                        <a:rPr lang="en-US" sz="2400" dirty="0">
                          <a:latin typeface="Arial" panose="020B0604020202020204" pitchFamily="34" charset="0"/>
                          <a:cs typeface="Arial" panose="020B0604020202020204" pitchFamily="34" charset="0"/>
                        </a:rPr>
                        <a:t>Complement, unary plus and minus</a:t>
                      </a:r>
                    </a:p>
                  </a:txBody>
                  <a:tcPr anchor="ctr"/>
                </a:tc>
                <a:extLst>
                  <a:ext uri="{0D108BD9-81ED-4DB2-BD59-A6C34878D82A}">
                    <a16:rowId xmlns:a16="http://schemas.microsoft.com/office/drawing/2014/main" val="10002"/>
                  </a:ext>
                </a:extLst>
              </a:tr>
              <a:tr h="321870">
                <a:tc>
                  <a:txBody>
                    <a:bodyPr/>
                    <a:lstStyle/>
                    <a:p>
                      <a:pPr algn="ctr"/>
                      <a:r>
                        <a:rPr lang="en-US" sz="2400" dirty="0">
                          <a:latin typeface="Arial" panose="020B0604020202020204" pitchFamily="34" charset="0"/>
                          <a:cs typeface="Arial" panose="020B0604020202020204" pitchFamily="34" charset="0"/>
                        </a:rPr>
                        <a:t>* / % //</a:t>
                      </a:r>
                    </a:p>
                  </a:txBody>
                  <a:tcPr anchor="ctr"/>
                </a:tc>
                <a:tc>
                  <a:txBody>
                    <a:bodyPr/>
                    <a:lstStyle/>
                    <a:p>
                      <a:r>
                        <a:rPr lang="en-US" sz="2400" dirty="0">
                          <a:latin typeface="Arial" panose="020B0604020202020204" pitchFamily="34" charset="0"/>
                          <a:cs typeface="Arial" panose="020B0604020202020204" pitchFamily="34" charset="0"/>
                        </a:rPr>
                        <a:t>Multiply, divide, modulo and floor division</a:t>
                      </a:r>
                    </a:p>
                  </a:txBody>
                  <a:tcPr anchor="ctr"/>
                </a:tc>
                <a:extLst>
                  <a:ext uri="{0D108BD9-81ED-4DB2-BD59-A6C34878D82A}">
                    <a16:rowId xmlns:a16="http://schemas.microsoft.com/office/drawing/2014/main" val="10003"/>
                  </a:ext>
                </a:extLst>
              </a:tr>
              <a:tr h="321870">
                <a:tc>
                  <a:txBody>
                    <a:bodyPr/>
                    <a:lstStyle/>
                    <a:p>
                      <a:pPr algn="ctr"/>
                      <a:r>
                        <a:rPr lang="en-US" sz="2400" dirty="0">
                          <a:latin typeface="Arial" panose="020B0604020202020204" pitchFamily="34" charset="0"/>
                          <a:cs typeface="Arial" panose="020B0604020202020204" pitchFamily="34" charset="0"/>
                        </a:rPr>
                        <a:t>+ -</a:t>
                      </a:r>
                    </a:p>
                  </a:txBody>
                  <a:tcPr anchor="ctr"/>
                </a:tc>
                <a:tc>
                  <a:txBody>
                    <a:bodyPr/>
                    <a:lstStyle/>
                    <a:p>
                      <a:r>
                        <a:rPr lang="en-US" sz="2400" dirty="0">
                          <a:latin typeface="Arial" panose="020B0604020202020204" pitchFamily="34" charset="0"/>
                          <a:cs typeface="Arial" panose="020B0604020202020204" pitchFamily="34" charset="0"/>
                        </a:rPr>
                        <a:t>Addition and subtraction</a:t>
                      </a:r>
                    </a:p>
                  </a:txBody>
                  <a:tcPr anchor="ctr"/>
                </a:tc>
                <a:extLst>
                  <a:ext uri="{0D108BD9-81ED-4DB2-BD59-A6C34878D82A}">
                    <a16:rowId xmlns:a16="http://schemas.microsoft.com/office/drawing/2014/main" val="10004"/>
                  </a:ext>
                </a:extLst>
              </a:tr>
              <a:tr h="407929">
                <a:tc>
                  <a:txBody>
                    <a:bodyPr/>
                    <a:lstStyle/>
                    <a:p>
                      <a:pPr algn="ctr"/>
                      <a:r>
                        <a:rPr lang="en-US" sz="2400" dirty="0">
                          <a:latin typeface="Arial" panose="020B0604020202020204" pitchFamily="34" charset="0"/>
                          <a:cs typeface="Arial" panose="020B0604020202020204" pitchFamily="34" charset="0"/>
                        </a:rPr>
                        <a:t>&lt;= &lt; &gt; &gt;=</a:t>
                      </a:r>
                    </a:p>
                  </a:txBody>
                  <a:tcPr anchor="ctr"/>
                </a:tc>
                <a:tc>
                  <a:txBody>
                    <a:bodyPr/>
                    <a:lstStyle/>
                    <a:p>
                      <a:r>
                        <a:rPr lang="en-US" sz="2400" dirty="0">
                          <a:latin typeface="Arial" panose="020B0604020202020204" pitchFamily="34" charset="0"/>
                          <a:cs typeface="Arial" panose="020B0604020202020204" pitchFamily="34" charset="0"/>
                        </a:rPr>
                        <a:t>Comparison operators</a:t>
                      </a:r>
                    </a:p>
                  </a:txBody>
                  <a:tcPr anchor="ctr"/>
                </a:tc>
                <a:extLst>
                  <a:ext uri="{0D108BD9-81ED-4DB2-BD59-A6C34878D82A}">
                    <a16:rowId xmlns:a16="http://schemas.microsoft.com/office/drawing/2014/main" val="10008"/>
                  </a:ext>
                </a:extLst>
              </a:tr>
              <a:tr h="407929">
                <a:tc>
                  <a:txBody>
                    <a:bodyPr/>
                    <a:lstStyle/>
                    <a:p>
                      <a:pPr algn="ctr"/>
                      <a:r>
                        <a:rPr lang="en-US" sz="2400" dirty="0">
                          <a:latin typeface="Arial" panose="020B0604020202020204" pitchFamily="34" charset="0"/>
                          <a:cs typeface="Arial" panose="020B0604020202020204" pitchFamily="34" charset="0"/>
                        </a:rPr>
                        <a:t>&lt;&gt; == !=</a:t>
                      </a:r>
                    </a:p>
                  </a:txBody>
                  <a:tcPr anchor="ctr"/>
                </a:tc>
                <a:tc>
                  <a:txBody>
                    <a:bodyPr/>
                    <a:lstStyle/>
                    <a:p>
                      <a:r>
                        <a:rPr lang="en-US" sz="2400" dirty="0">
                          <a:latin typeface="Arial" panose="020B0604020202020204" pitchFamily="34" charset="0"/>
                          <a:cs typeface="Arial" panose="020B0604020202020204" pitchFamily="34" charset="0"/>
                        </a:rPr>
                        <a:t>Equality operators</a:t>
                      </a:r>
                    </a:p>
                  </a:txBody>
                  <a:tcPr anchor="ctr"/>
                </a:tc>
                <a:extLst>
                  <a:ext uri="{0D108BD9-81ED-4DB2-BD59-A6C34878D82A}">
                    <a16:rowId xmlns:a16="http://schemas.microsoft.com/office/drawing/2014/main" val="10009"/>
                  </a:ext>
                </a:extLst>
              </a:tr>
              <a:tr h="555958">
                <a:tc>
                  <a:txBody>
                    <a:bodyPr/>
                    <a:lstStyle/>
                    <a:p>
                      <a:pPr algn="ctr"/>
                      <a:r>
                        <a:rPr lang="en-US" sz="2400" dirty="0">
                          <a:latin typeface="Arial" panose="020B0604020202020204" pitchFamily="34" charset="0"/>
                          <a:cs typeface="Arial" panose="020B0604020202020204" pitchFamily="34" charset="0"/>
                        </a:rPr>
                        <a:t>= %= /= //= -= += *= **=</a:t>
                      </a:r>
                    </a:p>
                  </a:txBody>
                  <a:tcPr anchor="ctr"/>
                </a:tc>
                <a:tc>
                  <a:txBody>
                    <a:bodyPr/>
                    <a:lstStyle/>
                    <a:p>
                      <a:r>
                        <a:rPr lang="en-US" sz="2400" dirty="0">
                          <a:latin typeface="Arial" panose="020B0604020202020204" pitchFamily="34" charset="0"/>
                          <a:cs typeface="Arial" panose="020B0604020202020204" pitchFamily="34" charset="0"/>
                        </a:rPr>
                        <a:t>Assignment operators</a:t>
                      </a:r>
                    </a:p>
                  </a:txBody>
                  <a:tcPr anchor="ctr"/>
                </a:tc>
                <a:extLst>
                  <a:ext uri="{0D108BD9-81ED-4DB2-BD59-A6C34878D82A}">
                    <a16:rowId xmlns:a16="http://schemas.microsoft.com/office/drawing/2014/main" val="10010"/>
                  </a:ext>
                </a:extLst>
              </a:tr>
              <a:tr h="407929">
                <a:tc>
                  <a:txBody>
                    <a:bodyPr/>
                    <a:lstStyle/>
                    <a:p>
                      <a:pPr algn="ctr"/>
                      <a:r>
                        <a:rPr lang="en-US" sz="2400" dirty="0">
                          <a:latin typeface="Arial" panose="020B0604020202020204" pitchFamily="34" charset="0"/>
                          <a:cs typeface="Arial" panose="020B0604020202020204" pitchFamily="34" charset="0"/>
                        </a:rPr>
                        <a:t>is - is not</a:t>
                      </a:r>
                    </a:p>
                  </a:txBody>
                  <a:tcPr anchor="ctr"/>
                </a:tc>
                <a:tc>
                  <a:txBody>
                    <a:bodyPr/>
                    <a:lstStyle/>
                    <a:p>
                      <a:r>
                        <a:rPr lang="en-US" sz="2400" dirty="0">
                          <a:latin typeface="Arial" panose="020B0604020202020204" pitchFamily="34" charset="0"/>
                          <a:cs typeface="Arial" panose="020B0604020202020204" pitchFamily="34" charset="0"/>
                        </a:rPr>
                        <a:t>Identity operators</a:t>
                      </a:r>
                    </a:p>
                  </a:txBody>
                  <a:tcPr anchor="ctr"/>
                </a:tc>
                <a:extLst>
                  <a:ext uri="{0D108BD9-81ED-4DB2-BD59-A6C34878D82A}">
                    <a16:rowId xmlns:a16="http://schemas.microsoft.com/office/drawing/2014/main" val="10011"/>
                  </a:ext>
                </a:extLst>
              </a:tr>
              <a:tr h="407929">
                <a:tc>
                  <a:txBody>
                    <a:bodyPr/>
                    <a:lstStyle/>
                    <a:p>
                      <a:pPr algn="ctr"/>
                      <a:r>
                        <a:rPr lang="en-US" sz="2400" dirty="0">
                          <a:latin typeface="Arial" panose="020B0604020202020204" pitchFamily="34" charset="0"/>
                          <a:cs typeface="Arial" panose="020B0604020202020204" pitchFamily="34" charset="0"/>
                        </a:rPr>
                        <a:t>in - not in</a:t>
                      </a:r>
                    </a:p>
                  </a:txBody>
                  <a:tcPr anchor="ctr"/>
                </a:tc>
                <a:tc>
                  <a:txBody>
                    <a:bodyPr/>
                    <a:lstStyle/>
                    <a:p>
                      <a:r>
                        <a:rPr lang="en-US" sz="2400" dirty="0">
                          <a:latin typeface="Arial" panose="020B0604020202020204" pitchFamily="34" charset="0"/>
                          <a:cs typeface="Arial" panose="020B0604020202020204" pitchFamily="34" charset="0"/>
                        </a:rPr>
                        <a:t>Membership operators</a:t>
                      </a:r>
                    </a:p>
                  </a:txBody>
                  <a:tcPr anchor="ctr"/>
                </a:tc>
                <a:extLst>
                  <a:ext uri="{0D108BD9-81ED-4DB2-BD59-A6C34878D82A}">
                    <a16:rowId xmlns:a16="http://schemas.microsoft.com/office/drawing/2014/main" val="10012"/>
                  </a:ext>
                </a:extLst>
              </a:tr>
              <a:tr h="407929">
                <a:tc>
                  <a:txBody>
                    <a:bodyPr/>
                    <a:lstStyle/>
                    <a:p>
                      <a:pPr algn="ctr"/>
                      <a:r>
                        <a:rPr lang="en-US" sz="2400" dirty="0">
                          <a:latin typeface="Arial" panose="020B0604020202020204" pitchFamily="34" charset="0"/>
                          <a:cs typeface="Arial" panose="020B0604020202020204" pitchFamily="34" charset="0"/>
                        </a:rPr>
                        <a:t>not or and</a:t>
                      </a:r>
                    </a:p>
                  </a:txBody>
                  <a:tcPr anchor="ctr"/>
                </a:tc>
                <a:tc>
                  <a:txBody>
                    <a:bodyPr/>
                    <a:lstStyle/>
                    <a:p>
                      <a:r>
                        <a:rPr lang="en-US" sz="2400" dirty="0">
                          <a:latin typeface="Arial" panose="020B0604020202020204" pitchFamily="34" charset="0"/>
                          <a:cs typeface="Arial" panose="020B0604020202020204" pitchFamily="34" charset="0"/>
                        </a:rPr>
                        <a:t>Logical operators</a:t>
                      </a:r>
                    </a:p>
                  </a:txBody>
                  <a:tcPr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6617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sz="4800" dirty="0"/>
              <a:t>Arithmetic </a:t>
            </a:r>
            <a:r>
              <a:rPr lang="en-US" sz="4800" dirty="0">
                <a:solidFill>
                  <a:srgbClr val="FF0000"/>
                </a:solidFill>
              </a:rPr>
              <a:t>Expression</a:t>
            </a:r>
            <a:r>
              <a:rPr lang="en-US" sz="4800" dirty="0"/>
              <a:t> to </a:t>
            </a:r>
            <a:r>
              <a:rPr lang="en-US" sz="4800" dirty="0">
                <a:solidFill>
                  <a:srgbClr val="FF0000"/>
                </a:solidFill>
              </a:rPr>
              <a:t>Coding</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963871002"/>
                  </p:ext>
                </p:extLst>
              </p:nvPr>
            </p:nvGraphicFramePr>
            <p:xfrm>
              <a:off x="1522412" y="1839023"/>
              <a:ext cx="10210800" cy="3179953"/>
            </p:xfrm>
            <a:graphic>
              <a:graphicData uri="http://schemas.openxmlformats.org/drawingml/2006/table">
                <a:tbl>
                  <a:tblPr firstRow="1" bandRow="1">
                    <a:tableStyleId>{5940675A-B579-460E-94D1-54222C63F5DA}</a:tableStyleId>
                  </a:tblPr>
                  <a:tblGrid>
                    <a:gridCol w="3510866">
                      <a:extLst>
                        <a:ext uri="{9D8B030D-6E8A-4147-A177-3AD203B41FA5}">
                          <a16:colId xmlns:a16="http://schemas.microsoft.com/office/drawing/2014/main" val="2414660554"/>
                        </a:ext>
                      </a:extLst>
                    </a:gridCol>
                    <a:gridCol w="3941541">
                      <a:extLst>
                        <a:ext uri="{9D8B030D-6E8A-4147-A177-3AD203B41FA5}">
                          <a16:colId xmlns:a16="http://schemas.microsoft.com/office/drawing/2014/main" val="3287010799"/>
                        </a:ext>
                      </a:extLst>
                    </a:gridCol>
                    <a:gridCol w="2758393">
                      <a:extLst>
                        <a:ext uri="{9D8B030D-6E8A-4147-A177-3AD203B41FA5}">
                          <a16:colId xmlns:a16="http://schemas.microsoft.com/office/drawing/2014/main" val="2834086674"/>
                        </a:ext>
                      </a:extLst>
                    </a:gridCol>
                  </a:tblGrid>
                  <a:tr h="3708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Operation Being Performed</a:t>
                          </a:r>
                        </a:p>
                      </a:txBody>
                      <a:tcPr/>
                    </a:tc>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70840">
                    <a:tc>
                      <a:txBody>
                        <a:bodyPr/>
                        <a:lstStyle/>
                        <a:p>
                          <a:pPr algn="ctr"/>
                          <a:r>
                            <a:rPr lang="en-US" sz="2000" dirty="0">
                              <a:latin typeface="Arial" panose="020B0604020202020204" pitchFamily="34" charset="0"/>
                              <a:cs typeface="Arial" panose="020B0604020202020204" pitchFamily="34" charset="0"/>
                            </a:rPr>
                            <a:t>7B</a:t>
                          </a:r>
                        </a:p>
                      </a:txBody>
                      <a:tcPr/>
                    </a:tc>
                    <a:tc>
                      <a:txBody>
                        <a:bodyPr/>
                        <a:lstStyle/>
                        <a:p>
                          <a:pPr algn="ctr"/>
                          <a:r>
                            <a:rPr lang="en-US" sz="2000" dirty="0">
                              <a:latin typeface="Arial" panose="020B0604020202020204" pitchFamily="34" charset="0"/>
                              <a:cs typeface="Arial" panose="020B0604020202020204" pitchFamily="34" charset="0"/>
                            </a:rPr>
                            <a:t>7 times B</a:t>
                          </a:r>
                        </a:p>
                      </a:txBody>
                      <a:tcPr/>
                    </a:tc>
                    <a:tc>
                      <a:txBody>
                        <a:bodyPr/>
                        <a:lstStyle/>
                        <a:p>
                          <a:pPr algn="ctr"/>
                          <a:r>
                            <a:rPr lang="en-US" sz="2000" dirty="0">
                              <a:latin typeface="Arial" panose="020B0604020202020204" pitchFamily="34" charset="0"/>
                              <a:cs typeface="Arial" panose="020B0604020202020204" pitchFamily="34" charset="0"/>
                            </a:rPr>
                            <a:t>7 * B</a:t>
                          </a:r>
                        </a:p>
                      </a:txBody>
                      <a:tcPr/>
                    </a:tc>
                    <a:extLst>
                      <a:ext uri="{0D108BD9-81ED-4DB2-BD59-A6C34878D82A}">
                        <a16:rowId xmlns:a16="http://schemas.microsoft.com/office/drawing/2014/main" val="370157446"/>
                      </a:ext>
                    </a:extLst>
                  </a:tr>
                  <a:tr h="370840">
                    <a:tc>
                      <a:txBody>
                        <a:bodyPr/>
                        <a:lstStyle/>
                        <a:p>
                          <a:pPr algn="ctr"/>
                          <a:r>
                            <a:rPr lang="en-US" sz="2000" dirty="0">
                              <a:latin typeface="Arial" panose="020B0604020202020204" pitchFamily="34" charset="0"/>
                              <a:cs typeface="Arial" panose="020B0604020202020204" pitchFamily="34" charset="0"/>
                            </a:rPr>
                            <a:t>(3)(19)</a:t>
                          </a:r>
                        </a:p>
                      </a:txBody>
                      <a:tcPr/>
                    </a:tc>
                    <a:tc>
                      <a:txBody>
                        <a:bodyPr/>
                        <a:lstStyle/>
                        <a:p>
                          <a:pPr algn="ctr"/>
                          <a:r>
                            <a:rPr lang="en-US" sz="2000" dirty="0">
                              <a:latin typeface="Arial" panose="020B0604020202020204" pitchFamily="34" charset="0"/>
                              <a:cs typeface="Arial" panose="020B0604020202020204" pitchFamily="34" charset="0"/>
                            </a:rPr>
                            <a:t>3 times</a:t>
                          </a:r>
                          <a:r>
                            <a:rPr lang="en-US" sz="2000" baseline="0" dirty="0">
                              <a:latin typeface="Arial" panose="020B0604020202020204" pitchFamily="34" charset="0"/>
                              <a:cs typeface="Arial" panose="020B0604020202020204" pitchFamily="34" charset="0"/>
                            </a:rPr>
                            <a:t> 19</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3</a:t>
                          </a:r>
                          <a:r>
                            <a:rPr lang="en-US" sz="2000" baseline="0" dirty="0">
                              <a:latin typeface="Arial" panose="020B0604020202020204" pitchFamily="34" charset="0"/>
                              <a:cs typeface="Arial" panose="020B0604020202020204" pitchFamily="34" charset="0"/>
                            </a:rPr>
                            <a:t> * 19</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31236668"/>
                      </a:ext>
                    </a:extLst>
                  </a:tr>
                  <a:tr h="370840">
                    <a:tc>
                      <a:txBody>
                        <a:bodyPr/>
                        <a:lstStyle/>
                        <a:p>
                          <a:pPr algn="ctr"/>
                          <a:r>
                            <a:rPr lang="en-US" sz="2000" dirty="0">
                              <a:latin typeface="Arial" panose="020B0604020202020204" pitchFamily="34" charset="0"/>
                              <a:cs typeface="Arial" panose="020B0604020202020204" pitchFamily="34" charset="0"/>
                            </a:rPr>
                            <a:t>17ab</a:t>
                          </a:r>
                        </a:p>
                      </a:txBody>
                      <a:tcPr/>
                    </a:tc>
                    <a:tc>
                      <a:txBody>
                        <a:bodyPr/>
                        <a:lstStyle/>
                        <a:p>
                          <a:pPr algn="ctr"/>
                          <a:r>
                            <a:rPr lang="en-US" sz="2000" dirty="0">
                              <a:latin typeface="Arial" panose="020B0604020202020204" pitchFamily="34" charset="0"/>
                              <a:cs typeface="Arial" panose="020B0604020202020204" pitchFamily="34" charset="0"/>
                            </a:rPr>
                            <a:t>17 times a times b</a:t>
                          </a:r>
                        </a:p>
                      </a:txBody>
                      <a:tcPr/>
                    </a:tc>
                    <a:tc>
                      <a:txBody>
                        <a:bodyPr/>
                        <a:lstStyle/>
                        <a:p>
                          <a:pPr algn="ctr"/>
                          <a:r>
                            <a:rPr lang="en-US" sz="2000" dirty="0">
                              <a:latin typeface="Arial" panose="020B0604020202020204" pitchFamily="34" charset="0"/>
                              <a:cs typeface="Arial" panose="020B0604020202020204" pitchFamily="34" charset="0"/>
                            </a:rPr>
                            <a:t>17</a:t>
                          </a:r>
                          <a:r>
                            <a:rPr lang="en-US" sz="2000" baseline="0" dirty="0">
                              <a:latin typeface="Arial" panose="020B0604020202020204" pitchFamily="34" charset="0"/>
                              <a:cs typeface="Arial" panose="020B0604020202020204" pitchFamily="34" charset="0"/>
                            </a:rPr>
                            <a:t> * a * b</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7708822"/>
                      </a:ext>
                    </a:extLst>
                  </a:tr>
                  <a:tr h="370840">
                    <a:tc>
                      <a:txBody>
                        <a:bodyPr/>
                        <a:lstStyle/>
                        <a:p>
                          <a:pPr algn="ctr"/>
                          <a:r>
                            <a:rPr lang="en-US" sz="2000" dirty="0">
                              <a:latin typeface="Arial" panose="020B0604020202020204" pitchFamily="34" charset="0"/>
                              <a:cs typeface="Arial" panose="020B0604020202020204" pitchFamily="34" charset="0"/>
                            </a:rPr>
                            <a:t>y = 12</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2</m:t>
                                  </m:r>
                                </m:den>
                              </m:f>
                            </m:oMath>
                          </a14:m>
                          <a:endParaRPr lang="en-US" sz="2000" dirty="0">
                            <a:latin typeface="Arial" panose="020B0604020202020204" pitchFamily="34" charset="0"/>
                            <a:cs typeface="Arial" panose="020B0604020202020204" pitchFamily="34" charset="0"/>
                          </a:endParaRPr>
                        </a:p>
                      </a:txBody>
                      <a:tcPr/>
                    </a:tc>
                    <a:tc gridSpan="2">
                      <a:txBody>
                        <a:bodyPr/>
                        <a:lstStyle/>
                        <a:p>
                          <a:pPr algn="ctr"/>
                          <a:r>
                            <a:rPr lang="en-US" sz="2000" dirty="0">
                              <a:latin typeface="Arial" panose="020B0604020202020204" pitchFamily="34" charset="0"/>
                              <a:cs typeface="Arial" panose="020B0604020202020204" pitchFamily="34" charset="0"/>
                            </a:rPr>
                            <a:t>y</a:t>
                          </a:r>
                          <a:r>
                            <a:rPr lang="en-US" sz="2000" baseline="0" dirty="0">
                              <a:latin typeface="Arial" panose="020B0604020202020204" pitchFamily="34" charset="0"/>
                              <a:cs typeface="Arial" panose="020B0604020202020204" pitchFamily="34" charset="0"/>
                            </a:rPr>
                            <a:t> = 12 * x / 2</a:t>
                          </a:r>
                          <a:endParaRPr lang="en-US" sz="2000" dirty="0">
                            <a:latin typeface="Arial" panose="020B0604020202020204" pitchFamily="34" charset="0"/>
                            <a:cs typeface="Arial" panose="020B0604020202020204" pitchFamily="34" charset="0"/>
                          </a:endParaRPr>
                        </a:p>
                      </a:txBody>
                      <a:tcPr/>
                    </a:tc>
                    <a:tc hMerge="1">
                      <a:txBody>
                        <a:bodyPr/>
                        <a:lstStyle/>
                        <a:p>
                          <a:pPr algn="ctr"/>
                          <a:endParaRPr lang="en-US" dirty="0"/>
                        </a:p>
                      </a:txBody>
                      <a:tcPr/>
                    </a:tc>
                    <a:extLst>
                      <a:ext uri="{0D108BD9-81ED-4DB2-BD59-A6C34878D82A}">
                        <a16:rowId xmlns:a16="http://schemas.microsoft.com/office/drawing/2014/main" val="1206818513"/>
                      </a:ext>
                    </a:extLst>
                  </a:tr>
                  <a:tr h="370840">
                    <a:tc>
                      <a:txBody>
                        <a:bodyPr/>
                        <a:lstStyle/>
                        <a:p>
                          <a:pPr marL="0" algn="ctr" defTabSz="1218987" rtl="0" eaLnBrk="1" latinLnBrk="0" hangingPunct="1"/>
                          <a:r>
                            <a:rPr lang="en-US" sz="2000" kern="1200" dirty="0">
                              <a:solidFill>
                                <a:schemeClr val="tx1"/>
                              </a:solidFill>
                              <a:latin typeface="Arial" panose="020B0604020202020204" pitchFamily="34" charset="0"/>
                              <a:ea typeface="+mn-ea"/>
                              <a:cs typeface="Arial" panose="020B0604020202020204" pitchFamily="34" charset="0"/>
                            </a:rPr>
                            <a:t>y =  13xy + 4</a:t>
                          </a:r>
                        </a:p>
                      </a:txBody>
                      <a:tcPr/>
                    </a:tc>
                    <a:tc gridSpan="2">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y =  13</a:t>
                          </a:r>
                          <a:r>
                            <a:rPr lang="en-US" sz="2000" kern="1200" baseline="0" dirty="0">
                              <a:solidFill>
                                <a:schemeClr val="tx1"/>
                              </a:solidFill>
                              <a:latin typeface="Arial" panose="020B0604020202020204" pitchFamily="34" charset="0"/>
                              <a:ea typeface="+mn-ea"/>
                              <a:cs typeface="Arial" panose="020B0604020202020204" pitchFamily="34" charset="0"/>
                            </a:rPr>
                            <a:t> * </a:t>
                          </a:r>
                          <a:r>
                            <a:rPr lang="en-US" sz="2000" kern="1200" dirty="0">
                              <a:solidFill>
                                <a:schemeClr val="tx1"/>
                              </a:solidFill>
                              <a:latin typeface="Arial" panose="020B0604020202020204" pitchFamily="34" charset="0"/>
                              <a:ea typeface="+mn-ea"/>
                              <a:cs typeface="Arial" panose="020B0604020202020204" pitchFamily="34" charset="0"/>
                            </a:rPr>
                            <a:t>x * y + 4</a:t>
                          </a:r>
                          <a:endParaRPr lang="en-US" sz="2000" dirty="0">
                            <a:latin typeface="Arial" panose="020B0604020202020204" pitchFamily="34" charset="0"/>
                            <a:cs typeface="Arial" panose="020B0604020202020204" pitchFamily="34" charset="0"/>
                          </a:endParaRPr>
                        </a:p>
                      </a:txBody>
                      <a:tcPr/>
                    </a:tc>
                    <a:tc hMerge="1">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3778898864"/>
                      </a:ext>
                    </a:extLst>
                  </a:tr>
                  <a:tr h="238887">
                    <a:tc>
                      <a:txBody>
                        <a:bodyPr/>
                        <a:lstStyle/>
                        <a:p>
                          <a:pPr marL="0" algn="ctr" defTabSz="1218987" rtl="0" eaLnBrk="1" latinLnBrk="0" hangingPunct="1"/>
                          <a:r>
                            <a:rPr lang="en-US" sz="2000" dirty="0">
                              <a:latin typeface="Arial" panose="020B0604020202020204" pitchFamily="34" charset="0"/>
                              <a:cs typeface="Arial" panose="020B0604020202020204" pitchFamily="34" charset="0"/>
                            </a:rPr>
                            <a:t>y = 12</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𝑥</m:t>
                                  </m:r>
                                  <m:r>
                                    <a:rPr lang="en-US" sz="2000" b="0" i="1" smtClean="0">
                                      <a:latin typeface="Cambria Math" panose="02040503050406030204" pitchFamily="18" charset="0"/>
                                    </a:rPr>
                                    <m:t> + 2</m:t>
                                  </m:r>
                                </m:num>
                                <m:den>
                                  <m:r>
                                    <a:rPr lang="en-US" sz="2000" b="0" i="1" smtClean="0">
                                      <a:latin typeface="Cambria Math" panose="02040503050406030204" pitchFamily="18" charset="0"/>
                                    </a:rPr>
                                    <m:t>𝑦</m:t>
                                  </m:r>
                                  <m:r>
                                    <a:rPr lang="en-US" sz="2000" b="0" i="1" smtClean="0">
                                      <a:latin typeface="Cambria Math" panose="02040503050406030204" pitchFamily="18" charset="0"/>
                                    </a:rPr>
                                    <m:t> −1</m:t>
                                  </m:r>
                                </m:den>
                              </m:f>
                            </m:oMath>
                          </a14:m>
                          <a:endParaRPr lang="en-US" sz="2000" kern="1200" dirty="0">
                            <a:solidFill>
                              <a:schemeClr val="tx1"/>
                            </a:solidFill>
                            <a:latin typeface="Arial" panose="020B0604020202020204" pitchFamily="34" charset="0"/>
                            <a:ea typeface="+mn-ea"/>
                            <a:cs typeface="Arial" panose="020B0604020202020204" pitchFamily="34" charset="0"/>
                          </a:endParaRPr>
                        </a:p>
                      </a:txBody>
                      <a:tcPr/>
                    </a:tc>
                    <a:tc gridSpan="2">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y =  12</a:t>
                          </a:r>
                          <a:r>
                            <a:rPr lang="en-US" sz="2000" kern="1200" baseline="0" dirty="0">
                              <a:solidFill>
                                <a:schemeClr val="tx1"/>
                              </a:solidFill>
                              <a:latin typeface="Arial" panose="020B0604020202020204" pitchFamily="34" charset="0"/>
                              <a:ea typeface="+mn-ea"/>
                              <a:cs typeface="Arial" panose="020B0604020202020204" pitchFamily="34" charset="0"/>
                            </a:rPr>
                            <a:t> * </a:t>
                          </a:r>
                          <a:r>
                            <a:rPr lang="en-US" sz="2000" kern="1200" dirty="0">
                              <a:solidFill>
                                <a:schemeClr val="tx1"/>
                              </a:solidFill>
                              <a:latin typeface="Arial" panose="020B0604020202020204" pitchFamily="34" charset="0"/>
                              <a:ea typeface="+mn-ea"/>
                              <a:cs typeface="Arial" panose="020B0604020202020204" pitchFamily="34" charset="0"/>
                            </a:rPr>
                            <a:t>(x + 2) / (y – 1)</a:t>
                          </a:r>
                          <a:endParaRPr lang="en-US" sz="2000" dirty="0">
                            <a:latin typeface="Arial" panose="020B0604020202020204" pitchFamily="34" charset="0"/>
                            <a:cs typeface="Arial" panose="020B0604020202020204" pitchFamily="34" charset="0"/>
                          </a:endParaRPr>
                        </a:p>
                        <a:p>
                          <a:pPr marL="0" marR="0" indent="0" algn="ctr"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tc>
                    <a:tc hMerge="1">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30628766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963871002"/>
                  </p:ext>
                </p:extLst>
              </p:nvPr>
            </p:nvGraphicFramePr>
            <p:xfrm>
              <a:off x="1522412" y="1839023"/>
              <a:ext cx="10210800" cy="3179953"/>
            </p:xfrm>
            <a:graphic>
              <a:graphicData uri="http://schemas.openxmlformats.org/drawingml/2006/table">
                <a:tbl>
                  <a:tblPr firstRow="1" bandRow="1">
                    <a:tableStyleId>{5940675A-B579-460E-94D1-54222C63F5DA}</a:tableStyleId>
                  </a:tblPr>
                  <a:tblGrid>
                    <a:gridCol w="3510866">
                      <a:extLst>
                        <a:ext uri="{9D8B030D-6E8A-4147-A177-3AD203B41FA5}">
                          <a16:colId xmlns:a16="http://schemas.microsoft.com/office/drawing/2014/main" val="2414660554"/>
                        </a:ext>
                      </a:extLst>
                    </a:gridCol>
                    <a:gridCol w="3941541">
                      <a:extLst>
                        <a:ext uri="{9D8B030D-6E8A-4147-A177-3AD203B41FA5}">
                          <a16:colId xmlns:a16="http://schemas.microsoft.com/office/drawing/2014/main" val="3287010799"/>
                        </a:ext>
                      </a:extLst>
                    </a:gridCol>
                    <a:gridCol w="2758393">
                      <a:extLst>
                        <a:ext uri="{9D8B030D-6E8A-4147-A177-3AD203B41FA5}">
                          <a16:colId xmlns:a16="http://schemas.microsoft.com/office/drawing/2014/main" val="2834086674"/>
                        </a:ext>
                      </a:extLst>
                    </a:gridCol>
                  </a:tblGrid>
                  <a:tr h="3962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Operation Being Performed</a:t>
                          </a:r>
                        </a:p>
                      </a:txBody>
                      <a:tcPr/>
                    </a:tc>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96240">
                    <a:tc>
                      <a:txBody>
                        <a:bodyPr/>
                        <a:lstStyle/>
                        <a:p>
                          <a:pPr algn="ctr"/>
                          <a:r>
                            <a:rPr lang="en-US" sz="2000" dirty="0">
                              <a:latin typeface="Arial" panose="020B0604020202020204" pitchFamily="34" charset="0"/>
                              <a:cs typeface="Arial" panose="020B0604020202020204" pitchFamily="34" charset="0"/>
                            </a:rPr>
                            <a:t>7B</a:t>
                          </a:r>
                        </a:p>
                      </a:txBody>
                      <a:tcPr/>
                    </a:tc>
                    <a:tc>
                      <a:txBody>
                        <a:bodyPr/>
                        <a:lstStyle/>
                        <a:p>
                          <a:pPr algn="ctr"/>
                          <a:r>
                            <a:rPr lang="en-US" sz="2000" dirty="0">
                              <a:latin typeface="Arial" panose="020B0604020202020204" pitchFamily="34" charset="0"/>
                              <a:cs typeface="Arial" panose="020B0604020202020204" pitchFamily="34" charset="0"/>
                            </a:rPr>
                            <a:t>7 times B</a:t>
                          </a:r>
                        </a:p>
                      </a:txBody>
                      <a:tcPr/>
                    </a:tc>
                    <a:tc>
                      <a:txBody>
                        <a:bodyPr/>
                        <a:lstStyle/>
                        <a:p>
                          <a:pPr algn="ctr"/>
                          <a:r>
                            <a:rPr lang="en-US" sz="2000" dirty="0">
                              <a:latin typeface="Arial" panose="020B0604020202020204" pitchFamily="34" charset="0"/>
                              <a:cs typeface="Arial" panose="020B0604020202020204" pitchFamily="34" charset="0"/>
                            </a:rPr>
                            <a:t>7 * B</a:t>
                          </a:r>
                        </a:p>
                      </a:txBody>
                      <a:tcPr/>
                    </a:tc>
                    <a:extLst>
                      <a:ext uri="{0D108BD9-81ED-4DB2-BD59-A6C34878D82A}">
                        <a16:rowId xmlns:a16="http://schemas.microsoft.com/office/drawing/2014/main" val="370157446"/>
                      </a:ext>
                    </a:extLst>
                  </a:tr>
                  <a:tr h="396240">
                    <a:tc>
                      <a:txBody>
                        <a:bodyPr/>
                        <a:lstStyle/>
                        <a:p>
                          <a:pPr algn="ctr"/>
                          <a:r>
                            <a:rPr lang="en-US" sz="2000" dirty="0">
                              <a:latin typeface="Arial" panose="020B0604020202020204" pitchFamily="34" charset="0"/>
                              <a:cs typeface="Arial" panose="020B0604020202020204" pitchFamily="34" charset="0"/>
                            </a:rPr>
                            <a:t>(3)(19)</a:t>
                          </a:r>
                        </a:p>
                      </a:txBody>
                      <a:tcPr/>
                    </a:tc>
                    <a:tc>
                      <a:txBody>
                        <a:bodyPr/>
                        <a:lstStyle/>
                        <a:p>
                          <a:pPr algn="ctr"/>
                          <a:r>
                            <a:rPr lang="en-US" sz="2000" dirty="0">
                              <a:latin typeface="Arial" panose="020B0604020202020204" pitchFamily="34" charset="0"/>
                              <a:cs typeface="Arial" panose="020B0604020202020204" pitchFamily="34" charset="0"/>
                            </a:rPr>
                            <a:t>3 times</a:t>
                          </a:r>
                          <a:r>
                            <a:rPr lang="en-US" sz="2000" baseline="0" dirty="0">
                              <a:latin typeface="Arial" panose="020B0604020202020204" pitchFamily="34" charset="0"/>
                              <a:cs typeface="Arial" panose="020B0604020202020204" pitchFamily="34" charset="0"/>
                            </a:rPr>
                            <a:t> 19</a:t>
                          </a: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3</a:t>
                          </a:r>
                          <a:r>
                            <a:rPr lang="en-US" sz="2000" baseline="0" dirty="0">
                              <a:latin typeface="Arial" panose="020B0604020202020204" pitchFamily="34" charset="0"/>
                              <a:cs typeface="Arial" panose="020B0604020202020204" pitchFamily="34" charset="0"/>
                            </a:rPr>
                            <a:t> * 19</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31236668"/>
                      </a:ext>
                    </a:extLst>
                  </a:tr>
                  <a:tr h="396240">
                    <a:tc>
                      <a:txBody>
                        <a:bodyPr/>
                        <a:lstStyle/>
                        <a:p>
                          <a:pPr algn="ctr"/>
                          <a:r>
                            <a:rPr lang="en-US" sz="2000" dirty="0">
                              <a:latin typeface="Arial" panose="020B0604020202020204" pitchFamily="34" charset="0"/>
                              <a:cs typeface="Arial" panose="020B0604020202020204" pitchFamily="34" charset="0"/>
                            </a:rPr>
                            <a:t>17ab</a:t>
                          </a:r>
                        </a:p>
                      </a:txBody>
                      <a:tcPr/>
                    </a:tc>
                    <a:tc>
                      <a:txBody>
                        <a:bodyPr/>
                        <a:lstStyle/>
                        <a:p>
                          <a:pPr algn="ctr"/>
                          <a:r>
                            <a:rPr lang="en-US" sz="2000" dirty="0">
                              <a:latin typeface="Arial" panose="020B0604020202020204" pitchFamily="34" charset="0"/>
                              <a:cs typeface="Arial" panose="020B0604020202020204" pitchFamily="34" charset="0"/>
                            </a:rPr>
                            <a:t>17 times a times b</a:t>
                          </a:r>
                        </a:p>
                      </a:txBody>
                      <a:tcPr/>
                    </a:tc>
                    <a:tc>
                      <a:txBody>
                        <a:bodyPr/>
                        <a:lstStyle/>
                        <a:p>
                          <a:pPr algn="ctr"/>
                          <a:r>
                            <a:rPr lang="en-US" sz="2000" dirty="0">
                              <a:latin typeface="Arial" panose="020B0604020202020204" pitchFamily="34" charset="0"/>
                              <a:cs typeface="Arial" panose="020B0604020202020204" pitchFamily="34" charset="0"/>
                            </a:rPr>
                            <a:t>17</a:t>
                          </a:r>
                          <a:r>
                            <a:rPr lang="en-US" sz="2000" baseline="0" dirty="0">
                              <a:latin typeface="Arial" panose="020B0604020202020204" pitchFamily="34" charset="0"/>
                              <a:cs typeface="Arial" panose="020B0604020202020204" pitchFamily="34" charset="0"/>
                            </a:rPr>
                            <a:t> * a * b</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7708822"/>
                      </a:ext>
                    </a:extLst>
                  </a:tr>
                  <a:tr h="497713">
                    <a:tc>
                      <a:txBody>
                        <a:bodyPr/>
                        <a:lstStyle/>
                        <a:p>
                          <a:endParaRPr lang="en-US"/>
                        </a:p>
                      </a:txBody>
                      <a:tcPr>
                        <a:blipFill>
                          <a:blip r:embed="rId2"/>
                          <a:stretch>
                            <a:fillRect l="-174" t="-323171" r="-191319" b="-221951"/>
                          </a:stretch>
                        </a:blipFill>
                      </a:tcPr>
                    </a:tc>
                    <a:tc gridSpan="2">
                      <a:txBody>
                        <a:bodyPr/>
                        <a:lstStyle/>
                        <a:p>
                          <a:pPr algn="ctr"/>
                          <a:r>
                            <a:rPr lang="en-US" sz="2000" dirty="0">
                              <a:latin typeface="Arial" panose="020B0604020202020204" pitchFamily="34" charset="0"/>
                              <a:cs typeface="Arial" panose="020B0604020202020204" pitchFamily="34" charset="0"/>
                            </a:rPr>
                            <a:t>y</a:t>
                          </a:r>
                          <a:r>
                            <a:rPr lang="en-US" sz="2000" baseline="0" dirty="0">
                              <a:latin typeface="Arial" panose="020B0604020202020204" pitchFamily="34" charset="0"/>
                              <a:cs typeface="Arial" panose="020B0604020202020204" pitchFamily="34" charset="0"/>
                            </a:rPr>
                            <a:t> = 12 * x / 2</a:t>
                          </a:r>
                          <a:endParaRPr lang="en-US" sz="2000" dirty="0">
                            <a:latin typeface="Arial" panose="020B0604020202020204" pitchFamily="34" charset="0"/>
                            <a:cs typeface="Arial" panose="020B0604020202020204" pitchFamily="34" charset="0"/>
                          </a:endParaRPr>
                        </a:p>
                      </a:txBody>
                      <a:tcPr/>
                    </a:tc>
                    <a:tc hMerge="1">
                      <a:txBody>
                        <a:bodyPr/>
                        <a:lstStyle/>
                        <a:p>
                          <a:pPr algn="ctr"/>
                          <a:endParaRPr lang="en-US" dirty="0"/>
                        </a:p>
                      </a:txBody>
                      <a:tcPr/>
                    </a:tc>
                    <a:extLst>
                      <a:ext uri="{0D108BD9-81ED-4DB2-BD59-A6C34878D82A}">
                        <a16:rowId xmlns:a16="http://schemas.microsoft.com/office/drawing/2014/main" val="1206818513"/>
                      </a:ext>
                    </a:extLst>
                  </a:tr>
                  <a:tr h="396240">
                    <a:tc>
                      <a:txBody>
                        <a:bodyPr/>
                        <a:lstStyle/>
                        <a:p>
                          <a:pPr marL="0" algn="ctr" defTabSz="1218987" rtl="0" eaLnBrk="1" latinLnBrk="0" hangingPunct="1"/>
                          <a:r>
                            <a:rPr lang="en-US" sz="2000" kern="1200" dirty="0">
                              <a:solidFill>
                                <a:schemeClr val="tx1"/>
                              </a:solidFill>
                              <a:latin typeface="Arial" panose="020B0604020202020204" pitchFamily="34" charset="0"/>
                              <a:ea typeface="+mn-ea"/>
                              <a:cs typeface="Arial" panose="020B0604020202020204" pitchFamily="34" charset="0"/>
                            </a:rPr>
                            <a:t>y =  13xy + 4</a:t>
                          </a:r>
                        </a:p>
                      </a:txBody>
                      <a:tcPr/>
                    </a:tc>
                    <a:tc gridSpan="2">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y =  13</a:t>
                          </a:r>
                          <a:r>
                            <a:rPr lang="en-US" sz="2000" kern="1200" baseline="0" dirty="0">
                              <a:solidFill>
                                <a:schemeClr val="tx1"/>
                              </a:solidFill>
                              <a:latin typeface="Arial" panose="020B0604020202020204" pitchFamily="34" charset="0"/>
                              <a:ea typeface="+mn-ea"/>
                              <a:cs typeface="Arial" panose="020B0604020202020204" pitchFamily="34" charset="0"/>
                            </a:rPr>
                            <a:t> * </a:t>
                          </a:r>
                          <a:r>
                            <a:rPr lang="en-US" sz="2000" kern="1200" dirty="0">
                              <a:solidFill>
                                <a:schemeClr val="tx1"/>
                              </a:solidFill>
                              <a:latin typeface="Arial" panose="020B0604020202020204" pitchFamily="34" charset="0"/>
                              <a:ea typeface="+mn-ea"/>
                              <a:cs typeface="Arial" panose="020B0604020202020204" pitchFamily="34" charset="0"/>
                            </a:rPr>
                            <a:t>x * y + 4</a:t>
                          </a:r>
                          <a:endParaRPr lang="en-US" sz="2000" dirty="0">
                            <a:latin typeface="Arial" panose="020B0604020202020204" pitchFamily="34" charset="0"/>
                            <a:cs typeface="Arial" panose="020B0604020202020204" pitchFamily="34" charset="0"/>
                          </a:endParaRPr>
                        </a:p>
                      </a:txBody>
                      <a:tcPr/>
                    </a:tc>
                    <a:tc hMerge="1">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3778898864"/>
                      </a:ext>
                    </a:extLst>
                  </a:tr>
                  <a:tr h="701040">
                    <a:tc>
                      <a:txBody>
                        <a:bodyPr/>
                        <a:lstStyle/>
                        <a:p>
                          <a:endParaRPr lang="en-US"/>
                        </a:p>
                      </a:txBody>
                      <a:tcPr>
                        <a:blipFill>
                          <a:blip r:embed="rId2"/>
                          <a:stretch>
                            <a:fillRect l="-174" t="-358261" r="-191319" b="-1739"/>
                          </a:stretch>
                        </a:blipFill>
                      </a:tcPr>
                    </a:tc>
                    <a:tc gridSpan="2">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y =  12</a:t>
                          </a:r>
                          <a:r>
                            <a:rPr lang="en-US" sz="2000" kern="1200" baseline="0" dirty="0">
                              <a:solidFill>
                                <a:schemeClr val="tx1"/>
                              </a:solidFill>
                              <a:latin typeface="Arial" panose="020B0604020202020204" pitchFamily="34" charset="0"/>
                              <a:ea typeface="+mn-ea"/>
                              <a:cs typeface="Arial" panose="020B0604020202020204" pitchFamily="34" charset="0"/>
                            </a:rPr>
                            <a:t> * </a:t>
                          </a:r>
                          <a:r>
                            <a:rPr lang="en-US" sz="2000" kern="1200" dirty="0">
                              <a:solidFill>
                                <a:schemeClr val="tx1"/>
                              </a:solidFill>
                              <a:latin typeface="Arial" panose="020B0604020202020204" pitchFamily="34" charset="0"/>
                              <a:ea typeface="+mn-ea"/>
                              <a:cs typeface="Arial" panose="020B0604020202020204" pitchFamily="34" charset="0"/>
                            </a:rPr>
                            <a:t>(x + 2) / (y – 1)</a:t>
                          </a:r>
                          <a:endParaRPr lang="en-US" sz="2000" dirty="0">
                            <a:latin typeface="Arial" panose="020B0604020202020204" pitchFamily="34" charset="0"/>
                            <a:cs typeface="Arial" panose="020B0604020202020204" pitchFamily="34" charset="0"/>
                          </a:endParaRPr>
                        </a:p>
                        <a:p>
                          <a:pPr marL="0" marR="0" indent="0" algn="ctr"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tc>
                    <a:tc hMerge="1">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306287661"/>
                      </a:ext>
                    </a:extLst>
                  </a:tr>
                </a:tbl>
              </a:graphicData>
            </a:graphic>
          </p:graphicFrame>
        </mc:Fallback>
      </mc:AlternateContent>
    </p:spTree>
    <p:extLst>
      <p:ext uri="{BB962C8B-B14F-4D97-AF65-F5344CB8AC3E}">
        <p14:creationId xmlns:p14="http://schemas.microsoft.com/office/powerpoint/2010/main" val="282647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sz="4800" dirty="0"/>
              <a:t>Arithmetic </a:t>
            </a:r>
            <a:r>
              <a:rPr lang="en-US" sz="4800" dirty="0">
                <a:solidFill>
                  <a:srgbClr val="FF0000"/>
                </a:solidFill>
              </a:rPr>
              <a:t>Expression</a:t>
            </a:r>
            <a:r>
              <a:rPr lang="en-US" sz="4800" dirty="0"/>
              <a:t> to </a:t>
            </a:r>
            <a:r>
              <a:rPr lang="en-US" sz="4800" dirty="0">
                <a:solidFill>
                  <a:srgbClr val="FF0000"/>
                </a:solidFill>
              </a:rPr>
              <a:t>Coding</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061903557"/>
              </p:ext>
            </p:extLst>
          </p:nvPr>
        </p:nvGraphicFramePr>
        <p:xfrm>
          <a:off x="3351212" y="11430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dirty="0">
                          <a:solidFill>
                            <a:srgbClr val="000066"/>
                          </a:solidFill>
                          <a:latin typeface="Arial" panose="020B0604020202020204" pitchFamily="34" charset="0"/>
                          <a:cs typeface="Arial" panose="020B0604020202020204" pitchFamily="34" charset="0"/>
                        </a:rPr>
                        <a:t>2</a:t>
                      </a:r>
                      <a:r>
                        <a:rPr lang="en-US" sz="3200" i="1" dirty="0">
                          <a:solidFill>
                            <a:srgbClr val="000066"/>
                          </a:solidFill>
                          <a:latin typeface="Arial" panose="020B0604020202020204" pitchFamily="34" charset="0"/>
                          <a:cs typeface="Arial" panose="020B0604020202020204" pitchFamily="34" charset="0"/>
                        </a:rPr>
                        <a:t>a</a:t>
                      </a:r>
                      <a:r>
                        <a:rPr lang="en-US" sz="3200" dirty="0">
                          <a:solidFill>
                            <a:srgbClr val="000066"/>
                          </a:solidFill>
                          <a:latin typeface="Arial" panose="020B0604020202020204" pitchFamily="34" charset="0"/>
                          <a:cs typeface="Arial" panose="020B0604020202020204" pitchFamily="34" charset="0"/>
                        </a:rPr>
                        <a:t> + 4</a:t>
                      </a:r>
                      <a:r>
                        <a:rPr lang="en-US" sz="3200" i="1" dirty="0">
                          <a:solidFill>
                            <a:srgbClr val="000066"/>
                          </a:solidFill>
                          <a:latin typeface="Arial" panose="020B0604020202020204" pitchFamily="34" charset="0"/>
                          <a:cs typeface="Arial" panose="020B0604020202020204" pitchFamily="34" charset="0"/>
                        </a:rPr>
                        <a:t>ab</a:t>
                      </a:r>
                      <a:r>
                        <a:rPr lang="en-US" sz="3200" dirty="0">
                          <a:solidFill>
                            <a:srgbClr val="000066"/>
                          </a:solidFill>
                          <a:latin typeface="Arial" panose="020B0604020202020204" pitchFamily="34" charset="0"/>
                          <a:cs typeface="Arial" panose="020B0604020202020204" pitchFamily="34" charset="0"/>
                        </a:rPr>
                        <a:t> + 5</a:t>
                      </a:r>
                      <a:r>
                        <a:rPr lang="en-US" sz="3200" i="1" dirty="0">
                          <a:solidFill>
                            <a:srgbClr val="000066"/>
                          </a:solidFill>
                          <a:latin typeface="Arial" panose="020B0604020202020204" pitchFamily="34" charset="0"/>
                          <a:cs typeface="Arial" panose="020B0604020202020204" pitchFamily="34" charset="0"/>
                        </a:rPr>
                        <a:t>a</a:t>
                      </a:r>
                      <a:r>
                        <a:rPr lang="en-US" sz="3200" dirty="0">
                          <a:solidFill>
                            <a:srgbClr val="000066"/>
                          </a:solidFill>
                          <a:latin typeface="Arial" panose="020B0604020202020204" pitchFamily="34" charset="0"/>
                          <a:cs typeface="Arial" panose="020B0604020202020204" pitchFamily="34" charset="0"/>
                        </a:rPr>
                        <a:t>(</a:t>
                      </a:r>
                      <a:r>
                        <a:rPr lang="en-US" sz="3200" i="1" dirty="0">
                          <a:solidFill>
                            <a:srgbClr val="000066"/>
                          </a:solidFill>
                          <a:latin typeface="Arial" panose="020B0604020202020204" pitchFamily="34" charset="0"/>
                          <a:cs typeface="Arial" panose="020B0604020202020204" pitchFamily="34" charset="0"/>
                        </a:rPr>
                        <a:t>b</a:t>
                      </a:r>
                      <a:r>
                        <a:rPr lang="en-US" sz="3200" dirty="0">
                          <a:solidFill>
                            <a:srgbClr val="000066"/>
                          </a:solidFill>
                          <a:latin typeface="Arial" panose="020B0604020202020204" pitchFamily="34" charset="0"/>
                          <a:cs typeface="Arial" panose="020B0604020202020204" pitchFamily="34" charset="0"/>
                        </a:rPr>
                        <a:t> + </a:t>
                      </a:r>
                      <a:r>
                        <a:rPr lang="en-US" sz="3200" i="1" dirty="0">
                          <a:solidFill>
                            <a:srgbClr val="000066"/>
                          </a:solidFill>
                          <a:latin typeface="Arial" panose="020B0604020202020204" pitchFamily="34" charset="0"/>
                          <a:cs typeface="Arial" panose="020B0604020202020204" pitchFamily="34" charset="0"/>
                        </a:rPr>
                        <a:t>c</a:t>
                      </a:r>
                      <a:r>
                        <a:rPr lang="en-US" sz="3200" dirty="0">
                          <a:solidFill>
                            <a:srgbClr val="000066"/>
                          </a:solidFill>
                          <a:latin typeface="Arial" panose="020B0604020202020204" pitchFamily="34" charset="0"/>
                          <a:cs typeface="Arial" panose="020B0604020202020204" pitchFamily="34" charset="0"/>
                        </a:rPr>
                        <a:t>)</a:t>
                      </a:r>
                      <a:endParaRPr lang="en-US" sz="3200" kern="1200" dirty="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30628766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329556007"/>
              </p:ext>
            </p:extLst>
          </p:nvPr>
        </p:nvGraphicFramePr>
        <p:xfrm>
          <a:off x="3354173" y="29718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dirty="0">
                          <a:solidFill>
                            <a:srgbClr val="000066"/>
                          </a:solidFill>
                          <a:latin typeface="Arial" panose="020B0604020202020204" pitchFamily="34" charset="0"/>
                          <a:cs typeface="Arial" panose="020B0604020202020204" pitchFamily="34" charset="0"/>
                        </a:rPr>
                        <a:t>2</a:t>
                      </a:r>
                      <a:r>
                        <a:rPr lang="en-US" sz="3200" baseline="0" dirty="0">
                          <a:solidFill>
                            <a:srgbClr val="000066"/>
                          </a:solidFill>
                          <a:latin typeface="Arial" panose="020B0604020202020204" pitchFamily="34" charset="0"/>
                          <a:cs typeface="Arial" panose="020B0604020202020204" pitchFamily="34" charset="0"/>
                        </a:rPr>
                        <a:t> * </a:t>
                      </a:r>
                      <a:r>
                        <a:rPr lang="en-US" sz="3200" i="1" dirty="0">
                          <a:solidFill>
                            <a:srgbClr val="000066"/>
                          </a:solidFill>
                          <a:latin typeface="Arial" panose="020B0604020202020204" pitchFamily="34" charset="0"/>
                          <a:cs typeface="Arial" panose="020B0604020202020204" pitchFamily="34" charset="0"/>
                        </a:rPr>
                        <a:t>a</a:t>
                      </a:r>
                      <a:r>
                        <a:rPr lang="en-US" sz="3200" dirty="0">
                          <a:solidFill>
                            <a:srgbClr val="000066"/>
                          </a:solidFill>
                          <a:latin typeface="Arial" panose="020B0604020202020204" pitchFamily="34" charset="0"/>
                          <a:cs typeface="Arial" panose="020B0604020202020204" pitchFamily="34" charset="0"/>
                        </a:rPr>
                        <a:t> + 4 * </a:t>
                      </a:r>
                      <a:r>
                        <a:rPr lang="en-US" sz="3200" i="1" dirty="0">
                          <a:solidFill>
                            <a:srgbClr val="000066"/>
                          </a:solidFill>
                          <a:latin typeface="Arial" panose="020B0604020202020204" pitchFamily="34" charset="0"/>
                          <a:cs typeface="Arial" panose="020B0604020202020204" pitchFamily="34" charset="0"/>
                        </a:rPr>
                        <a:t>a * b</a:t>
                      </a:r>
                      <a:r>
                        <a:rPr lang="en-US" sz="3200" dirty="0">
                          <a:solidFill>
                            <a:srgbClr val="000066"/>
                          </a:solidFill>
                          <a:latin typeface="Arial" panose="020B0604020202020204" pitchFamily="34" charset="0"/>
                          <a:cs typeface="Arial" panose="020B0604020202020204" pitchFamily="34" charset="0"/>
                        </a:rPr>
                        <a:t> + 5 * </a:t>
                      </a:r>
                      <a:r>
                        <a:rPr lang="en-US" sz="3200" i="1" dirty="0">
                          <a:solidFill>
                            <a:srgbClr val="000066"/>
                          </a:solidFill>
                          <a:latin typeface="Arial" panose="020B0604020202020204" pitchFamily="34" charset="0"/>
                          <a:cs typeface="Arial" panose="020B0604020202020204" pitchFamily="34" charset="0"/>
                        </a:rPr>
                        <a:t>a * </a:t>
                      </a:r>
                      <a:r>
                        <a:rPr lang="en-US" sz="3200" dirty="0">
                          <a:solidFill>
                            <a:srgbClr val="000066"/>
                          </a:solidFill>
                          <a:latin typeface="Arial" panose="020B0604020202020204" pitchFamily="34" charset="0"/>
                          <a:cs typeface="Arial" panose="020B0604020202020204" pitchFamily="34" charset="0"/>
                        </a:rPr>
                        <a:t>(</a:t>
                      </a:r>
                      <a:r>
                        <a:rPr lang="en-US" sz="3200" i="1" dirty="0">
                          <a:solidFill>
                            <a:srgbClr val="000066"/>
                          </a:solidFill>
                          <a:latin typeface="Arial" panose="020B0604020202020204" pitchFamily="34" charset="0"/>
                          <a:cs typeface="Arial" panose="020B0604020202020204" pitchFamily="34" charset="0"/>
                        </a:rPr>
                        <a:t>b</a:t>
                      </a:r>
                      <a:r>
                        <a:rPr lang="en-US" sz="3200" dirty="0">
                          <a:solidFill>
                            <a:srgbClr val="000066"/>
                          </a:solidFill>
                          <a:latin typeface="Arial" panose="020B0604020202020204" pitchFamily="34" charset="0"/>
                          <a:cs typeface="Arial" panose="020B0604020202020204" pitchFamily="34" charset="0"/>
                        </a:rPr>
                        <a:t> + </a:t>
                      </a:r>
                      <a:r>
                        <a:rPr lang="en-US" sz="3200" i="1" dirty="0">
                          <a:solidFill>
                            <a:srgbClr val="000066"/>
                          </a:solidFill>
                          <a:latin typeface="Arial" panose="020B0604020202020204" pitchFamily="34" charset="0"/>
                          <a:cs typeface="Arial" panose="020B0604020202020204" pitchFamily="34" charset="0"/>
                        </a:rPr>
                        <a:t>c</a:t>
                      </a:r>
                      <a:r>
                        <a:rPr lang="en-US" sz="3200" dirty="0">
                          <a:solidFill>
                            <a:srgbClr val="000066"/>
                          </a:solidFill>
                          <a:latin typeface="Arial" panose="020B0604020202020204" pitchFamily="34" charset="0"/>
                          <a:cs typeface="Arial" panose="020B0604020202020204" pitchFamily="34" charset="0"/>
                        </a:rPr>
                        <a:t>)</a:t>
                      </a:r>
                      <a:endParaRPr lang="en-US" sz="3200" kern="1200" dirty="0">
                        <a:solidFill>
                          <a:schemeClr val="tx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306287661"/>
                  </a:ext>
                </a:extLst>
              </a:tr>
            </a:tbl>
          </a:graphicData>
        </a:graphic>
      </p:graphicFrame>
    </p:spTree>
    <p:extLst>
      <p:ext uri="{BB962C8B-B14F-4D97-AF65-F5344CB8AC3E}">
        <p14:creationId xmlns:p14="http://schemas.microsoft.com/office/powerpoint/2010/main" val="308638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sz="4800" dirty="0"/>
              <a:t>Arithmetic </a:t>
            </a:r>
            <a:r>
              <a:rPr lang="en-US" sz="4800" dirty="0">
                <a:solidFill>
                  <a:srgbClr val="FF0000"/>
                </a:solidFill>
              </a:rPr>
              <a:t>Expression</a:t>
            </a:r>
            <a:r>
              <a:rPr lang="en-US" sz="4800" dirty="0"/>
              <a:t> to </a:t>
            </a:r>
            <a:r>
              <a:rPr lang="en-US" sz="4800" dirty="0">
                <a:solidFill>
                  <a:srgbClr val="FF0000"/>
                </a:solidFill>
              </a:rPr>
              <a:t>Coding</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85179734"/>
              </p:ext>
            </p:extLst>
          </p:nvPr>
        </p:nvGraphicFramePr>
        <p:xfrm>
          <a:off x="3351212" y="11430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b="0" dirty="0">
                          <a:solidFill>
                            <a:srgbClr val="000066"/>
                          </a:solidFill>
                          <a:effectLst/>
                          <a:latin typeface="Arial" panose="020B0604020202020204" pitchFamily="34" charset="0"/>
                          <a:cs typeface="Arial" panose="020B0604020202020204" pitchFamily="34" charset="0"/>
                        </a:rPr>
                        <a:t>(</a:t>
                      </a:r>
                      <a:r>
                        <a:rPr lang="en-US" sz="3200" b="0" i="1" dirty="0">
                          <a:solidFill>
                            <a:srgbClr val="000066"/>
                          </a:solidFill>
                          <a:effectLst/>
                          <a:latin typeface="Arial" panose="020B0604020202020204" pitchFamily="34" charset="0"/>
                          <a:cs typeface="Arial" panose="020B0604020202020204" pitchFamily="34" charset="0"/>
                        </a:rPr>
                        <a:t>x</a:t>
                      </a:r>
                      <a:r>
                        <a:rPr lang="en-US" sz="3200" b="0" dirty="0">
                          <a:solidFill>
                            <a:srgbClr val="000066"/>
                          </a:solidFill>
                          <a:effectLst/>
                          <a:latin typeface="Arial" panose="020B0604020202020204" pitchFamily="34" charset="0"/>
                          <a:cs typeface="Arial" panose="020B0604020202020204" pitchFamily="34" charset="0"/>
                        </a:rPr>
                        <a:t> + 2)(</a:t>
                      </a:r>
                      <a:r>
                        <a:rPr lang="en-US" sz="3200" b="0" i="1" dirty="0">
                          <a:solidFill>
                            <a:srgbClr val="000066"/>
                          </a:solidFill>
                          <a:effectLst/>
                          <a:latin typeface="Arial" panose="020B0604020202020204" pitchFamily="34" charset="0"/>
                          <a:cs typeface="Arial" panose="020B0604020202020204" pitchFamily="34" charset="0"/>
                        </a:rPr>
                        <a:t>y</a:t>
                      </a:r>
                      <a:r>
                        <a:rPr lang="en-US" sz="3200" b="0" dirty="0">
                          <a:solidFill>
                            <a:srgbClr val="000066"/>
                          </a:solidFill>
                          <a:effectLst/>
                          <a:latin typeface="Arial" panose="020B0604020202020204" pitchFamily="34" charset="0"/>
                          <a:cs typeface="Arial" panose="020B0604020202020204" pitchFamily="34" charset="0"/>
                        </a:rPr>
                        <a:t> + </a:t>
                      </a:r>
                      <a:r>
                        <a:rPr lang="en-US" sz="3200" b="0" i="1" dirty="0">
                          <a:solidFill>
                            <a:srgbClr val="000066"/>
                          </a:solidFill>
                          <a:effectLst/>
                          <a:latin typeface="Arial" panose="020B0604020202020204" pitchFamily="34" charset="0"/>
                          <a:cs typeface="Arial" panose="020B0604020202020204" pitchFamily="34" charset="0"/>
                        </a:rPr>
                        <a:t>z</a:t>
                      </a:r>
                      <a:r>
                        <a:rPr lang="en-US" sz="3200" b="0" dirty="0">
                          <a:solidFill>
                            <a:srgbClr val="000066"/>
                          </a:solidFill>
                          <a:effectLst/>
                          <a:latin typeface="Arial" panose="020B0604020202020204" pitchFamily="34" charset="0"/>
                          <a:cs typeface="Arial" panose="020B0604020202020204" pitchFamily="34" charset="0"/>
                        </a:rPr>
                        <a:t>)</a:t>
                      </a:r>
                      <a:endParaRPr lang="en-US" sz="3200" kern="1200" dirty="0">
                        <a:solidFill>
                          <a:schemeClr val="tx1"/>
                        </a:solidFill>
                        <a:latin typeface="+mn-lt"/>
                        <a:ea typeface="+mn-ea"/>
                        <a:cs typeface="+mn-cs"/>
                      </a:endParaRPr>
                    </a:p>
                  </a:txBody>
                  <a:tcPr/>
                </a:tc>
                <a:extLst>
                  <a:ext uri="{0D108BD9-81ED-4DB2-BD59-A6C34878D82A}">
                    <a16:rowId xmlns:a16="http://schemas.microsoft.com/office/drawing/2014/main" val="130628766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870180709"/>
              </p:ext>
            </p:extLst>
          </p:nvPr>
        </p:nvGraphicFramePr>
        <p:xfrm>
          <a:off x="3354173" y="29718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b="0" dirty="0">
                          <a:solidFill>
                            <a:srgbClr val="000066"/>
                          </a:solidFill>
                          <a:effectLst/>
                          <a:latin typeface="Arial" panose="020B0604020202020204" pitchFamily="34" charset="0"/>
                          <a:cs typeface="Arial" panose="020B0604020202020204" pitchFamily="34" charset="0"/>
                        </a:rPr>
                        <a:t>(</a:t>
                      </a:r>
                      <a:r>
                        <a:rPr lang="en-US" sz="3200" b="0" i="1" dirty="0">
                          <a:solidFill>
                            <a:srgbClr val="000066"/>
                          </a:solidFill>
                          <a:effectLst/>
                          <a:latin typeface="Arial" panose="020B0604020202020204" pitchFamily="34" charset="0"/>
                          <a:cs typeface="Arial" panose="020B0604020202020204" pitchFamily="34" charset="0"/>
                        </a:rPr>
                        <a:t>x</a:t>
                      </a:r>
                      <a:r>
                        <a:rPr lang="en-US" sz="3200" b="0" dirty="0">
                          <a:solidFill>
                            <a:srgbClr val="000066"/>
                          </a:solidFill>
                          <a:effectLst/>
                          <a:latin typeface="Arial" panose="020B0604020202020204" pitchFamily="34" charset="0"/>
                          <a:cs typeface="Arial" panose="020B0604020202020204" pitchFamily="34" charset="0"/>
                        </a:rPr>
                        <a:t> + 2) * (</a:t>
                      </a:r>
                      <a:r>
                        <a:rPr lang="en-US" sz="3200" b="0" i="1" dirty="0">
                          <a:solidFill>
                            <a:srgbClr val="000066"/>
                          </a:solidFill>
                          <a:effectLst/>
                          <a:latin typeface="Arial" panose="020B0604020202020204" pitchFamily="34" charset="0"/>
                          <a:cs typeface="Arial" panose="020B0604020202020204" pitchFamily="34" charset="0"/>
                        </a:rPr>
                        <a:t>y</a:t>
                      </a:r>
                      <a:r>
                        <a:rPr lang="en-US" sz="3200" b="0" dirty="0">
                          <a:solidFill>
                            <a:srgbClr val="000066"/>
                          </a:solidFill>
                          <a:effectLst/>
                          <a:latin typeface="Arial" panose="020B0604020202020204" pitchFamily="34" charset="0"/>
                          <a:cs typeface="Arial" panose="020B0604020202020204" pitchFamily="34" charset="0"/>
                        </a:rPr>
                        <a:t> + </a:t>
                      </a:r>
                      <a:r>
                        <a:rPr lang="en-US" sz="3200" b="0" i="1" dirty="0">
                          <a:solidFill>
                            <a:srgbClr val="000066"/>
                          </a:solidFill>
                          <a:effectLst/>
                          <a:latin typeface="Arial" panose="020B0604020202020204" pitchFamily="34" charset="0"/>
                          <a:cs typeface="Arial" panose="020B0604020202020204" pitchFamily="34" charset="0"/>
                        </a:rPr>
                        <a:t>z</a:t>
                      </a:r>
                      <a:r>
                        <a:rPr lang="en-US" sz="3200" b="0" dirty="0">
                          <a:solidFill>
                            <a:srgbClr val="000066"/>
                          </a:solidFill>
                          <a:effectLst/>
                          <a:latin typeface="Arial" panose="020B0604020202020204" pitchFamily="34" charset="0"/>
                          <a:cs typeface="Arial" panose="020B0604020202020204" pitchFamily="34" charset="0"/>
                        </a:rPr>
                        <a:t>)</a:t>
                      </a:r>
                      <a:endParaRPr lang="en-US" sz="3200" kern="1200" dirty="0">
                        <a:solidFill>
                          <a:schemeClr val="tx1"/>
                        </a:solidFill>
                        <a:latin typeface="+mn-lt"/>
                        <a:ea typeface="+mn-ea"/>
                        <a:cs typeface="+mn-cs"/>
                      </a:endParaRPr>
                    </a:p>
                  </a:txBody>
                  <a:tcPr/>
                </a:tc>
                <a:extLst>
                  <a:ext uri="{0D108BD9-81ED-4DB2-BD59-A6C34878D82A}">
                    <a16:rowId xmlns:a16="http://schemas.microsoft.com/office/drawing/2014/main" val="1306287661"/>
                  </a:ext>
                </a:extLst>
              </a:tr>
            </a:tbl>
          </a:graphicData>
        </a:graphic>
      </p:graphicFrame>
    </p:spTree>
    <p:extLst>
      <p:ext uri="{BB962C8B-B14F-4D97-AF65-F5344CB8AC3E}">
        <p14:creationId xmlns:p14="http://schemas.microsoft.com/office/powerpoint/2010/main" val="2620294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sz="4800" dirty="0"/>
              <a:t>Arithmetic </a:t>
            </a:r>
            <a:r>
              <a:rPr lang="en-US" sz="4800" dirty="0">
                <a:solidFill>
                  <a:srgbClr val="FF0000"/>
                </a:solidFill>
              </a:rPr>
              <a:t>Expression</a:t>
            </a:r>
            <a:r>
              <a:rPr lang="en-US" sz="4800" dirty="0"/>
              <a:t> to </a:t>
            </a:r>
            <a:r>
              <a:rPr lang="en-US" sz="4800" dirty="0">
                <a:solidFill>
                  <a:srgbClr val="FF0000"/>
                </a:solidFill>
              </a:rPr>
              <a:t>Coding</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796770915"/>
              </p:ext>
            </p:extLst>
          </p:nvPr>
        </p:nvGraphicFramePr>
        <p:xfrm>
          <a:off x="3351212" y="1143000"/>
          <a:ext cx="5790407" cy="146304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93387668"/>
                  </a:ext>
                </a:extLst>
              </a:tr>
              <a:tr h="370840">
                <a:tc>
                  <a:txBody>
                    <a:bodyPr/>
                    <a:lstStyle/>
                    <a:p>
                      <a:pPr algn="ctr"/>
                      <a:r>
                        <a:rPr lang="en-US" sz="3200" u="sng" dirty="0">
                          <a:solidFill>
                            <a:srgbClr val="000066"/>
                          </a:solidFill>
                          <a:latin typeface="Arial" panose="020B0604020202020204" pitchFamily="34" charset="0"/>
                          <a:cs typeface="Arial" panose="020B0604020202020204" pitchFamily="34" charset="0"/>
                        </a:rPr>
                        <a:t>(</a:t>
                      </a:r>
                      <a:r>
                        <a:rPr lang="en-US" sz="3200" i="1" u="sng" dirty="0">
                          <a:solidFill>
                            <a:srgbClr val="000066"/>
                          </a:solidFill>
                          <a:latin typeface="Arial" panose="020B0604020202020204" pitchFamily="34" charset="0"/>
                          <a:cs typeface="Arial" panose="020B0604020202020204" pitchFamily="34" charset="0"/>
                        </a:rPr>
                        <a:t>x</a:t>
                      </a:r>
                      <a:r>
                        <a:rPr lang="en-US" sz="3200" u="sng" dirty="0">
                          <a:solidFill>
                            <a:srgbClr val="000066"/>
                          </a:solidFill>
                          <a:latin typeface="Arial" panose="020B0604020202020204" pitchFamily="34" charset="0"/>
                          <a:cs typeface="Arial" panose="020B0604020202020204" pitchFamily="34" charset="0"/>
                        </a:rPr>
                        <a:t> − 2)(</a:t>
                      </a:r>
                      <a:r>
                        <a:rPr lang="en-US" sz="3200" i="1" u="sng" dirty="0">
                          <a:solidFill>
                            <a:srgbClr val="000066"/>
                          </a:solidFill>
                          <a:latin typeface="Arial" panose="020B0604020202020204" pitchFamily="34" charset="0"/>
                          <a:cs typeface="Arial" panose="020B0604020202020204" pitchFamily="34" charset="0"/>
                        </a:rPr>
                        <a:t>x</a:t>
                      </a:r>
                      <a:r>
                        <a:rPr lang="en-US" sz="3200" u="sng" dirty="0">
                          <a:solidFill>
                            <a:srgbClr val="000066"/>
                          </a:solidFill>
                          <a:latin typeface="Arial" panose="020B0604020202020204" pitchFamily="34" charset="0"/>
                          <a:cs typeface="Arial" panose="020B0604020202020204" pitchFamily="34" charset="0"/>
                        </a:rPr>
                        <a:t> + 2)</a:t>
                      </a:r>
                      <a:br>
                        <a:rPr lang="en-US" sz="3200" dirty="0">
                          <a:latin typeface="Arial" panose="020B0604020202020204" pitchFamily="34" charset="0"/>
                          <a:cs typeface="Arial" panose="020B0604020202020204" pitchFamily="34" charset="0"/>
                        </a:rPr>
                      </a:br>
                      <a:r>
                        <a:rPr lang="en-US" sz="3200" dirty="0">
                          <a:solidFill>
                            <a:srgbClr val="000066"/>
                          </a:solidFill>
                          <a:latin typeface="Arial" panose="020B0604020202020204" pitchFamily="34" charset="0"/>
                          <a:cs typeface="Arial" panose="020B0604020202020204" pitchFamily="34" charset="0"/>
                        </a:rPr>
                        <a:t> 8</a:t>
                      </a:r>
                      <a:r>
                        <a:rPr lang="en-US" sz="3200" i="1" dirty="0">
                          <a:solidFill>
                            <a:srgbClr val="000066"/>
                          </a:solidFill>
                          <a:latin typeface="Arial" panose="020B0604020202020204" pitchFamily="34" charset="0"/>
                          <a:cs typeface="Arial" panose="020B0604020202020204" pitchFamily="34" charset="0"/>
                        </a:rPr>
                        <a:t>x</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0628766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32044896"/>
              </p:ext>
            </p:extLst>
          </p:nvPr>
        </p:nvGraphicFramePr>
        <p:xfrm>
          <a:off x="3354173" y="29718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kern="1200" dirty="0">
                          <a:solidFill>
                            <a:schemeClr val="tx1"/>
                          </a:solidFill>
                          <a:latin typeface="+mn-lt"/>
                          <a:ea typeface="+mn-ea"/>
                          <a:cs typeface="+mn-cs"/>
                        </a:rPr>
                        <a:t>( x – 2) * (x + 2) / (8</a:t>
                      </a:r>
                      <a:r>
                        <a:rPr lang="en-US" sz="3200" kern="1200" baseline="0" dirty="0">
                          <a:solidFill>
                            <a:schemeClr val="tx1"/>
                          </a:solidFill>
                          <a:latin typeface="+mn-lt"/>
                          <a:ea typeface="+mn-ea"/>
                          <a:cs typeface="+mn-cs"/>
                        </a:rPr>
                        <a:t> * x)</a:t>
                      </a:r>
                      <a:endParaRPr lang="en-US" sz="3200" kern="1200" dirty="0">
                        <a:solidFill>
                          <a:schemeClr val="tx1"/>
                        </a:solidFill>
                        <a:latin typeface="+mn-lt"/>
                        <a:ea typeface="+mn-ea"/>
                        <a:cs typeface="+mn-cs"/>
                      </a:endParaRPr>
                    </a:p>
                  </a:txBody>
                  <a:tcPr/>
                </a:tc>
                <a:extLst>
                  <a:ext uri="{0D108BD9-81ED-4DB2-BD59-A6C34878D82A}">
                    <a16:rowId xmlns:a16="http://schemas.microsoft.com/office/drawing/2014/main" val="1306287661"/>
                  </a:ext>
                </a:extLst>
              </a:tr>
            </a:tbl>
          </a:graphicData>
        </a:graphic>
      </p:graphicFrame>
    </p:spTree>
    <p:extLst>
      <p:ext uri="{BB962C8B-B14F-4D97-AF65-F5344CB8AC3E}">
        <p14:creationId xmlns:p14="http://schemas.microsoft.com/office/powerpoint/2010/main" val="3400682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sz="4800" dirty="0"/>
              <a:t>Arithmetic </a:t>
            </a:r>
            <a:r>
              <a:rPr lang="en-US" sz="4800" dirty="0">
                <a:solidFill>
                  <a:srgbClr val="FF0000"/>
                </a:solidFill>
              </a:rPr>
              <a:t>Expression</a:t>
            </a:r>
            <a:r>
              <a:rPr lang="en-US" sz="4800" dirty="0"/>
              <a:t> to </a:t>
            </a:r>
            <a:r>
              <a:rPr lang="en-US" sz="4800" dirty="0">
                <a:solidFill>
                  <a:srgbClr val="FF0000"/>
                </a:solidFill>
              </a:rPr>
              <a:t>Coding</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610278373"/>
                  </p:ext>
                </p:extLst>
              </p:nvPr>
            </p:nvGraphicFramePr>
            <p:xfrm>
              <a:off x="3351212" y="1143000"/>
              <a:ext cx="5790407" cy="180448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93387668"/>
                      </a:ext>
                    </a:extLst>
                  </a:tr>
                  <a:tr h="370840">
                    <a:tc>
                      <a:txBody>
                        <a:bodyPr/>
                        <a:lstStyle/>
                        <a:p>
                          <a:pPr algn="ctr"/>
                          <a14:m>
                            <m:oMathPara xmlns:m="http://schemas.openxmlformats.org/officeDocument/2006/math">
                              <m:oMathParaPr>
                                <m:jc m:val="centerGroup"/>
                              </m:oMathParaPr>
                              <m:oMath xmlns:m="http://schemas.openxmlformats.org/officeDocument/2006/math">
                                <m:f>
                                  <m:fPr>
                                    <m:ctrlPr>
                                      <a:rPr lang="en-US" sz="3200" i="1" smtClean="0">
                                        <a:latin typeface="Cambria Math" panose="02040503050406030204" pitchFamily="18" charset="0"/>
                                        <a:cs typeface="Arial" panose="020B0604020202020204" pitchFamily="34" charset="0"/>
                                      </a:rPr>
                                    </m:ctrlPr>
                                  </m:fPr>
                                  <m:num>
                                    <m:f>
                                      <m:fPr>
                                        <m:ctrlPr>
                                          <a:rPr lang="en-US" sz="3200" i="1" smtClean="0">
                                            <a:latin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cs typeface="Arial" panose="020B0604020202020204" pitchFamily="34" charset="0"/>
                                          </a:rPr>
                                          <m:t>4</m:t>
                                        </m:r>
                                      </m:num>
                                      <m:den>
                                        <m:r>
                                          <a:rPr lang="en-US" sz="3200" b="0" i="1" smtClean="0">
                                            <a:latin typeface="Cambria Math" panose="02040503050406030204" pitchFamily="18" charset="0"/>
                                            <a:cs typeface="Arial" panose="020B0604020202020204" pitchFamily="34" charset="0"/>
                                          </a:rPr>
                                          <m:t>𝑥</m:t>
                                        </m:r>
                                        <m:r>
                                          <a:rPr lang="en-US" sz="3200" b="0" i="1" smtClean="0">
                                            <a:latin typeface="Cambria Math" panose="02040503050406030204" pitchFamily="18" charset="0"/>
                                            <a:cs typeface="Arial" panose="020B0604020202020204" pitchFamily="34" charset="0"/>
                                          </a:rPr>
                                          <m:t> −1</m:t>
                                        </m:r>
                                      </m:den>
                                    </m:f>
                                  </m:num>
                                  <m:den>
                                    <m:r>
                                      <a:rPr lang="en-US" sz="3200" b="0" i="1" smtClean="0">
                                        <a:latin typeface="Cambria Math" panose="02040503050406030204" pitchFamily="18" charset="0"/>
                                        <a:cs typeface="Arial" panose="020B0604020202020204" pitchFamily="34" charset="0"/>
                                      </a:rPr>
                                      <m:t>𝑦</m:t>
                                    </m:r>
                                    <m:r>
                                      <a:rPr lang="en-US" sz="3200" b="0" i="1" smtClean="0">
                                        <a:latin typeface="Cambria Math" panose="02040503050406030204" pitchFamily="18" charset="0"/>
                                        <a:cs typeface="Arial" panose="020B0604020202020204" pitchFamily="34" charset="0"/>
                                      </a:rPr>
                                      <m:t> −3</m:t>
                                    </m:r>
                                  </m:den>
                                </m:f>
                              </m:oMath>
                            </m:oMathPara>
                          </a14:m>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0628766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610278373"/>
                  </p:ext>
                </p:extLst>
              </p:nvPr>
            </p:nvGraphicFramePr>
            <p:xfrm>
              <a:off x="3351212" y="1143000"/>
              <a:ext cx="5790407" cy="180448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96240">
                    <a:tc>
                      <a:txBody>
                        <a:bodyPr/>
                        <a:lstStyle/>
                        <a:p>
                          <a:pPr algn="ctr"/>
                          <a:r>
                            <a:rPr lang="en-US" sz="2000" dirty="0">
                              <a:latin typeface="Arial" panose="020B0604020202020204" pitchFamily="34" charset="0"/>
                              <a:cs typeface="Arial" panose="020B0604020202020204" pitchFamily="34" charset="0"/>
                            </a:rPr>
                            <a:t>Algebraic</a:t>
                          </a:r>
                          <a:r>
                            <a:rPr lang="en-US" sz="2000" baseline="0" dirty="0">
                              <a:latin typeface="Arial" panose="020B0604020202020204" pitchFamily="34" charset="0"/>
                              <a:cs typeface="Arial" panose="020B0604020202020204" pitchFamily="34" charset="0"/>
                            </a:rPr>
                            <a:t> Expression</a:t>
                          </a: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93387668"/>
                      </a:ext>
                    </a:extLst>
                  </a:tr>
                  <a:tr h="1408240">
                    <a:tc>
                      <a:txBody>
                        <a:bodyPr/>
                        <a:lstStyle/>
                        <a:p>
                          <a:endParaRPr lang="en-US"/>
                        </a:p>
                      </a:txBody>
                      <a:tcPr>
                        <a:blipFill>
                          <a:blip r:embed="rId2"/>
                          <a:stretch>
                            <a:fillRect l="-105" t="-29741" r="-210" b="-862"/>
                          </a:stretch>
                        </a:blipFill>
                      </a:tcPr>
                    </a:tc>
                    <a:extLst>
                      <a:ext uri="{0D108BD9-81ED-4DB2-BD59-A6C34878D82A}">
                        <a16:rowId xmlns:a16="http://schemas.microsoft.com/office/drawing/2014/main" val="1306287661"/>
                      </a:ext>
                    </a:extLst>
                  </a:tr>
                </a:tbl>
              </a:graphicData>
            </a:graphic>
          </p:graphicFrame>
        </mc:Fallback>
      </mc:AlternateContent>
      <p:graphicFrame>
        <p:nvGraphicFramePr>
          <p:cNvPr id="8" name="Table 7"/>
          <p:cNvGraphicFramePr>
            <a:graphicFrameLocks noGrp="1"/>
          </p:cNvGraphicFramePr>
          <p:nvPr>
            <p:extLst>
              <p:ext uri="{D42A27DB-BD31-4B8C-83A1-F6EECF244321}">
                <p14:modId xmlns:p14="http://schemas.microsoft.com/office/powerpoint/2010/main" val="3375856263"/>
              </p:ext>
            </p:extLst>
          </p:nvPr>
        </p:nvGraphicFramePr>
        <p:xfrm>
          <a:off x="3334839" y="3505200"/>
          <a:ext cx="5790407" cy="975360"/>
        </p:xfrm>
        <a:graphic>
          <a:graphicData uri="http://schemas.openxmlformats.org/drawingml/2006/table">
            <a:tbl>
              <a:tblPr firstRow="1" bandRow="1">
                <a:tableStyleId>{5940675A-B579-460E-94D1-54222C63F5DA}</a:tableStyleId>
              </a:tblPr>
              <a:tblGrid>
                <a:gridCol w="5790407">
                  <a:extLst>
                    <a:ext uri="{9D8B030D-6E8A-4147-A177-3AD203B41FA5}">
                      <a16:colId xmlns:a16="http://schemas.microsoft.com/office/drawing/2014/main" val="2414660554"/>
                    </a:ext>
                  </a:extLst>
                </a:gridCol>
              </a:tblGrid>
              <a:tr h="370840">
                <a:tc>
                  <a:txBody>
                    <a:bodyPr/>
                    <a:lstStyle/>
                    <a:p>
                      <a:pPr algn="ctr"/>
                      <a:r>
                        <a:rPr lang="en-US" sz="2000" dirty="0">
                          <a:latin typeface="Arial" panose="020B0604020202020204" pitchFamily="34" charset="0"/>
                          <a:cs typeface="Arial" panose="020B0604020202020204" pitchFamily="34" charset="0"/>
                        </a:rPr>
                        <a:t>Coding Expression</a:t>
                      </a:r>
                    </a:p>
                  </a:txBody>
                  <a:tcPr/>
                </a:tc>
                <a:extLst>
                  <a:ext uri="{0D108BD9-81ED-4DB2-BD59-A6C34878D82A}">
                    <a16:rowId xmlns:a16="http://schemas.microsoft.com/office/drawing/2014/main" val="1893387668"/>
                  </a:ext>
                </a:extLst>
              </a:tr>
              <a:tr h="370840">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3200" kern="1200" dirty="0">
                          <a:solidFill>
                            <a:schemeClr val="tx1"/>
                          </a:solidFill>
                          <a:latin typeface="+mn-lt"/>
                          <a:ea typeface="+mn-ea"/>
                          <a:cs typeface="+mn-cs"/>
                        </a:rPr>
                        <a:t>4 / (x – 1) / (y – 3)</a:t>
                      </a:r>
                    </a:p>
                  </a:txBody>
                  <a:tcPr/>
                </a:tc>
                <a:extLst>
                  <a:ext uri="{0D108BD9-81ED-4DB2-BD59-A6C34878D82A}">
                    <a16:rowId xmlns:a16="http://schemas.microsoft.com/office/drawing/2014/main" val="1306287661"/>
                  </a:ext>
                </a:extLst>
              </a:tr>
            </a:tbl>
          </a:graphicData>
        </a:graphic>
      </p:graphicFrame>
    </p:spTree>
    <p:extLst>
      <p:ext uri="{BB962C8B-B14F-4D97-AF65-F5344CB8AC3E}">
        <p14:creationId xmlns:p14="http://schemas.microsoft.com/office/powerpoint/2010/main" val="408921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IPO</a:t>
            </a:r>
          </a:p>
        </p:txBody>
      </p:sp>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1598612" y="1575558"/>
            <a:ext cx="8534399" cy="3706883"/>
          </a:xfrm>
          <a:prstGeom prst="rect">
            <a:avLst/>
          </a:prstGeom>
        </p:spPr>
      </p:pic>
      <p:sp>
        <p:nvSpPr>
          <p:cNvPr id="9" name="TextBox 8"/>
          <p:cNvSpPr txBox="1"/>
          <p:nvPr/>
        </p:nvSpPr>
        <p:spPr>
          <a:xfrm>
            <a:off x="7999412" y="3733800"/>
            <a:ext cx="1143000" cy="646331"/>
          </a:xfrm>
          <a:prstGeom prst="rect">
            <a:avLst/>
          </a:prstGeom>
          <a:noFill/>
        </p:spPr>
        <p:txBody>
          <a:bodyPr wrap="square" rtlCol="0">
            <a:spAutoFit/>
          </a:bodyPr>
          <a:lstStyle/>
          <a:p>
            <a:r>
              <a:rPr lang="en-US" sz="3600" dirty="0">
                <a:solidFill>
                  <a:srgbClr val="FF0000"/>
                </a:solidFill>
                <a:latin typeface="Calibri" panose="020F0502020204030204" pitchFamily="34" charset="0"/>
                <a:cs typeface="Calibri" panose="020F0502020204030204" pitchFamily="34" charset="0"/>
              </a:rPr>
              <a:t>print</a:t>
            </a:r>
          </a:p>
        </p:txBody>
      </p:sp>
      <p:sp>
        <p:nvSpPr>
          <p:cNvPr id="12" name="TextBox 11"/>
          <p:cNvSpPr txBox="1"/>
          <p:nvPr/>
        </p:nvSpPr>
        <p:spPr>
          <a:xfrm>
            <a:off x="2436812" y="3581400"/>
            <a:ext cx="1219200" cy="646331"/>
          </a:xfrm>
          <a:prstGeom prst="rect">
            <a:avLst/>
          </a:prstGeom>
          <a:noFill/>
        </p:spPr>
        <p:txBody>
          <a:bodyPr wrap="square" rtlCol="0">
            <a:spAutoFit/>
          </a:bodyPr>
          <a:lstStyle/>
          <a:p>
            <a:r>
              <a:rPr lang="en-US" sz="3600" dirty="0">
                <a:solidFill>
                  <a:srgbClr val="FF0000"/>
                </a:solidFill>
                <a:latin typeface="Calibri" panose="020F0502020204030204" pitchFamily="34" charset="0"/>
                <a:cs typeface="Calibri" panose="020F0502020204030204" pitchFamily="34" charset="0"/>
              </a:rPr>
              <a:t>input</a:t>
            </a:r>
          </a:p>
        </p:txBody>
      </p:sp>
      <p:sp>
        <p:nvSpPr>
          <p:cNvPr id="13" name="TextBox 12"/>
          <p:cNvSpPr txBox="1"/>
          <p:nvPr/>
        </p:nvSpPr>
        <p:spPr>
          <a:xfrm>
            <a:off x="4418012" y="3733800"/>
            <a:ext cx="3352800" cy="1384995"/>
          </a:xfrm>
          <a:prstGeom prst="rect">
            <a:avLst/>
          </a:prstGeom>
          <a:noFill/>
        </p:spPr>
        <p:txBody>
          <a:bodyPr wrap="square" rtlCol="0">
            <a:spAutoFit/>
          </a:bodyPr>
          <a:lstStyle/>
          <a:p>
            <a:r>
              <a:rPr lang="en-US" sz="2800" dirty="0">
                <a:solidFill>
                  <a:srgbClr val="FF0000"/>
                </a:solidFill>
                <a:latin typeface="Calibri" panose="020F0502020204030204" pitchFamily="34" charset="0"/>
                <a:cs typeface="Calibri" panose="020F0502020204030204" pitchFamily="34" charset="0"/>
              </a:rPr>
              <a:t>Assignment </a:t>
            </a:r>
            <a:r>
              <a:rPr lang="en-US" sz="2800" dirty="0">
                <a:latin typeface="Calibri" panose="020F0502020204030204" pitchFamily="34" charset="0"/>
                <a:cs typeface="Calibri" panose="020F0502020204030204" pitchFamily="34" charset="0"/>
              </a:rPr>
              <a:t>=</a:t>
            </a:r>
          </a:p>
          <a:p>
            <a:r>
              <a:rPr lang="en-US" sz="2800" dirty="0">
                <a:solidFill>
                  <a:srgbClr val="FF0000"/>
                </a:solidFill>
                <a:latin typeface="Calibri" panose="020F0502020204030204" pitchFamily="34" charset="0"/>
                <a:cs typeface="Calibri" panose="020F0502020204030204" pitchFamily="34" charset="0"/>
              </a:rPr>
              <a:t>Arithmetic</a:t>
            </a:r>
          </a:p>
          <a:p>
            <a:r>
              <a:rPr lang="en-US" sz="2800" dirty="0">
                <a:solidFill>
                  <a:srgbClr val="FF0000"/>
                </a:solidFill>
                <a:latin typeface="Calibri" panose="020F0502020204030204" pitchFamily="34" charset="0"/>
                <a:cs typeface="Calibri" panose="020F0502020204030204" pitchFamily="34" charset="0"/>
              </a:rPr>
              <a:t>Logical</a:t>
            </a:r>
          </a:p>
        </p:txBody>
      </p:sp>
    </p:spTree>
    <p:extLst>
      <p:ext uri="{BB962C8B-B14F-4D97-AF65-F5344CB8AC3E}">
        <p14:creationId xmlns:p14="http://schemas.microsoft.com/office/powerpoint/2010/main" val="391065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fade">
                                      <p:cBhvr>
                                        <p:cTn id="21" dur="1000"/>
                                        <p:tgtEl>
                                          <p:spTgt spid="13">
                                            <p:txEl>
                                              <p:pRg st="0" end="0"/>
                                            </p:txEl>
                                          </p:spTgt>
                                        </p:tgtEl>
                                      </p:cBhvr>
                                    </p:animEffect>
                                    <p:anim calcmode="lin" valueType="num">
                                      <p:cBhvr>
                                        <p:cTn id="22"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animEffect transition="in" filter="fade">
                                      <p:cBhvr>
                                        <p:cTn id="28" dur="1000"/>
                                        <p:tgtEl>
                                          <p:spTgt spid="13">
                                            <p:txEl>
                                              <p:pRg st="1" end="1"/>
                                            </p:txEl>
                                          </p:spTgt>
                                        </p:tgtEl>
                                      </p:cBhvr>
                                    </p:animEffect>
                                    <p:anim calcmode="lin" valueType="num">
                                      <p:cBhvr>
                                        <p:cTn id="29"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
                                            <p:txEl>
                                              <p:pRg st="2" end="2"/>
                                            </p:txEl>
                                          </p:spTgt>
                                        </p:tgtEl>
                                        <p:attrNameLst>
                                          <p:attrName>style.visibility</p:attrName>
                                        </p:attrNameLst>
                                      </p:cBhvr>
                                      <p:to>
                                        <p:strVal val="visible"/>
                                      </p:to>
                                    </p:set>
                                    <p:animEffect transition="in" filter="fade">
                                      <p:cBhvr>
                                        <p:cTn id="35" dur="1000"/>
                                        <p:tgtEl>
                                          <p:spTgt spid="13">
                                            <p:txEl>
                                              <p:pRg st="2" end="2"/>
                                            </p:txEl>
                                          </p:spTgt>
                                        </p:tgtEl>
                                      </p:cBhvr>
                                    </p:animEffect>
                                    <p:anim calcmode="lin" valueType="num">
                                      <p:cBhvr>
                                        <p:cTn id="36"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fontScale="90000"/>
          </a:bodyPr>
          <a:lstStyle/>
          <a:p>
            <a:pPr algn="ctr"/>
            <a:r>
              <a:rPr lang="en-US" altLang="en-US" sz="4800" dirty="0">
                <a:solidFill>
                  <a:srgbClr val="FF0000"/>
                </a:solidFill>
              </a:rPr>
              <a:t>Python –</a:t>
            </a:r>
            <a:r>
              <a:rPr lang="en-US" sz="4800" dirty="0"/>
              <a:t> print </a:t>
            </a:r>
            <a:r>
              <a:rPr lang="en-US" sz="4800" dirty="0">
                <a:solidFill>
                  <a:srgbClr val="FF0000"/>
                </a:solidFill>
              </a:rPr>
              <a:t>Function</a:t>
            </a:r>
          </a:p>
        </p:txBody>
      </p:sp>
      <p:graphicFrame>
        <p:nvGraphicFramePr>
          <p:cNvPr id="5"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360982222"/>
              </p:ext>
            </p:extLst>
          </p:nvPr>
        </p:nvGraphicFramePr>
        <p:xfrm>
          <a:off x="1751012" y="787401"/>
          <a:ext cx="9753600" cy="530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Rectangle 31"/>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0" y="58050"/>
            <a:ext cx="65" cy="3410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614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print </a:t>
            </a:r>
            <a:r>
              <a:rPr lang="en-US" dirty="0">
                <a:solidFill>
                  <a:srgbClr val="FF0000"/>
                </a:solidFill>
              </a:rPr>
              <a:t>Function</a:t>
            </a:r>
            <a:endParaRPr lang="en-US" dirty="0"/>
          </a:p>
        </p:txBody>
      </p:sp>
      <p:sp>
        <p:nvSpPr>
          <p:cNvPr id="4" name="Rectangle 3"/>
          <p:cNvSpPr/>
          <p:nvPr/>
        </p:nvSpPr>
        <p:spPr>
          <a:xfrm>
            <a:off x="1598612" y="787400"/>
            <a:ext cx="9829800" cy="9652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a:t>Most programs need to read input from the user</a:t>
            </a:r>
          </a:p>
        </p:txBody>
      </p:sp>
      <p:sp>
        <p:nvSpPr>
          <p:cNvPr id="5" name="Rectangle 4"/>
          <p:cNvSpPr/>
          <p:nvPr/>
        </p:nvSpPr>
        <p:spPr>
          <a:xfrm>
            <a:off x="1522412" y="2057400"/>
            <a:ext cx="6400800" cy="2057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en-US" sz="2000" dirty="0">
                <a:latin typeface="Arial" panose="020B0604020202020204" pitchFamily="34" charset="0"/>
                <a:cs typeface="Arial" panose="020B0604020202020204" pitchFamily="34" charset="0"/>
              </a:rPr>
              <a:t>Special characters in string literal </a:t>
            </a:r>
          </a:p>
          <a:p>
            <a:pPr lvl="1"/>
            <a:r>
              <a:rPr lang="en-US" altLang="en-US" sz="2000" dirty="0">
                <a:latin typeface="Arial" panose="020B0604020202020204" pitchFamily="34" charset="0"/>
                <a:cs typeface="Arial" panose="020B0604020202020204" pitchFamily="34" charset="0"/>
              </a:rPr>
              <a:t>Preceded by backslash (</a:t>
            </a:r>
            <a:r>
              <a:rPr lang="en-US" altLang="en-US" sz="2000" dirty="0">
                <a:solidFill>
                  <a:srgbClr val="FF0000"/>
                </a:solidFill>
                <a:latin typeface="Arial" panose="020B0604020202020204" pitchFamily="34" charset="0"/>
                <a:cs typeface="Arial" panose="020B0604020202020204" pitchFamily="34" charset="0"/>
              </a:rPr>
              <a:t>\</a:t>
            </a:r>
            <a:r>
              <a:rPr lang="en-US" altLang="en-US" sz="2000" dirty="0">
                <a:latin typeface="Arial" panose="020B0604020202020204" pitchFamily="34" charset="0"/>
                <a:cs typeface="Arial" panose="020B0604020202020204" pitchFamily="34" charset="0"/>
              </a:rPr>
              <a:t>)</a:t>
            </a:r>
          </a:p>
          <a:p>
            <a:pPr lvl="2"/>
            <a:r>
              <a:rPr lang="en-US" altLang="en-US" sz="2000" dirty="0">
                <a:latin typeface="Arial" panose="020B0604020202020204" pitchFamily="34" charset="0"/>
                <a:cs typeface="Arial" panose="020B0604020202020204" pitchFamily="34" charset="0"/>
              </a:rPr>
              <a:t>newline (</a:t>
            </a:r>
            <a:r>
              <a:rPr lang="en-US" altLang="en-US" sz="2000" dirty="0">
                <a:solidFill>
                  <a:srgbClr val="FF0000"/>
                </a:solidFill>
                <a:latin typeface="Arial" panose="020B0604020202020204" pitchFamily="34" charset="0"/>
                <a:cs typeface="Arial" panose="020B0604020202020204" pitchFamily="34" charset="0"/>
              </a:rPr>
              <a:t>\n</a:t>
            </a:r>
            <a:r>
              <a:rPr lang="en-US" altLang="en-US" sz="2000" dirty="0">
                <a:latin typeface="Arial" panose="020B0604020202020204" pitchFamily="34" charset="0"/>
                <a:cs typeface="Arial" panose="020B0604020202020204" pitchFamily="34" charset="0"/>
              </a:rPr>
              <a:t>), horizontal tab (</a:t>
            </a:r>
            <a:r>
              <a:rPr lang="en-US" altLang="en-US" sz="2000" dirty="0">
                <a:solidFill>
                  <a:srgbClr val="FF0000"/>
                </a:solidFill>
                <a:latin typeface="Arial" panose="020B0604020202020204" pitchFamily="34" charset="0"/>
                <a:cs typeface="Arial" panose="020B0604020202020204" pitchFamily="34" charset="0"/>
              </a:rPr>
              <a:t>\t</a:t>
            </a:r>
            <a:r>
              <a:rPr lang="en-US" altLang="en-US" sz="2000" dirty="0">
                <a:latin typeface="Arial" panose="020B0604020202020204" pitchFamily="34" charset="0"/>
                <a:cs typeface="Arial" panose="020B0604020202020204" pitchFamily="34" charset="0"/>
              </a:rPr>
              <a:t>)</a:t>
            </a:r>
          </a:p>
          <a:p>
            <a:pPr lvl="1"/>
            <a:r>
              <a:rPr lang="en-US" altLang="en-US" sz="2000" dirty="0">
                <a:latin typeface="Arial" panose="020B0604020202020204" pitchFamily="34" charset="0"/>
                <a:cs typeface="Arial" panose="020B0604020202020204" pitchFamily="34" charset="0"/>
              </a:rPr>
              <a:t>Treated as commands embedded in string</a:t>
            </a:r>
          </a:p>
        </p:txBody>
      </p:sp>
      <p:sp>
        <p:nvSpPr>
          <p:cNvPr id="6" name="Rectangle 5"/>
          <p:cNvSpPr/>
          <p:nvPr/>
        </p:nvSpPr>
        <p:spPr>
          <a:xfrm>
            <a:off x="3960812" y="4267200"/>
            <a:ext cx="5410200" cy="20574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en-US" dirty="0">
                <a:solidFill>
                  <a:srgbClr val="FF0000"/>
                </a:solidFill>
              </a:rPr>
              <a:t>+</a:t>
            </a:r>
            <a:r>
              <a:rPr lang="en-US" altLang="en-US" dirty="0"/>
              <a:t> </a:t>
            </a:r>
            <a:r>
              <a:rPr lang="en-US" altLang="en-US" sz="2000" dirty="0">
                <a:latin typeface="Arial" panose="020B0604020202020204" pitchFamily="34" charset="0"/>
                <a:cs typeface="Arial" panose="020B0604020202020204" pitchFamily="34" charset="0"/>
              </a:rPr>
              <a:t>operator used in string concatenation</a:t>
            </a:r>
          </a:p>
          <a:p>
            <a:pPr lvl="1"/>
            <a:r>
              <a:rPr lang="en-US" altLang="en-US" sz="2000" dirty="0">
                <a:latin typeface="Arial" panose="020B0604020202020204" pitchFamily="34" charset="0"/>
                <a:cs typeface="Arial" panose="020B0604020202020204" pitchFamily="34" charset="0"/>
              </a:rPr>
              <a:t>Useful for breaking up a long string</a:t>
            </a:r>
          </a:p>
        </p:txBody>
      </p:sp>
    </p:spTree>
    <p:extLst>
      <p:ext uri="{BB962C8B-B14F-4D97-AF65-F5344CB8AC3E}">
        <p14:creationId xmlns:p14="http://schemas.microsoft.com/office/powerpoint/2010/main" val="208102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input </a:t>
            </a:r>
            <a:r>
              <a:rPr lang="en-US" dirty="0">
                <a:solidFill>
                  <a:srgbClr val="FF0000"/>
                </a:solidFill>
              </a:rPr>
              <a:t>Function</a:t>
            </a:r>
            <a:endParaRPr lang="en-US" dirty="0"/>
          </a:p>
        </p:txBody>
      </p:sp>
      <p:sp>
        <p:nvSpPr>
          <p:cNvPr id="4" name="Rectangle 3"/>
          <p:cNvSpPr/>
          <p:nvPr/>
        </p:nvSpPr>
        <p:spPr>
          <a:xfrm>
            <a:off x="1751012" y="787400"/>
            <a:ext cx="8686800" cy="9652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000" dirty="0">
                <a:latin typeface="Arial" panose="020B0604020202020204" pitchFamily="34" charset="0"/>
                <a:cs typeface="Arial" panose="020B0604020202020204" pitchFamily="34" charset="0"/>
              </a:rPr>
              <a:t>Most programs need to read input from the user</a:t>
            </a:r>
          </a:p>
        </p:txBody>
      </p:sp>
      <p:sp>
        <p:nvSpPr>
          <p:cNvPr id="5" name="Rectangle 4"/>
          <p:cNvSpPr/>
          <p:nvPr/>
        </p:nvSpPr>
        <p:spPr>
          <a:xfrm>
            <a:off x="2665412" y="2362200"/>
            <a:ext cx="8153400" cy="28956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000" dirty="0">
                <a:latin typeface="Arial" panose="020B0604020202020204" pitchFamily="34" charset="0"/>
                <a:cs typeface="Arial" panose="020B0604020202020204" pitchFamily="34" charset="0"/>
              </a:rPr>
              <a:t>Format: </a:t>
            </a:r>
            <a:r>
              <a:rPr lang="en-US" sz="2000" i="1" dirty="0">
                <a:solidFill>
                  <a:srgbClr val="FF0000"/>
                </a:solidFill>
                <a:latin typeface="Arial" panose="020B0604020202020204" pitchFamily="34" charset="0"/>
                <a:cs typeface="Arial" panose="020B0604020202020204" pitchFamily="34" charset="0"/>
              </a:rPr>
              <a:t>variable</a:t>
            </a:r>
            <a:r>
              <a:rPr lang="en-US" sz="2000" dirty="0">
                <a:solidFill>
                  <a:srgbClr val="FF0000"/>
                </a:solidFill>
                <a:latin typeface="Arial" panose="020B0604020202020204" pitchFamily="34" charset="0"/>
                <a:cs typeface="Arial" panose="020B0604020202020204" pitchFamily="34" charset="0"/>
              </a:rPr>
              <a:t> = input(</a:t>
            </a:r>
            <a:r>
              <a:rPr lang="en-US" sz="2000" i="1" dirty="0">
                <a:solidFill>
                  <a:srgbClr val="FF0000"/>
                </a:solidFill>
                <a:latin typeface="Arial" panose="020B0604020202020204" pitchFamily="34" charset="0"/>
                <a:cs typeface="Arial" panose="020B0604020202020204" pitchFamily="34" charset="0"/>
              </a:rPr>
              <a:t>prompt</a:t>
            </a:r>
            <a:r>
              <a:rPr lang="en-US" sz="2000" dirty="0">
                <a:solidFill>
                  <a:srgbClr val="FF0000"/>
                </a:solidFill>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	prompt is typically a string instructing user to enter a value</a:t>
            </a:r>
          </a:p>
          <a:p>
            <a:pPr lvl="1"/>
            <a:endParaRPr lang="en-US" sz="2000" dirty="0">
              <a:latin typeface="Arial" panose="020B0604020202020204" pitchFamily="34" charset="0"/>
              <a:cs typeface="Arial" panose="020B0604020202020204" pitchFamily="34" charset="0"/>
            </a:endParaRPr>
          </a:p>
          <a:p>
            <a:pPr lvl="0"/>
            <a:r>
              <a:rPr lang="en-US" sz="2000" dirty="0">
                <a:latin typeface="Arial" panose="020B0604020202020204" pitchFamily="34" charset="0"/>
                <a:cs typeface="Arial" panose="020B0604020202020204" pitchFamily="34" charset="0"/>
              </a:rPr>
              <a:t>Does not automatically display a space after the prompt</a:t>
            </a:r>
          </a:p>
          <a:p>
            <a:pPr lvl="0"/>
            <a:r>
              <a:rPr lang="en-US" sz="2000" dirty="0">
                <a:solidFill>
                  <a:srgbClr val="FF0000"/>
                </a:solidFill>
                <a:latin typeface="Arial" panose="020B0604020202020204" pitchFamily="34" charset="0"/>
                <a:cs typeface="Arial" panose="020B0604020202020204" pitchFamily="34" charset="0"/>
              </a:rPr>
              <a:t>	input</a:t>
            </a:r>
            <a:r>
              <a:rPr lang="en-US" sz="2000" dirty="0">
                <a:latin typeface="Arial" panose="020B0604020202020204" pitchFamily="34" charset="0"/>
                <a:cs typeface="Arial" panose="020B0604020202020204" pitchFamily="34" charset="0"/>
              </a:rPr>
              <a:t> function always returns a string</a:t>
            </a:r>
          </a:p>
        </p:txBody>
      </p:sp>
    </p:spTree>
    <p:extLst>
      <p:ext uri="{BB962C8B-B14F-4D97-AF65-F5344CB8AC3E}">
        <p14:creationId xmlns:p14="http://schemas.microsoft.com/office/powerpoint/2010/main" val="59015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457134601"/>
              </p:ext>
            </p:extLst>
          </p:nvPr>
        </p:nvGraphicFramePr>
        <p:xfrm>
          <a:off x="2031470" y="990600"/>
          <a:ext cx="8125884" cy="1188720"/>
        </p:xfrm>
        <a:graphic>
          <a:graphicData uri="http://schemas.openxmlformats.org/drawingml/2006/table">
            <a:tbl>
              <a:tblPr firstRow="1" bandRow="1">
                <a:tableStyleId>{2D5ABB26-0587-4C30-8999-92F81FD0307C}</a:tableStyleId>
              </a:tblPr>
              <a:tblGrid>
                <a:gridCol w="405342">
                  <a:extLst>
                    <a:ext uri="{9D8B030D-6E8A-4147-A177-3AD203B41FA5}">
                      <a16:colId xmlns:a16="http://schemas.microsoft.com/office/drawing/2014/main" val="4086902722"/>
                    </a:ext>
                  </a:extLst>
                </a:gridCol>
                <a:gridCol w="7720542">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print(‘Ally Baba’)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print(‘123 Scooby Dooby 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print(‘Ally</a:t>
                      </a:r>
                      <a:r>
                        <a:rPr lang="en-US" sz="2000" baseline="0" dirty="0">
                          <a:latin typeface="Arial" panose="020B0604020202020204" pitchFamily="34" charset="0"/>
                          <a:cs typeface="Arial" panose="020B0604020202020204" pitchFamily="34" charset="0"/>
                        </a:rPr>
                        <a:t> Baba City, AA 23456</a:t>
                      </a:r>
                      <a:r>
                        <a:rPr lang="en-US" sz="20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63938117"/>
              </p:ext>
            </p:extLst>
          </p:nvPr>
        </p:nvGraphicFramePr>
        <p:xfrm>
          <a:off x="3198812" y="3200400"/>
          <a:ext cx="5568041" cy="1188720"/>
        </p:xfrm>
        <a:graphic>
          <a:graphicData uri="http://schemas.openxmlformats.org/drawingml/2006/table">
            <a:tbl>
              <a:tblPr firstRow="1" bandRow="1">
                <a:tableStyleId>{2D5ABB26-0587-4C30-8999-92F81FD0307C}</a:tableStyleId>
              </a:tblPr>
              <a:tblGrid>
                <a:gridCol w="1013143">
                  <a:extLst>
                    <a:ext uri="{9D8B030D-6E8A-4147-A177-3AD203B41FA5}">
                      <a16:colId xmlns:a16="http://schemas.microsoft.com/office/drawing/2014/main" val="4086902722"/>
                    </a:ext>
                  </a:extLst>
                </a:gridCol>
                <a:gridCol w="4554898">
                  <a:extLst>
                    <a:ext uri="{9D8B030D-6E8A-4147-A177-3AD203B41FA5}">
                      <a16:colId xmlns:a16="http://schemas.microsoft.com/office/drawing/2014/main" val="1258252085"/>
                    </a:ext>
                  </a:extLst>
                </a:gridCol>
              </a:tblGrid>
              <a:tr h="0">
                <a:tc rowSpan="3">
                  <a:txBody>
                    <a:bodyPr/>
                    <a:lstStyle/>
                    <a:p>
                      <a:pPr algn="ctr"/>
                      <a:r>
                        <a:rPr lang="en-US" sz="2000" dirty="0">
                          <a:latin typeface="Arial" panose="020B0604020202020204" pitchFamily="34" charset="0"/>
                          <a:cs typeface="Arial" panose="020B060402020202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Calibri" panose="020F0502020204030204" pitchFamily="34" charset="0"/>
                          <a:cs typeface="Calibri" panose="020F0502020204030204" pitchFamily="34" charset="0"/>
                        </a:rPr>
                        <a:t>Ally Baba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vMerge="1">
                  <a:txBody>
                    <a:bodyPr/>
                    <a:lstStyle/>
                    <a:p>
                      <a:endParaRPr lang="en-US" sz="18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123 Scooby Dooby 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vMerge="1">
                  <a:txBody>
                    <a:bodyPr/>
                    <a:lstStyle/>
                    <a:p>
                      <a:endParaRPr lang="en-US" sz="1800"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Ally</a:t>
                      </a:r>
                      <a:r>
                        <a:rPr lang="en-US" sz="2000" baseline="0" dirty="0">
                          <a:latin typeface="Arial" panose="020B0604020202020204" pitchFamily="34" charset="0"/>
                          <a:cs typeface="Arial" panose="020B0604020202020204" pitchFamily="34" charset="0"/>
                        </a:rPr>
                        <a:t> Baba City, AA 23456</a:t>
                      </a: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bl>
          </a:graphicData>
        </a:graphic>
      </p:graphicFrame>
    </p:spTree>
    <p:extLst>
      <p:ext uri="{BB962C8B-B14F-4D97-AF65-F5344CB8AC3E}">
        <p14:creationId xmlns:p14="http://schemas.microsoft.com/office/powerpoint/2010/main" val="42693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2832956052"/>
              </p:ext>
            </p:extLst>
          </p:nvPr>
        </p:nvGraphicFramePr>
        <p:xfrm>
          <a:off x="1903412" y="1066800"/>
          <a:ext cx="9549342" cy="1188720"/>
        </p:xfrm>
        <a:graphic>
          <a:graphicData uri="http://schemas.openxmlformats.org/drawingml/2006/table">
            <a:tbl>
              <a:tblPr firstRow="1" bandRow="1">
                <a:tableStyleId>{2D5ABB26-0587-4C30-8999-92F81FD0307C}</a:tableStyleId>
              </a:tblPr>
              <a:tblGrid>
                <a:gridCol w="476348">
                  <a:extLst>
                    <a:ext uri="{9D8B030D-6E8A-4147-A177-3AD203B41FA5}">
                      <a16:colId xmlns:a16="http://schemas.microsoft.com/office/drawing/2014/main" val="4086902722"/>
                    </a:ext>
                  </a:extLst>
                </a:gridCol>
                <a:gridCol w="9072994">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print("Don't fear!")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print("I'm here!")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print('Your assignment is to read "AllyBaba" by tomorrow.')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72954103"/>
              </p:ext>
            </p:extLst>
          </p:nvPr>
        </p:nvGraphicFramePr>
        <p:xfrm>
          <a:off x="2513012" y="3124200"/>
          <a:ext cx="7620000" cy="1005840"/>
        </p:xfrm>
        <a:graphic>
          <a:graphicData uri="http://schemas.openxmlformats.org/drawingml/2006/table">
            <a:tbl>
              <a:tblPr firstRow="1" bandRow="1">
                <a:tableStyleId>{2D5ABB26-0587-4C30-8999-92F81FD0307C}</a:tableStyleId>
              </a:tblPr>
              <a:tblGrid>
                <a:gridCol w="1293753">
                  <a:extLst>
                    <a:ext uri="{9D8B030D-6E8A-4147-A177-3AD203B41FA5}">
                      <a16:colId xmlns:a16="http://schemas.microsoft.com/office/drawing/2014/main" val="4086902722"/>
                    </a:ext>
                  </a:extLst>
                </a:gridCol>
                <a:gridCol w="6326247">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Don't fear!</a:t>
                      </a:r>
                    </a:p>
                    <a:p>
                      <a:r>
                        <a:rPr lang="en-US" sz="2000" dirty="0">
                          <a:latin typeface="Arial" panose="020B0604020202020204" pitchFamily="34" charset="0"/>
                          <a:cs typeface="Arial" panose="020B0604020202020204" pitchFamily="34" charset="0"/>
                        </a:rPr>
                        <a:t>I'm here!</a:t>
                      </a:r>
                    </a:p>
                    <a:p>
                      <a:r>
                        <a:rPr lang="en-US" sz="2000" dirty="0">
                          <a:latin typeface="Arial" panose="020B0604020202020204" pitchFamily="34" charset="0"/>
                          <a:cs typeface="Arial" panose="020B0604020202020204" pitchFamily="34" charset="0"/>
                        </a:rPr>
                        <a:t>Your assignment is to read "AllyBaba" by tomorrow.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1552699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2631776464"/>
              </p:ext>
            </p:extLst>
          </p:nvPr>
        </p:nvGraphicFramePr>
        <p:xfrm>
          <a:off x="1598612" y="990600"/>
          <a:ext cx="9120124" cy="3185160"/>
        </p:xfrm>
        <a:graphic>
          <a:graphicData uri="http://schemas.openxmlformats.org/drawingml/2006/table">
            <a:tbl>
              <a:tblPr firstRow="1" bandRow="1">
                <a:tableStyleId>{2D5ABB26-0587-4C30-8999-92F81FD0307C}</a:tableStyleId>
              </a:tblPr>
              <a:tblGrid>
                <a:gridCol w="454937">
                  <a:extLst>
                    <a:ext uri="{9D8B030D-6E8A-4147-A177-3AD203B41FA5}">
                      <a16:colId xmlns:a16="http://schemas.microsoft.com/office/drawing/2014/main" val="4086902722"/>
                    </a:ext>
                  </a:extLst>
                </a:gridCol>
                <a:gridCol w="8665187">
                  <a:extLst>
                    <a:ext uri="{9D8B030D-6E8A-4147-A177-3AD203B41FA5}">
                      <a16:colId xmlns:a16="http://schemas.microsoft.com/office/drawing/2014/main" val="1258252085"/>
                    </a:ext>
                  </a:extLst>
                </a:gridCol>
              </a:tblGrid>
              <a:tr h="53086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This program demonstrates a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53086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myIncome =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53086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53086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This section prints the variable in 2 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53086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income 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53086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06885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760826949"/>
              </p:ext>
            </p:extLst>
          </p:nvPr>
        </p:nvGraphicFramePr>
        <p:xfrm>
          <a:off x="3732212" y="4876800"/>
          <a:ext cx="4239529" cy="701040"/>
        </p:xfrm>
        <a:graphic>
          <a:graphicData uri="http://schemas.openxmlformats.org/drawingml/2006/table">
            <a:tbl>
              <a:tblPr firstRow="1" bandRow="1">
                <a:tableStyleId>{2D5ABB26-0587-4C30-8999-92F81FD0307C}</a:tableStyleId>
              </a:tblPr>
              <a:tblGrid>
                <a:gridCol w="1013143">
                  <a:extLst>
                    <a:ext uri="{9D8B030D-6E8A-4147-A177-3AD203B41FA5}">
                      <a16:colId xmlns:a16="http://schemas.microsoft.com/office/drawing/2014/main" val="4086902722"/>
                    </a:ext>
                  </a:extLst>
                </a:gridCol>
                <a:gridCol w="3226386">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My income is</a:t>
                      </a:r>
                    </a:p>
                    <a:p>
                      <a:r>
                        <a:rPr lang="en-US" sz="2000" dirty="0">
                          <a:latin typeface="Arial" panose="020B0604020202020204" pitchFamily="34" charset="0"/>
                          <a:cs typeface="Arial" panose="020B0604020202020204" pitchFamily="34" charset="0"/>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276396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2557716133"/>
              </p:ext>
            </p:extLst>
          </p:nvPr>
        </p:nvGraphicFramePr>
        <p:xfrm>
          <a:off x="1903412" y="1066800"/>
          <a:ext cx="8815324" cy="2514600"/>
        </p:xfrm>
        <a:graphic>
          <a:graphicData uri="http://schemas.openxmlformats.org/drawingml/2006/table">
            <a:tbl>
              <a:tblPr firstRow="1" bandRow="1">
                <a:tableStyleId>{2D5ABB26-0587-4C30-8999-92F81FD0307C}</a:tableStyleId>
              </a:tblPr>
              <a:tblGrid>
                <a:gridCol w="439733">
                  <a:extLst>
                    <a:ext uri="{9D8B030D-6E8A-4147-A177-3AD203B41FA5}">
                      <a16:colId xmlns:a16="http://schemas.microsoft.com/office/drawing/2014/main" val="4086902722"/>
                    </a:ext>
                  </a:extLst>
                </a:gridCol>
                <a:gridCol w="8375591">
                  <a:extLst>
                    <a:ext uri="{9D8B030D-6E8A-4147-A177-3AD203B41FA5}">
                      <a16:colId xmlns:a16="http://schemas.microsoft.com/office/drawing/2014/main" val="1258252085"/>
                    </a:ext>
                  </a:extLst>
                </a:gridCol>
              </a:tblGrid>
              <a:tr h="50292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This program demonstrates a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50292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myIncome =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50292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50292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This section prints the variable in 1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50292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income is ', myIncome)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78494319"/>
              </p:ext>
            </p:extLst>
          </p:nvPr>
        </p:nvGraphicFramePr>
        <p:xfrm>
          <a:off x="3427412" y="4495800"/>
          <a:ext cx="5486400" cy="701040"/>
        </p:xfrm>
        <a:graphic>
          <a:graphicData uri="http://schemas.openxmlformats.org/drawingml/2006/table">
            <a:tbl>
              <a:tblPr firstRow="1" bandRow="1">
                <a:tableStyleId>{2D5ABB26-0587-4C30-8999-92F81FD0307C}</a:tableStyleId>
              </a:tblPr>
              <a:tblGrid>
                <a:gridCol w="931503">
                  <a:extLst>
                    <a:ext uri="{9D8B030D-6E8A-4147-A177-3AD203B41FA5}">
                      <a16:colId xmlns:a16="http://schemas.microsoft.com/office/drawing/2014/main" val="4086902722"/>
                    </a:ext>
                  </a:extLst>
                </a:gridCol>
                <a:gridCol w="4554897">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My income is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308867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2163467603"/>
              </p:ext>
            </p:extLst>
          </p:nvPr>
        </p:nvGraphicFramePr>
        <p:xfrm>
          <a:off x="1979612" y="990600"/>
          <a:ext cx="8305800" cy="2667000"/>
        </p:xfrm>
        <a:graphic>
          <a:graphicData uri="http://schemas.openxmlformats.org/drawingml/2006/table">
            <a:tbl>
              <a:tblPr firstRow="1" bandRow="1">
                <a:tableStyleId>{2D5ABB26-0587-4C30-8999-92F81FD0307C}</a:tableStyleId>
              </a:tblPr>
              <a:tblGrid>
                <a:gridCol w="414317">
                  <a:extLst>
                    <a:ext uri="{9D8B030D-6E8A-4147-A177-3AD203B41FA5}">
                      <a16:colId xmlns:a16="http://schemas.microsoft.com/office/drawing/2014/main" val="4086902722"/>
                    </a:ext>
                  </a:extLst>
                </a:gridCol>
                <a:gridCol w="7891483">
                  <a:extLst>
                    <a:ext uri="{9D8B030D-6E8A-4147-A177-3AD203B41FA5}">
                      <a16:colId xmlns:a16="http://schemas.microsoft.com/office/drawing/2014/main" val="1258252085"/>
                    </a:ext>
                  </a:extLst>
                </a:gridCol>
              </a:tblGrid>
              <a:tr h="53340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53340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myIncome = input('Please enter your income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53340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53340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53340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income is ', myIncome)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63617642"/>
              </p:ext>
            </p:extLst>
          </p:nvPr>
        </p:nvGraphicFramePr>
        <p:xfrm>
          <a:off x="2436812" y="4130675"/>
          <a:ext cx="8153400" cy="701040"/>
        </p:xfrm>
        <a:graphic>
          <a:graphicData uri="http://schemas.openxmlformats.org/drawingml/2006/table">
            <a:tbl>
              <a:tblPr firstRow="1" bandRow="1">
                <a:tableStyleId>{2D5ABB26-0587-4C30-8999-92F81FD0307C}</a:tableStyleId>
              </a:tblPr>
              <a:tblGrid>
                <a:gridCol w="1384315">
                  <a:extLst>
                    <a:ext uri="{9D8B030D-6E8A-4147-A177-3AD203B41FA5}">
                      <a16:colId xmlns:a16="http://schemas.microsoft.com/office/drawing/2014/main" val="4086902722"/>
                    </a:ext>
                  </a:extLst>
                </a:gridCol>
                <a:gridCol w="6769085">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Please enter your income </a:t>
                      </a:r>
                      <a:r>
                        <a:rPr lang="en-US" sz="2000" dirty="0">
                          <a:solidFill>
                            <a:srgbClr val="FF0000"/>
                          </a:solidFill>
                          <a:latin typeface="Arial" panose="020B0604020202020204" pitchFamily="34" charset="0"/>
                          <a:cs typeface="Arial" panose="020B0604020202020204" pitchFamily="34" charset="0"/>
                        </a:rPr>
                        <a:t>1000 (data entered by user)</a:t>
                      </a:r>
                    </a:p>
                    <a:p>
                      <a:r>
                        <a:rPr lang="en-US" sz="2000" dirty="0">
                          <a:latin typeface="Arial" panose="020B0604020202020204" pitchFamily="34" charset="0"/>
                          <a:cs typeface="Arial" panose="020B0604020202020204" pitchFamily="34" charset="0"/>
                        </a:rPr>
                        <a:t>My income is  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227699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3811109389"/>
              </p:ext>
            </p:extLst>
          </p:nvPr>
        </p:nvGraphicFramePr>
        <p:xfrm>
          <a:off x="1751012" y="793750"/>
          <a:ext cx="9549342" cy="3566160"/>
        </p:xfrm>
        <a:graphic>
          <a:graphicData uri="http://schemas.openxmlformats.org/drawingml/2006/table">
            <a:tbl>
              <a:tblPr firstRow="1" bandRow="1">
                <a:tableStyleId>{2D5ABB26-0587-4C30-8999-92F81FD0307C}</a:tableStyleId>
              </a:tblPr>
              <a:tblGrid>
                <a:gridCol w="476348">
                  <a:extLst>
                    <a:ext uri="{9D8B030D-6E8A-4147-A177-3AD203B41FA5}">
                      <a16:colId xmlns:a16="http://schemas.microsoft.com/office/drawing/2014/main" val="4086902722"/>
                    </a:ext>
                  </a:extLst>
                </a:gridCol>
                <a:gridCol w="9072994">
                  <a:extLst>
                    <a:ext uri="{9D8B030D-6E8A-4147-A177-3AD203B41FA5}">
                      <a16:colId xmlns:a16="http://schemas.microsoft.com/office/drawing/2014/main" val="1258252085"/>
                    </a:ext>
                  </a:extLst>
                </a:gridCol>
              </a:tblGrid>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 Assignment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valueOne =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valueTwo =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 Calculation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result = valueOne + valueTwo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Arial" panose="020B0604020202020204" pitchFamily="34" charset="0"/>
                          <a:ea typeface="+mn-ea"/>
                          <a:cs typeface="Arial" panose="020B0604020202020204" pitchFamily="34" charset="0"/>
                        </a:rPr>
                        <a:t>print('My total is ',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933297154"/>
              </p:ext>
            </p:extLst>
          </p:nvPr>
        </p:nvGraphicFramePr>
        <p:xfrm>
          <a:off x="3884612" y="4876800"/>
          <a:ext cx="6172200" cy="701040"/>
        </p:xfrm>
        <a:graphic>
          <a:graphicData uri="http://schemas.openxmlformats.org/drawingml/2006/table">
            <a:tbl>
              <a:tblPr firstRow="1" bandRow="1">
                <a:tableStyleId>{2D5ABB26-0587-4C30-8999-92F81FD0307C}</a:tableStyleId>
              </a:tblPr>
              <a:tblGrid>
                <a:gridCol w="1047940">
                  <a:extLst>
                    <a:ext uri="{9D8B030D-6E8A-4147-A177-3AD203B41FA5}">
                      <a16:colId xmlns:a16="http://schemas.microsoft.com/office/drawing/2014/main" val="4086902722"/>
                    </a:ext>
                  </a:extLst>
                </a:gridCol>
                <a:gridCol w="5124260">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My total is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85907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1101485353"/>
              </p:ext>
            </p:extLst>
          </p:nvPr>
        </p:nvGraphicFramePr>
        <p:xfrm>
          <a:off x="2474912" y="838200"/>
          <a:ext cx="7239000" cy="3566160"/>
        </p:xfrm>
        <a:graphic>
          <a:graphicData uri="http://schemas.openxmlformats.org/drawingml/2006/table">
            <a:tbl>
              <a:tblPr firstRow="1" bandRow="1">
                <a:tableStyleId>{2D5ABB26-0587-4C30-8999-92F81FD0307C}</a:tableStyleId>
              </a:tblPr>
              <a:tblGrid>
                <a:gridCol w="361102">
                  <a:extLst>
                    <a:ext uri="{9D8B030D-6E8A-4147-A177-3AD203B41FA5}">
                      <a16:colId xmlns:a16="http://schemas.microsoft.com/office/drawing/2014/main" val="4086902722"/>
                    </a:ext>
                  </a:extLst>
                </a:gridCol>
                <a:gridCol w="6877898">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valueOne = </a:t>
                      </a:r>
                      <a:r>
                        <a:rPr lang="en-US" sz="2000" dirty="0">
                          <a:solidFill>
                            <a:srgbClr val="FF0000"/>
                          </a:solidFill>
                          <a:latin typeface="Arial" panose="020B0604020202020204" pitchFamily="34" charset="0"/>
                          <a:cs typeface="Arial" panose="020B0604020202020204" pitchFamily="34" charset="0"/>
                        </a:rPr>
                        <a:t>int</a:t>
                      </a:r>
                      <a:r>
                        <a:rPr lang="en-US" sz="2000" dirty="0">
                          <a:latin typeface="Arial" panose="020B0604020202020204" pitchFamily="34" charset="0"/>
                          <a:cs typeface="Arial" panose="020B0604020202020204" pitchFamily="34" charset="0"/>
                        </a:rPr>
                        <a:t>(input('Enter value one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valueTwo = </a:t>
                      </a:r>
                      <a:r>
                        <a:rPr lang="en-US" sz="2000" dirty="0">
                          <a:solidFill>
                            <a:srgbClr val="FF0000"/>
                          </a:solidFill>
                          <a:latin typeface="Arial" panose="020B0604020202020204" pitchFamily="34" charset="0"/>
                          <a:cs typeface="Arial" panose="020B0604020202020204" pitchFamily="34" charset="0"/>
                        </a:rPr>
                        <a:t>int</a:t>
                      </a:r>
                      <a:r>
                        <a:rPr lang="en-US" sz="2000" dirty="0">
                          <a:latin typeface="Arial" panose="020B0604020202020204" pitchFamily="34" charset="0"/>
                          <a:cs typeface="Arial" panose="020B0604020202020204" pitchFamily="34" charset="0"/>
                        </a:rPr>
                        <a:t>(input('Enter value two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Calculation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result = valueOne + valueTwo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2000" dirty="0">
                          <a:latin typeface="Arial" panose="020B0604020202020204" pitchFamily="34" charset="0"/>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r>
                        <a:rPr lang="en-US" sz="2000" dirty="0">
                          <a:latin typeface="Arial" panose="020B0604020202020204" pitchFamily="34" charset="0"/>
                          <a:cs typeface="Arial" panose="020B060402020202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r>
                        <a:rPr lang="en-US" sz="2000" dirty="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total is ',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487042753"/>
              </p:ext>
            </p:extLst>
          </p:nvPr>
        </p:nvGraphicFramePr>
        <p:xfrm>
          <a:off x="1598612" y="4648200"/>
          <a:ext cx="9829800" cy="1005840"/>
        </p:xfrm>
        <a:graphic>
          <a:graphicData uri="http://schemas.openxmlformats.org/drawingml/2006/table">
            <a:tbl>
              <a:tblPr firstRow="1" bandRow="1">
                <a:tableStyleId>{2D5ABB26-0587-4C30-8999-92F81FD0307C}</a:tableStyleId>
              </a:tblPr>
              <a:tblGrid>
                <a:gridCol w="1668941">
                  <a:extLst>
                    <a:ext uri="{9D8B030D-6E8A-4147-A177-3AD203B41FA5}">
                      <a16:colId xmlns:a16="http://schemas.microsoft.com/office/drawing/2014/main" val="4086902722"/>
                    </a:ext>
                  </a:extLst>
                </a:gridCol>
                <a:gridCol w="8160859">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value one </a:t>
                      </a:r>
                      <a:r>
                        <a:rPr lang="en-US" sz="2000" dirty="0">
                          <a:solidFill>
                            <a:srgbClr val="FF0000"/>
                          </a:solidFill>
                          <a:latin typeface="Arial" panose="020B0604020202020204" pitchFamily="34" charset="0"/>
                          <a:cs typeface="Arial" panose="020B0604020202020204" pitchFamily="34" charset="0"/>
                        </a:rPr>
                        <a:t>12 (data entered by user)</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value two </a:t>
                      </a:r>
                      <a:r>
                        <a:rPr lang="en-US" sz="2000" dirty="0">
                          <a:solidFill>
                            <a:srgbClr val="FF0000"/>
                          </a:solidFill>
                          <a:latin typeface="Arial" panose="020B0604020202020204" pitchFamily="34" charset="0"/>
                          <a:cs typeface="Arial" panose="020B0604020202020204" pitchFamily="34" charset="0"/>
                        </a:rPr>
                        <a:t>13 (data entered by user)</a:t>
                      </a:r>
                    </a:p>
                    <a:p>
                      <a:r>
                        <a:rPr lang="en-US" sz="2000" dirty="0">
                          <a:latin typeface="Arial" panose="020B0604020202020204" pitchFamily="34" charset="0"/>
                          <a:cs typeface="Arial" panose="020B0604020202020204" pitchFamily="34" charset="0"/>
                        </a:rPr>
                        <a:t>My total is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180628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3503694835"/>
              </p:ext>
            </p:extLst>
          </p:nvPr>
        </p:nvGraphicFramePr>
        <p:xfrm>
          <a:off x="1674812" y="787400"/>
          <a:ext cx="6858000" cy="3566160"/>
        </p:xfrm>
        <a:graphic>
          <a:graphicData uri="http://schemas.openxmlformats.org/drawingml/2006/table">
            <a:tbl>
              <a:tblPr firstRow="1" bandRow="1">
                <a:tableStyleId>{2D5ABB26-0587-4C30-8999-92F81FD0307C}</a:tableStyleId>
              </a:tblPr>
              <a:tblGrid>
                <a:gridCol w="342096">
                  <a:extLst>
                    <a:ext uri="{9D8B030D-6E8A-4147-A177-3AD203B41FA5}">
                      <a16:colId xmlns:a16="http://schemas.microsoft.com/office/drawing/2014/main" val="4086902722"/>
                    </a:ext>
                  </a:extLst>
                </a:gridCol>
                <a:gridCol w="6515904">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salary = </a:t>
                      </a:r>
                      <a:r>
                        <a:rPr lang="en-US" sz="2000" dirty="0">
                          <a:solidFill>
                            <a:srgbClr val="FF0000"/>
                          </a:solidFill>
                          <a:latin typeface="Arial" panose="020B0604020202020204" pitchFamily="34" charset="0"/>
                          <a:cs typeface="Arial" panose="020B0604020202020204" pitchFamily="34" charset="0"/>
                        </a:rPr>
                        <a:t>float</a:t>
                      </a:r>
                      <a:r>
                        <a:rPr lang="en-US" sz="2000" dirty="0">
                          <a:latin typeface="Arial" panose="020B0604020202020204" pitchFamily="34" charset="0"/>
                          <a:cs typeface="Arial" panose="020B0604020202020204" pitchFamily="34" charset="0"/>
                        </a:rPr>
                        <a:t>(input('Enter salary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bonus = </a:t>
                      </a:r>
                      <a:r>
                        <a:rPr lang="en-US" sz="2000" dirty="0">
                          <a:solidFill>
                            <a:srgbClr val="FF0000"/>
                          </a:solidFill>
                          <a:latin typeface="Arial" panose="020B0604020202020204" pitchFamily="34" charset="0"/>
                          <a:cs typeface="Arial" panose="020B0604020202020204" pitchFamily="34" charset="0"/>
                        </a:rPr>
                        <a:t>float</a:t>
                      </a:r>
                      <a:r>
                        <a:rPr lang="en-US" sz="2000" dirty="0">
                          <a:latin typeface="Arial" panose="020B0604020202020204" pitchFamily="34" charset="0"/>
                          <a:cs typeface="Arial" panose="020B0604020202020204" pitchFamily="34" charset="0"/>
                        </a:rPr>
                        <a:t>(input('Enter bonus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Calculation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pay = salary + bonus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2000" dirty="0">
                          <a:latin typeface="Arial" panose="020B0604020202020204" pitchFamily="34" charset="0"/>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r>
                        <a:rPr lang="en-US" sz="2000" dirty="0">
                          <a:latin typeface="Arial" panose="020B0604020202020204" pitchFamily="34" charset="0"/>
                          <a:cs typeface="Arial" panose="020B060402020202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r>
                        <a:rPr lang="en-US" sz="2000" dirty="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total</a:t>
                      </a:r>
                      <a:r>
                        <a:rPr lang="en-US" sz="2000" baseline="0" dirty="0">
                          <a:latin typeface="Arial" panose="020B0604020202020204" pitchFamily="34" charset="0"/>
                          <a:cs typeface="Arial" panose="020B0604020202020204" pitchFamily="34" charset="0"/>
                        </a:rPr>
                        <a:t> pay</a:t>
                      </a:r>
                      <a:r>
                        <a:rPr lang="en-US" sz="2000" dirty="0">
                          <a:latin typeface="Arial" panose="020B0604020202020204" pitchFamily="34" charset="0"/>
                          <a:cs typeface="Arial" panose="020B0604020202020204" pitchFamily="34" charset="0"/>
                        </a:rPr>
                        <a:t> is ',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2990931"/>
              </p:ext>
            </p:extLst>
          </p:nvPr>
        </p:nvGraphicFramePr>
        <p:xfrm>
          <a:off x="2665412" y="4724400"/>
          <a:ext cx="8077200" cy="1005840"/>
        </p:xfrm>
        <a:graphic>
          <a:graphicData uri="http://schemas.openxmlformats.org/drawingml/2006/table">
            <a:tbl>
              <a:tblPr firstRow="1" bandRow="1">
                <a:tableStyleId>{2D5ABB26-0587-4C30-8999-92F81FD0307C}</a:tableStyleId>
              </a:tblPr>
              <a:tblGrid>
                <a:gridCol w="1371378">
                  <a:extLst>
                    <a:ext uri="{9D8B030D-6E8A-4147-A177-3AD203B41FA5}">
                      <a16:colId xmlns:a16="http://schemas.microsoft.com/office/drawing/2014/main" val="4086902722"/>
                    </a:ext>
                  </a:extLst>
                </a:gridCol>
                <a:gridCol w="6705822">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salary </a:t>
                      </a:r>
                      <a:r>
                        <a:rPr lang="en-US" sz="2000" dirty="0">
                          <a:solidFill>
                            <a:srgbClr val="FF0000"/>
                          </a:solidFill>
                          <a:latin typeface="Arial" panose="020B0604020202020204" pitchFamily="34" charset="0"/>
                          <a:cs typeface="Arial" panose="020B0604020202020204" pitchFamily="34" charset="0"/>
                        </a:rPr>
                        <a:t>1000 (data entered by user)</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bonus </a:t>
                      </a:r>
                      <a:r>
                        <a:rPr lang="en-US" sz="2000" dirty="0">
                          <a:solidFill>
                            <a:srgbClr val="FF0000"/>
                          </a:solidFill>
                          <a:latin typeface="Arial" panose="020B0604020202020204" pitchFamily="34" charset="0"/>
                          <a:cs typeface="Arial" panose="020B0604020202020204" pitchFamily="34" charset="0"/>
                        </a:rPr>
                        <a:t>200 (data entered by user)</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 total pay is  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424974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Examples</a:t>
            </a:r>
          </a:p>
        </p:txBody>
      </p:sp>
      <p:graphicFrame>
        <p:nvGraphicFramePr>
          <p:cNvPr id="3" name="Table 2"/>
          <p:cNvGraphicFramePr>
            <a:graphicFrameLocks noGrp="1"/>
          </p:cNvGraphicFramePr>
          <p:nvPr>
            <p:extLst>
              <p:ext uri="{D42A27DB-BD31-4B8C-83A1-F6EECF244321}">
                <p14:modId xmlns:p14="http://schemas.microsoft.com/office/powerpoint/2010/main" val="2061695535"/>
              </p:ext>
            </p:extLst>
          </p:nvPr>
        </p:nvGraphicFramePr>
        <p:xfrm>
          <a:off x="1827212" y="1048026"/>
          <a:ext cx="6705600" cy="2377440"/>
        </p:xfrm>
        <a:graphic>
          <a:graphicData uri="http://schemas.openxmlformats.org/drawingml/2006/table">
            <a:tbl>
              <a:tblPr firstRow="1" bandRow="1">
                <a:tableStyleId>{2D5ABB26-0587-4C30-8999-92F81FD0307C}</a:tableStyleId>
              </a:tblPr>
              <a:tblGrid>
                <a:gridCol w="334494">
                  <a:extLst>
                    <a:ext uri="{9D8B030D-6E8A-4147-A177-3AD203B41FA5}">
                      <a16:colId xmlns:a16="http://schemas.microsoft.com/office/drawing/2014/main" val="4086902722"/>
                    </a:ext>
                  </a:extLst>
                </a:gridCol>
                <a:gridCol w="6371106">
                  <a:extLst>
                    <a:ext uri="{9D8B030D-6E8A-4147-A177-3AD203B41FA5}">
                      <a16:colId xmlns:a16="http://schemas.microsoft.com/office/drawing/2014/main" val="1258252085"/>
                    </a:ext>
                  </a:extLst>
                </a:gridCol>
              </a:tblGrid>
              <a:tr h="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lastName = input('Enter last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firstName = input('Enter first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print('Welcome ', lastName, firstName)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32308447"/>
              </p:ext>
            </p:extLst>
          </p:nvPr>
        </p:nvGraphicFramePr>
        <p:xfrm>
          <a:off x="2970212" y="4038600"/>
          <a:ext cx="7010400" cy="1005840"/>
        </p:xfrm>
        <a:graphic>
          <a:graphicData uri="http://schemas.openxmlformats.org/drawingml/2006/table">
            <a:tbl>
              <a:tblPr firstRow="1" bandRow="1">
                <a:tableStyleId>{2D5ABB26-0587-4C30-8999-92F81FD0307C}</a:tableStyleId>
              </a:tblPr>
              <a:tblGrid>
                <a:gridCol w="1190252">
                  <a:extLst>
                    <a:ext uri="{9D8B030D-6E8A-4147-A177-3AD203B41FA5}">
                      <a16:colId xmlns:a16="http://schemas.microsoft.com/office/drawing/2014/main" val="4086902722"/>
                    </a:ext>
                  </a:extLst>
                </a:gridCol>
                <a:gridCol w="5820148">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last name </a:t>
                      </a:r>
                      <a:r>
                        <a:rPr lang="en-US" sz="2000" dirty="0">
                          <a:solidFill>
                            <a:srgbClr val="FF0000"/>
                          </a:solidFill>
                          <a:latin typeface="Arial" panose="020B0604020202020204" pitchFamily="34" charset="0"/>
                          <a:cs typeface="Arial" panose="020B0604020202020204" pitchFamily="34" charset="0"/>
                        </a:rPr>
                        <a:t>ally</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first name </a:t>
                      </a:r>
                      <a:r>
                        <a:rPr lang="en-US" sz="2000" dirty="0">
                          <a:solidFill>
                            <a:srgbClr val="FF0000"/>
                          </a:solidFill>
                          <a:latin typeface="Arial" panose="020B0604020202020204" pitchFamily="34" charset="0"/>
                          <a:cs typeface="Arial" panose="020B0604020202020204" pitchFamily="34" charset="0"/>
                        </a:rPr>
                        <a:t>baba</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Welcome  ally baba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428632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normAutofit/>
          </a:bodyPr>
          <a:lstStyle/>
          <a:p>
            <a:pPr lvl="0" algn="ctr"/>
            <a:r>
              <a:rPr lang="en-US" altLang="en-US" dirty="0">
                <a:solidFill>
                  <a:srgbClr val="FF0000"/>
                </a:solidFill>
              </a:rPr>
              <a:t>Python –</a:t>
            </a:r>
            <a:r>
              <a:rPr lang="en-US" dirty="0"/>
              <a:t> Examples</a:t>
            </a:r>
            <a:endParaRPr lang="en-US" altLang="ko-KR" sz="4800" b="1" kern="0" dirty="0">
              <a:ln w="10160">
                <a:solidFill>
                  <a:schemeClr val="accent5"/>
                </a:solidFill>
                <a:prstDash val="solid"/>
              </a:ln>
              <a:solidFill>
                <a:srgbClr val="FF0000"/>
              </a:solidFill>
              <a:effectLst>
                <a:outerShdw blurRad="38100" dist="22860" dir="5400000" algn="tl" rotWithShape="0">
                  <a:srgbClr val="000000">
                    <a:alpha val="30000"/>
                  </a:srgbClr>
                </a:outerShdw>
              </a:effectLst>
            </a:endParaRPr>
          </a:p>
        </p:txBody>
      </p:sp>
      <p:sp>
        <p:nvSpPr>
          <p:cNvPr id="6" name="Rectangle 5"/>
          <p:cNvSpPr/>
          <p:nvPr/>
        </p:nvSpPr>
        <p:spPr>
          <a:xfrm>
            <a:off x="1522412" y="787400"/>
            <a:ext cx="4114800" cy="685800"/>
          </a:xfrm>
          <a:prstGeom prst="rect">
            <a:avLst/>
          </a:prstGeom>
          <a:solidFill>
            <a:schemeClr val="tx1">
              <a:lumMod val="95000"/>
              <a:lumOff val="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800" dirty="0">
                <a:solidFill>
                  <a:schemeClr val="bg1"/>
                </a:solidFill>
                <a:latin typeface="Times New Roman" panose="02020603050405020304" pitchFamily="18" charset="0"/>
              </a:rPr>
              <a:t>Computing Weekly Pay</a:t>
            </a:r>
            <a:endParaRPr lang="en-US" sz="2800" dirty="0">
              <a:solidFill>
                <a:schemeClr val="bg1"/>
              </a:solidFill>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903412" y="1905000"/>
            <a:ext cx="8229600" cy="3200400"/>
          </a:xfrm>
          <a:prstGeom prst="rect">
            <a:avLst/>
          </a:prstGeom>
        </p:spPr>
      </p:pic>
    </p:spTree>
    <p:extLst>
      <p:ext uri="{BB962C8B-B14F-4D97-AF65-F5344CB8AC3E}">
        <p14:creationId xmlns:p14="http://schemas.microsoft.com/office/powerpoint/2010/main" val="351455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Computing Weekly Pay</a:t>
            </a:r>
          </a:p>
        </p:txBody>
      </p:sp>
      <p:graphicFrame>
        <p:nvGraphicFramePr>
          <p:cNvPr id="3" name="Table 2"/>
          <p:cNvGraphicFramePr>
            <a:graphicFrameLocks noGrp="1"/>
          </p:cNvGraphicFramePr>
          <p:nvPr>
            <p:extLst>
              <p:ext uri="{D42A27DB-BD31-4B8C-83A1-F6EECF244321}">
                <p14:modId xmlns:p14="http://schemas.microsoft.com/office/powerpoint/2010/main" val="2887822693"/>
              </p:ext>
            </p:extLst>
          </p:nvPr>
        </p:nvGraphicFramePr>
        <p:xfrm>
          <a:off x="1751012" y="787400"/>
          <a:ext cx="9549342" cy="3566160"/>
        </p:xfrm>
        <a:graphic>
          <a:graphicData uri="http://schemas.openxmlformats.org/drawingml/2006/table">
            <a:tbl>
              <a:tblPr firstRow="1" bandRow="1">
                <a:tableStyleId>{2D5ABB26-0587-4C30-8999-92F81FD0307C}</a:tableStyleId>
              </a:tblPr>
              <a:tblGrid>
                <a:gridCol w="476348">
                  <a:extLst>
                    <a:ext uri="{9D8B030D-6E8A-4147-A177-3AD203B41FA5}">
                      <a16:colId xmlns:a16="http://schemas.microsoft.com/office/drawing/2014/main" val="4086902722"/>
                    </a:ext>
                  </a:extLst>
                </a:gridCol>
                <a:gridCol w="9072994">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hoursWorked = float(input('Enter hours worked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hourlyPayRate = float(input('Enter hourly pay rate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calculate weekly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grossPay = hoursWorked * hourlyPayRate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2000" dirty="0">
                          <a:latin typeface="Arial" panose="020B0604020202020204" pitchFamily="34" charset="0"/>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511008"/>
                  </a:ext>
                </a:extLst>
              </a:tr>
              <a:tr h="370840">
                <a:tc>
                  <a:txBody>
                    <a:bodyPr/>
                    <a:lstStyle/>
                    <a:p>
                      <a:r>
                        <a:rPr lang="en-US" sz="2000" dirty="0">
                          <a:latin typeface="Arial" panose="020B0604020202020204" pitchFamily="34" charset="0"/>
                          <a:cs typeface="Arial" panose="020B060402020202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484415"/>
                  </a:ext>
                </a:extLst>
              </a:tr>
              <a:tr h="370840">
                <a:tc>
                  <a:txBody>
                    <a:bodyPr/>
                    <a:lstStyle/>
                    <a:p>
                      <a:r>
                        <a:rPr lang="en-US" sz="2000" dirty="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total pay is ', grossPay)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073957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213031657"/>
              </p:ext>
            </p:extLst>
          </p:nvPr>
        </p:nvGraphicFramePr>
        <p:xfrm>
          <a:off x="3002491" y="4648200"/>
          <a:ext cx="7467600" cy="1005840"/>
        </p:xfrm>
        <a:graphic>
          <a:graphicData uri="http://schemas.openxmlformats.org/drawingml/2006/table">
            <a:tbl>
              <a:tblPr firstRow="1" bandRow="1">
                <a:tableStyleId>{2D5ABB26-0587-4C30-8999-92F81FD0307C}</a:tableStyleId>
              </a:tblPr>
              <a:tblGrid>
                <a:gridCol w="1267878">
                  <a:extLst>
                    <a:ext uri="{9D8B030D-6E8A-4147-A177-3AD203B41FA5}">
                      <a16:colId xmlns:a16="http://schemas.microsoft.com/office/drawing/2014/main" val="4086902722"/>
                    </a:ext>
                  </a:extLst>
                </a:gridCol>
                <a:gridCol w="6199722">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hours worked </a:t>
                      </a:r>
                      <a:r>
                        <a:rPr lang="en-US" sz="2000" dirty="0">
                          <a:solidFill>
                            <a:srgbClr val="FF0000"/>
                          </a:solidFill>
                          <a:latin typeface="Arial" panose="020B0604020202020204" pitchFamily="34" charset="0"/>
                          <a:cs typeface="Arial" panose="020B0604020202020204" pitchFamily="34" charset="0"/>
                        </a:rPr>
                        <a:t>20</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hourly pay rate </a:t>
                      </a:r>
                      <a:r>
                        <a:rPr lang="en-US" sz="2000" dirty="0">
                          <a:solidFill>
                            <a:srgbClr val="FF0000"/>
                          </a:solidFill>
                          <a:latin typeface="Arial" panose="020B0604020202020204" pitchFamily="34" charset="0"/>
                          <a:cs typeface="Arial" panose="020B0604020202020204" pitchFamily="34" charset="0"/>
                        </a:rPr>
                        <a:t>10</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 total pay is  </a:t>
                      </a:r>
                      <a:r>
                        <a:rPr lang="en-US" sz="2000" dirty="0">
                          <a:solidFill>
                            <a:schemeClr val="tx1"/>
                          </a:solidFill>
                          <a:latin typeface="Arial" panose="020B0604020202020204" pitchFamily="34" charset="0"/>
                          <a:cs typeface="Arial" panose="020B0604020202020204" pitchFamily="34" charset="0"/>
                        </a:rPr>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31649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Computing Weekly Pay</a:t>
            </a:r>
          </a:p>
        </p:txBody>
      </p:sp>
      <p:graphicFrame>
        <p:nvGraphicFramePr>
          <p:cNvPr id="3" name="Table 2"/>
          <p:cNvGraphicFramePr>
            <a:graphicFrameLocks noGrp="1"/>
          </p:cNvGraphicFramePr>
          <p:nvPr>
            <p:extLst>
              <p:ext uri="{D42A27DB-BD31-4B8C-83A1-F6EECF244321}">
                <p14:modId xmlns:p14="http://schemas.microsoft.com/office/powerpoint/2010/main" val="1761459095"/>
              </p:ext>
            </p:extLst>
          </p:nvPr>
        </p:nvGraphicFramePr>
        <p:xfrm>
          <a:off x="2055812" y="914400"/>
          <a:ext cx="9549342" cy="3566160"/>
        </p:xfrm>
        <a:graphic>
          <a:graphicData uri="http://schemas.openxmlformats.org/drawingml/2006/table">
            <a:tbl>
              <a:tblPr firstRow="1" bandRow="1">
                <a:tableStyleId>{2D5ABB26-0587-4C30-8999-92F81FD0307C}</a:tableStyleId>
              </a:tblPr>
              <a:tblGrid>
                <a:gridCol w="476348">
                  <a:extLst>
                    <a:ext uri="{9D8B030D-6E8A-4147-A177-3AD203B41FA5}">
                      <a16:colId xmlns:a16="http://schemas.microsoft.com/office/drawing/2014/main" val="4086902722"/>
                    </a:ext>
                  </a:extLst>
                </a:gridCol>
                <a:gridCol w="9072994">
                  <a:extLst>
                    <a:ext uri="{9D8B030D-6E8A-4147-A177-3AD203B41FA5}">
                      <a16:colId xmlns:a16="http://schemas.microsoft.com/office/drawing/2014/main" val="1258252085"/>
                    </a:ext>
                  </a:extLst>
                </a:gridCol>
              </a:tblGrid>
              <a:tr h="370840">
                <a:tc>
                  <a:txBody>
                    <a:bodyPr/>
                    <a:lstStyle/>
                    <a:p>
                      <a:r>
                        <a:rPr lang="en-US" sz="20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20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hoursWorked = float(input('Enter hours worked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2000" dirty="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hourlyPayRate = float(input('Enter hourly pay rate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2000" dirty="0">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2000" dirty="0">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calculate weekly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2000" dirty="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grossPay = hoursWorked * hourlyPayRate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2000" dirty="0">
                          <a:latin typeface="Arial" panose="020B0604020202020204" pitchFamily="34" charset="0"/>
                          <a:cs typeface="Arial" panose="020B060402020202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2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511008"/>
                  </a:ext>
                </a:extLst>
              </a:tr>
              <a:tr h="370840">
                <a:tc>
                  <a:txBody>
                    <a:bodyPr/>
                    <a:lstStyle/>
                    <a:p>
                      <a:r>
                        <a:rPr lang="en-US" sz="2000" dirty="0">
                          <a:latin typeface="Arial" panose="020B0604020202020204" pitchFamily="34" charset="0"/>
                          <a:cs typeface="Arial" panose="020B060402020202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 print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484415"/>
                  </a:ext>
                </a:extLst>
              </a:tr>
              <a:tr h="370840">
                <a:tc>
                  <a:txBody>
                    <a:bodyPr/>
                    <a:lstStyle/>
                    <a:p>
                      <a:r>
                        <a:rPr lang="en-US" sz="2000" dirty="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print('My total pay is ', </a:t>
                      </a:r>
                      <a:r>
                        <a:rPr lang="en-US" sz="2000" dirty="0">
                          <a:solidFill>
                            <a:srgbClr val="FF0000"/>
                          </a:solidFill>
                          <a:latin typeface="Arial" panose="020B0604020202020204" pitchFamily="34" charset="0"/>
                          <a:cs typeface="Arial" panose="020B0604020202020204" pitchFamily="34" charset="0"/>
                        </a:rPr>
                        <a:t>format(grossPay, '7.2f')</a:t>
                      </a:r>
                      <a:r>
                        <a:rPr lang="en-US" sz="20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073957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14088422"/>
              </p:ext>
            </p:extLst>
          </p:nvPr>
        </p:nvGraphicFramePr>
        <p:xfrm>
          <a:off x="4189412" y="5048609"/>
          <a:ext cx="6643890" cy="1005840"/>
        </p:xfrm>
        <a:graphic>
          <a:graphicData uri="http://schemas.openxmlformats.org/drawingml/2006/table">
            <a:tbl>
              <a:tblPr firstRow="1" bandRow="1">
                <a:tableStyleId>{2D5ABB26-0587-4C30-8999-92F81FD0307C}</a:tableStyleId>
              </a:tblPr>
              <a:tblGrid>
                <a:gridCol w="1962467">
                  <a:extLst>
                    <a:ext uri="{9D8B030D-6E8A-4147-A177-3AD203B41FA5}">
                      <a16:colId xmlns:a16="http://schemas.microsoft.com/office/drawing/2014/main" val="4086902722"/>
                    </a:ext>
                  </a:extLst>
                </a:gridCol>
                <a:gridCol w="4681423">
                  <a:extLst>
                    <a:ext uri="{9D8B030D-6E8A-4147-A177-3AD203B41FA5}">
                      <a16:colId xmlns:a16="http://schemas.microsoft.com/office/drawing/2014/main" val="1258252085"/>
                    </a:ext>
                  </a:extLst>
                </a:gridCol>
              </a:tblGrid>
              <a:tr h="0">
                <a:tc>
                  <a:txBody>
                    <a:bodyPr/>
                    <a:lstStyle/>
                    <a:p>
                      <a:pPr algn="ctr"/>
                      <a:r>
                        <a:rPr lang="en-US" sz="2000" dirty="0">
                          <a:latin typeface="Arial" panose="020B0604020202020204" pitchFamily="34" charset="0"/>
                          <a:cs typeface="Arial" panose="020B0604020202020204" pitchFamily="34" charset="0"/>
                        </a:rPr>
                        <a:t>Screen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hours worked </a:t>
                      </a:r>
                      <a:r>
                        <a:rPr lang="en-US" sz="2000" dirty="0">
                          <a:solidFill>
                            <a:srgbClr val="FF0000"/>
                          </a:solidFill>
                          <a:latin typeface="Arial" panose="020B0604020202020204" pitchFamily="34" charset="0"/>
                          <a:cs typeface="Arial" panose="020B0604020202020204" pitchFamily="34" charset="0"/>
                        </a:rPr>
                        <a:t>20</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Enter hourly pay rate </a:t>
                      </a:r>
                      <a:r>
                        <a:rPr lang="en-US" sz="2000" dirty="0">
                          <a:solidFill>
                            <a:srgbClr val="FF0000"/>
                          </a:solidFill>
                          <a:latin typeface="Arial" panose="020B0604020202020204" pitchFamily="34" charset="0"/>
                          <a:cs typeface="Arial" panose="020B0604020202020204" pitchFamily="34" charset="0"/>
                        </a:rPr>
                        <a:t>10</a:t>
                      </a:r>
                    </a:p>
                    <a:p>
                      <a:pPr marL="0" marR="0" indent="0" algn="l" defTabSz="1218987"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My total pay is   200.00</a:t>
                      </a:r>
                      <a:endParaRPr lang="en-US" sz="2000" dirty="0">
                        <a:solidFill>
                          <a:srgbClr val="FF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bl>
          </a:graphicData>
        </a:graphic>
      </p:graphicFrame>
    </p:spTree>
    <p:extLst>
      <p:ext uri="{BB962C8B-B14F-4D97-AF65-F5344CB8AC3E}">
        <p14:creationId xmlns:p14="http://schemas.microsoft.com/office/powerpoint/2010/main" val="181928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Tracing </a:t>
            </a:r>
            <a:r>
              <a:rPr lang="en-US" dirty="0">
                <a:solidFill>
                  <a:srgbClr val="FF0000"/>
                </a:solidFill>
              </a:rPr>
              <a:t>the flow</a:t>
            </a:r>
          </a:p>
        </p:txBody>
      </p:sp>
      <p:graphicFrame>
        <p:nvGraphicFramePr>
          <p:cNvPr id="3" name="Table 2"/>
          <p:cNvGraphicFramePr>
            <a:graphicFrameLocks noGrp="1"/>
          </p:cNvGraphicFramePr>
          <p:nvPr>
            <p:extLst>
              <p:ext uri="{D42A27DB-BD31-4B8C-83A1-F6EECF244321}">
                <p14:modId xmlns:p14="http://schemas.microsoft.com/office/powerpoint/2010/main" val="2138545428"/>
              </p:ext>
            </p:extLst>
          </p:nvPr>
        </p:nvGraphicFramePr>
        <p:xfrm>
          <a:off x="1446212" y="1732756"/>
          <a:ext cx="3898703" cy="3337560"/>
        </p:xfrm>
        <a:graphic>
          <a:graphicData uri="http://schemas.openxmlformats.org/drawingml/2006/table">
            <a:tbl>
              <a:tblPr firstRow="1" bandRow="1">
                <a:tableStyleId>{2D5ABB26-0587-4C30-8999-92F81FD0307C}</a:tableStyleId>
              </a:tblPr>
              <a:tblGrid>
                <a:gridCol w="351155">
                  <a:extLst>
                    <a:ext uri="{9D8B030D-6E8A-4147-A177-3AD203B41FA5}">
                      <a16:colId xmlns:a16="http://schemas.microsoft.com/office/drawing/2014/main" val="4086902722"/>
                    </a:ext>
                  </a:extLst>
                </a:gridCol>
                <a:gridCol w="3547548">
                  <a:extLst>
                    <a:ext uri="{9D8B030D-6E8A-4147-A177-3AD203B41FA5}">
                      <a16:colId xmlns:a16="http://schemas.microsoft.com/office/drawing/2014/main" val="1258252085"/>
                    </a:ext>
                  </a:extLst>
                </a:gridCol>
              </a:tblGrid>
              <a:tr h="370840">
                <a:tc>
                  <a:txBody>
                    <a:bodyPr/>
                    <a:lstStyle/>
                    <a:p>
                      <a:r>
                        <a:rPr lang="en-US" sz="1800" dirty="0">
                          <a:latin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Calibri" panose="020F0502020204030204" pitchFamily="34" charset="0"/>
                          <a:cs typeface="Calibri" panose="020F0502020204030204" pitchFamily="34" charset="0"/>
                        </a:rPr>
                        <a:t># Assignment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1800" dirty="0">
                          <a:latin typeface="Calibri" panose="020F0502020204030204" pitchFamily="34" charset="0"/>
                          <a:cs typeface="Calibri" panose="020F050202020403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valueOne =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1800" dirty="0">
                          <a:latin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valueTwo = 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1800" dirty="0">
                          <a:latin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1800" dirty="0">
                          <a:latin typeface="Calibri" panose="020F0502020204030204" pitchFamily="34" charset="0"/>
                          <a:cs typeface="Calibri" panose="020F05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 Calculation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1800" dirty="0">
                          <a:latin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result = valueOne + valueTwo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1800" dirty="0">
                          <a:latin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r>
                        <a:rPr lang="en-US" sz="1800" dirty="0">
                          <a:latin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 print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r>
                        <a:rPr lang="en-US" sz="1800" dirty="0">
                          <a:latin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print('My total is ',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68964738"/>
              </p:ext>
            </p:extLst>
          </p:nvPr>
        </p:nvGraphicFramePr>
        <p:xfrm>
          <a:off x="5713412" y="1447800"/>
          <a:ext cx="5181600" cy="3708400"/>
        </p:xfrm>
        <a:graphic>
          <a:graphicData uri="http://schemas.openxmlformats.org/drawingml/2006/table">
            <a:tbl>
              <a:tblPr firstRow="1" bandRow="1">
                <a:tableStyleId>{2D5ABB26-0587-4C30-8999-92F81FD0307C}</a:tableStyleId>
              </a:tblPr>
              <a:tblGrid>
                <a:gridCol w="372174">
                  <a:extLst>
                    <a:ext uri="{9D8B030D-6E8A-4147-A177-3AD203B41FA5}">
                      <a16:colId xmlns:a16="http://schemas.microsoft.com/office/drawing/2014/main" val="4086902722"/>
                    </a:ext>
                  </a:extLst>
                </a:gridCol>
                <a:gridCol w="1364793">
                  <a:extLst>
                    <a:ext uri="{9D8B030D-6E8A-4147-A177-3AD203B41FA5}">
                      <a16:colId xmlns:a16="http://schemas.microsoft.com/office/drawing/2014/main" val="1258252085"/>
                    </a:ext>
                  </a:extLst>
                </a:gridCol>
                <a:gridCol w="1362157">
                  <a:extLst>
                    <a:ext uri="{9D8B030D-6E8A-4147-A177-3AD203B41FA5}">
                      <a16:colId xmlns:a16="http://schemas.microsoft.com/office/drawing/2014/main" val="1081629113"/>
                    </a:ext>
                  </a:extLst>
                </a:gridCol>
                <a:gridCol w="932995">
                  <a:extLst>
                    <a:ext uri="{9D8B030D-6E8A-4147-A177-3AD203B41FA5}">
                      <a16:colId xmlns:a16="http://schemas.microsoft.com/office/drawing/2014/main" val="1575855729"/>
                    </a:ext>
                  </a:extLst>
                </a:gridCol>
                <a:gridCol w="1149481">
                  <a:extLst>
                    <a:ext uri="{9D8B030D-6E8A-4147-A177-3AD203B41FA5}">
                      <a16:colId xmlns:a16="http://schemas.microsoft.com/office/drawing/2014/main" val="2902414382"/>
                    </a:ext>
                  </a:extLst>
                </a:gridCol>
              </a:tblGrid>
              <a:tr h="370840">
                <a:tc>
                  <a:txBody>
                    <a:bodyPr/>
                    <a:lstStyle/>
                    <a:p>
                      <a:r>
                        <a:rPr lang="en-US" sz="18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valueOne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valueTwo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251341"/>
                  </a:ext>
                </a:extLst>
              </a:tr>
              <a:tr h="370840">
                <a:tc>
                  <a:txBody>
                    <a:bodyPr/>
                    <a:lstStyle/>
                    <a:p>
                      <a:r>
                        <a:rPr lang="en-US" sz="1800" dirty="0">
                          <a:latin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1800" dirty="0">
                          <a:latin typeface="Calibri" panose="020F0502020204030204" pitchFamily="34" charset="0"/>
                          <a:cs typeface="Calibri" panose="020F050202020403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1800" dirty="0">
                          <a:latin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1800" dirty="0">
                          <a:latin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1800" dirty="0">
                          <a:latin typeface="Calibri" panose="020F0502020204030204" pitchFamily="34" charset="0"/>
                          <a:cs typeface="Calibri" panose="020F05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1800" dirty="0">
                          <a:latin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1800" dirty="0">
                          <a:latin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r>
                        <a:rPr lang="en-US" sz="1800" dirty="0">
                          <a:latin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r>
                        <a:rPr lang="en-US" sz="1800" dirty="0">
                          <a:latin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solidFill>
                          <a:srgbClr val="FF0000"/>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sp>
        <p:nvSpPr>
          <p:cNvPr id="6" name="TextBox 5"/>
          <p:cNvSpPr txBox="1"/>
          <p:nvPr/>
        </p:nvSpPr>
        <p:spPr>
          <a:xfrm>
            <a:off x="6494660" y="2266156"/>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8" name="TextBox 7"/>
          <p:cNvSpPr txBox="1"/>
          <p:nvPr/>
        </p:nvSpPr>
        <p:spPr>
          <a:xfrm>
            <a:off x="6494660" y="2697956"/>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9" name="TextBox 8"/>
          <p:cNvSpPr txBox="1"/>
          <p:nvPr/>
        </p:nvSpPr>
        <p:spPr>
          <a:xfrm>
            <a:off x="7885508" y="2671067"/>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13</a:t>
            </a:r>
          </a:p>
        </p:txBody>
      </p:sp>
      <p:sp>
        <p:nvSpPr>
          <p:cNvPr id="10" name="TextBox 9"/>
          <p:cNvSpPr txBox="1"/>
          <p:nvPr/>
        </p:nvSpPr>
        <p:spPr>
          <a:xfrm>
            <a:off x="6494660" y="3067288"/>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11" name="TextBox 10"/>
          <p:cNvSpPr txBox="1"/>
          <p:nvPr/>
        </p:nvSpPr>
        <p:spPr>
          <a:xfrm>
            <a:off x="7885508" y="3040399"/>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13</a:t>
            </a:r>
          </a:p>
        </p:txBody>
      </p:sp>
      <p:sp>
        <p:nvSpPr>
          <p:cNvPr id="12" name="TextBox 11"/>
          <p:cNvSpPr txBox="1"/>
          <p:nvPr/>
        </p:nvSpPr>
        <p:spPr>
          <a:xfrm>
            <a:off x="6494660" y="3436620"/>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12</a:t>
            </a:r>
          </a:p>
        </p:txBody>
      </p:sp>
      <p:sp>
        <p:nvSpPr>
          <p:cNvPr id="13" name="TextBox 12"/>
          <p:cNvSpPr txBox="1"/>
          <p:nvPr/>
        </p:nvSpPr>
        <p:spPr>
          <a:xfrm>
            <a:off x="7885508" y="3409731"/>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13</a:t>
            </a:r>
          </a:p>
        </p:txBody>
      </p:sp>
      <p:sp>
        <p:nvSpPr>
          <p:cNvPr id="14" name="TextBox 13"/>
          <p:cNvSpPr txBox="1"/>
          <p:nvPr/>
        </p:nvSpPr>
        <p:spPr>
          <a:xfrm>
            <a:off x="6494660" y="3805952"/>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15" name="TextBox 14"/>
          <p:cNvSpPr txBox="1"/>
          <p:nvPr/>
        </p:nvSpPr>
        <p:spPr>
          <a:xfrm>
            <a:off x="7885508" y="3779063"/>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13</a:t>
            </a:r>
          </a:p>
        </p:txBody>
      </p:sp>
      <p:sp>
        <p:nvSpPr>
          <p:cNvPr id="18" name="TextBox 17"/>
          <p:cNvSpPr txBox="1"/>
          <p:nvPr/>
        </p:nvSpPr>
        <p:spPr>
          <a:xfrm>
            <a:off x="9067004" y="3805952"/>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25</a:t>
            </a:r>
          </a:p>
        </p:txBody>
      </p:sp>
      <p:sp>
        <p:nvSpPr>
          <p:cNvPr id="19" name="TextBox 18"/>
          <p:cNvSpPr txBox="1"/>
          <p:nvPr/>
        </p:nvSpPr>
        <p:spPr>
          <a:xfrm>
            <a:off x="6494660" y="4175284"/>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12</a:t>
            </a:r>
          </a:p>
        </p:txBody>
      </p:sp>
      <p:sp>
        <p:nvSpPr>
          <p:cNvPr id="20" name="TextBox 19"/>
          <p:cNvSpPr txBox="1"/>
          <p:nvPr/>
        </p:nvSpPr>
        <p:spPr>
          <a:xfrm>
            <a:off x="7885508" y="4148395"/>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13</a:t>
            </a:r>
          </a:p>
        </p:txBody>
      </p:sp>
      <p:sp>
        <p:nvSpPr>
          <p:cNvPr id="21" name="TextBox 20"/>
          <p:cNvSpPr txBox="1"/>
          <p:nvPr/>
        </p:nvSpPr>
        <p:spPr>
          <a:xfrm>
            <a:off x="9046784" y="4175284"/>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25</a:t>
            </a:r>
          </a:p>
        </p:txBody>
      </p:sp>
      <p:sp>
        <p:nvSpPr>
          <p:cNvPr id="22" name="TextBox 21"/>
          <p:cNvSpPr txBox="1"/>
          <p:nvPr/>
        </p:nvSpPr>
        <p:spPr>
          <a:xfrm>
            <a:off x="6494660" y="4489240"/>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23" name="TextBox 22"/>
          <p:cNvSpPr txBox="1"/>
          <p:nvPr/>
        </p:nvSpPr>
        <p:spPr>
          <a:xfrm>
            <a:off x="7885508" y="4462351"/>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13</a:t>
            </a:r>
          </a:p>
        </p:txBody>
      </p:sp>
      <p:sp>
        <p:nvSpPr>
          <p:cNvPr id="24" name="TextBox 23"/>
          <p:cNvSpPr txBox="1"/>
          <p:nvPr/>
        </p:nvSpPr>
        <p:spPr>
          <a:xfrm>
            <a:off x="9046784" y="4489240"/>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25</a:t>
            </a:r>
          </a:p>
        </p:txBody>
      </p:sp>
      <p:sp>
        <p:nvSpPr>
          <p:cNvPr id="25" name="TextBox 24"/>
          <p:cNvSpPr txBox="1"/>
          <p:nvPr/>
        </p:nvSpPr>
        <p:spPr>
          <a:xfrm>
            <a:off x="6494660" y="4913948"/>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12</a:t>
            </a:r>
          </a:p>
        </p:txBody>
      </p:sp>
      <p:sp>
        <p:nvSpPr>
          <p:cNvPr id="26" name="TextBox 25"/>
          <p:cNvSpPr txBox="1"/>
          <p:nvPr/>
        </p:nvSpPr>
        <p:spPr>
          <a:xfrm>
            <a:off x="7885508" y="4887059"/>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13</a:t>
            </a:r>
          </a:p>
        </p:txBody>
      </p:sp>
      <p:sp>
        <p:nvSpPr>
          <p:cNvPr id="27" name="TextBox 26"/>
          <p:cNvSpPr txBox="1"/>
          <p:nvPr/>
        </p:nvSpPr>
        <p:spPr>
          <a:xfrm>
            <a:off x="9064279" y="4854380"/>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25</a:t>
            </a:r>
          </a:p>
        </p:txBody>
      </p:sp>
      <p:sp>
        <p:nvSpPr>
          <p:cNvPr id="28" name="TextBox 27"/>
          <p:cNvSpPr txBox="1"/>
          <p:nvPr/>
        </p:nvSpPr>
        <p:spPr>
          <a:xfrm>
            <a:off x="10057604" y="4898906"/>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25</a:t>
            </a:r>
          </a:p>
        </p:txBody>
      </p:sp>
      <p:sp>
        <p:nvSpPr>
          <p:cNvPr id="29" name="TextBox 28"/>
          <p:cNvSpPr txBox="1"/>
          <p:nvPr/>
        </p:nvSpPr>
        <p:spPr>
          <a:xfrm>
            <a:off x="7065764" y="1046956"/>
            <a:ext cx="1894493"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Tracing the code</a:t>
            </a:r>
          </a:p>
        </p:txBody>
      </p:sp>
    </p:spTree>
    <p:extLst>
      <p:ext uri="{BB962C8B-B14F-4D97-AF65-F5344CB8AC3E}">
        <p14:creationId xmlns:p14="http://schemas.microsoft.com/office/powerpoint/2010/main" val="443958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anim calcmode="lin" valueType="num">
                                      <p:cBhvr>
                                        <p:cTn id="53" dur="1000" fill="hold"/>
                                        <p:tgtEl>
                                          <p:spTgt spid="14"/>
                                        </p:tgtEl>
                                        <p:attrNameLst>
                                          <p:attrName>ppt_x</p:attrName>
                                        </p:attrNameLst>
                                      </p:cBhvr>
                                      <p:tavLst>
                                        <p:tav tm="0">
                                          <p:val>
                                            <p:strVal val="#ppt_x"/>
                                          </p:val>
                                        </p:tav>
                                        <p:tav tm="100000">
                                          <p:val>
                                            <p:strVal val="#ppt_x"/>
                                          </p:val>
                                        </p:tav>
                                      </p:tavLst>
                                    </p:anim>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1000"/>
                                        <p:tgtEl>
                                          <p:spTgt spid="15"/>
                                        </p:tgtEl>
                                      </p:cBhvr>
                                    </p:animEffect>
                                    <p:anim calcmode="lin" valueType="num">
                                      <p:cBhvr>
                                        <p:cTn id="58" dur="1000" fill="hold"/>
                                        <p:tgtEl>
                                          <p:spTgt spid="15"/>
                                        </p:tgtEl>
                                        <p:attrNameLst>
                                          <p:attrName>ppt_x</p:attrName>
                                        </p:attrNameLst>
                                      </p:cBhvr>
                                      <p:tavLst>
                                        <p:tav tm="0">
                                          <p:val>
                                            <p:strVal val="#ppt_x"/>
                                          </p:val>
                                        </p:tav>
                                        <p:tav tm="100000">
                                          <p:val>
                                            <p:strVal val="#ppt_x"/>
                                          </p:val>
                                        </p:tav>
                                      </p:tavLst>
                                    </p:anim>
                                    <p:anim calcmode="lin" valueType="num">
                                      <p:cBhvr>
                                        <p:cTn id="5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1000"/>
                                        <p:tgtEl>
                                          <p:spTgt spid="18"/>
                                        </p:tgtEl>
                                      </p:cBhvr>
                                    </p:animEffect>
                                    <p:anim calcmode="lin" valueType="num">
                                      <p:cBhvr>
                                        <p:cTn id="65" dur="1000" fill="hold"/>
                                        <p:tgtEl>
                                          <p:spTgt spid="18"/>
                                        </p:tgtEl>
                                        <p:attrNameLst>
                                          <p:attrName>ppt_x</p:attrName>
                                        </p:attrNameLst>
                                      </p:cBhvr>
                                      <p:tavLst>
                                        <p:tav tm="0">
                                          <p:val>
                                            <p:strVal val="#ppt_x"/>
                                          </p:val>
                                        </p:tav>
                                        <p:tav tm="100000">
                                          <p:val>
                                            <p:strVal val="#ppt_x"/>
                                          </p:val>
                                        </p:tav>
                                      </p:tavLst>
                                    </p:anim>
                                    <p:anim calcmode="lin" valueType="num">
                                      <p:cBhvr>
                                        <p:cTn id="6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anim calcmode="lin" valueType="num">
                                      <p:cBhvr>
                                        <p:cTn id="72" dur="1000" fill="hold"/>
                                        <p:tgtEl>
                                          <p:spTgt spid="19"/>
                                        </p:tgtEl>
                                        <p:attrNameLst>
                                          <p:attrName>ppt_x</p:attrName>
                                        </p:attrNameLst>
                                      </p:cBhvr>
                                      <p:tavLst>
                                        <p:tav tm="0">
                                          <p:val>
                                            <p:strVal val="#ppt_x"/>
                                          </p:val>
                                        </p:tav>
                                        <p:tav tm="100000">
                                          <p:val>
                                            <p:strVal val="#ppt_x"/>
                                          </p:val>
                                        </p:tav>
                                      </p:tavLst>
                                    </p:anim>
                                    <p:anim calcmode="lin" valueType="num">
                                      <p:cBhvr>
                                        <p:cTn id="73" dur="1000" fill="hold"/>
                                        <p:tgtEl>
                                          <p:spTgt spid="1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1000"/>
                                        <p:tgtEl>
                                          <p:spTgt spid="20"/>
                                        </p:tgtEl>
                                      </p:cBhvr>
                                    </p:animEffect>
                                    <p:anim calcmode="lin" valueType="num">
                                      <p:cBhvr>
                                        <p:cTn id="77" dur="1000" fill="hold"/>
                                        <p:tgtEl>
                                          <p:spTgt spid="20"/>
                                        </p:tgtEl>
                                        <p:attrNameLst>
                                          <p:attrName>ppt_x</p:attrName>
                                        </p:attrNameLst>
                                      </p:cBhvr>
                                      <p:tavLst>
                                        <p:tav tm="0">
                                          <p:val>
                                            <p:strVal val="#ppt_x"/>
                                          </p:val>
                                        </p:tav>
                                        <p:tav tm="100000">
                                          <p:val>
                                            <p:strVal val="#ppt_x"/>
                                          </p:val>
                                        </p:tav>
                                      </p:tavLst>
                                    </p:anim>
                                    <p:anim calcmode="lin" valueType="num">
                                      <p:cBhvr>
                                        <p:cTn id="78" dur="1000" fill="hold"/>
                                        <p:tgtEl>
                                          <p:spTgt spid="20"/>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1000"/>
                                        <p:tgtEl>
                                          <p:spTgt spid="21"/>
                                        </p:tgtEl>
                                      </p:cBhvr>
                                    </p:animEffect>
                                    <p:anim calcmode="lin" valueType="num">
                                      <p:cBhvr>
                                        <p:cTn id="82" dur="1000" fill="hold"/>
                                        <p:tgtEl>
                                          <p:spTgt spid="21"/>
                                        </p:tgtEl>
                                        <p:attrNameLst>
                                          <p:attrName>ppt_x</p:attrName>
                                        </p:attrNameLst>
                                      </p:cBhvr>
                                      <p:tavLst>
                                        <p:tav tm="0">
                                          <p:val>
                                            <p:strVal val="#ppt_x"/>
                                          </p:val>
                                        </p:tav>
                                        <p:tav tm="100000">
                                          <p:val>
                                            <p:strVal val="#ppt_x"/>
                                          </p:val>
                                        </p:tav>
                                      </p:tavLst>
                                    </p:anim>
                                    <p:anim calcmode="lin" valueType="num">
                                      <p:cBhvr>
                                        <p:cTn id="8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1000"/>
                                        <p:tgtEl>
                                          <p:spTgt spid="22"/>
                                        </p:tgtEl>
                                      </p:cBhvr>
                                    </p:animEffect>
                                    <p:anim calcmode="lin" valueType="num">
                                      <p:cBhvr>
                                        <p:cTn id="89" dur="1000" fill="hold"/>
                                        <p:tgtEl>
                                          <p:spTgt spid="22"/>
                                        </p:tgtEl>
                                        <p:attrNameLst>
                                          <p:attrName>ppt_x</p:attrName>
                                        </p:attrNameLst>
                                      </p:cBhvr>
                                      <p:tavLst>
                                        <p:tav tm="0">
                                          <p:val>
                                            <p:strVal val="#ppt_x"/>
                                          </p:val>
                                        </p:tav>
                                        <p:tav tm="100000">
                                          <p:val>
                                            <p:strVal val="#ppt_x"/>
                                          </p:val>
                                        </p:tav>
                                      </p:tavLst>
                                    </p:anim>
                                    <p:anim calcmode="lin" valueType="num">
                                      <p:cBhvr>
                                        <p:cTn id="90" dur="1000" fill="hold"/>
                                        <p:tgtEl>
                                          <p:spTgt spid="22"/>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1000"/>
                                        <p:tgtEl>
                                          <p:spTgt spid="23"/>
                                        </p:tgtEl>
                                      </p:cBhvr>
                                    </p:animEffect>
                                    <p:anim calcmode="lin" valueType="num">
                                      <p:cBhvr>
                                        <p:cTn id="94" dur="1000" fill="hold"/>
                                        <p:tgtEl>
                                          <p:spTgt spid="23"/>
                                        </p:tgtEl>
                                        <p:attrNameLst>
                                          <p:attrName>ppt_x</p:attrName>
                                        </p:attrNameLst>
                                      </p:cBhvr>
                                      <p:tavLst>
                                        <p:tav tm="0">
                                          <p:val>
                                            <p:strVal val="#ppt_x"/>
                                          </p:val>
                                        </p:tav>
                                        <p:tav tm="100000">
                                          <p:val>
                                            <p:strVal val="#ppt_x"/>
                                          </p:val>
                                        </p:tav>
                                      </p:tavLst>
                                    </p:anim>
                                    <p:anim calcmode="lin" valueType="num">
                                      <p:cBhvr>
                                        <p:cTn id="95" dur="1000" fill="hold"/>
                                        <p:tgtEl>
                                          <p:spTgt spid="23"/>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1000"/>
                                        <p:tgtEl>
                                          <p:spTgt spid="24"/>
                                        </p:tgtEl>
                                      </p:cBhvr>
                                    </p:animEffect>
                                    <p:anim calcmode="lin" valueType="num">
                                      <p:cBhvr>
                                        <p:cTn id="99" dur="1000" fill="hold"/>
                                        <p:tgtEl>
                                          <p:spTgt spid="24"/>
                                        </p:tgtEl>
                                        <p:attrNameLst>
                                          <p:attrName>ppt_x</p:attrName>
                                        </p:attrNameLst>
                                      </p:cBhvr>
                                      <p:tavLst>
                                        <p:tav tm="0">
                                          <p:val>
                                            <p:strVal val="#ppt_x"/>
                                          </p:val>
                                        </p:tav>
                                        <p:tav tm="100000">
                                          <p:val>
                                            <p:strVal val="#ppt_x"/>
                                          </p:val>
                                        </p:tav>
                                      </p:tavLst>
                                    </p:anim>
                                    <p:anim calcmode="lin" valueType="num">
                                      <p:cBhvr>
                                        <p:cTn id="10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1000"/>
                                        <p:tgtEl>
                                          <p:spTgt spid="25"/>
                                        </p:tgtEl>
                                      </p:cBhvr>
                                    </p:animEffect>
                                    <p:anim calcmode="lin" valueType="num">
                                      <p:cBhvr>
                                        <p:cTn id="106" dur="1000" fill="hold"/>
                                        <p:tgtEl>
                                          <p:spTgt spid="25"/>
                                        </p:tgtEl>
                                        <p:attrNameLst>
                                          <p:attrName>ppt_x</p:attrName>
                                        </p:attrNameLst>
                                      </p:cBhvr>
                                      <p:tavLst>
                                        <p:tav tm="0">
                                          <p:val>
                                            <p:strVal val="#ppt_x"/>
                                          </p:val>
                                        </p:tav>
                                        <p:tav tm="100000">
                                          <p:val>
                                            <p:strVal val="#ppt_x"/>
                                          </p:val>
                                        </p:tav>
                                      </p:tavLst>
                                    </p:anim>
                                    <p:anim calcmode="lin" valueType="num">
                                      <p:cBhvr>
                                        <p:cTn id="107" dur="10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1000"/>
                                        <p:tgtEl>
                                          <p:spTgt spid="26"/>
                                        </p:tgtEl>
                                      </p:cBhvr>
                                    </p:animEffect>
                                    <p:anim calcmode="lin" valueType="num">
                                      <p:cBhvr>
                                        <p:cTn id="111" dur="1000" fill="hold"/>
                                        <p:tgtEl>
                                          <p:spTgt spid="26"/>
                                        </p:tgtEl>
                                        <p:attrNameLst>
                                          <p:attrName>ppt_x</p:attrName>
                                        </p:attrNameLst>
                                      </p:cBhvr>
                                      <p:tavLst>
                                        <p:tav tm="0">
                                          <p:val>
                                            <p:strVal val="#ppt_x"/>
                                          </p:val>
                                        </p:tav>
                                        <p:tav tm="100000">
                                          <p:val>
                                            <p:strVal val="#ppt_x"/>
                                          </p:val>
                                        </p:tav>
                                      </p:tavLst>
                                    </p:anim>
                                    <p:anim calcmode="lin" valueType="num">
                                      <p:cBhvr>
                                        <p:cTn id="112" dur="10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1000"/>
                                        <p:tgtEl>
                                          <p:spTgt spid="27"/>
                                        </p:tgtEl>
                                      </p:cBhvr>
                                    </p:animEffect>
                                    <p:anim calcmode="lin" valueType="num">
                                      <p:cBhvr>
                                        <p:cTn id="116" dur="1000" fill="hold"/>
                                        <p:tgtEl>
                                          <p:spTgt spid="27"/>
                                        </p:tgtEl>
                                        <p:attrNameLst>
                                          <p:attrName>ppt_x</p:attrName>
                                        </p:attrNameLst>
                                      </p:cBhvr>
                                      <p:tavLst>
                                        <p:tav tm="0">
                                          <p:val>
                                            <p:strVal val="#ppt_x"/>
                                          </p:val>
                                        </p:tav>
                                        <p:tav tm="100000">
                                          <p:val>
                                            <p:strVal val="#ppt_x"/>
                                          </p:val>
                                        </p:tav>
                                      </p:tavLst>
                                    </p:anim>
                                    <p:anim calcmode="lin" valueType="num">
                                      <p:cBhvr>
                                        <p:cTn id="11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grpId="0" nodeType="clickEffect">
                                  <p:stCondLst>
                                    <p:cond delay="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1000"/>
                                        <p:tgtEl>
                                          <p:spTgt spid="28"/>
                                        </p:tgtEl>
                                      </p:cBhvr>
                                    </p:animEffect>
                                    <p:anim calcmode="lin" valueType="num">
                                      <p:cBhvr>
                                        <p:cTn id="123" dur="1000" fill="hold"/>
                                        <p:tgtEl>
                                          <p:spTgt spid="28"/>
                                        </p:tgtEl>
                                        <p:attrNameLst>
                                          <p:attrName>ppt_x</p:attrName>
                                        </p:attrNameLst>
                                      </p:cBhvr>
                                      <p:tavLst>
                                        <p:tav tm="0">
                                          <p:val>
                                            <p:strVal val="#ppt_x"/>
                                          </p:val>
                                        </p:tav>
                                        <p:tav tm="100000">
                                          <p:val>
                                            <p:strVal val="#ppt_x"/>
                                          </p:val>
                                        </p:tav>
                                      </p:tavLst>
                                    </p:anim>
                                    <p:anim calcmode="lin" valueType="num">
                                      <p:cBhvr>
                                        <p:cTn id="12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P spid="12" grpId="0"/>
      <p:bldP spid="13" grpId="0"/>
      <p:bldP spid="14" grpId="0"/>
      <p:bldP spid="15" grpId="0"/>
      <p:bldP spid="18" grpId="0"/>
      <p:bldP spid="19" grpId="0"/>
      <p:bldP spid="20" grpId="0"/>
      <p:bldP spid="21" grpId="0"/>
      <p:bldP spid="22" grpId="0"/>
      <p:bldP spid="23" grpId="0"/>
      <p:bldP spid="24" grpId="0"/>
      <p:bldP spid="25" grpId="0"/>
      <p:bldP spid="26" grpId="0"/>
      <p:bldP spid="27" grpId="0"/>
      <p:bldP spid="2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88825" cy="787400"/>
          </a:xfrm>
        </p:spPr>
        <p:txBody>
          <a:bodyPr/>
          <a:lstStyle/>
          <a:p>
            <a:pPr algn="ctr"/>
            <a:r>
              <a:rPr lang="en-US" altLang="en-US" dirty="0">
                <a:solidFill>
                  <a:srgbClr val="FF0000"/>
                </a:solidFill>
              </a:rPr>
              <a:t>Python –</a:t>
            </a:r>
            <a:r>
              <a:rPr lang="en-US" dirty="0"/>
              <a:t> Tracing </a:t>
            </a:r>
            <a:r>
              <a:rPr lang="en-US" dirty="0">
                <a:solidFill>
                  <a:srgbClr val="FF0000"/>
                </a:solidFill>
              </a:rPr>
              <a:t>the flow</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953149909"/>
              </p:ext>
            </p:extLst>
          </p:nvPr>
        </p:nvGraphicFramePr>
        <p:xfrm>
          <a:off x="684484" y="942319"/>
          <a:ext cx="5405933" cy="3337560"/>
        </p:xfrm>
        <a:graphic>
          <a:graphicData uri="http://schemas.openxmlformats.org/drawingml/2006/table">
            <a:tbl>
              <a:tblPr firstRow="1" bandRow="1">
                <a:tableStyleId>{2D5ABB26-0587-4C30-8999-92F81FD0307C}</a:tableStyleId>
              </a:tblPr>
              <a:tblGrid>
                <a:gridCol w="281279">
                  <a:extLst>
                    <a:ext uri="{9D8B030D-6E8A-4147-A177-3AD203B41FA5}">
                      <a16:colId xmlns:a16="http://schemas.microsoft.com/office/drawing/2014/main" val="4086902722"/>
                    </a:ext>
                  </a:extLst>
                </a:gridCol>
                <a:gridCol w="5124654">
                  <a:extLst>
                    <a:ext uri="{9D8B030D-6E8A-4147-A177-3AD203B41FA5}">
                      <a16:colId xmlns:a16="http://schemas.microsoft.com/office/drawing/2014/main" val="1258252085"/>
                    </a:ext>
                  </a:extLst>
                </a:gridCol>
              </a:tblGrid>
              <a:tr h="370840">
                <a:tc>
                  <a:txBody>
                    <a:bodyPr/>
                    <a:lstStyle/>
                    <a:p>
                      <a:r>
                        <a:rPr lang="en-US" sz="1800" dirty="0">
                          <a:latin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Calibri" panose="020F0502020204030204" pitchFamily="34" charset="0"/>
                          <a:cs typeface="Calibri" panose="020F0502020204030204" pitchFamily="34" charset="0"/>
                        </a:rPr>
                        <a:t># Input section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1800" dirty="0">
                          <a:latin typeface="Calibri" panose="020F0502020204030204" pitchFamily="34" charset="0"/>
                          <a:cs typeface="Calibri" panose="020F050202020403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hoursWorked = float(input('Enter hours worked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1800" dirty="0">
                          <a:latin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cs typeface="Calibri" panose="020F0502020204030204" pitchFamily="34" charset="0"/>
                        </a:rPr>
                        <a:t>hourlyPayRate = float(input('Enter hourly pay rate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1800" dirty="0">
                          <a:latin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1800" dirty="0">
                          <a:latin typeface="Calibri" panose="020F0502020204030204" pitchFamily="34" charset="0"/>
                          <a:cs typeface="Calibri" panose="020F05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t># calculate weekly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1800" dirty="0">
                          <a:latin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t>grossPay = hoursWorked * hourlyPayRate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1800" dirty="0">
                          <a:latin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511008"/>
                  </a:ext>
                </a:extLst>
              </a:tr>
              <a:tr h="370840">
                <a:tc>
                  <a:txBody>
                    <a:bodyPr/>
                    <a:lstStyle/>
                    <a:p>
                      <a:r>
                        <a:rPr lang="en-US" sz="1800" dirty="0">
                          <a:latin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t># print 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484415"/>
                  </a:ext>
                </a:extLst>
              </a:tr>
              <a:tr h="370840">
                <a:tc>
                  <a:txBody>
                    <a:bodyPr/>
                    <a:lstStyle/>
                    <a:p>
                      <a:r>
                        <a:rPr lang="en-US" sz="1800" dirty="0">
                          <a:latin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sz="1800" dirty="0"/>
                        <a:t>print('My total pay is ', grossPay)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073957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8810506"/>
              </p:ext>
            </p:extLst>
          </p:nvPr>
        </p:nvGraphicFramePr>
        <p:xfrm>
          <a:off x="6162028" y="1473735"/>
          <a:ext cx="4627944" cy="3708400"/>
        </p:xfrm>
        <a:graphic>
          <a:graphicData uri="http://schemas.openxmlformats.org/drawingml/2006/table">
            <a:tbl>
              <a:tblPr firstRow="1" bandRow="1">
                <a:tableStyleId>{2D5ABB26-0587-4C30-8999-92F81FD0307C}</a:tableStyleId>
              </a:tblPr>
              <a:tblGrid>
                <a:gridCol w="372174">
                  <a:extLst>
                    <a:ext uri="{9D8B030D-6E8A-4147-A177-3AD203B41FA5}">
                      <a16:colId xmlns:a16="http://schemas.microsoft.com/office/drawing/2014/main" val="4086902722"/>
                    </a:ext>
                  </a:extLst>
                </a:gridCol>
                <a:gridCol w="1485964">
                  <a:extLst>
                    <a:ext uri="{9D8B030D-6E8A-4147-A177-3AD203B41FA5}">
                      <a16:colId xmlns:a16="http://schemas.microsoft.com/office/drawing/2014/main" val="1258252085"/>
                    </a:ext>
                  </a:extLst>
                </a:gridCol>
                <a:gridCol w="1572514">
                  <a:extLst>
                    <a:ext uri="{9D8B030D-6E8A-4147-A177-3AD203B41FA5}">
                      <a16:colId xmlns:a16="http://schemas.microsoft.com/office/drawing/2014/main" val="1081629113"/>
                    </a:ext>
                  </a:extLst>
                </a:gridCol>
                <a:gridCol w="1197292">
                  <a:extLst>
                    <a:ext uri="{9D8B030D-6E8A-4147-A177-3AD203B41FA5}">
                      <a16:colId xmlns:a16="http://schemas.microsoft.com/office/drawing/2014/main" val="1575855729"/>
                    </a:ext>
                  </a:extLst>
                </a:gridCol>
              </a:tblGrid>
              <a:tr h="370840">
                <a:tc>
                  <a:txBody>
                    <a:bodyPr/>
                    <a:lstStyle/>
                    <a:p>
                      <a:r>
                        <a:rPr lang="en-US" sz="1800" dirty="0">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hoursWorked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Calibri" panose="020F0502020204030204" pitchFamily="34" charset="0"/>
                          <a:cs typeface="Calibri" panose="020F0502020204030204" pitchFamily="34" charset="0"/>
                        </a:rPr>
                        <a:t>hourlyPayRate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grossPay</a:t>
                      </a: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251341"/>
                  </a:ext>
                </a:extLst>
              </a:tr>
              <a:tr h="370840">
                <a:tc>
                  <a:txBody>
                    <a:bodyPr/>
                    <a:lstStyle/>
                    <a:p>
                      <a:r>
                        <a:rPr lang="en-US" sz="1800" dirty="0">
                          <a:latin typeface="Calibri" panose="020F0502020204030204" pitchFamily="34" charset="0"/>
                          <a:cs typeface="Calibri" panose="020F050202020403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956975"/>
                  </a:ext>
                </a:extLst>
              </a:tr>
              <a:tr h="370840">
                <a:tc>
                  <a:txBody>
                    <a:bodyPr/>
                    <a:lstStyle/>
                    <a:p>
                      <a:r>
                        <a:rPr lang="en-US" sz="1800" dirty="0">
                          <a:latin typeface="Calibri" panose="020F0502020204030204" pitchFamily="34" charset="0"/>
                          <a:cs typeface="Calibri" panose="020F050202020403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687273"/>
                  </a:ext>
                </a:extLst>
              </a:tr>
              <a:tr h="370840">
                <a:tc>
                  <a:txBody>
                    <a:bodyPr/>
                    <a:lstStyle/>
                    <a:p>
                      <a:r>
                        <a:rPr lang="en-US" sz="1800" dirty="0">
                          <a:latin typeface="Calibri" panose="020F0502020204030204" pitchFamily="34" charset="0"/>
                          <a:cs typeface="Calibri" panose="020F050202020403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00361"/>
                  </a:ext>
                </a:extLst>
              </a:tr>
              <a:tr h="370840">
                <a:tc>
                  <a:txBody>
                    <a:bodyPr/>
                    <a:lstStyle/>
                    <a:p>
                      <a:r>
                        <a:rPr lang="en-US" sz="1800" dirty="0">
                          <a:latin typeface="Calibri" panose="020F0502020204030204" pitchFamily="34" charset="0"/>
                          <a:cs typeface="Calibri" panose="020F050202020403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900494"/>
                  </a:ext>
                </a:extLst>
              </a:tr>
              <a:tr h="370840">
                <a:tc>
                  <a:txBody>
                    <a:bodyPr/>
                    <a:lstStyle/>
                    <a:p>
                      <a:r>
                        <a:rPr lang="en-US" sz="1800" dirty="0">
                          <a:latin typeface="Calibri" panose="020F0502020204030204" pitchFamily="34" charset="0"/>
                          <a:cs typeface="Calibri" panose="020F050202020403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3404520"/>
                  </a:ext>
                </a:extLst>
              </a:tr>
              <a:tr h="370840">
                <a:tc>
                  <a:txBody>
                    <a:bodyPr/>
                    <a:lstStyle/>
                    <a:p>
                      <a:r>
                        <a:rPr lang="en-US" sz="1800" dirty="0">
                          <a:latin typeface="Calibri" panose="020F0502020204030204" pitchFamily="34" charset="0"/>
                          <a:cs typeface="Calibri" panose="020F050202020403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544899"/>
                  </a:ext>
                </a:extLst>
              </a:tr>
              <a:tr h="370840">
                <a:tc>
                  <a:txBody>
                    <a:bodyPr/>
                    <a:lstStyle/>
                    <a:p>
                      <a:r>
                        <a:rPr lang="en-US" sz="1800" dirty="0">
                          <a:latin typeface="Calibri" panose="020F0502020204030204" pitchFamily="34" charset="0"/>
                          <a:cs typeface="Calibri" panose="020F0502020204030204" pitchFamily="34"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218285"/>
                  </a:ext>
                </a:extLst>
              </a:tr>
              <a:tr h="370840">
                <a:tc>
                  <a:txBody>
                    <a:bodyPr/>
                    <a:lstStyle/>
                    <a:p>
                      <a:r>
                        <a:rPr lang="en-US" sz="1800" dirty="0">
                          <a:latin typeface="Calibri" panose="020F0502020204030204" pitchFamily="34" charset="0"/>
                          <a:cs typeface="Calibri" panose="020F0502020204030204"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241781"/>
                  </a:ext>
                </a:extLst>
              </a:tr>
              <a:tr h="370840">
                <a:tc>
                  <a:txBody>
                    <a:bodyPr/>
                    <a:lstStyle/>
                    <a:p>
                      <a:r>
                        <a:rPr lang="en-US" sz="1800" dirty="0">
                          <a:latin typeface="Calibri" panose="020F0502020204030204" pitchFamily="34" charset="0"/>
                          <a:cs typeface="Calibri" panose="020F050202020403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endParaRPr lang="en-US" sz="18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264355"/>
                  </a:ext>
                </a:extLst>
              </a:tr>
            </a:tbl>
          </a:graphicData>
        </a:graphic>
      </p:graphicFrame>
      <p:sp>
        <p:nvSpPr>
          <p:cNvPr id="6" name="TextBox 5"/>
          <p:cNvSpPr txBox="1"/>
          <p:nvPr/>
        </p:nvSpPr>
        <p:spPr>
          <a:xfrm>
            <a:off x="7019221" y="853221"/>
            <a:ext cx="1967205"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Behind the scene</a:t>
            </a:r>
          </a:p>
        </p:txBody>
      </p:sp>
      <p:sp>
        <p:nvSpPr>
          <p:cNvPr id="4" name="Rectangle 3"/>
          <p:cNvSpPr/>
          <p:nvPr/>
        </p:nvSpPr>
        <p:spPr>
          <a:xfrm>
            <a:off x="1440908" y="5662685"/>
            <a:ext cx="6092825" cy="461665"/>
          </a:xfrm>
          <a:prstGeom prst="rect">
            <a:avLst/>
          </a:prstGeom>
        </p:spPr>
        <p:txBody>
          <a:bodyPr>
            <a:spAutoFit/>
          </a:bodyPr>
          <a:lstStyle/>
          <a:p>
            <a:pPr>
              <a:defRPr/>
            </a:pPr>
            <a:r>
              <a:rPr lang="en-US" dirty="0">
                <a:latin typeface="Calibri" panose="020F0502020204030204" pitchFamily="34" charset="0"/>
                <a:cs typeface="Calibri" panose="020F0502020204030204" pitchFamily="34" charset="0"/>
              </a:rPr>
              <a:t>@9 - My total pay is  200.0</a:t>
            </a:r>
          </a:p>
        </p:txBody>
      </p:sp>
      <p:sp>
        <p:nvSpPr>
          <p:cNvPr id="9" name="Rectangle 8"/>
          <p:cNvSpPr/>
          <p:nvPr/>
        </p:nvSpPr>
        <p:spPr>
          <a:xfrm>
            <a:off x="1469089" y="4689088"/>
            <a:ext cx="3295839" cy="461665"/>
          </a:xfrm>
          <a:prstGeom prst="rect">
            <a:avLst/>
          </a:prstGeom>
        </p:spPr>
        <p:txBody>
          <a:bodyPr wrap="none">
            <a:spAutoFit/>
          </a:bodyPr>
          <a:lstStyle/>
          <a:p>
            <a:pPr>
              <a:defRPr/>
            </a:pPr>
            <a:r>
              <a:rPr lang="en-US" dirty="0">
                <a:latin typeface="Calibri" panose="020F0502020204030204" pitchFamily="34" charset="0"/>
                <a:cs typeface="Calibri" panose="020F0502020204030204" pitchFamily="34" charset="0"/>
              </a:rPr>
              <a:t>@2 - Enter hours worked</a:t>
            </a:r>
            <a:endParaRPr lang="en-US" dirty="0">
              <a:solidFill>
                <a:srgbClr val="FF0000"/>
              </a:solidFill>
              <a:latin typeface="Calibri" panose="020F0502020204030204" pitchFamily="34" charset="0"/>
              <a:cs typeface="Calibri" panose="020F0502020204030204" pitchFamily="34" charset="0"/>
            </a:endParaRPr>
          </a:p>
        </p:txBody>
      </p:sp>
      <p:sp>
        <p:nvSpPr>
          <p:cNvPr id="10" name="TextBox 9"/>
          <p:cNvSpPr txBox="1"/>
          <p:nvPr/>
        </p:nvSpPr>
        <p:spPr>
          <a:xfrm>
            <a:off x="6938985" y="2185118"/>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11" name="TextBox 10"/>
          <p:cNvSpPr txBox="1"/>
          <p:nvPr/>
        </p:nvSpPr>
        <p:spPr>
          <a:xfrm>
            <a:off x="6938985" y="2548864"/>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12" name="TextBox 11"/>
          <p:cNvSpPr txBox="1"/>
          <p:nvPr/>
        </p:nvSpPr>
        <p:spPr>
          <a:xfrm>
            <a:off x="8361775" y="2569895"/>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10</a:t>
            </a:r>
          </a:p>
        </p:txBody>
      </p:sp>
      <p:sp>
        <p:nvSpPr>
          <p:cNvPr id="13" name="TextBox 12"/>
          <p:cNvSpPr txBox="1"/>
          <p:nvPr/>
        </p:nvSpPr>
        <p:spPr>
          <a:xfrm>
            <a:off x="6970927" y="2958603"/>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14" name="TextBox 13"/>
          <p:cNvSpPr txBox="1"/>
          <p:nvPr/>
        </p:nvSpPr>
        <p:spPr>
          <a:xfrm>
            <a:off x="8361775" y="2931714"/>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10</a:t>
            </a:r>
          </a:p>
        </p:txBody>
      </p:sp>
      <p:sp>
        <p:nvSpPr>
          <p:cNvPr id="15" name="TextBox 14"/>
          <p:cNvSpPr txBox="1"/>
          <p:nvPr/>
        </p:nvSpPr>
        <p:spPr>
          <a:xfrm>
            <a:off x="6970927" y="3327935"/>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20</a:t>
            </a:r>
          </a:p>
        </p:txBody>
      </p:sp>
      <p:sp>
        <p:nvSpPr>
          <p:cNvPr id="16" name="TextBox 15"/>
          <p:cNvSpPr txBox="1"/>
          <p:nvPr/>
        </p:nvSpPr>
        <p:spPr>
          <a:xfrm>
            <a:off x="8361775" y="3301046"/>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10</a:t>
            </a:r>
          </a:p>
        </p:txBody>
      </p:sp>
      <p:sp>
        <p:nvSpPr>
          <p:cNvPr id="17" name="TextBox 16"/>
          <p:cNvSpPr txBox="1"/>
          <p:nvPr/>
        </p:nvSpPr>
        <p:spPr>
          <a:xfrm>
            <a:off x="6970927" y="3683823"/>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18" name="TextBox 17"/>
          <p:cNvSpPr txBox="1"/>
          <p:nvPr/>
        </p:nvSpPr>
        <p:spPr>
          <a:xfrm>
            <a:off x="8361775" y="3656934"/>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10</a:t>
            </a:r>
          </a:p>
        </p:txBody>
      </p:sp>
      <p:sp>
        <p:nvSpPr>
          <p:cNvPr id="19" name="TextBox 18"/>
          <p:cNvSpPr txBox="1"/>
          <p:nvPr/>
        </p:nvSpPr>
        <p:spPr>
          <a:xfrm>
            <a:off x="9564316" y="3656934"/>
            <a:ext cx="53572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200</a:t>
            </a:r>
          </a:p>
        </p:txBody>
      </p:sp>
      <p:sp>
        <p:nvSpPr>
          <p:cNvPr id="20" name="TextBox 19"/>
          <p:cNvSpPr txBox="1"/>
          <p:nvPr/>
        </p:nvSpPr>
        <p:spPr>
          <a:xfrm>
            <a:off x="6970927" y="4038874"/>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20</a:t>
            </a:r>
          </a:p>
        </p:txBody>
      </p:sp>
      <p:sp>
        <p:nvSpPr>
          <p:cNvPr id="21" name="TextBox 20"/>
          <p:cNvSpPr txBox="1"/>
          <p:nvPr/>
        </p:nvSpPr>
        <p:spPr>
          <a:xfrm>
            <a:off x="8361775" y="4011985"/>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10</a:t>
            </a:r>
          </a:p>
        </p:txBody>
      </p:sp>
      <p:sp>
        <p:nvSpPr>
          <p:cNvPr id="22" name="TextBox 21"/>
          <p:cNvSpPr txBox="1"/>
          <p:nvPr/>
        </p:nvSpPr>
        <p:spPr>
          <a:xfrm>
            <a:off x="9564316" y="4038874"/>
            <a:ext cx="571104" cy="36933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200</a:t>
            </a:r>
          </a:p>
        </p:txBody>
      </p:sp>
      <p:sp>
        <p:nvSpPr>
          <p:cNvPr id="23" name="TextBox 22"/>
          <p:cNvSpPr txBox="1"/>
          <p:nvPr/>
        </p:nvSpPr>
        <p:spPr>
          <a:xfrm>
            <a:off x="6970927" y="4381317"/>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24" name="TextBox 23"/>
          <p:cNvSpPr txBox="1"/>
          <p:nvPr/>
        </p:nvSpPr>
        <p:spPr>
          <a:xfrm>
            <a:off x="8361775" y="4354428"/>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10</a:t>
            </a:r>
          </a:p>
        </p:txBody>
      </p:sp>
      <p:sp>
        <p:nvSpPr>
          <p:cNvPr id="25" name="TextBox 24"/>
          <p:cNvSpPr txBox="1"/>
          <p:nvPr/>
        </p:nvSpPr>
        <p:spPr>
          <a:xfrm>
            <a:off x="9564316" y="4381317"/>
            <a:ext cx="53572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200</a:t>
            </a:r>
          </a:p>
        </p:txBody>
      </p:sp>
      <p:sp>
        <p:nvSpPr>
          <p:cNvPr id="26" name="TextBox 25"/>
          <p:cNvSpPr txBox="1"/>
          <p:nvPr/>
        </p:nvSpPr>
        <p:spPr>
          <a:xfrm>
            <a:off x="6970927" y="4752397"/>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a:t>
            </a:r>
          </a:p>
        </p:txBody>
      </p:sp>
      <p:sp>
        <p:nvSpPr>
          <p:cNvPr id="27" name="TextBox 26"/>
          <p:cNvSpPr txBox="1"/>
          <p:nvPr/>
        </p:nvSpPr>
        <p:spPr>
          <a:xfrm>
            <a:off x="8361775" y="4725508"/>
            <a:ext cx="41870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10</a:t>
            </a:r>
          </a:p>
        </p:txBody>
      </p:sp>
      <p:sp>
        <p:nvSpPr>
          <p:cNvPr id="28" name="TextBox 27"/>
          <p:cNvSpPr txBox="1"/>
          <p:nvPr/>
        </p:nvSpPr>
        <p:spPr>
          <a:xfrm>
            <a:off x="9564316" y="4692829"/>
            <a:ext cx="535724"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200</a:t>
            </a:r>
          </a:p>
        </p:txBody>
      </p:sp>
      <p:sp>
        <p:nvSpPr>
          <p:cNvPr id="30" name="Rectangle 29"/>
          <p:cNvSpPr/>
          <p:nvPr/>
        </p:nvSpPr>
        <p:spPr>
          <a:xfrm>
            <a:off x="505215" y="4231164"/>
            <a:ext cx="1199403" cy="830997"/>
          </a:xfrm>
          <a:prstGeom prst="rect">
            <a:avLst/>
          </a:prstGeom>
        </p:spPr>
        <p:txBody>
          <a:bodyPr wrap="square">
            <a:spAutoFit/>
          </a:bodyPr>
          <a:lstStyle/>
          <a:p>
            <a:pPr algn="ctr"/>
            <a:r>
              <a:rPr lang="en-US" dirty="0">
                <a:latin typeface="Calibri" panose="020F0502020204030204" pitchFamily="34" charset="0"/>
                <a:cs typeface="Calibri" panose="020F0502020204030204" pitchFamily="34" charset="0"/>
              </a:rPr>
              <a:t>Screen Display</a:t>
            </a:r>
          </a:p>
        </p:txBody>
      </p:sp>
      <p:sp>
        <p:nvSpPr>
          <p:cNvPr id="31" name="TextBox 30"/>
          <p:cNvSpPr txBox="1"/>
          <p:nvPr/>
        </p:nvSpPr>
        <p:spPr>
          <a:xfrm>
            <a:off x="4906801" y="4750396"/>
            <a:ext cx="418704" cy="369332"/>
          </a:xfrm>
          <a:prstGeom prst="rect">
            <a:avLst/>
          </a:prstGeom>
          <a:noFill/>
        </p:spPr>
        <p:txBody>
          <a:bodyPr wrap="none" rtlCol="0">
            <a:spAutoFit/>
          </a:bodyPr>
          <a:lstStyle/>
          <a:p>
            <a:r>
              <a:rPr lang="en-US" sz="1800" dirty="0">
                <a:solidFill>
                  <a:srgbClr val="FF0000"/>
                </a:solidFill>
                <a:latin typeface="Calibri" panose="020F0502020204030204" pitchFamily="34" charset="0"/>
                <a:cs typeface="Calibri" panose="020F0502020204030204" pitchFamily="34" charset="0"/>
              </a:rPr>
              <a:t>20</a:t>
            </a:r>
          </a:p>
        </p:txBody>
      </p:sp>
      <p:sp>
        <p:nvSpPr>
          <p:cNvPr id="32" name="Rectangle 31"/>
          <p:cNvSpPr/>
          <p:nvPr/>
        </p:nvSpPr>
        <p:spPr>
          <a:xfrm>
            <a:off x="1461324" y="5138939"/>
            <a:ext cx="3539367" cy="461665"/>
          </a:xfrm>
          <a:prstGeom prst="rect">
            <a:avLst/>
          </a:prstGeom>
        </p:spPr>
        <p:txBody>
          <a:bodyPr wrap="none">
            <a:spAutoFit/>
          </a:bodyPr>
          <a:lstStyle/>
          <a:p>
            <a:r>
              <a:rPr lang="en-US" dirty="0">
                <a:latin typeface="Calibri" panose="020F0502020204030204" pitchFamily="34" charset="0"/>
                <a:cs typeface="Calibri" panose="020F0502020204030204" pitchFamily="34" charset="0"/>
              </a:rPr>
              <a:t>@2 - Enter hourly pay rate </a:t>
            </a:r>
            <a:endParaRPr lang="en-US" dirty="0"/>
          </a:p>
        </p:txBody>
      </p:sp>
      <p:sp>
        <p:nvSpPr>
          <p:cNvPr id="33" name="TextBox 32"/>
          <p:cNvSpPr txBox="1"/>
          <p:nvPr/>
        </p:nvSpPr>
        <p:spPr>
          <a:xfrm>
            <a:off x="4919495" y="5212061"/>
            <a:ext cx="418704" cy="369332"/>
          </a:xfrm>
          <a:prstGeom prst="rect">
            <a:avLst/>
          </a:prstGeom>
          <a:noFill/>
        </p:spPr>
        <p:txBody>
          <a:bodyPr wrap="none" rtlCol="0">
            <a:spAutoFit/>
          </a:bodyPr>
          <a:lstStyle/>
          <a:p>
            <a:r>
              <a:rPr lang="en-US" sz="1800" dirty="0">
                <a:solidFill>
                  <a:srgbClr val="FF0000"/>
                </a:solidFill>
                <a:latin typeface="Calibri" panose="020F0502020204030204" pitchFamily="34" charset="0"/>
                <a:cs typeface="Calibri" panose="020F0502020204030204" pitchFamily="34" charset="0"/>
              </a:rPr>
              <a:t>10</a:t>
            </a:r>
          </a:p>
        </p:txBody>
      </p:sp>
    </p:spTree>
    <p:extLst>
      <p:ext uri="{BB962C8B-B14F-4D97-AF65-F5344CB8AC3E}">
        <p14:creationId xmlns:p14="http://schemas.microsoft.com/office/powerpoint/2010/main" val="3621898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1000"/>
                                        <p:tgtEl>
                                          <p:spTgt spid="31"/>
                                        </p:tgtEl>
                                      </p:cBhvr>
                                    </p:animEffect>
                                    <p:anim calcmode="lin" valueType="num">
                                      <p:cBhvr>
                                        <p:cTn id="15" dur="1000" fill="hold"/>
                                        <p:tgtEl>
                                          <p:spTgt spid="31"/>
                                        </p:tgtEl>
                                        <p:attrNameLst>
                                          <p:attrName>ppt_x</p:attrName>
                                        </p:attrNameLst>
                                      </p:cBhvr>
                                      <p:tavLst>
                                        <p:tav tm="0">
                                          <p:val>
                                            <p:strVal val="#ppt_x"/>
                                          </p:val>
                                        </p:tav>
                                        <p:tav tm="100000">
                                          <p:val>
                                            <p:strVal val="#ppt_x"/>
                                          </p:val>
                                        </p:tav>
                                      </p:tavLst>
                                    </p:anim>
                                    <p:anim calcmode="lin" valueType="num">
                                      <p:cBhvr>
                                        <p:cTn id="1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1000"/>
                                        <p:tgtEl>
                                          <p:spTgt spid="32"/>
                                        </p:tgtEl>
                                      </p:cBhvr>
                                    </p:animEffect>
                                    <p:anim calcmode="lin" valueType="num">
                                      <p:cBhvr>
                                        <p:cTn id="36" dur="1000" fill="hold"/>
                                        <p:tgtEl>
                                          <p:spTgt spid="32"/>
                                        </p:tgtEl>
                                        <p:attrNameLst>
                                          <p:attrName>ppt_x</p:attrName>
                                        </p:attrNameLst>
                                      </p:cBhvr>
                                      <p:tavLst>
                                        <p:tav tm="0">
                                          <p:val>
                                            <p:strVal val="#ppt_x"/>
                                          </p:val>
                                        </p:tav>
                                        <p:tav tm="100000">
                                          <p:val>
                                            <p:strVal val="#ppt_x"/>
                                          </p:val>
                                        </p:tav>
                                      </p:tavLst>
                                    </p:anim>
                                    <p:anim calcmode="lin" valueType="num">
                                      <p:cBhvr>
                                        <p:cTn id="3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1000"/>
                                        <p:tgtEl>
                                          <p:spTgt spid="33"/>
                                        </p:tgtEl>
                                      </p:cBhvr>
                                    </p:animEffect>
                                    <p:anim calcmode="lin" valueType="num">
                                      <p:cBhvr>
                                        <p:cTn id="43" dur="1000" fill="hold"/>
                                        <p:tgtEl>
                                          <p:spTgt spid="33"/>
                                        </p:tgtEl>
                                        <p:attrNameLst>
                                          <p:attrName>ppt_x</p:attrName>
                                        </p:attrNameLst>
                                      </p:cBhvr>
                                      <p:tavLst>
                                        <p:tav tm="0">
                                          <p:val>
                                            <p:strVal val="#ppt_x"/>
                                          </p:val>
                                        </p:tav>
                                        <p:tav tm="100000">
                                          <p:val>
                                            <p:strVal val="#ppt_x"/>
                                          </p:val>
                                        </p:tav>
                                      </p:tavLst>
                                    </p:anim>
                                    <p:anim calcmode="lin" valueType="num">
                                      <p:cBhvr>
                                        <p:cTn id="4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000"/>
                                        <p:tgtEl>
                                          <p:spTgt spid="15"/>
                                        </p:tgtEl>
                                      </p:cBhvr>
                                    </p:animEffect>
                                    <p:anim calcmode="lin" valueType="num">
                                      <p:cBhvr>
                                        <p:cTn id="69" dur="1000" fill="hold"/>
                                        <p:tgtEl>
                                          <p:spTgt spid="15"/>
                                        </p:tgtEl>
                                        <p:attrNameLst>
                                          <p:attrName>ppt_x</p:attrName>
                                        </p:attrNameLst>
                                      </p:cBhvr>
                                      <p:tavLst>
                                        <p:tav tm="0">
                                          <p:val>
                                            <p:strVal val="#ppt_x"/>
                                          </p:val>
                                        </p:tav>
                                        <p:tav tm="100000">
                                          <p:val>
                                            <p:strVal val="#ppt_x"/>
                                          </p:val>
                                        </p:tav>
                                      </p:tavLst>
                                    </p:anim>
                                    <p:anim calcmode="lin" valueType="num">
                                      <p:cBhvr>
                                        <p:cTn id="70" dur="1000" fill="hold"/>
                                        <p:tgtEl>
                                          <p:spTgt spid="1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000"/>
                                        <p:tgtEl>
                                          <p:spTgt spid="16"/>
                                        </p:tgtEl>
                                      </p:cBhvr>
                                    </p:animEffect>
                                    <p:anim calcmode="lin" valueType="num">
                                      <p:cBhvr>
                                        <p:cTn id="74" dur="1000" fill="hold"/>
                                        <p:tgtEl>
                                          <p:spTgt spid="16"/>
                                        </p:tgtEl>
                                        <p:attrNameLst>
                                          <p:attrName>ppt_x</p:attrName>
                                        </p:attrNameLst>
                                      </p:cBhvr>
                                      <p:tavLst>
                                        <p:tav tm="0">
                                          <p:val>
                                            <p:strVal val="#ppt_x"/>
                                          </p:val>
                                        </p:tav>
                                        <p:tav tm="100000">
                                          <p:val>
                                            <p:strVal val="#ppt_x"/>
                                          </p:val>
                                        </p:tav>
                                      </p:tavLst>
                                    </p:anim>
                                    <p:anim calcmode="lin" valueType="num">
                                      <p:cBhvr>
                                        <p:cTn id="7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1000"/>
                                        <p:tgtEl>
                                          <p:spTgt spid="17"/>
                                        </p:tgtEl>
                                      </p:cBhvr>
                                    </p:animEffect>
                                    <p:anim calcmode="lin" valueType="num">
                                      <p:cBhvr>
                                        <p:cTn id="81" dur="1000" fill="hold"/>
                                        <p:tgtEl>
                                          <p:spTgt spid="17"/>
                                        </p:tgtEl>
                                        <p:attrNameLst>
                                          <p:attrName>ppt_x</p:attrName>
                                        </p:attrNameLst>
                                      </p:cBhvr>
                                      <p:tavLst>
                                        <p:tav tm="0">
                                          <p:val>
                                            <p:strVal val="#ppt_x"/>
                                          </p:val>
                                        </p:tav>
                                        <p:tav tm="100000">
                                          <p:val>
                                            <p:strVal val="#ppt_x"/>
                                          </p:val>
                                        </p:tav>
                                      </p:tavLst>
                                    </p:anim>
                                    <p:anim calcmode="lin" valueType="num">
                                      <p:cBhvr>
                                        <p:cTn id="82" dur="1000" fill="hold"/>
                                        <p:tgtEl>
                                          <p:spTgt spid="1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1000"/>
                                        <p:tgtEl>
                                          <p:spTgt spid="18"/>
                                        </p:tgtEl>
                                      </p:cBhvr>
                                    </p:animEffect>
                                    <p:anim calcmode="lin" valueType="num">
                                      <p:cBhvr>
                                        <p:cTn id="86" dur="1000" fill="hold"/>
                                        <p:tgtEl>
                                          <p:spTgt spid="18"/>
                                        </p:tgtEl>
                                        <p:attrNameLst>
                                          <p:attrName>ppt_x</p:attrName>
                                        </p:attrNameLst>
                                      </p:cBhvr>
                                      <p:tavLst>
                                        <p:tav tm="0">
                                          <p:val>
                                            <p:strVal val="#ppt_x"/>
                                          </p:val>
                                        </p:tav>
                                        <p:tav tm="100000">
                                          <p:val>
                                            <p:strVal val="#ppt_x"/>
                                          </p:val>
                                        </p:tav>
                                      </p:tavLst>
                                    </p:anim>
                                    <p:anim calcmode="lin" valueType="num">
                                      <p:cBhvr>
                                        <p:cTn id="8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1000"/>
                                        <p:tgtEl>
                                          <p:spTgt spid="20"/>
                                        </p:tgtEl>
                                      </p:cBhvr>
                                    </p:animEffect>
                                    <p:anim calcmode="lin" valueType="num">
                                      <p:cBhvr>
                                        <p:cTn id="100" dur="1000" fill="hold"/>
                                        <p:tgtEl>
                                          <p:spTgt spid="20"/>
                                        </p:tgtEl>
                                        <p:attrNameLst>
                                          <p:attrName>ppt_x</p:attrName>
                                        </p:attrNameLst>
                                      </p:cBhvr>
                                      <p:tavLst>
                                        <p:tav tm="0">
                                          <p:val>
                                            <p:strVal val="#ppt_x"/>
                                          </p:val>
                                        </p:tav>
                                        <p:tav tm="100000">
                                          <p:val>
                                            <p:strVal val="#ppt_x"/>
                                          </p:val>
                                        </p:tav>
                                      </p:tavLst>
                                    </p:anim>
                                    <p:anim calcmode="lin" valueType="num">
                                      <p:cBhvr>
                                        <p:cTn id="101" dur="1000" fill="hold"/>
                                        <p:tgtEl>
                                          <p:spTgt spid="20"/>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fade">
                                      <p:cBhvr>
                                        <p:cTn id="104" dur="1000"/>
                                        <p:tgtEl>
                                          <p:spTgt spid="21"/>
                                        </p:tgtEl>
                                      </p:cBhvr>
                                    </p:animEffect>
                                    <p:anim calcmode="lin" valueType="num">
                                      <p:cBhvr>
                                        <p:cTn id="105" dur="1000" fill="hold"/>
                                        <p:tgtEl>
                                          <p:spTgt spid="21"/>
                                        </p:tgtEl>
                                        <p:attrNameLst>
                                          <p:attrName>ppt_x</p:attrName>
                                        </p:attrNameLst>
                                      </p:cBhvr>
                                      <p:tavLst>
                                        <p:tav tm="0">
                                          <p:val>
                                            <p:strVal val="#ppt_x"/>
                                          </p:val>
                                        </p:tav>
                                        <p:tav tm="100000">
                                          <p:val>
                                            <p:strVal val="#ppt_x"/>
                                          </p:val>
                                        </p:tav>
                                      </p:tavLst>
                                    </p:anim>
                                    <p:anim calcmode="lin" valueType="num">
                                      <p:cBhvr>
                                        <p:cTn id="106" dur="1000" fill="hold"/>
                                        <p:tgtEl>
                                          <p:spTgt spid="2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1000"/>
                                        <p:tgtEl>
                                          <p:spTgt spid="22"/>
                                        </p:tgtEl>
                                      </p:cBhvr>
                                    </p:animEffect>
                                    <p:anim calcmode="lin" valueType="num">
                                      <p:cBhvr>
                                        <p:cTn id="110" dur="1000" fill="hold"/>
                                        <p:tgtEl>
                                          <p:spTgt spid="22"/>
                                        </p:tgtEl>
                                        <p:attrNameLst>
                                          <p:attrName>ppt_x</p:attrName>
                                        </p:attrNameLst>
                                      </p:cBhvr>
                                      <p:tavLst>
                                        <p:tav tm="0">
                                          <p:val>
                                            <p:strVal val="#ppt_x"/>
                                          </p:val>
                                        </p:tav>
                                        <p:tav tm="100000">
                                          <p:val>
                                            <p:strVal val="#ppt_x"/>
                                          </p:val>
                                        </p:tav>
                                      </p:tavLst>
                                    </p:anim>
                                    <p:anim calcmode="lin" valueType="num">
                                      <p:cBhvr>
                                        <p:cTn id="11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23"/>
                                        </p:tgtEl>
                                        <p:attrNameLst>
                                          <p:attrName>style.visibility</p:attrName>
                                        </p:attrNameLst>
                                      </p:cBhvr>
                                      <p:to>
                                        <p:strVal val="visible"/>
                                      </p:to>
                                    </p:set>
                                    <p:animEffect transition="in" filter="fade">
                                      <p:cBhvr>
                                        <p:cTn id="116" dur="1000"/>
                                        <p:tgtEl>
                                          <p:spTgt spid="23"/>
                                        </p:tgtEl>
                                      </p:cBhvr>
                                    </p:animEffect>
                                    <p:anim calcmode="lin" valueType="num">
                                      <p:cBhvr>
                                        <p:cTn id="117" dur="1000" fill="hold"/>
                                        <p:tgtEl>
                                          <p:spTgt spid="23"/>
                                        </p:tgtEl>
                                        <p:attrNameLst>
                                          <p:attrName>ppt_x</p:attrName>
                                        </p:attrNameLst>
                                      </p:cBhvr>
                                      <p:tavLst>
                                        <p:tav tm="0">
                                          <p:val>
                                            <p:strVal val="#ppt_x"/>
                                          </p:val>
                                        </p:tav>
                                        <p:tav tm="100000">
                                          <p:val>
                                            <p:strVal val="#ppt_x"/>
                                          </p:val>
                                        </p:tav>
                                      </p:tavLst>
                                    </p:anim>
                                    <p:anim calcmode="lin" valueType="num">
                                      <p:cBhvr>
                                        <p:cTn id="118" dur="1000" fill="hold"/>
                                        <p:tgtEl>
                                          <p:spTgt spid="23"/>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1000"/>
                                        <p:tgtEl>
                                          <p:spTgt spid="24"/>
                                        </p:tgtEl>
                                      </p:cBhvr>
                                    </p:animEffect>
                                    <p:anim calcmode="lin" valueType="num">
                                      <p:cBhvr>
                                        <p:cTn id="122" dur="1000" fill="hold"/>
                                        <p:tgtEl>
                                          <p:spTgt spid="24"/>
                                        </p:tgtEl>
                                        <p:attrNameLst>
                                          <p:attrName>ppt_x</p:attrName>
                                        </p:attrNameLst>
                                      </p:cBhvr>
                                      <p:tavLst>
                                        <p:tav tm="0">
                                          <p:val>
                                            <p:strVal val="#ppt_x"/>
                                          </p:val>
                                        </p:tav>
                                        <p:tav tm="100000">
                                          <p:val>
                                            <p:strVal val="#ppt_x"/>
                                          </p:val>
                                        </p:tav>
                                      </p:tavLst>
                                    </p:anim>
                                    <p:anim calcmode="lin" valueType="num">
                                      <p:cBhvr>
                                        <p:cTn id="123" dur="1000" fill="hold"/>
                                        <p:tgtEl>
                                          <p:spTgt spid="24"/>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1000"/>
                                        <p:tgtEl>
                                          <p:spTgt spid="25"/>
                                        </p:tgtEl>
                                      </p:cBhvr>
                                    </p:animEffect>
                                    <p:anim calcmode="lin" valueType="num">
                                      <p:cBhvr>
                                        <p:cTn id="127" dur="1000" fill="hold"/>
                                        <p:tgtEl>
                                          <p:spTgt spid="25"/>
                                        </p:tgtEl>
                                        <p:attrNameLst>
                                          <p:attrName>ppt_x</p:attrName>
                                        </p:attrNameLst>
                                      </p:cBhvr>
                                      <p:tavLst>
                                        <p:tav tm="0">
                                          <p:val>
                                            <p:strVal val="#ppt_x"/>
                                          </p:val>
                                        </p:tav>
                                        <p:tav tm="100000">
                                          <p:val>
                                            <p:strVal val="#ppt_x"/>
                                          </p:val>
                                        </p:tav>
                                      </p:tavLst>
                                    </p:anim>
                                    <p:anim calcmode="lin" valueType="num">
                                      <p:cBhvr>
                                        <p:cTn id="1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1000"/>
                                        <p:tgtEl>
                                          <p:spTgt spid="26"/>
                                        </p:tgtEl>
                                      </p:cBhvr>
                                    </p:animEffect>
                                    <p:anim calcmode="lin" valueType="num">
                                      <p:cBhvr>
                                        <p:cTn id="134" dur="1000" fill="hold"/>
                                        <p:tgtEl>
                                          <p:spTgt spid="26"/>
                                        </p:tgtEl>
                                        <p:attrNameLst>
                                          <p:attrName>ppt_x</p:attrName>
                                        </p:attrNameLst>
                                      </p:cBhvr>
                                      <p:tavLst>
                                        <p:tav tm="0">
                                          <p:val>
                                            <p:strVal val="#ppt_x"/>
                                          </p:val>
                                        </p:tav>
                                        <p:tav tm="100000">
                                          <p:val>
                                            <p:strVal val="#ppt_x"/>
                                          </p:val>
                                        </p:tav>
                                      </p:tavLst>
                                    </p:anim>
                                    <p:anim calcmode="lin" valueType="num">
                                      <p:cBhvr>
                                        <p:cTn id="135" dur="1000" fill="hold"/>
                                        <p:tgtEl>
                                          <p:spTgt spid="26"/>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27"/>
                                        </p:tgtEl>
                                        <p:attrNameLst>
                                          <p:attrName>style.visibility</p:attrName>
                                        </p:attrNameLst>
                                      </p:cBhvr>
                                      <p:to>
                                        <p:strVal val="visible"/>
                                      </p:to>
                                    </p:set>
                                    <p:animEffect transition="in" filter="fade">
                                      <p:cBhvr>
                                        <p:cTn id="138" dur="1000"/>
                                        <p:tgtEl>
                                          <p:spTgt spid="27"/>
                                        </p:tgtEl>
                                      </p:cBhvr>
                                    </p:animEffect>
                                    <p:anim calcmode="lin" valueType="num">
                                      <p:cBhvr>
                                        <p:cTn id="139" dur="1000" fill="hold"/>
                                        <p:tgtEl>
                                          <p:spTgt spid="27"/>
                                        </p:tgtEl>
                                        <p:attrNameLst>
                                          <p:attrName>ppt_x</p:attrName>
                                        </p:attrNameLst>
                                      </p:cBhvr>
                                      <p:tavLst>
                                        <p:tav tm="0">
                                          <p:val>
                                            <p:strVal val="#ppt_x"/>
                                          </p:val>
                                        </p:tav>
                                        <p:tav tm="100000">
                                          <p:val>
                                            <p:strVal val="#ppt_x"/>
                                          </p:val>
                                        </p:tav>
                                      </p:tavLst>
                                    </p:anim>
                                    <p:anim calcmode="lin" valueType="num">
                                      <p:cBhvr>
                                        <p:cTn id="140" dur="1000" fill="hold"/>
                                        <p:tgtEl>
                                          <p:spTgt spid="27"/>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28"/>
                                        </p:tgtEl>
                                        <p:attrNameLst>
                                          <p:attrName>style.visibility</p:attrName>
                                        </p:attrNameLst>
                                      </p:cBhvr>
                                      <p:to>
                                        <p:strVal val="visible"/>
                                      </p:to>
                                    </p:set>
                                    <p:animEffect transition="in" filter="fade">
                                      <p:cBhvr>
                                        <p:cTn id="143" dur="1000"/>
                                        <p:tgtEl>
                                          <p:spTgt spid="28"/>
                                        </p:tgtEl>
                                      </p:cBhvr>
                                    </p:animEffect>
                                    <p:anim calcmode="lin" valueType="num">
                                      <p:cBhvr>
                                        <p:cTn id="144" dur="1000" fill="hold"/>
                                        <p:tgtEl>
                                          <p:spTgt spid="28"/>
                                        </p:tgtEl>
                                        <p:attrNameLst>
                                          <p:attrName>ppt_x</p:attrName>
                                        </p:attrNameLst>
                                      </p:cBhvr>
                                      <p:tavLst>
                                        <p:tav tm="0">
                                          <p:val>
                                            <p:strVal val="#ppt_x"/>
                                          </p:val>
                                        </p:tav>
                                        <p:tav tm="100000">
                                          <p:val>
                                            <p:strVal val="#ppt_x"/>
                                          </p:val>
                                        </p:tav>
                                      </p:tavLst>
                                    </p:anim>
                                    <p:anim calcmode="lin" valueType="num">
                                      <p:cBhvr>
                                        <p:cTn id="14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42" presetClass="entr" presetSubtype="0" fill="hold" grpId="0" nodeType="clickEffect">
                                  <p:stCondLst>
                                    <p:cond delay="0"/>
                                  </p:stCondLst>
                                  <p:childTnLst>
                                    <p:set>
                                      <p:cBhvr>
                                        <p:cTn id="149" dur="1" fill="hold">
                                          <p:stCondLst>
                                            <p:cond delay="0"/>
                                          </p:stCondLst>
                                        </p:cTn>
                                        <p:tgtEl>
                                          <p:spTgt spid="4"/>
                                        </p:tgtEl>
                                        <p:attrNameLst>
                                          <p:attrName>style.visibility</p:attrName>
                                        </p:attrNameLst>
                                      </p:cBhvr>
                                      <p:to>
                                        <p:strVal val="visible"/>
                                      </p:to>
                                    </p:set>
                                    <p:animEffect transition="in" filter="fade">
                                      <p:cBhvr>
                                        <p:cTn id="150" dur="1000"/>
                                        <p:tgtEl>
                                          <p:spTgt spid="4"/>
                                        </p:tgtEl>
                                      </p:cBhvr>
                                    </p:animEffect>
                                    <p:anim calcmode="lin" valueType="num">
                                      <p:cBhvr>
                                        <p:cTn id="151" dur="1000" fill="hold"/>
                                        <p:tgtEl>
                                          <p:spTgt spid="4"/>
                                        </p:tgtEl>
                                        <p:attrNameLst>
                                          <p:attrName>ppt_x</p:attrName>
                                        </p:attrNameLst>
                                      </p:cBhvr>
                                      <p:tavLst>
                                        <p:tav tm="0">
                                          <p:val>
                                            <p:strVal val="#ppt_x"/>
                                          </p:val>
                                        </p:tav>
                                        <p:tav tm="100000">
                                          <p:val>
                                            <p:strVal val="#ppt_x"/>
                                          </p:val>
                                        </p:tav>
                                      </p:tavLst>
                                    </p:anim>
                                    <p:anim calcmode="lin" valueType="num">
                                      <p:cBhvr>
                                        <p:cTn id="15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31" grpId="0"/>
      <p:bldP spid="32" grpId="0"/>
      <p:bldP spid="3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1345039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The bookstacks present on most slides  make this a good choice for students, teachers, reading enthusiasts, and others in education. This presentation template contains multiple slide layouts in widescreen format (16x9) and includes a sample table and chart that you can easily  modify.</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2011-11-26T00:00:00+00:00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AssetExpire xmlns="4873beb7-5857-4685-be1f-d57550cc96cc">2029-05-12T07:00:00+00:00</AssetExpire>
    <DSATActionTaken xmlns="4873beb7-5857-4685-be1f-d57550cc96cc" xsi:nil="true"/>
    <CSXSubmissionMarket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TP102787939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694216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BBB5C329-08A6-4E5E-AEF1-A97828C874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B558C7-619B-49BE-9097-7FCBDADD4ECE}">
  <ds:schemaRefs>
    <ds:schemaRef ds:uri="http://schemas.microsoft.com/sharepoint/v3/contenttype/forms"/>
  </ds:schemaRefs>
</ds:datastoreItem>
</file>

<file path=customXml/itemProps3.xml><?xml version="1.0" encoding="utf-8"?>
<ds:datastoreItem xmlns:ds="http://schemas.openxmlformats.org/officeDocument/2006/customXml" ds:itemID="{F301D382-32B0-43EE-932C-28906AF37617}">
  <ds:schemaRefs>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purl.org/dc/dcmitype/"/>
    <ds:schemaRef ds:uri="http://purl.org/dc/elements/1.1/"/>
    <ds:schemaRef ds:uri="http://purl.org/dc/terms/"/>
    <ds:schemaRef ds:uri="http://www.w3.org/XML/1998/namespace"/>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8837</TotalTime>
  <Words>4875</Words>
  <Application>Microsoft Office PowerPoint</Application>
  <PresentationFormat>Custom</PresentationFormat>
  <Paragraphs>900</Paragraphs>
  <Slides>90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90</vt:i4>
      </vt:variant>
    </vt:vector>
  </HeadingPairs>
  <TitlesOfParts>
    <vt:vector size="98" baseType="lpstr">
      <vt:lpstr>Arial</vt:lpstr>
      <vt:lpstr>Calibri</vt:lpstr>
      <vt:lpstr>Cambria Math</vt:lpstr>
      <vt:lpstr>Century Gothic</vt:lpstr>
      <vt:lpstr>Corbel</vt:lpstr>
      <vt:lpstr>Courier New</vt:lpstr>
      <vt:lpstr>Times New Roman</vt:lpstr>
      <vt:lpstr>Parallax</vt:lpstr>
      <vt:lpstr>PowerPoint Presentation</vt:lpstr>
      <vt:lpstr>How Software is Developed</vt:lpstr>
      <vt:lpstr>SDLC</vt:lpstr>
      <vt:lpstr>SDLC – Software Planning Phase</vt:lpstr>
      <vt:lpstr>SDLC – Software Defining Phase</vt:lpstr>
      <vt:lpstr>SDLC – Software Designing Phase</vt:lpstr>
      <vt:lpstr>SDLC – Software Building Phase</vt:lpstr>
      <vt:lpstr>SDLC – Software Testing Phase</vt:lpstr>
      <vt:lpstr>SDLC – Software Deployment &amp; Delivery Phase</vt:lpstr>
      <vt:lpstr>SDLC – Software Deployment &amp; Delivery Phase</vt:lpstr>
      <vt:lpstr>SDLC – Software Maintenance Phase</vt:lpstr>
      <vt:lpstr>SDLC Phases</vt:lpstr>
      <vt:lpstr>SDLC – Waterfall Method</vt:lpstr>
      <vt:lpstr>SDLC – Agile Method</vt:lpstr>
      <vt:lpstr>SDLC – Software Building Phase</vt:lpstr>
      <vt:lpstr>Coding  == Cooking</vt:lpstr>
      <vt:lpstr>Steps to Coding</vt:lpstr>
      <vt:lpstr>Steps to Coding - Pseudocode</vt:lpstr>
      <vt:lpstr>Steps to Coding – Flow Chart</vt:lpstr>
      <vt:lpstr>Steps to Coding – IPO</vt:lpstr>
      <vt:lpstr>Coding Language</vt:lpstr>
      <vt:lpstr>Python</vt:lpstr>
      <vt:lpstr>Python</vt:lpstr>
      <vt:lpstr>Python</vt:lpstr>
      <vt:lpstr>Python</vt:lpstr>
      <vt:lpstr>Python</vt:lpstr>
      <vt:lpstr>Python - Identifier</vt:lpstr>
      <vt:lpstr>Python - Identifier</vt:lpstr>
      <vt:lpstr>Python - Identifier</vt:lpstr>
      <vt:lpstr>Python - Variables</vt:lpstr>
      <vt:lpstr>Python - Variables</vt:lpstr>
      <vt:lpstr>Python - Key Words…</vt:lpstr>
      <vt:lpstr>Python - Assignment Statements</vt:lpstr>
      <vt:lpstr>Python - Assignment Statements</vt:lpstr>
      <vt:lpstr>Python - Strings</vt:lpstr>
      <vt:lpstr>Python - Comments</vt:lpstr>
      <vt:lpstr>Python - Multiple Assignments</vt:lpstr>
      <vt:lpstr>Python - Multiple Statements on a Single Line</vt:lpstr>
      <vt:lpstr>Python – Lines/Indentation</vt:lpstr>
      <vt:lpstr>Python - Multi-Line Statements</vt:lpstr>
      <vt:lpstr>Python – Suites/Blocks</vt:lpstr>
      <vt:lpstr>Python – Data Types</vt:lpstr>
      <vt:lpstr>Python – Numbers</vt:lpstr>
      <vt:lpstr>Python – Strings</vt:lpstr>
      <vt:lpstr>Python – Lists</vt:lpstr>
      <vt:lpstr>Python – Tuples</vt:lpstr>
      <vt:lpstr>Python – Dictionary</vt:lpstr>
      <vt:lpstr>Python – Data Type Conversion</vt:lpstr>
      <vt:lpstr>Python – Mixed-Type Expressions</vt:lpstr>
      <vt:lpstr>Python – Operators</vt:lpstr>
      <vt:lpstr>Python – Division</vt:lpstr>
      <vt:lpstr>Python – Division</vt:lpstr>
      <vt:lpstr>Python – Division</vt:lpstr>
      <vt:lpstr>Python – Division</vt:lpstr>
      <vt:lpstr>Python – Division</vt:lpstr>
      <vt:lpstr>Python – Division</vt:lpstr>
      <vt:lpstr>Python – Division</vt:lpstr>
      <vt:lpstr>Python – Arithmetic Operators</vt:lpstr>
      <vt:lpstr>Python – Comparison Operators</vt:lpstr>
      <vt:lpstr>Python – Assignment Operators</vt:lpstr>
      <vt:lpstr>Python – Logical  Operators</vt:lpstr>
      <vt:lpstr>Python – Logical  Operators</vt:lpstr>
      <vt:lpstr>Python – Logical  Operators</vt:lpstr>
      <vt:lpstr>Python – Logical  Operators</vt:lpstr>
      <vt:lpstr>Python – Membership  Operators</vt:lpstr>
      <vt:lpstr>Python – Identity  Operators</vt:lpstr>
      <vt:lpstr>Python – Operators Precedence</vt:lpstr>
      <vt:lpstr>Arithmetic Expression to Coding</vt:lpstr>
      <vt:lpstr>Arithmetic Expression to Coding</vt:lpstr>
      <vt:lpstr>Arithmetic Expression to Coding</vt:lpstr>
      <vt:lpstr>Arithmetic Expression to Coding</vt:lpstr>
      <vt:lpstr>Arithmetic Expression to Coding</vt:lpstr>
      <vt:lpstr>Python – IPO</vt:lpstr>
      <vt:lpstr>Python – print Function</vt:lpstr>
      <vt:lpstr>Python – print Function</vt:lpstr>
      <vt:lpstr>Python – input Function</vt:lpstr>
      <vt:lpstr>Python – Examples</vt:lpstr>
      <vt:lpstr>Python – Examples</vt:lpstr>
      <vt:lpstr>Python – Examples</vt:lpstr>
      <vt:lpstr>Python – Examples</vt:lpstr>
      <vt:lpstr>Python – Examples</vt:lpstr>
      <vt:lpstr>Python – Examples</vt:lpstr>
      <vt:lpstr>Python – Examples</vt:lpstr>
      <vt:lpstr>Python – Examples</vt:lpstr>
      <vt:lpstr>Python – Examples</vt:lpstr>
      <vt:lpstr>Python – Examples</vt:lpstr>
      <vt:lpstr>Python – Computing Weekly Pay</vt:lpstr>
      <vt:lpstr>Python – Computing Weekly Pay</vt:lpstr>
      <vt:lpstr>Python – Tracing the flow</vt:lpstr>
      <vt:lpstr>Python – Tracing the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Ally,Murtaza (HHSC)</dc:creator>
  <cp:lastModifiedBy>Murtaza Ally</cp:lastModifiedBy>
  <cp:revision>373</cp:revision>
  <dcterms:created xsi:type="dcterms:W3CDTF">2017-05-16T14:09:04Z</dcterms:created>
  <dcterms:modified xsi:type="dcterms:W3CDTF">2022-01-09T07:01:35Z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